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f2432809644471" /><Relationship Type="http://schemas.openxmlformats.org/officeDocument/2006/relationships/extended-properties" Target="/docProps/app.xml" Id="R1b264b3f56514973" /><Relationship Type="http://schemas.openxmlformats.org/officeDocument/2006/relationships/officeDocument" Target="/ppt/presentation.xml" Id="Rd971bb32f649408f" /></Relationships>
</file>

<file path=ppt/presentation.xml><?xml version="1.0" encoding="utf-8"?>
<p:presentation xmlns:p="http://schemas.openxmlformats.org/presentationml/2006/main">
  <p:sldMasterIdLst>
    <p:sldMasterId xmlns:r="http://schemas.openxmlformats.org/officeDocument/2006/relationships" id="2147483648" r:id="R74f86be6d335486c"/>
  </p:sldMasterIdLst>
  <p:notesMasterIdLst>
    <p:notesMasterId xmlns:r="http://schemas.openxmlformats.org/officeDocument/2006/relationships" r:id="R5e4262acac3a4555"/>
  </p:notesMasterIdLst>
  <p:sldIdLst>
    <p:sldId xmlns:r="http://schemas.openxmlformats.org/officeDocument/2006/relationships" id="256" r:id="R7639d953861c4f92"/>
    <p:sldId xmlns:r="http://schemas.openxmlformats.org/officeDocument/2006/relationships" id="257" r:id="R00a7ab864a3f4ed6"/>
    <p:sldId xmlns:r="http://schemas.openxmlformats.org/officeDocument/2006/relationships" id="258" r:id="R4a87d90c53514a22"/>
    <p:sldId xmlns:r="http://schemas.openxmlformats.org/officeDocument/2006/relationships" id="259" r:id="Re2d5cc0d6c194ed5"/>
    <p:sldId xmlns:r="http://schemas.openxmlformats.org/officeDocument/2006/relationships" id="260" r:id="R5d672621be1f4b16"/>
    <p:sldId xmlns:r="http://schemas.openxmlformats.org/officeDocument/2006/relationships" id="261" r:id="Rbce04f33d5f545ae"/>
    <p:sldId xmlns:r="http://schemas.openxmlformats.org/officeDocument/2006/relationships" id="262" r:id="Rb7284d61a0f34d62"/>
    <p:sldId xmlns:r="http://schemas.openxmlformats.org/officeDocument/2006/relationships" id="263" r:id="R423c1ddc60bd4427"/>
    <p:sldId xmlns:r="http://schemas.openxmlformats.org/officeDocument/2006/relationships" id="264" r:id="R1223a07823614beb"/>
    <p:sldId xmlns:r="http://schemas.openxmlformats.org/officeDocument/2006/relationships" id="265" r:id="Rd0967858e9fb4cd4"/>
    <p:sldId xmlns:r="http://schemas.openxmlformats.org/officeDocument/2006/relationships" id="266" r:id="R93b31ea3b1f94c37"/>
    <p:sldId xmlns:r="http://schemas.openxmlformats.org/officeDocument/2006/relationships" id="267" r:id="Rdf4c0fa4938d4c68"/>
    <p:sldId xmlns:r="http://schemas.openxmlformats.org/officeDocument/2006/relationships" id="268" r:id="Rab98b719cf514de9"/>
    <p:sldId xmlns:r="http://schemas.openxmlformats.org/officeDocument/2006/relationships" id="269" r:id="Rbc6967ea8d6548f6"/>
    <p:sldId xmlns:r="http://schemas.openxmlformats.org/officeDocument/2006/relationships" id="270" r:id="R8c2e0d58dc2b4672"/>
    <p:sldId xmlns:r="http://schemas.openxmlformats.org/officeDocument/2006/relationships" id="271" r:id="R117a685f9a3a491a"/>
    <p:sldId xmlns:r="http://schemas.openxmlformats.org/officeDocument/2006/relationships" id="272" r:id="R4747632f0810426a"/>
    <p:sldId xmlns:r="http://schemas.openxmlformats.org/officeDocument/2006/relationships" id="273" r:id="R0a5b68bb3a3b4537"/>
    <p:sldId xmlns:r="http://schemas.openxmlformats.org/officeDocument/2006/relationships" id="274" r:id="R812a9d61515042a9"/>
    <p:sldId xmlns:r="http://schemas.openxmlformats.org/officeDocument/2006/relationships" id="275" r:id="Rc30137fb892344d7"/>
    <p:sldId xmlns:r="http://schemas.openxmlformats.org/officeDocument/2006/relationships" id="276" r:id="R0344708f63274e60"/>
    <p:sldId xmlns:r="http://schemas.openxmlformats.org/officeDocument/2006/relationships" id="277" r:id="Rf3d9343282b54d49"/>
    <p:sldId xmlns:r="http://schemas.openxmlformats.org/officeDocument/2006/relationships" id="278" r:id="R076ceda7722d4d66"/>
    <p:sldId xmlns:r="http://schemas.openxmlformats.org/officeDocument/2006/relationships" id="279" r:id="Raaf931b8916a4371"/>
    <p:sldId xmlns:r="http://schemas.openxmlformats.org/officeDocument/2006/relationships" id="280" r:id="Rd98c5d80e04b4da8"/>
    <p:sldId xmlns:r="http://schemas.openxmlformats.org/officeDocument/2006/relationships" id="281" r:id="R79449a8d6bf54c3b"/>
    <p:sldId xmlns:r="http://schemas.openxmlformats.org/officeDocument/2006/relationships" id="282" r:id="R134c7d60e6e34b3a"/>
    <p:sldId xmlns:r="http://schemas.openxmlformats.org/officeDocument/2006/relationships" id="283" r:id="Reb232f1485d64313"/>
    <p:sldId xmlns:r="http://schemas.openxmlformats.org/officeDocument/2006/relationships" id="284" r:id="Rea52ae10d1584932"/>
    <p:sldId xmlns:r="http://schemas.openxmlformats.org/officeDocument/2006/relationships" id="285" r:id="R42c4632b2794455e"/>
    <p:sldId xmlns:r="http://schemas.openxmlformats.org/officeDocument/2006/relationships" id="286" r:id="Rb6870808631f40fa"/>
    <p:sldId xmlns:r="http://schemas.openxmlformats.org/officeDocument/2006/relationships" id="287" r:id="R45fbb84e9d8a4e61"/>
    <p:sldId xmlns:r="http://schemas.openxmlformats.org/officeDocument/2006/relationships" id="288" r:id="R02068f463d674371"/>
    <p:sldId xmlns:r="http://schemas.openxmlformats.org/officeDocument/2006/relationships" id="289" r:id="R783dee8dcc41425f"/>
    <p:sldId xmlns:r="http://schemas.openxmlformats.org/officeDocument/2006/relationships" id="290" r:id="R5efdd0bbcaa34f08"/>
    <p:sldId xmlns:r="http://schemas.openxmlformats.org/officeDocument/2006/relationships" id="291" r:id="R63e2eafd31d24e59"/>
    <p:sldId xmlns:r="http://schemas.openxmlformats.org/officeDocument/2006/relationships" id="292" r:id="R06cb716519624a2f"/>
    <p:sldId xmlns:r="http://schemas.openxmlformats.org/officeDocument/2006/relationships" id="293" r:id="R4a3504a82cd94701"/>
    <p:sldId xmlns:r="http://schemas.openxmlformats.org/officeDocument/2006/relationships" id="294" r:id="Rc6ca12793f414bc7"/>
    <p:sldId xmlns:r="http://schemas.openxmlformats.org/officeDocument/2006/relationships" id="295" r:id="Re9d446850cd94edc"/>
    <p:sldId xmlns:r="http://schemas.openxmlformats.org/officeDocument/2006/relationships" id="296" r:id="R7c0427b1f6be4bd1"/>
    <p:sldId xmlns:r="http://schemas.openxmlformats.org/officeDocument/2006/relationships" id="297" r:id="R4f2b39883ad94f05"/>
    <p:sldId xmlns:r="http://schemas.openxmlformats.org/officeDocument/2006/relationships" id="298" r:id="Rf96a4473fd354f9a"/>
    <p:sldId xmlns:r="http://schemas.openxmlformats.org/officeDocument/2006/relationships" id="299" r:id="Rf602bcfbb36c47fd"/>
    <p:sldId xmlns:r="http://schemas.openxmlformats.org/officeDocument/2006/relationships" id="300" r:id="R2310d1d0f4de4bc9"/>
    <p:sldId xmlns:r="http://schemas.openxmlformats.org/officeDocument/2006/relationships" id="301" r:id="R9053fcd7e2874143"/>
    <p:sldId xmlns:r="http://schemas.openxmlformats.org/officeDocument/2006/relationships" id="302" r:id="Rddb449314512473c"/>
    <p:sldId xmlns:r="http://schemas.openxmlformats.org/officeDocument/2006/relationships" id="303" r:id="R1b7b86ad90044fef"/>
    <p:sldId xmlns:r="http://schemas.openxmlformats.org/officeDocument/2006/relationships" id="304" r:id="R6d948b6c72444ff3"/>
    <p:sldId xmlns:r="http://schemas.openxmlformats.org/officeDocument/2006/relationships" id="305" r:id="Rd7fffbfc57b04565"/>
    <p:sldId xmlns:r="http://schemas.openxmlformats.org/officeDocument/2006/relationships" id="306" r:id="R199427efd3c0483a"/>
    <p:sldId xmlns:r="http://schemas.openxmlformats.org/officeDocument/2006/relationships" id="307" r:id="Rface4ca595ff4337"/>
    <p:sldId xmlns:r="http://schemas.openxmlformats.org/officeDocument/2006/relationships" id="308" r:id="R31e417850b9441c0"/>
    <p:sldId xmlns:r="http://schemas.openxmlformats.org/officeDocument/2006/relationships" id="309" r:id="Rdbccb7a51fd04436"/>
    <p:sldId xmlns:r="http://schemas.openxmlformats.org/officeDocument/2006/relationships" id="310" r:id="R11f49771da8941c0"/>
    <p:sldId xmlns:r="http://schemas.openxmlformats.org/officeDocument/2006/relationships" id="311" r:id="Re35f597456554cc2"/>
    <p:sldId xmlns:r="http://schemas.openxmlformats.org/officeDocument/2006/relationships" id="312" r:id="R5330f0ccb8c44f9b"/>
    <p:sldId xmlns:r="http://schemas.openxmlformats.org/officeDocument/2006/relationships" id="313" r:id="R4283339552a74e33"/>
    <p:sldId xmlns:r="http://schemas.openxmlformats.org/officeDocument/2006/relationships" id="314" r:id="Ra13011ee59e441fe"/>
    <p:sldId xmlns:r="http://schemas.openxmlformats.org/officeDocument/2006/relationships" id="315" r:id="R8969797ef4f64238"/>
    <p:sldId xmlns:r="http://schemas.openxmlformats.org/officeDocument/2006/relationships" id="316" r:id="Rb1f9f4be3efd4ddf"/>
    <p:sldId xmlns:r="http://schemas.openxmlformats.org/officeDocument/2006/relationships" id="317" r:id="R714ac12fb98a41bf"/>
    <p:sldId xmlns:r="http://schemas.openxmlformats.org/officeDocument/2006/relationships" id="318" r:id="R65e549da061c418c"/>
    <p:sldId xmlns:r="http://schemas.openxmlformats.org/officeDocument/2006/relationships" id="319" r:id="R3cfa75dfba80404d"/>
    <p:sldId xmlns:r="http://schemas.openxmlformats.org/officeDocument/2006/relationships" id="320" r:id="R4364baf2b92b45e8"/>
    <p:sldId xmlns:r="http://schemas.openxmlformats.org/officeDocument/2006/relationships" id="321" r:id="R91ea6756df754f99"/>
    <p:sldId xmlns:r="http://schemas.openxmlformats.org/officeDocument/2006/relationships" id="322" r:id="Rb604958682344970"/>
    <p:sldId xmlns:r="http://schemas.openxmlformats.org/officeDocument/2006/relationships" id="323" r:id="R692275177fac43a5"/>
    <p:sldId xmlns:r="http://schemas.openxmlformats.org/officeDocument/2006/relationships" id="324" r:id="Racfbe1e86645464f"/>
    <p:sldId xmlns:r="http://schemas.openxmlformats.org/officeDocument/2006/relationships" id="325" r:id="Rd767e8f5270147fb"/>
    <p:sldId xmlns:r="http://schemas.openxmlformats.org/officeDocument/2006/relationships" id="326" r:id="R00f2e7e0401941e7"/>
    <p:sldId xmlns:r="http://schemas.openxmlformats.org/officeDocument/2006/relationships" id="327" r:id="R7f1243b425784078"/>
    <p:sldId xmlns:r="http://schemas.openxmlformats.org/officeDocument/2006/relationships" id="328" r:id="R701208568bca4006"/>
    <p:sldId xmlns:r="http://schemas.openxmlformats.org/officeDocument/2006/relationships" id="329" r:id="Rb2cb881b5fda46a6"/>
    <p:sldId xmlns:r="http://schemas.openxmlformats.org/officeDocument/2006/relationships" id="330" r:id="R84b2bc5ed9b04497"/>
    <p:sldId xmlns:r="http://schemas.openxmlformats.org/officeDocument/2006/relationships" id="331" r:id="Rf5090a181a2147ca"/>
    <p:sldId xmlns:r="http://schemas.openxmlformats.org/officeDocument/2006/relationships" id="332" r:id="R1661c47b66784707"/>
    <p:sldId xmlns:r="http://schemas.openxmlformats.org/officeDocument/2006/relationships" id="333" r:id="Rb41b91607c5a45eb"/>
    <p:sldId xmlns:r="http://schemas.openxmlformats.org/officeDocument/2006/relationships" id="334" r:id="R7db98b702d6d4daf"/>
    <p:sldId xmlns:r="http://schemas.openxmlformats.org/officeDocument/2006/relationships" id="335" r:id="Rda4ff7bdad9d425a"/>
    <p:sldId xmlns:r="http://schemas.openxmlformats.org/officeDocument/2006/relationships" id="336" r:id="R4ec3608ceee54203"/>
    <p:sldId xmlns:r="http://schemas.openxmlformats.org/officeDocument/2006/relationships" id="337" r:id="Rb60a3e575e164888"/>
    <p:sldId xmlns:r="http://schemas.openxmlformats.org/officeDocument/2006/relationships" id="338" r:id="Rd5a79d9b776a471d"/>
    <p:sldId xmlns:r="http://schemas.openxmlformats.org/officeDocument/2006/relationships" id="339" r:id="R6874488838094f15"/>
    <p:sldId xmlns:r="http://schemas.openxmlformats.org/officeDocument/2006/relationships" id="340" r:id="R3c4acec58d3043a7"/>
    <p:sldId xmlns:r="http://schemas.openxmlformats.org/officeDocument/2006/relationships" id="341" r:id="Rc9c92486770c4da7"/>
    <p:sldId xmlns:r="http://schemas.openxmlformats.org/officeDocument/2006/relationships" id="342" r:id="Re20eeaae5dd148e6"/>
    <p:sldId xmlns:r="http://schemas.openxmlformats.org/officeDocument/2006/relationships" id="343" r:id="R8282dba8a65d41ff"/>
    <p:sldId xmlns:r="http://schemas.openxmlformats.org/officeDocument/2006/relationships" id="344" r:id="Rbe37c078d12645e0"/>
    <p:sldId xmlns:r="http://schemas.openxmlformats.org/officeDocument/2006/relationships" id="345" r:id="R0a391d65f00a4366"/>
    <p:sldId xmlns:r="http://schemas.openxmlformats.org/officeDocument/2006/relationships" id="346" r:id="R87b04c7e33004035"/>
    <p:sldId xmlns:r="http://schemas.openxmlformats.org/officeDocument/2006/relationships" id="347" r:id="R9743de6048ed4fdb"/>
    <p:sldId xmlns:r="http://schemas.openxmlformats.org/officeDocument/2006/relationships" id="348" r:id="R702d9ef3961240b0"/>
    <p:sldId xmlns:r="http://schemas.openxmlformats.org/officeDocument/2006/relationships" id="349" r:id="R11bd4f0060074548"/>
    <p:sldId xmlns:r="http://schemas.openxmlformats.org/officeDocument/2006/relationships" id="350" r:id="R81a749a23953479a"/>
    <p:sldId xmlns:r="http://schemas.openxmlformats.org/officeDocument/2006/relationships" id="351" r:id="R66672598c9a34d57"/>
    <p:sldId xmlns:r="http://schemas.openxmlformats.org/officeDocument/2006/relationships" id="352" r:id="R79f163bf0f754ca1"/>
    <p:sldId xmlns:r="http://schemas.openxmlformats.org/officeDocument/2006/relationships" id="353" r:id="R93345f490cfb4abd"/>
    <p:sldId xmlns:r="http://schemas.openxmlformats.org/officeDocument/2006/relationships" id="354" r:id="R045e6790fd764ec8"/>
    <p:sldId xmlns:r="http://schemas.openxmlformats.org/officeDocument/2006/relationships" id="355" r:id="R534552b70aad4f7a"/>
    <p:sldId xmlns:r="http://schemas.openxmlformats.org/officeDocument/2006/relationships" id="356" r:id="Rbb9b7ac3894243e4"/>
    <p:sldId xmlns:r="http://schemas.openxmlformats.org/officeDocument/2006/relationships" id="357" r:id="R76e58222d8734dcb"/>
    <p:sldId xmlns:r="http://schemas.openxmlformats.org/officeDocument/2006/relationships" id="358" r:id="R278ed6798edc4bd9"/>
    <p:sldId xmlns:r="http://schemas.openxmlformats.org/officeDocument/2006/relationships" id="359" r:id="Rf8b1a820f43d4461"/>
    <p:sldId xmlns:r="http://schemas.openxmlformats.org/officeDocument/2006/relationships" id="360" r:id="Ra5ddba37eef54d71"/>
    <p:sldId xmlns:r="http://schemas.openxmlformats.org/officeDocument/2006/relationships" id="361" r:id="Rdbdde911557a4a5c"/>
    <p:sldId xmlns:r="http://schemas.openxmlformats.org/officeDocument/2006/relationships" id="362" r:id="Rbdab9c7d569b48a6"/>
    <p:sldId xmlns:r="http://schemas.openxmlformats.org/officeDocument/2006/relationships" id="363" r:id="Rb75386c64a094d78"/>
    <p:sldId xmlns:r="http://schemas.openxmlformats.org/officeDocument/2006/relationships" id="364" r:id="R19c4f02c91c74f4b"/>
    <p:sldId xmlns:r="http://schemas.openxmlformats.org/officeDocument/2006/relationships" id="365" r:id="Rb388eda802bf40de"/>
    <p:sldId xmlns:r="http://schemas.openxmlformats.org/officeDocument/2006/relationships" id="366" r:id="R25b259acf1bb481e"/>
    <p:sldId xmlns:r="http://schemas.openxmlformats.org/officeDocument/2006/relationships" id="367" r:id="R189fc0c32164459a"/>
    <p:sldId xmlns:r="http://schemas.openxmlformats.org/officeDocument/2006/relationships" id="368" r:id="Rb047721b25144fa9"/>
    <p:sldId xmlns:r="http://schemas.openxmlformats.org/officeDocument/2006/relationships" id="369" r:id="R41231f97515b4fd7"/>
    <p:sldId xmlns:r="http://schemas.openxmlformats.org/officeDocument/2006/relationships" id="370" r:id="Rc00ce9054bfc4e1a"/>
    <p:sldId xmlns:r="http://schemas.openxmlformats.org/officeDocument/2006/relationships" id="371" r:id="R09be930abc9c4b78"/>
    <p:sldId xmlns:r="http://schemas.openxmlformats.org/officeDocument/2006/relationships" id="372" r:id="R7b9b63de32cc4663"/>
    <p:sldId xmlns:r="http://schemas.openxmlformats.org/officeDocument/2006/relationships" id="373" r:id="Rc5d4dcfefcc84cee"/>
    <p:sldId xmlns:r="http://schemas.openxmlformats.org/officeDocument/2006/relationships" id="374" r:id="R534b7bcbaa024c8b"/>
    <p:sldId xmlns:r="http://schemas.openxmlformats.org/officeDocument/2006/relationships" id="375" r:id="R88fd6ee7fe7644d6"/>
    <p:sldId xmlns:r="http://schemas.openxmlformats.org/officeDocument/2006/relationships" id="376" r:id="R83640672cfb14d9a"/>
    <p:sldId xmlns:r="http://schemas.openxmlformats.org/officeDocument/2006/relationships" id="377" r:id="R885a058605ae4402"/>
    <p:sldId xmlns:r="http://schemas.openxmlformats.org/officeDocument/2006/relationships" id="378" r:id="R89a007861a9e4ec0"/>
    <p:sldId xmlns:r="http://schemas.openxmlformats.org/officeDocument/2006/relationships" id="379" r:id="R4d6626e0acef4ce8"/>
    <p:sldId xmlns:r="http://schemas.openxmlformats.org/officeDocument/2006/relationships" id="380" r:id="R6515fd6e0d9d411c"/>
    <p:sldId xmlns:r="http://schemas.openxmlformats.org/officeDocument/2006/relationships" id="381" r:id="R800c1cb003b84a23"/>
    <p:sldId xmlns:r="http://schemas.openxmlformats.org/officeDocument/2006/relationships" id="382" r:id="R3737aa09db2c4e6f"/>
    <p:sldId xmlns:r="http://schemas.openxmlformats.org/officeDocument/2006/relationships" id="383" r:id="Re973b5317ef04fd2"/>
    <p:sldId xmlns:r="http://schemas.openxmlformats.org/officeDocument/2006/relationships" id="384" r:id="Re32e84b7d73a4609"/>
    <p:sldId xmlns:r="http://schemas.openxmlformats.org/officeDocument/2006/relationships" id="385" r:id="R396e9f1ccd094e3c"/>
    <p:sldId xmlns:r="http://schemas.openxmlformats.org/officeDocument/2006/relationships" id="386" r:id="R12d3e775c2f54412"/>
    <p:sldId xmlns:r="http://schemas.openxmlformats.org/officeDocument/2006/relationships" id="387" r:id="R16e6f42e61fe4ee3"/>
    <p:sldId xmlns:r="http://schemas.openxmlformats.org/officeDocument/2006/relationships" id="388" r:id="R62ffcda7cb9f4757"/>
    <p:sldId xmlns:r="http://schemas.openxmlformats.org/officeDocument/2006/relationships" id="389" r:id="R00fe6b9fac9d4dc7"/>
    <p:sldId xmlns:r="http://schemas.openxmlformats.org/officeDocument/2006/relationships" id="390" r:id="R828c516612db4cbe"/>
    <p:sldId xmlns:r="http://schemas.openxmlformats.org/officeDocument/2006/relationships" id="391" r:id="R8a679fbdc1724785"/>
    <p:sldId xmlns:r="http://schemas.openxmlformats.org/officeDocument/2006/relationships" id="392" r:id="Re7732c9d1526490b"/>
    <p:sldId xmlns:r="http://schemas.openxmlformats.org/officeDocument/2006/relationships" id="393" r:id="R603250963eb848f7"/>
    <p:sldId xmlns:r="http://schemas.openxmlformats.org/officeDocument/2006/relationships" id="394" r:id="R513c0316be854a9e"/>
    <p:sldId xmlns:r="http://schemas.openxmlformats.org/officeDocument/2006/relationships" id="395" r:id="R933813e692bb4762"/>
    <p:sldId xmlns:r="http://schemas.openxmlformats.org/officeDocument/2006/relationships" id="396" r:id="Rb1136d537d424fcc"/>
    <p:sldId xmlns:r="http://schemas.openxmlformats.org/officeDocument/2006/relationships" id="397" r:id="R9183bd39958f4d3a"/>
    <p:sldId xmlns:r="http://schemas.openxmlformats.org/officeDocument/2006/relationships" id="398" r:id="R7a6b6f0b34d74830"/>
    <p:sldId xmlns:r="http://schemas.openxmlformats.org/officeDocument/2006/relationships" id="399" r:id="R88de1c94296a42dd"/>
    <p:sldId xmlns:r="http://schemas.openxmlformats.org/officeDocument/2006/relationships" id="400" r:id="R66cdda429dc64f52"/>
    <p:sldId xmlns:r="http://schemas.openxmlformats.org/officeDocument/2006/relationships" id="401" r:id="R1cb5688ba9c84f74"/>
    <p:sldId xmlns:r="http://schemas.openxmlformats.org/officeDocument/2006/relationships" id="402" r:id="R66b9fada67ef452a"/>
    <p:sldId xmlns:r="http://schemas.openxmlformats.org/officeDocument/2006/relationships" id="403" r:id="R94259529341f484c"/>
    <p:sldId xmlns:r="http://schemas.openxmlformats.org/officeDocument/2006/relationships" id="404" r:id="Ra0ac46756d26492d"/>
    <p:sldId xmlns:r="http://schemas.openxmlformats.org/officeDocument/2006/relationships" id="405" r:id="R9113ceb58bb94360"/>
    <p:sldId xmlns:r="http://schemas.openxmlformats.org/officeDocument/2006/relationships" id="406" r:id="Rd920769499dd4352"/>
    <p:sldId xmlns:r="http://schemas.openxmlformats.org/officeDocument/2006/relationships" id="407" r:id="R77d838e3236b4322"/>
    <p:sldId xmlns:r="http://schemas.openxmlformats.org/officeDocument/2006/relationships" id="408" r:id="R29edfd91f2af43c0"/>
    <p:sldId xmlns:r="http://schemas.openxmlformats.org/officeDocument/2006/relationships" id="409" r:id="R8a8765d7033145bc"/>
    <p:sldId xmlns:r="http://schemas.openxmlformats.org/officeDocument/2006/relationships" id="410" r:id="R87fad6e1e5af44e7"/>
    <p:sldId xmlns:r="http://schemas.openxmlformats.org/officeDocument/2006/relationships" id="411" r:id="R09e12ceece3b4c74"/>
    <p:sldId xmlns:r="http://schemas.openxmlformats.org/officeDocument/2006/relationships" id="412" r:id="R81dd956a37084b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a03807bd9640a5" /><Relationship Type="http://schemas.openxmlformats.org/officeDocument/2006/relationships/slideMaster" Target="/ppt/slideMasters/slideMaster1.xml" Id="R74f86be6d335486c" /><Relationship Type="http://schemas.openxmlformats.org/officeDocument/2006/relationships/notesMaster" Target="/ppt/notesMasters/notesMaster1.xml" Id="R5e4262acac3a4555" /><Relationship Type="http://schemas.openxmlformats.org/officeDocument/2006/relationships/presProps" Target="/ppt/presProps.xml" Id="R509e66afee054c3c" /><Relationship Type="http://schemas.openxmlformats.org/officeDocument/2006/relationships/tableStyles" Target="/ppt/tableStyles.xml" Id="R483aa2df7fd445b4" /><Relationship Type="http://schemas.openxmlformats.org/officeDocument/2006/relationships/slide" Target="/ppt/slides/slide1.xml" Id="R7639d953861c4f92" /><Relationship Type="http://schemas.openxmlformats.org/officeDocument/2006/relationships/slide" Target="/ppt/slides/slide2.xml" Id="R00a7ab864a3f4ed6" /><Relationship Type="http://schemas.openxmlformats.org/officeDocument/2006/relationships/slide" Target="/ppt/slides/slide3.xml" Id="R4a87d90c53514a22" /><Relationship Type="http://schemas.openxmlformats.org/officeDocument/2006/relationships/slide" Target="/ppt/slides/slide4.xml" Id="Re2d5cc0d6c194ed5" /><Relationship Type="http://schemas.openxmlformats.org/officeDocument/2006/relationships/slide" Target="/ppt/slides/slide5.xml" Id="R5d672621be1f4b16" /><Relationship Type="http://schemas.openxmlformats.org/officeDocument/2006/relationships/slide" Target="/ppt/slides/slide6.xml" Id="Rbce04f33d5f545ae" /><Relationship Type="http://schemas.openxmlformats.org/officeDocument/2006/relationships/slide" Target="/ppt/slides/slide7.xml" Id="Rb7284d61a0f34d62" /><Relationship Type="http://schemas.openxmlformats.org/officeDocument/2006/relationships/slide" Target="/ppt/slides/slide8.xml" Id="R423c1ddc60bd4427" /><Relationship Type="http://schemas.openxmlformats.org/officeDocument/2006/relationships/slide" Target="/ppt/slides/slide9.xml" Id="R1223a07823614beb" /><Relationship Type="http://schemas.openxmlformats.org/officeDocument/2006/relationships/slide" Target="/ppt/slides/slide10.xml" Id="Rd0967858e9fb4cd4" /><Relationship Type="http://schemas.openxmlformats.org/officeDocument/2006/relationships/slide" Target="/ppt/slides/slide11.xml" Id="R93b31ea3b1f94c37" /><Relationship Type="http://schemas.openxmlformats.org/officeDocument/2006/relationships/slide" Target="/ppt/slides/slide12.xml" Id="Rdf4c0fa4938d4c68" /><Relationship Type="http://schemas.openxmlformats.org/officeDocument/2006/relationships/slide" Target="/ppt/slides/slide13.xml" Id="Rab98b719cf514de9" /><Relationship Type="http://schemas.openxmlformats.org/officeDocument/2006/relationships/slide" Target="/ppt/slides/slide14.xml" Id="Rbc6967ea8d6548f6" /><Relationship Type="http://schemas.openxmlformats.org/officeDocument/2006/relationships/slide" Target="/ppt/slides/slide15.xml" Id="R8c2e0d58dc2b4672" /><Relationship Type="http://schemas.openxmlformats.org/officeDocument/2006/relationships/slide" Target="/ppt/slides/slide16.xml" Id="R117a685f9a3a491a" /><Relationship Type="http://schemas.openxmlformats.org/officeDocument/2006/relationships/slide" Target="/ppt/slides/slide17.xml" Id="R4747632f0810426a" /><Relationship Type="http://schemas.openxmlformats.org/officeDocument/2006/relationships/slide" Target="/ppt/slides/slide18.xml" Id="R0a5b68bb3a3b4537" /><Relationship Type="http://schemas.openxmlformats.org/officeDocument/2006/relationships/slide" Target="/ppt/slides/slide19.xml" Id="R812a9d61515042a9" /><Relationship Type="http://schemas.openxmlformats.org/officeDocument/2006/relationships/slide" Target="/ppt/slides/slide20.xml" Id="Rc30137fb892344d7" /><Relationship Type="http://schemas.openxmlformats.org/officeDocument/2006/relationships/slide" Target="/ppt/slides/slide21.xml" Id="R0344708f63274e60" /><Relationship Type="http://schemas.openxmlformats.org/officeDocument/2006/relationships/slide" Target="/ppt/slides/slide22.xml" Id="Rf3d9343282b54d49" /><Relationship Type="http://schemas.openxmlformats.org/officeDocument/2006/relationships/slide" Target="/ppt/slides/slide23.xml" Id="R076ceda7722d4d66" /><Relationship Type="http://schemas.openxmlformats.org/officeDocument/2006/relationships/slide" Target="/ppt/slides/slide24.xml" Id="Raaf931b8916a4371" /><Relationship Type="http://schemas.openxmlformats.org/officeDocument/2006/relationships/slide" Target="/ppt/slides/slide25.xml" Id="Rd98c5d80e04b4da8" /><Relationship Type="http://schemas.openxmlformats.org/officeDocument/2006/relationships/slide" Target="/ppt/slides/slide26.xml" Id="R79449a8d6bf54c3b" /><Relationship Type="http://schemas.openxmlformats.org/officeDocument/2006/relationships/slide" Target="/ppt/slides/slide27.xml" Id="R134c7d60e6e34b3a" /><Relationship Type="http://schemas.openxmlformats.org/officeDocument/2006/relationships/slide" Target="/ppt/slides/slide28.xml" Id="Reb232f1485d64313" /><Relationship Type="http://schemas.openxmlformats.org/officeDocument/2006/relationships/slide" Target="/ppt/slides/slide29.xml" Id="Rea52ae10d1584932" /><Relationship Type="http://schemas.openxmlformats.org/officeDocument/2006/relationships/slide" Target="/ppt/slides/slide30.xml" Id="R42c4632b2794455e" /><Relationship Type="http://schemas.openxmlformats.org/officeDocument/2006/relationships/slide" Target="/ppt/slides/slide31.xml" Id="Rb6870808631f40fa" /><Relationship Type="http://schemas.openxmlformats.org/officeDocument/2006/relationships/slide" Target="/ppt/slides/slide32.xml" Id="R45fbb84e9d8a4e61" /><Relationship Type="http://schemas.openxmlformats.org/officeDocument/2006/relationships/slide" Target="/ppt/slides/slide33.xml" Id="R02068f463d674371" /><Relationship Type="http://schemas.openxmlformats.org/officeDocument/2006/relationships/slide" Target="/ppt/slides/slide34.xml" Id="R783dee8dcc41425f" /><Relationship Type="http://schemas.openxmlformats.org/officeDocument/2006/relationships/slide" Target="/ppt/slides/slide35.xml" Id="R5efdd0bbcaa34f08" /><Relationship Type="http://schemas.openxmlformats.org/officeDocument/2006/relationships/slide" Target="/ppt/slides/slide36.xml" Id="R63e2eafd31d24e59" /><Relationship Type="http://schemas.openxmlformats.org/officeDocument/2006/relationships/slide" Target="/ppt/slides/slide37.xml" Id="R06cb716519624a2f" /><Relationship Type="http://schemas.openxmlformats.org/officeDocument/2006/relationships/slide" Target="/ppt/slides/slide38.xml" Id="R4a3504a82cd94701" /><Relationship Type="http://schemas.openxmlformats.org/officeDocument/2006/relationships/slide" Target="/ppt/slides/slide39.xml" Id="Rc6ca12793f414bc7" /><Relationship Type="http://schemas.openxmlformats.org/officeDocument/2006/relationships/slide" Target="/ppt/slides/slide40.xml" Id="Re9d446850cd94edc" /><Relationship Type="http://schemas.openxmlformats.org/officeDocument/2006/relationships/slide" Target="/ppt/slides/slide41.xml" Id="R7c0427b1f6be4bd1" /><Relationship Type="http://schemas.openxmlformats.org/officeDocument/2006/relationships/slide" Target="/ppt/slides/slide42.xml" Id="R4f2b39883ad94f05" /><Relationship Type="http://schemas.openxmlformats.org/officeDocument/2006/relationships/slide" Target="/ppt/slides/slide43.xml" Id="Rf96a4473fd354f9a" /><Relationship Type="http://schemas.openxmlformats.org/officeDocument/2006/relationships/slide" Target="/ppt/slides/slide44.xml" Id="Rf602bcfbb36c47fd" /><Relationship Type="http://schemas.openxmlformats.org/officeDocument/2006/relationships/slide" Target="/ppt/slides/slide45.xml" Id="R2310d1d0f4de4bc9" /><Relationship Type="http://schemas.openxmlformats.org/officeDocument/2006/relationships/slide" Target="/ppt/slides/slide46.xml" Id="R9053fcd7e2874143" /><Relationship Type="http://schemas.openxmlformats.org/officeDocument/2006/relationships/slide" Target="/ppt/slides/slide47.xml" Id="Rddb449314512473c" /><Relationship Type="http://schemas.openxmlformats.org/officeDocument/2006/relationships/slide" Target="/ppt/slides/slide48.xml" Id="R1b7b86ad90044fef" /><Relationship Type="http://schemas.openxmlformats.org/officeDocument/2006/relationships/slide" Target="/ppt/slides/slide49.xml" Id="R6d948b6c72444ff3" /><Relationship Type="http://schemas.openxmlformats.org/officeDocument/2006/relationships/slide" Target="/ppt/slides/slide50.xml" Id="Rd7fffbfc57b04565" /><Relationship Type="http://schemas.openxmlformats.org/officeDocument/2006/relationships/slide" Target="/ppt/slides/slide51.xml" Id="R199427efd3c0483a" /><Relationship Type="http://schemas.openxmlformats.org/officeDocument/2006/relationships/slide" Target="/ppt/slides/slide52.xml" Id="Rface4ca595ff4337" /><Relationship Type="http://schemas.openxmlformats.org/officeDocument/2006/relationships/slide" Target="/ppt/slides/slide53.xml" Id="R31e417850b9441c0" /><Relationship Type="http://schemas.openxmlformats.org/officeDocument/2006/relationships/slide" Target="/ppt/slides/slide54.xml" Id="Rdbccb7a51fd04436" /><Relationship Type="http://schemas.openxmlformats.org/officeDocument/2006/relationships/slide" Target="/ppt/slides/slide55.xml" Id="R11f49771da8941c0" /><Relationship Type="http://schemas.openxmlformats.org/officeDocument/2006/relationships/slide" Target="/ppt/slides/slide56.xml" Id="Re35f597456554cc2" /><Relationship Type="http://schemas.openxmlformats.org/officeDocument/2006/relationships/slide" Target="/ppt/slides/slide57.xml" Id="R5330f0ccb8c44f9b" /><Relationship Type="http://schemas.openxmlformats.org/officeDocument/2006/relationships/slide" Target="/ppt/slides/slide58.xml" Id="R4283339552a74e33" /><Relationship Type="http://schemas.openxmlformats.org/officeDocument/2006/relationships/slide" Target="/ppt/slides/slide59.xml" Id="Ra13011ee59e441fe" /><Relationship Type="http://schemas.openxmlformats.org/officeDocument/2006/relationships/slide" Target="/ppt/slides/slide60.xml" Id="R8969797ef4f64238" /><Relationship Type="http://schemas.openxmlformats.org/officeDocument/2006/relationships/slide" Target="/ppt/slides/slide61.xml" Id="Rb1f9f4be3efd4ddf" /><Relationship Type="http://schemas.openxmlformats.org/officeDocument/2006/relationships/slide" Target="/ppt/slides/slide62.xml" Id="R714ac12fb98a41bf" /><Relationship Type="http://schemas.openxmlformats.org/officeDocument/2006/relationships/slide" Target="/ppt/slides/slide63.xml" Id="R65e549da061c418c" /><Relationship Type="http://schemas.openxmlformats.org/officeDocument/2006/relationships/slide" Target="/ppt/slides/slide64.xml" Id="R3cfa75dfba80404d" /><Relationship Type="http://schemas.openxmlformats.org/officeDocument/2006/relationships/slide" Target="/ppt/slides/slide65.xml" Id="R4364baf2b92b45e8" /><Relationship Type="http://schemas.openxmlformats.org/officeDocument/2006/relationships/slide" Target="/ppt/slides/slide66.xml" Id="R91ea6756df754f99" /><Relationship Type="http://schemas.openxmlformats.org/officeDocument/2006/relationships/slide" Target="/ppt/slides/slide67.xml" Id="Rb604958682344970" /><Relationship Type="http://schemas.openxmlformats.org/officeDocument/2006/relationships/slide" Target="/ppt/slides/slide68.xml" Id="R692275177fac43a5" /><Relationship Type="http://schemas.openxmlformats.org/officeDocument/2006/relationships/slide" Target="/ppt/slides/slide69.xml" Id="Racfbe1e86645464f" /><Relationship Type="http://schemas.openxmlformats.org/officeDocument/2006/relationships/slide" Target="/ppt/slides/slide70.xml" Id="Rd767e8f5270147fb" /><Relationship Type="http://schemas.openxmlformats.org/officeDocument/2006/relationships/slide" Target="/ppt/slides/slide71.xml" Id="R00f2e7e0401941e7" /><Relationship Type="http://schemas.openxmlformats.org/officeDocument/2006/relationships/slide" Target="/ppt/slides/slide72.xml" Id="R7f1243b425784078" /><Relationship Type="http://schemas.openxmlformats.org/officeDocument/2006/relationships/slide" Target="/ppt/slides/slide73.xml" Id="R701208568bca4006" /><Relationship Type="http://schemas.openxmlformats.org/officeDocument/2006/relationships/slide" Target="/ppt/slides/slide74.xml" Id="Rb2cb881b5fda46a6" /><Relationship Type="http://schemas.openxmlformats.org/officeDocument/2006/relationships/slide" Target="/ppt/slides/slide75.xml" Id="R84b2bc5ed9b04497" /><Relationship Type="http://schemas.openxmlformats.org/officeDocument/2006/relationships/slide" Target="/ppt/slides/slide76.xml" Id="Rf5090a181a2147ca" /><Relationship Type="http://schemas.openxmlformats.org/officeDocument/2006/relationships/slide" Target="/ppt/slides/slide77.xml" Id="R1661c47b66784707" /><Relationship Type="http://schemas.openxmlformats.org/officeDocument/2006/relationships/slide" Target="/ppt/slides/slide78.xml" Id="Rb41b91607c5a45eb" /><Relationship Type="http://schemas.openxmlformats.org/officeDocument/2006/relationships/slide" Target="/ppt/slides/slide79.xml" Id="R7db98b702d6d4daf" /><Relationship Type="http://schemas.openxmlformats.org/officeDocument/2006/relationships/slide" Target="/ppt/slides/slide80.xml" Id="Rda4ff7bdad9d425a" /><Relationship Type="http://schemas.openxmlformats.org/officeDocument/2006/relationships/slide" Target="/ppt/slides/slide81.xml" Id="R4ec3608ceee54203" /><Relationship Type="http://schemas.openxmlformats.org/officeDocument/2006/relationships/slide" Target="/ppt/slides/slide82.xml" Id="Rb60a3e575e164888" /><Relationship Type="http://schemas.openxmlformats.org/officeDocument/2006/relationships/slide" Target="/ppt/slides/slide83.xml" Id="Rd5a79d9b776a471d" /><Relationship Type="http://schemas.openxmlformats.org/officeDocument/2006/relationships/slide" Target="/ppt/slides/slide84.xml" Id="R6874488838094f15" /><Relationship Type="http://schemas.openxmlformats.org/officeDocument/2006/relationships/slide" Target="/ppt/slides/slide85.xml" Id="R3c4acec58d3043a7" /><Relationship Type="http://schemas.openxmlformats.org/officeDocument/2006/relationships/slide" Target="/ppt/slides/slide86.xml" Id="Rc9c92486770c4da7" /><Relationship Type="http://schemas.openxmlformats.org/officeDocument/2006/relationships/slide" Target="/ppt/slides/slide87.xml" Id="Re20eeaae5dd148e6" /><Relationship Type="http://schemas.openxmlformats.org/officeDocument/2006/relationships/slide" Target="/ppt/slides/slide88.xml" Id="R8282dba8a65d41ff" /><Relationship Type="http://schemas.openxmlformats.org/officeDocument/2006/relationships/slide" Target="/ppt/slides/slide89.xml" Id="Rbe37c078d12645e0" /><Relationship Type="http://schemas.openxmlformats.org/officeDocument/2006/relationships/slide" Target="/ppt/slides/slide90.xml" Id="R0a391d65f00a4366" /><Relationship Type="http://schemas.openxmlformats.org/officeDocument/2006/relationships/slide" Target="/ppt/slides/slide91.xml" Id="R87b04c7e33004035" /><Relationship Type="http://schemas.openxmlformats.org/officeDocument/2006/relationships/slide" Target="/ppt/slides/slide92.xml" Id="R9743de6048ed4fdb" /><Relationship Type="http://schemas.openxmlformats.org/officeDocument/2006/relationships/slide" Target="/ppt/slides/slide93.xml" Id="R702d9ef3961240b0" /><Relationship Type="http://schemas.openxmlformats.org/officeDocument/2006/relationships/slide" Target="/ppt/slides/slide94.xml" Id="R11bd4f0060074548" /><Relationship Type="http://schemas.openxmlformats.org/officeDocument/2006/relationships/slide" Target="/ppt/slides/slide95.xml" Id="R81a749a23953479a" /><Relationship Type="http://schemas.openxmlformats.org/officeDocument/2006/relationships/slide" Target="/ppt/slides/slide96.xml" Id="R66672598c9a34d57" /><Relationship Type="http://schemas.openxmlformats.org/officeDocument/2006/relationships/slide" Target="/ppt/slides/slide97.xml" Id="R79f163bf0f754ca1" /><Relationship Type="http://schemas.openxmlformats.org/officeDocument/2006/relationships/slide" Target="/ppt/slides/slide98.xml" Id="R93345f490cfb4abd" /><Relationship Type="http://schemas.openxmlformats.org/officeDocument/2006/relationships/slide" Target="/ppt/slides/slide99.xml" Id="R045e6790fd764ec8" /><Relationship Type="http://schemas.openxmlformats.org/officeDocument/2006/relationships/slide" Target="/ppt/slides/slide100.xml" Id="R534552b70aad4f7a" /><Relationship Type="http://schemas.openxmlformats.org/officeDocument/2006/relationships/slide" Target="/ppt/slides/slide101.xml" Id="Rbb9b7ac3894243e4" /><Relationship Type="http://schemas.openxmlformats.org/officeDocument/2006/relationships/slide" Target="/ppt/slides/slide102.xml" Id="R76e58222d8734dcb" /><Relationship Type="http://schemas.openxmlformats.org/officeDocument/2006/relationships/slide" Target="/ppt/slides/slide103.xml" Id="R278ed6798edc4bd9" /><Relationship Type="http://schemas.openxmlformats.org/officeDocument/2006/relationships/slide" Target="/ppt/slides/slide104.xml" Id="Rf8b1a820f43d4461" /><Relationship Type="http://schemas.openxmlformats.org/officeDocument/2006/relationships/slide" Target="/ppt/slides/slide105.xml" Id="Ra5ddba37eef54d71" /><Relationship Type="http://schemas.openxmlformats.org/officeDocument/2006/relationships/slide" Target="/ppt/slides/slide106.xml" Id="Rdbdde911557a4a5c" /><Relationship Type="http://schemas.openxmlformats.org/officeDocument/2006/relationships/slide" Target="/ppt/slides/slide107.xml" Id="Rbdab9c7d569b48a6" /><Relationship Type="http://schemas.openxmlformats.org/officeDocument/2006/relationships/slide" Target="/ppt/slides/slide108.xml" Id="Rb75386c64a094d78" /><Relationship Type="http://schemas.openxmlformats.org/officeDocument/2006/relationships/slide" Target="/ppt/slides/slide109.xml" Id="R19c4f02c91c74f4b" /><Relationship Type="http://schemas.openxmlformats.org/officeDocument/2006/relationships/slide" Target="/ppt/slides/slide110.xml" Id="Rb388eda802bf40de" /><Relationship Type="http://schemas.openxmlformats.org/officeDocument/2006/relationships/slide" Target="/ppt/slides/slide111.xml" Id="R25b259acf1bb481e" /><Relationship Type="http://schemas.openxmlformats.org/officeDocument/2006/relationships/slide" Target="/ppt/slides/slide112.xml" Id="R189fc0c32164459a" /><Relationship Type="http://schemas.openxmlformats.org/officeDocument/2006/relationships/slide" Target="/ppt/slides/slide113.xml" Id="Rb047721b25144fa9" /><Relationship Type="http://schemas.openxmlformats.org/officeDocument/2006/relationships/slide" Target="/ppt/slides/slide114.xml" Id="R41231f97515b4fd7" /><Relationship Type="http://schemas.openxmlformats.org/officeDocument/2006/relationships/slide" Target="/ppt/slides/slide115.xml" Id="Rc00ce9054bfc4e1a" /><Relationship Type="http://schemas.openxmlformats.org/officeDocument/2006/relationships/slide" Target="/ppt/slides/slide116.xml" Id="R09be930abc9c4b78" /><Relationship Type="http://schemas.openxmlformats.org/officeDocument/2006/relationships/slide" Target="/ppt/slides/slide117.xml" Id="R7b9b63de32cc4663" /><Relationship Type="http://schemas.openxmlformats.org/officeDocument/2006/relationships/slide" Target="/ppt/slides/slide118.xml" Id="Rc5d4dcfefcc84cee" /><Relationship Type="http://schemas.openxmlformats.org/officeDocument/2006/relationships/slide" Target="/ppt/slides/slide119.xml" Id="R534b7bcbaa024c8b" /><Relationship Type="http://schemas.openxmlformats.org/officeDocument/2006/relationships/slide" Target="/ppt/slides/slide120.xml" Id="R88fd6ee7fe7644d6" /><Relationship Type="http://schemas.openxmlformats.org/officeDocument/2006/relationships/slide" Target="/ppt/slides/slide121.xml" Id="R83640672cfb14d9a" /><Relationship Type="http://schemas.openxmlformats.org/officeDocument/2006/relationships/slide" Target="/ppt/slides/slide122.xml" Id="R885a058605ae4402" /><Relationship Type="http://schemas.openxmlformats.org/officeDocument/2006/relationships/slide" Target="/ppt/slides/slide123.xml" Id="R89a007861a9e4ec0" /><Relationship Type="http://schemas.openxmlformats.org/officeDocument/2006/relationships/slide" Target="/ppt/slides/slide124.xml" Id="R4d6626e0acef4ce8" /><Relationship Type="http://schemas.openxmlformats.org/officeDocument/2006/relationships/slide" Target="/ppt/slides/slide125.xml" Id="R6515fd6e0d9d411c" /><Relationship Type="http://schemas.openxmlformats.org/officeDocument/2006/relationships/slide" Target="/ppt/slides/slide126.xml" Id="R800c1cb003b84a23" /><Relationship Type="http://schemas.openxmlformats.org/officeDocument/2006/relationships/slide" Target="/ppt/slides/slide127.xml" Id="R3737aa09db2c4e6f" /><Relationship Type="http://schemas.openxmlformats.org/officeDocument/2006/relationships/slide" Target="/ppt/slides/slide128.xml" Id="Re973b5317ef04fd2" /><Relationship Type="http://schemas.openxmlformats.org/officeDocument/2006/relationships/slide" Target="/ppt/slides/slide129.xml" Id="Re32e84b7d73a4609" /><Relationship Type="http://schemas.openxmlformats.org/officeDocument/2006/relationships/slide" Target="/ppt/slides/slide130.xml" Id="R396e9f1ccd094e3c" /><Relationship Type="http://schemas.openxmlformats.org/officeDocument/2006/relationships/slide" Target="/ppt/slides/slide131.xml" Id="R12d3e775c2f54412" /><Relationship Type="http://schemas.openxmlformats.org/officeDocument/2006/relationships/slide" Target="/ppt/slides/slide132.xml" Id="R16e6f42e61fe4ee3" /><Relationship Type="http://schemas.openxmlformats.org/officeDocument/2006/relationships/slide" Target="/ppt/slides/slide133.xml" Id="R62ffcda7cb9f4757" /><Relationship Type="http://schemas.openxmlformats.org/officeDocument/2006/relationships/slide" Target="/ppt/slides/slide134.xml" Id="R00fe6b9fac9d4dc7" /><Relationship Type="http://schemas.openxmlformats.org/officeDocument/2006/relationships/slide" Target="/ppt/slides/slide135.xml" Id="R828c516612db4cbe" /><Relationship Type="http://schemas.openxmlformats.org/officeDocument/2006/relationships/slide" Target="/ppt/slides/slide136.xml" Id="R8a679fbdc1724785" /><Relationship Type="http://schemas.openxmlformats.org/officeDocument/2006/relationships/slide" Target="/ppt/slides/slide137.xml" Id="Re7732c9d1526490b" /><Relationship Type="http://schemas.openxmlformats.org/officeDocument/2006/relationships/slide" Target="/ppt/slides/slide138.xml" Id="R603250963eb848f7" /><Relationship Type="http://schemas.openxmlformats.org/officeDocument/2006/relationships/slide" Target="/ppt/slides/slide139.xml" Id="R513c0316be854a9e" /><Relationship Type="http://schemas.openxmlformats.org/officeDocument/2006/relationships/slide" Target="/ppt/slides/slide140.xml" Id="R933813e692bb4762" /><Relationship Type="http://schemas.openxmlformats.org/officeDocument/2006/relationships/slide" Target="/ppt/slides/slide141.xml" Id="Rb1136d537d424fcc" /><Relationship Type="http://schemas.openxmlformats.org/officeDocument/2006/relationships/slide" Target="/ppt/slides/slide142.xml" Id="R9183bd39958f4d3a" /><Relationship Type="http://schemas.openxmlformats.org/officeDocument/2006/relationships/slide" Target="/ppt/slides/slide143.xml" Id="R7a6b6f0b34d74830" /><Relationship Type="http://schemas.openxmlformats.org/officeDocument/2006/relationships/slide" Target="/ppt/slides/slide144.xml" Id="R88de1c94296a42dd" /><Relationship Type="http://schemas.openxmlformats.org/officeDocument/2006/relationships/slide" Target="/ppt/slides/slide145.xml" Id="R66cdda429dc64f52" /><Relationship Type="http://schemas.openxmlformats.org/officeDocument/2006/relationships/slide" Target="/ppt/slides/slide146.xml" Id="R1cb5688ba9c84f74" /><Relationship Type="http://schemas.openxmlformats.org/officeDocument/2006/relationships/slide" Target="/ppt/slides/slide147.xml" Id="R66b9fada67ef452a" /><Relationship Type="http://schemas.openxmlformats.org/officeDocument/2006/relationships/slide" Target="/ppt/slides/slide148.xml" Id="R94259529341f484c" /><Relationship Type="http://schemas.openxmlformats.org/officeDocument/2006/relationships/slide" Target="/ppt/slides/slide149.xml" Id="Ra0ac46756d26492d" /><Relationship Type="http://schemas.openxmlformats.org/officeDocument/2006/relationships/slide" Target="/ppt/slides/slide150.xml" Id="R9113ceb58bb94360" /><Relationship Type="http://schemas.openxmlformats.org/officeDocument/2006/relationships/slide" Target="/ppt/slides/slide151.xml" Id="Rd920769499dd4352" /><Relationship Type="http://schemas.openxmlformats.org/officeDocument/2006/relationships/slide" Target="/ppt/slides/slide152.xml" Id="R77d838e3236b4322" /><Relationship Type="http://schemas.openxmlformats.org/officeDocument/2006/relationships/slide" Target="/ppt/slides/slide153.xml" Id="R29edfd91f2af43c0" /><Relationship Type="http://schemas.openxmlformats.org/officeDocument/2006/relationships/slide" Target="/ppt/slides/slide154.xml" Id="R8a8765d7033145bc" /><Relationship Type="http://schemas.openxmlformats.org/officeDocument/2006/relationships/slide" Target="/ppt/slides/slide155.xml" Id="R87fad6e1e5af44e7" /><Relationship Type="http://schemas.openxmlformats.org/officeDocument/2006/relationships/slide" Target="/ppt/slides/slide156.xml" Id="R09e12ceece3b4c74" /><Relationship Type="http://schemas.openxmlformats.org/officeDocument/2006/relationships/slide" Target="/ppt/slides/slide157.xml" Id="R81dd956a37084b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bc3ad1eb754c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d138b54654455e" /><Relationship Type="http://schemas.openxmlformats.org/officeDocument/2006/relationships/notesMaster" Target="/ppt/notesMasters/notesMaster1.xml" Id="Rbafa59240c8445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a57259e9de43f3" /><Relationship Type="http://schemas.openxmlformats.org/officeDocument/2006/relationships/notesMaster" Target="/ppt/notesMasters/notesMaster1.xml" Id="R95a1fcdb46d349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43389ead5c472a" /><Relationship Type="http://schemas.openxmlformats.org/officeDocument/2006/relationships/notesMaster" Target="/ppt/notesMasters/notesMaster1.xml" Id="R6027179da5a648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4e4b4196d64388" /><Relationship Type="http://schemas.openxmlformats.org/officeDocument/2006/relationships/notesMaster" Target="/ppt/notesMasters/notesMaster1.xml" Id="R7f58854abfde44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ae4e2f585a4137" /><Relationship Type="http://schemas.openxmlformats.org/officeDocument/2006/relationships/notesMaster" Target="/ppt/notesMasters/notesMaster1.xml" Id="R8bf85e92ef7b48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d88a63d512455a" /><Relationship Type="http://schemas.openxmlformats.org/officeDocument/2006/relationships/notesMaster" Target="/ppt/notesMasters/notesMaster1.xml" Id="Reb7b85bf254442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38872ff61042e1" /><Relationship Type="http://schemas.openxmlformats.org/officeDocument/2006/relationships/notesMaster" Target="/ppt/notesMasters/notesMaster1.xml" Id="Rad0007a99a974c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3069f6cd0a4deb" /><Relationship Type="http://schemas.openxmlformats.org/officeDocument/2006/relationships/notesMaster" Target="/ppt/notesMasters/notesMaster1.xml" Id="R343dc094bd9c4a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4fd99987194757" /><Relationship Type="http://schemas.openxmlformats.org/officeDocument/2006/relationships/notesMaster" Target="/ppt/notesMasters/notesMaster1.xml" Id="Rf7ad0f9d2c6e43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677f42154d4b1c" /><Relationship Type="http://schemas.openxmlformats.org/officeDocument/2006/relationships/notesMaster" Target="/ppt/notesMasters/notesMaster1.xml" Id="R326ece0f7dc64b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c46577298a440d" /><Relationship Type="http://schemas.openxmlformats.org/officeDocument/2006/relationships/notesMaster" Target="/ppt/notesMasters/notesMaster1.xml" Id="Rc4dfea82620c4c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ff8ddfce384290" /><Relationship Type="http://schemas.openxmlformats.org/officeDocument/2006/relationships/notesMaster" Target="/ppt/notesMasters/notesMaster1.xml" Id="R2f1c35b4592149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4c664164aa4a40" /><Relationship Type="http://schemas.openxmlformats.org/officeDocument/2006/relationships/notesMaster" Target="/ppt/notesMasters/notesMaster1.xml" Id="Rd49bc585c95a4f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3348a9d8d74b7f" /><Relationship Type="http://schemas.openxmlformats.org/officeDocument/2006/relationships/notesMaster" Target="/ppt/notesMasters/notesMaster1.xml" Id="Rf9721d00f5ff4a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a16a8b09c64cec" /><Relationship Type="http://schemas.openxmlformats.org/officeDocument/2006/relationships/notesMaster" Target="/ppt/notesMasters/notesMaster1.xml" Id="Ra9b527c0b1d947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fdc5ce44ac4423" /><Relationship Type="http://schemas.openxmlformats.org/officeDocument/2006/relationships/notesMaster" Target="/ppt/notesMasters/notesMaster1.xml" Id="R54589f3fd05e47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43e8d188674a26" /><Relationship Type="http://schemas.openxmlformats.org/officeDocument/2006/relationships/notesMaster" Target="/ppt/notesMasters/notesMaster1.xml" Id="R1accb920a50e46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23c05811a64e31" /><Relationship Type="http://schemas.openxmlformats.org/officeDocument/2006/relationships/notesMaster" Target="/ppt/notesMasters/notesMaster1.xml" Id="Rdadb0da666bf4d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65e4d795d924e5c" /><Relationship Type="http://schemas.openxmlformats.org/officeDocument/2006/relationships/notesMaster" Target="/ppt/notesMasters/notesMaster1.xml" Id="R5fd7885258d84f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0f9cb16b04c4aa9" /><Relationship Type="http://schemas.openxmlformats.org/officeDocument/2006/relationships/notesMaster" Target="/ppt/notesMasters/notesMaster1.xml" Id="R785fcf51ebc547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14339c523f44ac" /><Relationship Type="http://schemas.openxmlformats.org/officeDocument/2006/relationships/notesMaster" Target="/ppt/notesMasters/notesMaster1.xml" Id="R1e061c2e325e48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2646c1e7f044af3" /><Relationship Type="http://schemas.openxmlformats.org/officeDocument/2006/relationships/notesMaster" Target="/ppt/notesMasters/notesMaster1.xml" Id="R392e5eac79e04aa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da40a483904498" /><Relationship Type="http://schemas.openxmlformats.org/officeDocument/2006/relationships/notesMaster" Target="/ppt/notesMasters/notesMaster1.xml" Id="R0c662e73bd5e4ad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d9eac003d3d441d" /><Relationship Type="http://schemas.openxmlformats.org/officeDocument/2006/relationships/notesMaster" Target="/ppt/notesMasters/notesMaster1.xml" Id="R384d002d98e24c0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eee324f784468b" /><Relationship Type="http://schemas.openxmlformats.org/officeDocument/2006/relationships/notesMaster" Target="/ppt/notesMasters/notesMaster1.xml" Id="Ra8e1b15dbdb6485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6de346ff7c4876" /><Relationship Type="http://schemas.openxmlformats.org/officeDocument/2006/relationships/notesMaster" Target="/ppt/notesMasters/notesMaster1.xml" Id="Rd18542fdb112402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beb6b4b8474672" /><Relationship Type="http://schemas.openxmlformats.org/officeDocument/2006/relationships/notesMaster" Target="/ppt/notesMasters/notesMaster1.xml" Id="R8df06d53bd434f9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1a5d657d074e57" /><Relationship Type="http://schemas.openxmlformats.org/officeDocument/2006/relationships/notesMaster" Target="/ppt/notesMasters/notesMaster1.xml" Id="Ra93a9ef41521440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ba901b16a874f9b" /><Relationship Type="http://schemas.openxmlformats.org/officeDocument/2006/relationships/notesMaster" Target="/ppt/notesMasters/notesMaster1.xml" Id="R2ad080c259e94b4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29c5da7cc12414b" /><Relationship Type="http://schemas.openxmlformats.org/officeDocument/2006/relationships/notesMaster" Target="/ppt/notesMasters/notesMaster1.xml" Id="R02262884d49e4f4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7920b07abc2497f" /><Relationship Type="http://schemas.openxmlformats.org/officeDocument/2006/relationships/notesMaster" Target="/ppt/notesMasters/notesMaster1.xml" Id="R25fc9f1844b64ea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f367d0baa34cba" /><Relationship Type="http://schemas.openxmlformats.org/officeDocument/2006/relationships/notesMaster" Target="/ppt/notesMasters/notesMaster1.xml" Id="R4cb75ca68d90490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ecd8656dd1f4d5b" /><Relationship Type="http://schemas.openxmlformats.org/officeDocument/2006/relationships/notesMaster" Target="/ppt/notesMasters/notesMaster1.xml" Id="Rbd2b6fd984a149e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1f82126f2cb4b25" /><Relationship Type="http://schemas.openxmlformats.org/officeDocument/2006/relationships/notesMaster" Target="/ppt/notesMasters/notesMaster1.xml" Id="Reedb42490d6c47e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731cc549c864019" /><Relationship Type="http://schemas.openxmlformats.org/officeDocument/2006/relationships/notesMaster" Target="/ppt/notesMasters/notesMaster1.xml" Id="R9cfcfd9176e3438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d92044e3a4426c" /><Relationship Type="http://schemas.openxmlformats.org/officeDocument/2006/relationships/notesMaster" Target="/ppt/notesMasters/notesMaster1.xml" Id="Rafc77f0349ae4be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2dd49e2f9064f38" /><Relationship Type="http://schemas.openxmlformats.org/officeDocument/2006/relationships/notesMaster" Target="/ppt/notesMasters/notesMaster1.xml" Id="Redfa5716efd14fe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ccf333be0344dc0" /><Relationship Type="http://schemas.openxmlformats.org/officeDocument/2006/relationships/notesMaster" Target="/ppt/notesMasters/notesMaster1.xml" Id="R59307983c17249d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cce68d120ee4d3c" /><Relationship Type="http://schemas.openxmlformats.org/officeDocument/2006/relationships/notesMaster" Target="/ppt/notesMasters/notesMaster1.xml" Id="R6163100a34354f0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67dfc5758c440bb" /><Relationship Type="http://schemas.openxmlformats.org/officeDocument/2006/relationships/notesMaster" Target="/ppt/notesMasters/notesMaster1.xml" Id="R93bed6f250fc420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95eaa21dc12448a" /><Relationship Type="http://schemas.openxmlformats.org/officeDocument/2006/relationships/notesMaster" Target="/ppt/notesMasters/notesMaster1.xml" Id="R152b514a31db413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03580ccc9064b9b" /><Relationship Type="http://schemas.openxmlformats.org/officeDocument/2006/relationships/notesMaster" Target="/ppt/notesMasters/notesMaster1.xml" Id="Re69d13eb51e547a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21722e6d3bd44e0" /><Relationship Type="http://schemas.openxmlformats.org/officeDocument/2006/relationships/notesMaster" Target="/ppt/notesMasters/notesMaster1.xml" Id="R17643b73d68e46e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9ba5fa21bf14ed0" /><Relationship Type="http://schemas.openxmlformats.org/officeDocument/2006/relationships/notesMaster" Target="/ppt/notesMasters/notesMaster1.xml" Id="R33b94d28c7fb449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d7273f017684434" /><Relationship Type="http://schemas.openxmlformats.org/officeDocument/2006/relationships/notesMaster" Target="/ppt/notesMasters/notesMaster1.xml" Id="R380b716b604646a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18f96e011fe496f" /><Relationship Type="http://schemas.openxmlformats.org/officeDocument/2006/relationships/notesMaster" Target="/ppt/notesMasters/notesMaster1.xml" Id="Rd9ae79f870394f1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d0974f7680c4169" /><Relationship Type="http://schemas.openxmlformats.org/officeDocument/2006/relationships/notesMaster" Target="/ppt/notesMasters/notesMaster1.xml" Id="Rda20d872607648c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082d4fe31724883" /><Relationship Type="http://schemas.openxmlformats.org/officeDocument/2006/relationships/notesMaster" Target="/ppt/notesMasters/notesMaster1.xml" Id="R25a01acdb9ff48c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8ea1d7cef2843cb" /><Relationship Type="http://schemas.openxmlformats.org/officeDocument/2006/relationships/notesMaster" Target="/ppt/notesMasters/notesMaster1.xml" Id="R69802825957743a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483731038694ff1" /><Relationship Type="http://schemas.openxmlformats.org/officeDocument/2006/relationships/notesMaster" Target="/ppt/notesMasters/notesMaster1.xml" Id="R04fe48f6f239496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d75a4c8aa2641a3" /><Relationship Type="http://schemas.openxmlformats.org/officeDocument/2006/relationships/notesMaster" Target="/ppt/notesMasters/notesMaster1.xml" Id="Rfef919d93e474af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cc618896f55408b" /><Relationship Type="http://schemas.openxmlformats.org/officeDocument/2006/relationships/notesMaster" Target="/ppt/notesMasters/notesMaster1.xml" Id="Rc0c20966049b4d2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356161c2f0f4f66" /><Relationship Type="http://schemas.openxmlformats.org/officeDocument/2006/relationships/notesMaster" Target="/ppt/notesMasters/notesMaster1.xml" Id="R3151d60494a8410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0f2cf17db184d01" /><Relationship Type="http://schemas.openxmlformats.org/officeDocument/2006/relationships/notesMaster" Target="/ppt/notesMasters/notesMaster1.xml" Id="R6ba991818169422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10c9bafc5994523" /><Relationship Type="http://schemas.openxmlformats.org/officeDocument/2006/relationships/notesMaster" Target="/ppt/notesMasters/notesMaster1.xml" Id="R38ddcc739b6c4de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001c15273304208" /><Relationship Type="http://schemas.openxmlformats.org/officeDocument/2006/relationships/notesMaster" Target="/ppt/notesMasters/notesMaster1.xml" Id="R32ec5060de36467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35a9a426f804513" /><Relationship Type="http://schemas.openxmlformats.org/officeDocument/2006/relationships/notesMaster" Target="/ppt/notesMasters/notesMaster1.xml" Id="R77810f29b5734a4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aa88ac7e13b4927" /><Relationship Type="http://schemas.openxmlformats.org/officeDocument/2006/relationships/notesMaster" Target="/ppt/notesMasters/notesMaster1.xml" Id="R86ed6a5d2c4242e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e0406349123459a" /><Relationship Type="http://schemas.openxmlformats.org/officeDocument/2006/relationships/notesMaster" Target="/ppt/notesMasters/notesMaster1.xml" Id="Red78bd7317444f4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ae537176cb8406d" /><Relationship Type="http://schemas.openxmlformats.org/officeDocument/2006/relationships/notesMaster" Target="/ppt/notesMasters/notesMaster1.xml" Id="R927466bc824841b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a8e14d1250e4ca2" /><Relationship Type="http://schemas.openxmlformats.org/officeDocument/2006/relationships/notesMaster" Target="/ppt/notesMasters/notesMaster1.xml" Id="R2aa09ec63882474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58d3c206c314c00" /><Relationship Type="http://schemas.openxmlformats.org/officeDocument/2006/relationships/notesMaster" Target="/ppt/notesMasters/notesMaster1.xml" Id="R3b7fdfcabd1f42d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b39303304654fa3" /><Relationship Type="http://schemas.openxmlformats.org/officeDocument/2006/relationships/notesMaster" Target="/ppt/notesMasters/notesMaster1.xml" Id="Rf5b66a99e89f445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34bb3a9bf1e43fd" /><Relationship Type="http://schemas.openxmlformats.org/officeDocument/2006/relationships/notesMaster" Target="/ppt/notesMasters/notesMaster1.xml" Id="R49aca0b194f64c0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331af4cd796475c" /><Relationship Type="http://schemas.openxmlformats.org/officeDocument/2006/relationships/notesMaster" Target="/ppt/notesMasters/notesMaster1.xml" Id="R6ed3d638dbc643f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e77bfdc6c524b87" /><Relationship Type="http://schemas.openxmlformats.org/officeDocument/2006/relationships/notesMaster" Target="/ppt/notesMasters/notesMaster1.xml" Id="R285f9645d95d467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fefc97bd5764aca" /><Relationship Type="http://schemas.openxmlformats.org/officeDocument/2006/relationships/notesMaster" Target="/ppt/notesMasters/notesMaster1.xml" Id="R6f024eb5aa0a48d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d95e2c0161641ac" /><Relationship Type="http://schemas.openxmlformats.org/officeDocument/2006/relationships/notesMaster" Target="/ppt/notesMasters/notesMaster1.xml" Id="Red7f713586a4486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2bb123f56a74e20" /><Relationship Type="http://schemas.openxmlformats.org/officeDocument/2006/relationships/notesMaster" Target="/ppt/notesMasters/notesMaster1.xml" Id="Re3b29a673e79480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0e0801a2e1b044ce" /><Relationship Type="http://schemas.openxmlformats.org/officeDocument/2006/relationships/notesMaster" Target="/ppt/notesMasters/notesMaster1.xml" Id="Rd82c210cb2034b1c"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bfd634ebee544d01" /><Relationship Type="http://schemas.openxmlformats.org/officeDocument/2006/relationships/notesMaster" Target="/ppt/notesMasters/notesMaster1.xml" Id="R05b2edc8a8f34bf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c65842b44ec14d67" /><Relationship Type="http://schemas.openxmlformats.org/officeDocument/2006/relationships/notesMaster" Target="/ppt/notesMasters/notesMaster1.xml" Id="Rb750651d79714eb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560aad93753642d4" /><Relationship Type="http://schemas.openxmlformats.org/officeDocument/2006/relationships/notesMaster" Target="/ppt/notesMasters/notesMaster1.xml" Id="R29b46c95e5f8412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649ff35ddb0e4c48" /><Relationship Type="http://schemas.openxmlformats.org/officeDocument/2006/relationships/notesMaster" Target="/ppt/notesMasters/notesMaster1.xml" Id="R3150188e36ea48d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cf5d196bfe5477a" /><Relationship Type="http://schemas.openxmlformats.org/officeDocument/2006/relationships/notesMaster" Target="/ppt/notesMasters/notesMaster1.xml" Id="R026881d22bb14d00"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b9eba04639b94754" /><Relationship Type="http://schemas.openxmlformats.org/officeDocument/2006/relationships/notesMaster" Target="/ppt/notesMasters/notesMaster1.xml" Id="Rb26277beceee496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566f1bd849a49b6" /><Relationship Type="http://schemas.openxmlformats.org/officeDocument/2006/relationships/notesMaster" Target="/ppt/notesMasters/notesMaster1.xml" Id="Reeca882035134b0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bbd81f6af974348" /><Relationship Type="http://schemas.openxmlformats.org/officeDocument/2006/relationships/notesMaster" Target="/ppt/notesMasters/notesMaster1.xml" Id="Rbe2116a629784576"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35e3ded479714c55" /><Relationship Type="http://schemas.openxmlformats.org/officeDocument/2006/relationships/notesMaster" Target="/ppt/notesMasters/notesMaster1.xml" Id="R70f406e56c0c4094"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ba93ce63f0a4f78" /><Relationship Type="http://schemas.openxmlformats.org/officeDocument/2006/relationships/notesMaster" Target="/ppt/notesMasters/notesMaster1.xml" Id="R98e964821ab44aaa"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66317b47a0a4692" /><Relationship Type="http://schemas.openxmlformats.org/officeDocument/2006/relationships/notesMaster" Target="/ppt/notesMasters/notesMaster1.xml" Id="Rceb663f642c64dda"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5e2d849191974f35" /><Relationship Type="http://schemas.openxmlformats.org/officeDocument/2006/relationships/notesMaster" Target="/ppt/notesMasters/notesMaster1.xml" Id="Rdea215e3fb92466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d6f8ba34f8e4684" /><Relationship Type="http://schemas.openxmlformats.org/officeDocument/2006/relationships/notesMaster" Target="/ppt/notesMasters/notesMaster1.xml" Id="R636936520c37433b"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cf788deb2fcb4770" /><Relationship Type="http://schemas.openxmlformats.org/officeDocument/2006/relationships/notesMaster" Target="/ppt/notesMasters/notesMaster1.xml" Id="Ra32001bf761d4d50"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20a2e4f1cc94a50" /><Relationship Type="http://schemas.openxmlformats.org/officeDocument/2006/relationships/notesMaster" Target="/ppt/notesMasters/notesMaster1.xml" Id="R774ce6e1149f4d9f"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28b18747f9c244ae" /><Relationship Type="http://schemas.openxmlformats.org/officeDocument/2006/relationships/notesMaster" Target="/ppt/notesMasters/notesMaster1.xml" Id="Rb9fe1b959cc34a59"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d9e96068bd8c4ff9" /><Relationship Type="http://schemas.openxmlformats.org/officeDocument/2006/relationships/notesMaster" Target="/ppt/notesMasters/notesMaster1.xml" Id="Rd40a370c98f5455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5808b879e918433e" /><Relationship Type="http://schemas.openxmlformats.org/officeDocument/2006/relationships/notesMaster" Target="/ppt/notesMasters/notesMaster1.xml" Id="R7a072b40d8214df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3f69c3c3c49a4488" /><Relationship Type="http://schemas.openxmlformats.org/officeDocument/2006/relationships/notesMaster" Target="/ppt/notesMasters/notesMaster1.xml" Id="Re99b124efa33490d"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db14ce0647e3424f" /><Relationship Type="http://schemas.openxmlformats.org/officeDocument/2006/relationships/notesMaster" Target="/ppt/notesMasters/notesMaster1.xml" Id="R56e48563a5694952"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c9516401d3874d37" /><Relationship Type="http://schemas.openxmlformats.org/officeDocument/2006/relationships/notesMaster" Target="/ppt/notesMasters/notesMaster1.xml" Id="R29c6e9cfb7bb43a7"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76a3f8806e344b34" /><Relationship Type="http://schemas.openxmlformats.org/officeDocument/2006/relationships/notesMaster" Target="/ppt/notesMasters/notesMaster1.xml" Id="R56533ec4dfaa4e6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bdb4fce9072b470b" /><Relationship Type="http://schemas.openxmlformats.org/officeDocument/2006/relationships/notesMaster" Target="/ppt/notesMasters/notesMaster1.xml" Id="R773e3249593c4809"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f3b03553465437e" /><Relationship Type="http://schemas.openxmlformats.org/officeDocument/2006/relationships/notesMaster" Target="/ppt/notesMasters/notesMaster1.xml" Id="Rea55a1c3ea724063"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5da7bd1637f2432f" /><Relationship Type="http://schemas.openxmlformats.org/officeDocument/2006/relationships/notesMaster" Target="/ppt/notesMasters/notesMaster1.xml" Id="Rf87b32101c66440d"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e8a918c3a8ab4bf9" /><Relationship Type="http://schemas.openxmlformats.org/officeDocument/2006/relationships/notesMaster" Target="/ppt/notesMasters/notesMaster1.xml" Id="R1d77113a16bb4b0f"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3417914f0c0e4081" /><Relationship Type="http://schemas.openxmlformats.org/officeDocument/2006/relationships/notesMaster" Target="/ppt/notesMasters/notesMaster1.xml" Id="R1049ed08740c4d6b"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04d7cd95c7794505" /><Relationship Type="http://schemas.openxmlformats.org/officeDocument/2006/relationships/notesMaster" Target="/ppt/notesMasters/notesMaster1.xml" Id="Re2dce805ef8f493b"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a67697d153254fae" /><Relationship Type="http://schemas.openxmlformats.org/officeDocument/2006/relationships/notesMaster" Target="/ppt/notesMasters/notesMaster1.xml" Id="R98a7fd780ae246b8"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98b59c80531c44a6" /><Relationship Type="http://schemas.openxmlformats.org/officeDocument/2006/relationships/notesMaster" Target="/ppt/notesMasters/notesMaster1.xml" Id="Rb0a7d058e9074bb6"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f3be4d21f0f145c7" /><Relationship Type="http://schemas.openxmlformats.org/officeDocument/2006/relationships/notesMaster" Target="/ppt/notesMasters/notesMaster1.xml" Id="Rbc1c9098939d4554"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737840dc87074e3c" /><Relationship Type="http://schemas.openxmlformats.org/officeDocument/2006/relationships/notesMaster" Target="/ppt/notesMasters/notesMaster1.xml" Id="R739613a8f0674b8d"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c23996ee199b4736" /><Relationship Type="http://schemas.openxmlformats.org/officeDocument/2006/relationships/notesMaster" Target="/ppt/notesMasters/notesMaster1.xml" Id="R8f7a961b40f44c75"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39c959e505964a50" /><Relationship Type="http://schemas.openxmlformats.org/officeDocument/2006/relationships/notesMaster" Target="/ppt/notesMasters/notesMaster1.xml" Id="Ra49ce2716ad2483f"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d8a6b59daa934115" /><Relationship Type="http://schemas.openxmlformats.org/officeDocument/2006/relationships/notesMaster" Target="/ppt/notesMasters/notesMaster1.xml" Id="Rc5d0ad9b03db4fbf"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276f5722df7e47da" /><Relationship Type="http://schemas.openxmlformats.org/officeDocument/2006/relationships/notesMaster" Target="/ppt/notesMasters/notesMaster1.xml" Id="R8d03e462c8984c8b"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930dbe9603044f8" /><Relationship Type="http://schemas.openxmlformats.org/officeDocument/2006/relationships/notesMaster" Target="/ppt/notesMasters/notesMaster1.xml" Id="R88460007ec99467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62eb3c15b94c4cc6" /><Relationship Type="http://schemas.openxmlformats.org/officeDocument/2006/relationships/notesMaster" Target="/ppt/notesMasters/notesMaster1.xml" Id="R630fb173d35d4e66"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a2f163f6490c4cd9" /><Relationship Type="http://schemas.openxmlformats.org/officeDocument/2006/relationships/notesMaster" Target="/ppt/notesMasters/notesMaster1.xml" Id="Ref8c413cdf664f24"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e4f129e6414042bf" /><Relationship Type="http://schemas.openxmlformats.org/officeDocument/2006/relationships/notesMaster" Target="/ppt/notesMasters/notesMaster1.xml" Id="R550a7858a90041d9"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5daf15765b264a7c" /><Relationship Type="http://schemas.openxmlformats.org/officeDocument/2006/relationships/notesMaster" Target="/ppt/notesMasters/notesMaster1.xml" Id="R79b30e597baa49fb"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5fa6b5e1f5284b83" /><Relationship Type="http://schemas.openxmlformats.org/officeDocument/2006/relationships/notesMaster" Target="/ppt/notesMasters/notesMaster1.xml" Id="R99132cd877734d00"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98d93460dd9e4c82" /><Relationship Type="http://schemas.openxmlformats.org/officeDocument/2006/relationships/notesMaster" Target="/ppt/notesMasters/notesMaster1.xml" Id="R736d71e857324efe"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8b3bb92a42b84ea7" /><Relationship Type="http://schemas.openxmlformats.org/officeDocument/2006/relationships/notesMaster" Target="/ppt/notesMasters/notesMaster1.xml" Id="Rd8343e9cbcd64623"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cf83c04be09644fd" /><Relationship Type="http://schemas.openxmlformats.org/officeDocument/2006/relationships/notesMaster" Target="/ppt/notesMasters/notesMaster1.xml" Id="R5b2d7063494d437c"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a972931f4e884ab2" /><Relationship Type="http://schemas.openxmlformats.org/officeDocument/2006/relationships/notesMaster" Target="/ppt/notesMasters/notesMaster1.xml" Id="R8515b674f05d4699"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d1e1aa0f20c54c9a" /><Relationship Type="http://schemas.openxmlformats.org/officeDocument/2006/relationships/notesMaster" Target="/ppt/notesMasters/notesMaster1.xml" Id="R5ebac033dd804dd0"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2e41740fe5ab4e69" /><Relationship Type="http://schemas.openxmlformats.org/officeDocument/2006/relationships/notesMaster" Target="/ppt/notesMasters/notesMaster1.xml" Id="R53d016b368e648dc"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21a4333056544d43" /><Relationship Type="http://schemas.openxmlformats.org/officeDocument/2006/relationships/notesMaster" Target="/ppt/notesMasters/notesMaster1.xml" Id="R3dcc4eb738a84cfc"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6a1fc6556c8a4a87" /><Relationship Type="http://schemas.openxmlformats.org/officeDocument/2006/relationships/notesMaster" Target="/ppt/notesMasters/notesMaster1.xml" Id="R3e324e4ff3174a59"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f5d4818d942c47d4" /><Relationship Type="http://schemas.openxmlformats.org/officeDocument/2006/relationships/notesMaster" Target="/ppt/notesMasters/notesMaster1.xml" Id="R660ff3d2d8044b89"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d6229ba58eee44ae" /><Relationship Type="http://schemas.openxmlformats.org/officeDocument/2006/relationships/notesMaster" Target="/ppt/notesMasters/notesMaster1.xml" Id="Ra95cc87c70d54754"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f218e07033424596" /><Relationship Type="http://schemas.openxmlformats.org/officeDocument/2006/relationships/notesMaster" Target="/ppt/notesMasters/notesMaster1.xml" Id="Rd276bbc98caa4b9a"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da465ea5fd5d453a" /><Relationship Type="http://schemas.openxmlformats.org/officeDocument/2006/relationships/notesMaster" Target="/ppt/notesMasters/notesMaster1.xml" Id="R3272ac3efabb4411"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8a86e019f62a4411" /><Relationship Type="http://schemas.openxmlformats.org/officeDocument/2006/relationships/notesMaster" Target="/ppt/notesMasters/notesMaster1.xml" Id="R778ace7fd1e843a8"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8309ece7c05747cc" /><Relationship Type="http://schemas.openxmlformats.org/officeDocument/2006/relationships/notesMaster" Target="/ppt/notesMasters/notesMaster1.xml" Id="Ra70819541e954a5f"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adab034902574ffa" /><Relationship Type="http://schemas.openxmlformats.org/officeDocument/2006/relationships/notesMaster" Target="/ppt/notesMasters/notesMaster1.xml" Id="R64dda7b6f42544c0"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dfd81f81773242d0" /><Relationship Type="http://schemas.openxmlformats.org/officeDocument/2006/relationships/notesMaster" Target="/ppt/notesMasters/notesMaster1.xml" Id="R82a07d51be4e479a"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be998ac5aa494e1c" /><Relationship Type="http://schemas.openxmlformats.org/officeDocument/2006/relationships/notesMaster" Target="/ppt/notesMasters/notesMaster1.xml" Id="R77a898918a8d4022"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245ad3e660d543d9" /><Relationship Type="http://schemas.openxmlformats.org/officeDocument/2006/relationships/notesMaster" Target="/ppt/notesMasters/notesMaster1.xml" Id="R4cb4e6f5b8fb4a42"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faddb55654aa4d84" /><Relationship Type="http://schemas.openxmlformats.org/officeDocument/2006/relationships/notesMaster" Target="/ppt/notesMasters/notesMaster1.xml" Id="R98cde2ccb8774e8b"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92e57bf1bb8d4b16" /><Relationship Type="http://schemas.openxmlformats.org/officeDocument/2006/relationships/notesMaster" Target="/ppt/notesMasters/notesMaster1.xml" Id="R9005645b58e34581"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18c28212da8b4d63" /><Relationship Type="http://schemas.openxmlformats.org/officeDocument/2006/relationships/notesMaster" Target="/ppt/notesMasters/notesMaster1.xml" Id="R98077ed95d1149d1"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574f099e290f435d" /><Relationship Type="http://schemas.openxmlformats.org/officeDocument/2006/relationships/notesMaster" Target="/ppt/notesMasters/notesMaster1.xml" Id="R379756c738a1455e"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75bb8c918cdd447a" /><Relationship Type="http://schemas.openxmlformats.org/officeDocument/2006/relationships/notesMaster" Target="/ppt/notesMasters/notesMaster1.xml" Id="Rbb7449c2861241dc"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63b972adb4a74ebb" /><Relationship Type="http://schemas.openxmlformats.org/officeDocument/2006/relationships/notesMaster" Target="/ppt/notesMasters/notesMaster1.xml" Id="Re8a525916db74eca"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6ec8c5b0d64e4491" /><Relationship Type="http://schemas.openxmlformats.org/officeDocument/2006/relationships/notesMaster" Target="/ppt/notesMasters/notesMaster1.xml" Id="R2acbfd29c33a4b31"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f1ee5f6703a44479" /><Relationship Type="http://schemas.openxmlformats.org/officeDocument/2006/relationships/notesMaster" Target="/ppt/notesMasters/notesMaster1.xml" Id="R80537606622a4816"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57e46eff7c2442cf" /><Relationship Type="http://schemas.openxmlformats.org/officeDocument/2006/relationships/notesMaster" Target="/ppt/notesMasters/notesMaster1.xml" Id="R67db09f7453a457c"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30c45fe55a514076" /><Relationship Type="http://schemas.openxmlformats.org/officeDocument/2006/relationships/notesMaster" Target="/ppt/notesMasters/notesMaster1.xml" Id="R33705f96055240ec"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41dddb995eca4718" /><Relationship Type="http://schemas.openxmlformats.org/officeDocument/2006/relationships/notesMaster" Target="/ppt/notesMasters/notesMaster1.xml" Id="Re802b313b6054b1d"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f8297bea40ca4d4e" /><Relationship Type="http://schemas.openxmlformats.org/officeDocument/2006/relationships/notesMaster" Target="/ppt/notesMasters/notesMaster1.xml" Id="Rd20372ad1eaa46bb"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4e55b183a9d2494d" /><Relationship Type="http://schemas.openxmlformats.org/officeDocument/2006/relationships/notesMaster" Target="/ppt/notesMasters/notesMaster1.xml" Id="R0b28f05b4dd5420d"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e839ae30b22e4f59" /><Relationship Type="http://schemas.openxmlformats.org/officeDocument/2006/relationships/notesMaster" Target="/ppt/notesMasters/notesMaster1.xml" Id="R37e3847efbc84aa5"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3d5c00c18d7444b3" /><Relationship Type="http://schemas.openxmlformats.org/officeDocument/2006/relationships/notesMaster" Target="/ppt/notesMasters/notesMaster1.xml" Id="Rbe21a126724640c6"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dc47a0db44594ad8" /><Relationship Type="http://schemas.openxmlformats.org/officeDocument/2006/relationships/notesMaster" Target="/ppt/notesMasters/notesMaster1.xml" Id="R08a33b9a538c4617"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d7deb7dbb59f408d" /><Relationship Type="http://schemas.openxmlformats.org/officeDocument/2006/relationships/notesMaster" Target="/ppt/notesMasters/notesMaster1.xml" Id="R2dc0a8341b9d43b7"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b3469aae5a9f4bb4" /><Relationship Type="http://schemas.openxmlformats.org/officeDocument/2006/relationships/notesMaster" Target="/ppt/notesMasters/notesMaster1.xml" Id="R9b3251013f974073"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297319b6ee744478" /><Relationship Type="http://schemas.openxmlformats.org/officeDocument/2006/relationships/notesMaster" Target="/ppt/notesMasters/notesMaster1.xml" Id="R3891d7a6b00e4d76"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e8be9aed791f4b29" /><Relationship Type="http://schemas.openxmlformats.org/officeDocument/2006/relationships/notesMaster" Target="/ppt/notesMasters/notesMaster1.xml" Id="R677bf28759f24592"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1dd8b44a1cb54f0d" /><Relationship Type="http://schemas.openxmlformats.org/officeDocument/2006/relationships/notesMaster" Target="/ppt/notesMasters/notesMaster1.xml" Id="R6106b11019ef4b26"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e92133ccec504761" /><Relationship Type="http://schemas.openxmlformats.org/officeDocument/2006/relationships/notesMaster" Target="/ppt/notesMasters/notesMaster1.xml" Id="Rdb2490dc4e79437f"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3a7efc47dc354908" /><Relationship Type="http://schemas.openxmlformats.org/officeDocument/2006/relationships/notesMaster" Target="/ppt/notesMasters/notesMaster1.xml" Id="R388957b08b974e90"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9277191c84684c0f" /><Relationship Type="http://schemas.openxmlformats.org/officeDocument/2006/relationships/notesMaster" Target="/ppt/notesMasters/notesMaster1.xml" Id="Rebe80d5971d24178"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1343a8ba752a4f5f" /><Relationship Type="http://schemas.openxmlformats.org/officeDocument/2006/relationships/notesMaster" Target="/ppt/notesMasters/notesMaster1.xml" Id="Rf704dc4a7c434750"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6c688f78545d400b" /><Relationship Type="http://schemas.openxmlformats.org/officeDocument/2006/relationships/notesMaster" Target="/ppt/notesMasters/notesMaster1.xml" Id="R9fe88ac70a2b41a1"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192d861000a8428b" /><Relationship Type="http://schemas.openxmlformats.org/officeDocument/2006/relationships/notesMaster" Target="/ppt/notesMasters/notesMaster1.xml" Id="Ra03db18eed164c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Welcome | 0:00–0:01 (1 min)</a:t>
            </a:r>
          </a:p>
          <a:p xmlns:a="http://schemas.openxmlformats.org/drawingml/2006/main">
            <a:r>
              <a:t/>
            </a:r>
          </a:p>
          <a:p xmlns:a="http://schemas.openxmlformats.org/drawingml/2006/main">
            <a:r>
              <a:t>SAY</a:t>
            </a:r>
          </a:p>
          <a:p xmlns:a="http://schemas.openxmlformats.org/drawingml/2006/main">
            <a:r>
              <a:t>Welcome to level two. Today we will plan a small business CRM, build a connected workflow, examine the interface with Claude, and package a repeatable method for another person. The important work is deciding what should exist and describing it precisely.</a:t>
            </a:r>
          </a:p>
          <a:p xmlns:a="http://schemas.openxmlformats.org/drawingml/2006/main">
            <a:r>
              <a:t/>
            </a:r>
          </a:p>
          <a:p xmlns:a="http://schemas.openxmlformats.org/drawingml/2006/main">
            <a:r>
              <a:t>ON SCREEN</a:t>
            </a:r>
          </a:p>
          <a:p xmlns:a="http://schemas.openxmlformats.org/drawingml/2006/main">
            <a:r>
              <a:t>Welcome people, say your name, and leave the cover on screen while everyone settles.</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Mark Kashef</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Welcome | 0:01–0:02 (1 min)</a:t>
            </a:r>
          </a:p>
          <a:p xmlns:a="http://schemas.openxmlformats.org/drawingml/2006/main">
            <a:r>
              <a:t/>
            </a:r>
          </a:p>
          <a:p xmlns:a="http://schemas.openxmlformats.org/drawingml/2006/main">
            <a:r>
              <a:t>SAY</a:t>
            </a:r>
          </a:p>
          <a:p xmlns:a="http://schemas.openxmlformats.org/drawingml/2006/main">
            <a:r>
              <a:t>I run Prompt Advisers. My work combines building tools and teaching people how to work with them. The previous course introduced the pieces. Today I want you to see how those pieces fit together in a real project, including the decisions that happen before code.</a:t>
            </a:r>
          </a:p>
          <a:p xmlns:a="http://schemas.openxmlformats.org/drawingml/2006/main">
            <a:r>
              <a:t/>
            </a:r>
          </a:p>
          <a:p xmlns:a="http://schemas.openxmlformats.org/drawingml/2006/main">
            <a:r>
              <a:t>ON SCREEN</a:t>
            </a:r>
          </a:p>
          <a:p xmlns:a="http://schemas.openxmlformats.org/drawingml/2006/main">
            <a:r>
              <a:t>Point to the three areas of your work. Say: A consultant following up after a call is our example today; it connects the business decision to the build.</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Different backgrounds. One clear path.</a:t>
            </a:r>
          </a:p>
          <a:p xmlns:a="http://schemas.openxmlformats.org/drawingml/2006/main">
            <a:r>
              <a:t/>
            </a:r>
          </a:p>
          <a:p xmlns:a="http://schemas.openxmlformats.org/drawingml/2006/main">
            <a:r>
              <a:t>SOURCES / CONTEXT</a:t>
            </a:r>
          </a:p>
          <a:p xmlns:a="http://schemas.openxmlformats.org/drawingml/2006/main">
            <a:r>
              <a:t>Prior course: Claude_Code_for_Everyone_OReilly_FINAL.pptx, biographical slides 3-6.</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Welcome | 0:02–0:02:30 (0.5 min)</a:t>
            </a:r>
          </a:p>
          <a:p xmlns:a="http://schemas.openxmlformats.org/drawingml/2006/main">
            <a:r>
              <a:t/>
            </a:r>
          </a:p>
          <a:p xmlns:a="http://schemas.openxmlformats.org/drawingml/2006/main">
            <a:r>
              <a:t>SAY</a:t>
            </a:r>
          </a:p>
          <a:p xmlns:a="http://schemas.openxmlformats.org/drawingml/2006/main">
            <a:r>
              <a:t>This is a level-two course, but we will define the vocabulary before using it. You do not need to memorize code. Your job is to describe the outcome, resolve decisions and inspect the result. A CRM is a customer relationship management tool: our small version keeps clients, meetings and follow-ups together.</a:t>
            </a:r>
          </a:p>
          <a:p xmlns:a="http://schemas.openxmlformats.org/drawingml/2006/main">
            <a:r>
              <a:t/>
            </a:r>
          </a:p>
          <a:p xmlns:a="http://schemas.openxmlformats.org/drawingml/2006/main">
            <a:r>
              <a:t>ON SCREEN</a:t>
            </a:r>
          </a:p>
          <a:p xmlns:a="http://schemas.openxmlformats.org/drawingml/2006/main">
            <a:r>
              <a:t>Poll: have you built a tool since the first course? Invite a short example and identify anyone who will observe instead of build.</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reference to inspect. A build to own.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Welcome | 0:02:30–0:03:30 (1 min)</a:t>
            </a:r>
          </a:p>
          <a:p xmlns:a="http://schemas.openxmlformats.org/drawingml/2006/main">
            <a:r>
              <a:t/>
            </a:r>
          </a:p>
          <a:p xmlns:a="http://schemas.openxmlformats.org/drawingml/2006/main">
            <a:r>
              <a:t>SAY</a:t>
            </a:r>
          </a:p>
          <a:p xmlns:a="http://schemas.openxmlformats.org/drawingml/2006/main">
            <a:r>
              <a:t>The reference is our worked answer. A rebuild is a new implementation. Do not ask Claude to build an already completed app and call that a reconstruction. END-TO-END.md explains both paths. Preserve the same numbered folders in the rebuild so every slide path still resolves.</a:t>
            </a:r>
          </a:p>
          <a:p xmlns:a="http://schemas.openxmlformats.org/drawingml/2006/main">
            <a:r>
              <a:t/>
            </a:r>
          </a:p>
          <a:p xmlns:a="http://schemas.openxmlformats.org/drawingml/2006/main">
            <a:r>
              <a:t>ON SCREEN</a:t>
            </a:r>
          </a:p>
          <a:p xmlns:a="http://schemas.openxmlformats.org/drawingml/2006/main">
            <a:r>
              <a:t>Show both folders side by side. Keep the reference closed to edits and open the rebuild as the active Claude Code project.</a:t>
            </a:r>
          </a:p>
          <a:p xmlns:a="http://schemas.openxmlformats.org/drawingml/2006/main">
            <a:r>
              <a:t/>
            </a:r>
          </a:p>
          <a:p xmlns:a="http://schemas.openxmlformats.org/drawingml/2006/main">
            <a:r>
              <a:t>CHECK BEFORE CONTINUING</a:t>
            </a:r>
          </a:p>
          <a:p xmlns:a="http://schemas.openxmlformats.org/drawingml/2006/main">
            <a:r>
              <a:t>Everyone can identify which folder is the reference and which is their own work.</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Four words we will use throughout</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Welcome | 0:03:30–0:04:30 (1 min)</a:t>
            </a:r>
          </a:p>
          <a:p xmlns:a="http://schemas.openxmlformats.org/drawingml/2006/main">
            <a:r>
              <a:t/>
            </a:r>
          </a:p>
          <a:p xmlns:a="http://schemas.openxmlformats.org/drawingml/2006/main">
            <a:r>
              <a:t>SAY</a:t>
            </a:r>
          </a:p>
          <a:p xmlns:a="http://schemas.openxmlformats.org/drawingml/2006/main">
            <a:r>
              <a:t>Point at one real example of each term. A path such as 01-planning/BRIEF.md means open the planning folder, then the brief file. A leading dot in .claude is part of the folder name; your file browser may hide it.</a:t>
            </a:r>
          </a:p>
          <a:p xmlns:a="http://schemas.openxmlformats.org/drawingml/2006/main">
            <a:r>
              <a:t/>
            </a:r>
          </a:p>
          <a:p xmlns:a="http://schemas.openxmlformats.org/drawingml/2006/main">
            <a:r>
              <a:t>ON SCREEN</a:t>
            </a:r>
          </a:p>
          <a:p xmlns:a="http://schemas.openxmlformats.org/drawingml/2006/main">
            <a:r>
              <a:t>Open the brief and sample meeting in the course kit. Show the path above each file.</a:t>
            </a:r>
          </a:p>
          <a:p xmlns:a="http://schemas.openxmlformats.org/drawingml/2006/main">
            <a:r>
              <a:t/>
            </a:r>
          </a:p>
          <a:p xmlns:a="http://schemas.openxmlformats.org/drawingml/2006/main">
            <a:r>
              <a:t>CHECK BEFORE CONTINUING</a:t>
            </a:r>
          </a:p>
          <a:p xmlns:a="http://schemas.openxmlformats.org/drawingml/2006/main">
            <a:r>
              <a:t>Learners can find BRIEF.md from the project root.</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How to follow the demonstration</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Welcome | 0:04:30–0:05:30 (1 min)</a:t>
            </a:r>
          </a:p>
          <a:p xmlns:a="http://schemas.openxmlformats.org/drawingml/2006/main">
            <a:r>
              <a:t/>
            </a:r>
          </a:p>
          <a:p xmlns:a="http://schemas.openxmlformats.org/drawingml/2006/main">
            <a:r>
              <a:t>SAY</a:t>
            </a:r>
          </a:p>
          <a:p xmlns:a="http://schemas.openxmlformats.org/drawingml/2006/main">
            <a:r>
              <a:t>We will follow the same pattern each time: explain the job, give Claude the prompt, inspect the result, and decide whether to continue. The exact prompt is on this slide and in COURSE-PROMPTS.md. Orientation: find the project before changing it. Boundary: reading first prevents accidental setup work.</a:t>
            </a:r>
          </a:p>
          <a:p xmlns:a="http://schemas.openxmlformats.org/drawingml/2006/main">
            <a:r>
              <a:t/>
            </a:r>
          </a:p>
          <a:p xmlns:a="http://schemas.openxmlformats.org/drawingml/2006/main">
            <a:r>
              <a:t>ON SCREEN</a:t>
            </a:r>
          </a:p>
          <a:p xmlns:a="http://schemas.openxmlformats.org/drawingml/2006/main">
            <a:r>
              <a:t>Open Walkthrough Assets in Claude Code; use a separate copy for exercises.</a:t>
            </a:r>
          </a:p>
          <a:p xmlns:a="http://schemas.openxmlformats.org/drawingml/2006/main">
            <a:r>
              <a:t/>
            </a:r>
          </a:p>
          <a:p xmlns:a="http://schemas.openxmlformats.org/drawingml/2006/main">
            <a:r>
              <a:t>EXACT PROMPT</a:t>
            </a:r>
          </a:p>
          <a:p xmlns:a="http://schemas.openxmlformats.org/drawingml/2006/main">
            <a:r>
              <a:t>Open Walkthrough Assets as the project root. Read its README, the brief and the start guide. Explain each folder and how to start the app. Do not change files yet.</a:t>
            </a:r>
          </a:p>
          <a:p xmlns:a="http://schemas.openxmlformats.org/drawingml/2006/main">
            <a:r>
              <a:t/>
            </a:r>
          </a:p>
          <a:p xmlns:a="http://schemas.openxmlformats.org/drawingml/2006/main">
            <a:r>
              <a:t>WHY THIS PROMPT</a:t>
            </a:r>
          </a:p>
          <a:p xmlns:a="http://schemas.openxmlformats.org/drawingml/2006/main">
            <a:r>
              <a:t>Orientation: find the project before changing it.</a:t>
            </a:r>
          </a:p>
          <a:p xmlns:a="http://schemas.openxmlformats.org/drawingml/2006/main">
            <a:r>
              <a:t>Boundary: reading first prevents accidental setup work.</a:t>
            </a:r>
          </a:p>
          <a:p xmlns:a="http://schemas.openxmlformats.org/drawingml/2006/main">
            <a:r>
              <a:t/>
            </a:r>
          </a:p>
          <a:p xmlns:a="http://schemas.openxmlformats.org/drawingml/2006/main">
            <a:r>
              <a:t>CHECK BEFORE CONTINUING</a:t>
            </a:r>
          </a:p>
          <a:p xmlns:a="http://schemas.openxmlformats.org/drawingml/2006/main">
            <a:r>
              <a:t>The app is in 03-build/clientdesk; the plan is in 01-planning.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Where do I type this?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Welcome | 0:05:30–0:06:30 (1 min)</a:t>
            </a:r>
          </a:p>
          <a:p xmlns:a="http://schemas.openxmlformats.org/drawingml/2006/main">
            <a:r>
              <a:t/>
            </a:r>
          </a:p>
          <a:p xmlns:a="http://schemas.openxmlformats.org/drawingml/2006/main">
            <a:r>
              <a:t>SAY</a:t>
            </a:r>
          </a:p>
          <a:p xmlns:a="http://schemas.openxmlformats.org/drawingml/2006/main">
            <a:r>
              <a:t>A terminal is an app for entering commands. Claude Code runs inside it, but its conversation is a different input mode. The slides say Tell Claude when you paste an English request. A shell command belongs at a normal terminal prompt. Keep the app server running in its own terminal while Claude works in another.</a:t>
            </a:r>
          </a:p>
          <a:p xmlns:a="http://schemas.openxmlformats.org/drawingml/2006/main">
            <a:r>
              <a:t/>
            </a:r>
          </a:p>
          <a:p xmlns:a="http://schemas.openxmlformats.org/drawingml/2006/main">
            <a:r>
              <a:t>ON SCREEN</a:t>
            </a:r>
          </a:p>
          <a:p xmlns:a="http://schemas.openxmlformats.org/drawingml/2006/main">
            <a:r>
              <a:t>Point to the Claude conversation, a second terminal and the app browser. Explain that localhost means this computer and 4310 identifies this app’s local listening port.</a:t>
            </a:r>
          </a:p>
          <a:p xmlns:a="http://schemas.openxmlformats.org/drawingml/2006/main">
            <a:r>
              <a:t/>
            </a:r>
          </a:p>
          <a:p xmlns:a="http://schemas.openxmlformats.org/drawingml/2006/main">
            <a:r>
              <a:t>CHECK BEFORE CONTINUING</a:t>
            </a:r>
          </a:p>
          <a:p xmlns:a="http://schemas.openxmlformats.org/drawingml/2006/main">
            <a:r>
              <a:t>Learners know where to paste a prompt and why the app terminal stays open.</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What you will leave with</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Welcome | 0:06:30–0:08 (1.5 min)</a:t>
            </a:r>
          </a:p>
          <a:p xmlns:a="http://schemas.openxmlformats.org/drawingml/2006/main">
            <a:r>
              <a:t/>
            </a:r>
          </a:p>
          <a:p xmlns:a="http://schemas.openxmlformats.org/drawingml/2006/main">
            <a:r>
              <a:t>SAY</a:t>
            </a:r>
          </a:p>
          <a:p xmlns:a="http://schemas.openxmlformats.org/drawingml/2006/main">
            <a:r>
              <a:t>Five outcomes organize the session. The CRM gives every outcome a concrete home. You can build along with the fictional client data or apply the planning exercises to your own workflow. The visible finish line is a client brief and a follow-up task backed by a meeting source.</a:t>
            </a:r>
          </a:p>
          <a:p xmlns:a="http://schemas.openxmlformats.org/drawingml/2006/main">
            <a:r>
              <a:t/>
            </a:r>
          </a:p>
          <a:p xmlns:a="http://schemas.openxmlformats.org/drawingml/2006/main">
            <a:r>
              <a:t>ON SCREEN</a:t>
            </a:r>
          </a:p>
          <a:p xmlns:a="http://schemas.openxmlformats.org/drawingml/2006/main">
            <a:r>
              <a:t>Point to the five outcomes. Explain that there are planned build checkpoints and a fixture fallback.</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CRM we are building</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Welcome | 0:08–0:09 (1 min)</a:t>
            </a:r>
          </a:p>
          <a:p xmlns:a="http://schemas.openxmlformats.org/drawingml/2006/main">
            <a:r>
              <a:t/>
            </a:r>
          </a:p>
          <a:p xmlns:a="http://schemas.openxmlformats.org/drawingml/2006/main">
            <a:r>
              <a:t>SAY</a:t>
            </a:r>
          </a:p>
          <a:p xmlns:a="http://schemas.openxmlformats.org/drawingml/2006/main">
            <a:r>
              <a:t>This is the reference interface for ClientDesk. It brings clients, recent meetings, next calls, and open tasks into one place. Treat it as a target for the journey, not a promise to reproduce every pixel. We will focus on one client and one useful workflow first.</a:t>
            </a:r>
          </a:p>
          <a:p xmlns:a="http://schemas.openxmlformats.org/drawingml/2006/main">
            <a:r>
              <a:t/>
            </a:r>
          </a:p>
          <a:p xmlns:a="http://schemas.openxmlformats.org/drawingml/2006/main">
            <a:r>
              <a:t>ON SCREEN</a:t>
            </a:r>
          </a:p>
          <a:p xmlns:a="http://schemas.openxmlformats.org/drawingml/2006/main">
            <a:r>
              <a:t>Show the client list, Northstar meeting, upcoming call, and follow-up. Ask: could you tell what to do next without opening another app?</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From meeting evidence to a reviewed task</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Welcome | 0:09–0:10 (1 min)</a:t>
            </a:r>
          </a:p>
          <a:p xmlns:a="http://schemas.openxmlformats.org/drawingml/2006/main">
            <a:r>
              <a:t/>
            </a:r>
          </a:p>
          <a:p xmlns:a="http://schemas.openxmlformats.org/drawingml/2006/main">
            <a:r>
              <a:t>SAY</a:t>
            </a:r>
          </a:p>
          <a:p xmlns:a="http://schemas.openxmlformats.org/drawingml/2006/main">
            <a:r>
              <a:t>This is our destination. We are not asking Claude to recreate a large CRM. We are asking it to make one recurring piece of work easier. The reference kit is a rehearsal and fallback, not evidence that a new build has already passed. Target: a visible user journey. Scope: one loop rather than a whole CRM suite.</a:t>
            </a:r>
          </a:p>
          <a:p xmlns:a="http://schemas.openxmlformats.org/drawingml/2006/main">
            <a:r>
              <a:t/>
            </a:r>
          </a:p>
          <a:p xmlns:a="http://schemas.openxmlformats.org/drawingml/2006/main">
            <a:r>
              <a:t>ON SCREEN</a:t>
            </a:r>
          </a:p>
          <a:p xmlns:a="http://schemas.openxmlformats.org/drawingml/2006/main">
            <a:r>
              <a:t>Show the reference app, then return to the project conversation.</a:t>
            </a:r>
          </a:p>
          <a:p xmlns:a="http://schemas.openxmlformats.org/drawingml/2006/main">
            <a:r>
              <a:t/>
            </a:r>
          </a:p>
          <a:p xmlns:a="http://schemas.openxmlformats.org/drawingml/2006/main">
            <a:r>
              <a:t>EXACT PROMPT</a:t>
            </a:r>
          </a:p>
          <a:p xmlns:a="http://schemas.openxmlformats.org/drawingml/2006/main">
            <a:r>
              <a:t>Describe the smallest version of this client workflow: open Northstar, read the latest meeting, review a suggested follow-up, and save it once. List the screens and information it needs. Do not add extra features.</a:t>
            </a:r>
          </a:p>
          <a:p xmlns:a="http://schemas.openxmlformats.org/drawingml/2006/main">
            <a:r>
              <a:t/>
            </a:r>
          </a:p>
          <a:p xmlns:a="http://schemas.openxmlformats.org/drawingml/2006/main">
            <a:r>
              <a:t>WHY THIS PROMPT</a:t>
            </a:r>
          </a:p>
          <a:p xmlns:a="http://schemas.openxmlformats.org/drawingml/2006/main">
            <a:r>
              <a:t>Target: a visible user journey.</a:t>
            </a:r>
          </a:p>
          <a:p xmlns:a="http://schemas.openxmlformats.org/drawingml/2006/main">
            <a:r>
              <a:t>Scope: one loop rather than a whole CRM suite.</a:t>
            </a:r>
          </a:p>
          <a:p xmlns:a="http://schemas.openxmlformats.org/drawingml/2006/main">
            <a:r>
              <a:t/>
            </a:r>
          </a:p>
          <a:p xmlns:a="http://schemas.openxmlformats.org/drawingml/2006/main">
            <a:r>
              <a:t>CHECK BEFORE CONTINUING</a:t>
            </a:r>
          </a:p>
          <a:p xmlns:a="http://schemas.openxmlformats.org/drawingml/2006/main">
            <a:r>
              <a:t>The proposed flow contains the four steps shown in the reference.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One client. One useful loop.</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Welcome | 0:10–0:11:30 (1.5 min)</a:t>
            </a:r>
          </a:p>
          <a:p xmlns:a="http://schemas.openxmlformats.org/drawingml/2006/main">
            <a:r>
              <a:t/>
            </a:r>
          </a:p>
          <a:p xmlns:a="http://schemas.openxmlformats.org/drawingml/2006/main">
            <a:r>
              <a:t>SAY</a:t>
            </a:r>
          </a:p>
          <a:p xmlns:a="http://schemas.openxmlformats.org/drawingml/2006/main">
            <a:r>
              <a:t>Imagine finishing a client call. Today the transcript, calendar, and task list live separately. Our first useful loop is to open the client, inspect the source, review a suggested action, and save it once. That gives us a concrete behavior to reverse engineer.</a:t>
            </a:r>
          </a:p>
          <a:p xmlns:a="http://schemas.openxmlformats.org/drawingml/2006/main">
            <a:r>
              <a:t/>
            </a:r>
          </a:p>
          <a:p xmlns:a="http://schemas.openxmlformats.org/drawingml/2006/main">
            <a:r>
              <a:t>ON SCREEN</a:t>
            </a:r>
          </a:p>
          <a:p xmlns:a="http://schemas.openxmlformats.org/drawingml/2006/main">
            <a:r>
              <a:t>Narrate the Northstar example: Maya requested an onboarding checklist. A reviewer confirms the owner and due date before saving.</a:t>
            </a:r>
          </a:p>
          <a:p xmlns:a="http://schemas.openxmlformats.org/drawingml/2006/main">
            <a:r>
              <a:t/>
            </a:r>
          </a:p>
          <a:p xmlns:a="http://schemas.openxmlformats.org/drawingml/2006/main">
            <a:r>
              <a:t>CHECK BEFORE CONTINUING</a:t>
            </a:r>
          </a:p>
          <a:p xmlns:a="http://schemas.openxmlformats.org/drawingml/2006/main">
            <a:r>
              <a:t>Northstar: Maya requests a checklist. Alex reviews the proposed date, then saves one task.</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plan is the product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The plan is the product | 0:11:30–0:12:30 (1 min)</a:t>
            </a:r>
          </a:p>
          <a:p xmlns:a="http://schemas.openxmlformats.org/drawingml/2006/main">
            <a:r>
              <a:t/>
            </a:r>
          </a:p>
          <a:p xmlns:a="http://schemas.openxmlformats.org/drawingml/2006/main">
            <a:r>
              <a:t>SAY</a:t>
            </a:r>
          </a:p>
          <a:p xmlns:a="http://schemas.openxmlformats.org/drawingml/2006/main">
            <a:r>
              <a:t>A vague idea is an invitation for the model to guess. This section removes the guesses that matter: who uses the tool, what action it supports, where data comes from, and how we know the result works.</a:t>
            </a:r>
          </a:p>
          <a:p xmlns:a="http://schemas.openxmlformats.org/drawingml/2006/main">
            <a:r>
              <a:t/>
            </a:r>
          </a:p>
          <a:p xmlns:a="http://schemas.openxmlformats.org/drawingml/2006/main">
            <a:r>
              <a:t>ON SCREEN</a:t>
            </a:r>
          </a:p>
          <a:p xmlns:a="http://schemas.openxmlformats.org/drawingml/2006/main">
            <a:r>
              <a:t>Open the planning worksheet beside Claude Code.</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What is worth building?</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The plan is the product | 0:12:30–0:13 (0.5 min)</a:t>
            </a:r>
          </a:p>
          <a:p xmlns:a="http://schemas.openxmlformats.org/drawingml/2006/main">
            <a:r>
              <a:t/>
            </a:r>
          </a:p>
          <a:p xmlns:a="http://schemas.openxmlformats.org/drawingml/2006/main">
            <a:r>
              <a:t>SAY</a:t>
            </a:r>
          </a:p>
          <a:p xmlns:a="http://schemas.openxmlformats.org/drawingml/2006/main">
            <a:r>
              <a:t>Being able to build more software does not make every idea worth building. Look for a job that repeats, a person who feels the friction, and an outcome you can observe. We are not replacing an entire business suite in one afternoon.</a:t>
            </a:r>
          </a:p>
          <a:p xmlns:a="http://schemas.openxmlformats.org/drawingml/2006/main">
            <a:r>
              <a:t/>
            </a:r>
          </a:p>
          <a:p xmlns:a="http://schemas.openxmlformats.org/drawingml/2006/main">
            <a:r>
              <a:t>ON SCREEN</a:t>
            </a:r>
          </a:p>
          <a:p xmlns:a="http://schemas.openxmlformats.org/drawingml/2006/main">
            <a:r>
              <a:t>Ask attendees to name a recurring job they performed last week. Bring the discussion back to one owner and one result.</a:t>
            </a:r>
          </a:p>
          <a:p xmlns:a="http://schemas.openxmlformats.org/drawingml/2006/main">
            <a:r>
              <a:t/>
            </a:r>
          </a:p>
          <a:p xmlns:a="http://schemas.openxmlformats.org/drawingml/2006/main">
            <a:r>
              <a:t>CHECK BEFORE CONTINUING</a:t>
            </a:r>
          </a:p>
          <a:p xmlns:a="http://schemas.openxmlformats.org/drawingml/2006/main">
            <a:r>
              <a:t>Prepare for Northstar’s next call.</a:t>
            </a:r>
          </a:p>
          <a:p xmlns:a="http://schemas.openxmlformats.org/drawingml/2006/main">
            <a:r>
              <a:t>Alex owns the follow-up.</a:t>
            </a:r>
          </a:p>
          <a:p xmlns:a="http://schemas.openxmlformats.org/drawingml/2006/main">
            <a:r>
              <a:t>The result is one reviewed task.</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first planning prompt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The plan is the product | 0:13–0:14 (1 min)</a:t>
            </a:r>
          </a:p>
          <a:p xmlns:a="http://schemas.openxmlformats.org/drawingml/2006/main">
            <a:r>
              <a:t/>
            </a:r>
          </a:p>
          <a:p xmlns:a="http://schemas.openxmlformats.org/drawingml/2006/main">
            <a:r>
              <a:t>SAY</a:t>
            </a:r>
          </a:p>
          <a:p xmlns:a="http://schemas.openxmlformats.org/drawingml/2006/main">
            <a:r>
              <a:t>I begin with the work that is painful. If I start by listing features, Claude can build a convincing interface for the wrong job. Listen for the difference between a problem and a proposed solution. Problem: starts with work, not software features. Conversation: one question makes the decision manageable.</a:t>
            </a:r>
          </a:p>
          <a:p xmlns:a="http://schemas.openxmlformats.org/drawingml/2006/main">
            <a:r>
              <a:t/>
            </a:r>
          </a:p>
          <a:p xmlns:a="http://schemas.openxmlformats.org/drawingml/2006/main">
            <a:r>
              <a:t>ON SCREEN</a:t>
            </a:r>
          </a:p>
          <a:p xmlns:a="http://schemas.openxmlformats.org/drawingml/2006/main">
            <a:r>
              <a:t>Start a planning conversation in the project. Paste the prompt exactly.</a:t>
            </a:r>
          </a:p>
          <a:p xmlns:a="http://schemas.openxmlformats.org/drawingml/2006/main">
            <a:r>
              <a:t/>
            </a:r>
          </a:p>
          <a:p xmlns:a="http://schemas.openxmlformats.org/drawingml/2006/main">
            <a:r>
              <a:t>EXACT PROMPT</a:t>
            </a:r>
          </a:p>
          <a:p xmlns:a="http://schemas.openxmlformats.org/drawingml/2006/main">
            <a:r>
              <a:t>Help me turn this recurring job into a short build brief: after a client call, I lose track of the agreed next action. Ask who uses the tool, what information they need, and what outcome would make it useful. Ask one question at a time.</a:t>
            </a:r>
          </a:p>
          <a:p xmlns:a="http://schemas.openxmlformats.org/drawingml/2006/main">
            <a:r>
              <a:t/>
            </a:r>
          </a:p>
          <a:p xmlns:a="http://schemas.openxmlformats.org/drawingml/2006/main">
            <a:r>
              <a:t>WHY THIS PROMPT</a:t>
            </a:r>
          </a:p>
          <a:p xmlns:a="http://schemas.openxmlformats.org/drawingml/2006/main">
            <a:r>
              <a:t>Problem: starts with work, not software features.</a:t>
            </a:r>
          </a:p>
          <a:p xmlns:a="http://schemas.openxmlformats.org/drawingml/2006/main">
            <a:r>
              <a:t>Conversation: one question makes the decision manageable.</a:t>
            </a:r>
          </a:p>
          <a:p xmlns:a="http://schemas.openxmlformats.org/drawingml/2006/main">
            <a:r>
              <a:t/>
            </a:r>
          </a:p>
          <a:p xmlns:a="http://schemas.openxmlformats.org/drawingml/2006/main">
            <a:r>
              <a:t>CHECK BEFORE CONTINUING</a:t>
            </a:r>
          </a:p>
          <a:p xmlns:a="http://schemas.openxmlformats.org/drawingml/2006/main">
            <a:r>
              <a:t>We have a named user, a recurring job, and a result we can observe.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Configure, connect, or build?</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The plan is the product | 0:14–0:14:30 (0.5 min)</a:t>
            </a:r>
          </a:p>
          <a:p xmlns:a="http://schemas.openxmlformats.org/drawingml/2006/main">
            <a:r>
              <a:t/>
            </a:r>
          </a:p>
          <a:p xmlns:a="http://schemas.openxmlformats.org/drawingml/2006/main">
            <a:r>
              <a:t>SAY</a:t>
            </a:r>
          </a:p>
          <a:p xmlns:a="http://schemas.openxmlformats.org/drawingml/2006/main">
            <a:r>
              <a:t>A custom app creates maintenance obligations. Sometimes a saved view or automation is enough. We are building this small CRM because the specific gap is getting from a meeting to a reviewed action in one place. That is the hypothesis the prototype should test.</a:t>
            </a:r>
          </a:p>
          <a:p xmlns:a="http://schemas.openxmlformats.org/drawingml/2006/main">
            <a:r>
              <a:t/>
            </a:r>
          </a:p>
          <a:p xmlns:a="http://schemas.openxmlformats.org/drawingml/2006/main">
            <a:r>
              <a:t>ON SCREEN</a:t>
            </a:r>
          </a:p>
          <a:p xmlns:a="http://schemas.openxmlformats.org/drawingml/2006/main">
            <a:r>
              <a:t>Have learners classify their own idea as configure, connect, or build. No software purchase is required.</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vague request and the useful brief</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The plan is the product | 0:14:30–0:15 (0.5 min)</a:t>
            </a:r>
          </a:p>
          <a:p xmlns:a="http://schemas.openxmlformats.org/drawingml/2006/main">
            <a:r>
              <a:t/>
            </a:r>
          </a:p>
          <a:p xmlns:a="http://schemas.openxmlformats.org/drawingml/2006/main">
            <a:r>
              <a:t>SAY</a:t>
            </a:r>
          </a:p>
          <a:p xmlns:a="http://schemas.openxmlformats.org/drawingml/2006/main">
            <a:r>
              <a:t>The second brief gives Claude a user and a job. It does not overprescribe every implementation detail. The constraints prevent scope from expanding into billing, campaigns, proposals, and everything else we could possibly imagine.</a:t>
            </a:r>
          </a:p>
          <a:p xmlns:a="http://schemas.openxmlformats.org/drawingml/2006/main">
            <a:r>
              <a:t/>
            </a:r>
          </a:p>
          <a:p xmlns:a="http://schemas.openxmlformats.org/drawingml/2006/main">
            <a:r>
              <a:t>ON SCREEN</a:t>
            </a:r>
          </a:p>
          <a:p xmlns:a="http://schemas.openxmlformats.org/drawingml/2006/main">
            <a:r>
              <a:t>Rewrite one vague audience example into the more specific form.</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answer that becomes the brief</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The plan is the product | 0:15–0:16 (1 min)</a:t>
            </a:r>
          </a:p>
          <a:p xmlns:a="http://schemas.openxmlformats.org/drawingml/2006/main">
            <a:r>
              <a:t/>
            </a:r>
          </a:p>
          <a:p xmlns:a="http://schemas.openxmlformats.org/drawingml/2006/main">
            <a:r>
              <a:t>SAY</a:t>
            </a:r>
          </a:p>
          <a:p xmlns:a="http://schemas.openxmlformats.org/drawingml/2006/main">
            <a:r>
              <a:t>This is the bridge from conversation to a reusable project document. I am making the product decisions. Claude is organizing them into something we can inspect and hand back to it later. Specificity: names the user and result. Exclusions: prevent plausible but unnecessary features.</a:t>
            </a:r>
          </a:p>
          <a:p xmlns:a="http://schemas.openxmlformats.org/drawingml/2006/main">
            <a:r>
              <a:t/>
            </a:r>
          </a:p>
          <a:p xmlns:a="http://schemas.openxmlformats.org/drawingml/2006/main">
            <a:r>
              <a:t>ON SCREEN</a:t>
            </a:r>
          </a:p>
          <a:p xmlns:a="http://schemas.openxmlformats.org/drawingml/2006/main">
            <a:r>
              <a:t>Answer Claude’s questions, then paste this decision summary.</a:t>
            </a:r>
          </a:p>
          <a:p xmlns:a="http://schemas.openxmlformats.org/drawingml/2006/main">
            <a:r>
              <a:t/>
            </a:r>
          </a:p>
          <a:p xmlns:a="http://schemas.openxmlformats.org/drawingml/2006/main">
            <a:r>
              <a:t>EXACT PROMPT</a:t>
            </a:r>
          </a:p>
          <a:p xmlns:a="http://schemas.openxmlformats.org/drawingml/2006/main">
            <a:r>
              <a:t>Use these decisions: Alex is a solo consultant. The first job is preparing a reviewed follow-up after Northstar’s call. Show the meeting evidence beside the proposed task. Exclude billing, campaigns, and automatic outreach. Draft 01-planning/BRIEF.md for my review.</a:t>
            </a:r>
          </a:p>
          <a:p xmlns:a="http://schemas.openxmlformats.org/drawingml/2006/main">
            <a:r>
              <a:t/>
            </a:r>
          </a:p>
          <a:p xmlns:a="http://schemas.openxmlformats.org/drawingml/2006/main">
            <a:r>
              <a:t>WHY THIS PROMPT</a:t>
            </a:r>
          </a:p>
          <a:p xmlns:a="http://schemas.openxmlformats.org/drawingml/2006/main">
            <a:r>
              <a:t>Specificity: names the user and result.</a:t>
            </a:r>
          </a:p>
          <a:p xmlns:a="http://schemas.openxmlformats.org/drawingml/2006/main">
            <a:r>
              <a:t>Exclusions: prevent plausible but unnecessary features.</a:t>
            </a:r>
          </a:p>
          <a:p xmlns:a="http://schemas.openxmlformats.org/drawingml/2006/main">
            <a:r>
              <a:t/>
            </a:r>
          </a:p>
          <a:p xmlns:a="http://schemas.openxmlformats.org/drawingml/2006/main">
            <a:r>
              <a:t>CHECK BEFORE CONTINUING</a:t>
            </a:r>
          </a:p>
          <a:p xmlns:a="http://schemas.openxmlformats.org/drawingml/2006/main">
            <a:r>
              <a:t>01-planning/BRIEF.md describes the same job and exclusions in plain English.</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Our first release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The plan is the product | 0:16–0:17:30 (1.5 min)</a:t>
            </a:r>
          </a:p>
          <a:p xmlns:a="http://schemas.openxmlformats.org/drawingml/2006/main">
            <a:r>
              <a:t/>
            </a:r>
          </a:p>
          <a:p xmlns:a="http://schemas.openxmlformats.org/drawingml/2006/main">
            <a:r>
              <a:t>SAY</a:t>
            </a:r>
          </a:p>
          <a:p xmlns:a="http://schemas.openxmlformats.org/drawingml/2006/main">
            <a:r>
              <a:t>The first vertical slice is deliberately small. The full blueprint includes upcoming calls and deployment, but we earn those after the core flow works. Sending email is outside the build. The course should finish a useful loop before adding new surfaces.</a:t>
            </a:r>
          </a:p>
          <a:p xmlns:a="http://schemas.openxmlformats.org/drawingml/2006/main">
            <a:r>
              <a:t/>
            </a:r>
          </a:p>
          <a:p xmlns:a="http://schemas.openxmlformats.org/drawingml/2006/main">
            <a:r>
              <a:t>ON SCREEN</a:t>
            </a:r>
          </a:p>
          <a:p xmlns:a="http://schemas.openxmlformats.org/drawingml/2006/main">
            <a:r>
              <a:t>Point to each scope group. Ask which attractive extra feature would most threaten the session.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user journey becomes the test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The plan is the product | 0:17:30–0:19 (1.5 min)</a:t>
            </a:r>
          </a:p>
          <a:p xmlns:a="http://schemas.openxmlformats.org/drawingml/2006/main">
            <a:r>
              <a:t/>
            </a:r>
          </a:p>
          <a:p xmlns:a="http://schemas.openxmlformats.org/drawingml/2006/main">
            <a:r>
              <a:t>SAY</a:t>
            </a:r>
          </a:p>
          <a:p xmlns:a="http://schemas.openxmlformats.org/drawingml/2006/main">
            <a:r>
              <a:t>A journey is more specific than a feature list. This sequence can become a browser test. The duplicate condition is part of the journey because the same meeting may arrive twice through a retry or another sync.</a:t>
            </a:r>
          </a:p>
          <a:p xmlns:a="http://schemas.openxmlformats.org/drawingml/2006/main">
            <a:r>
              <a:t/>
            </a:r>
          </a:p>
          <a:p xmlns:a="http://schemas.openxmlformats.org/drawingml/2006/main">
            <a:r>
              <a:t>ON SCREEN</a:t>
            </a:r>
          </a:p>
          <a:p xmlns:a="http://schemas.openxmlformats.org/drawingml/2006/main">
            <a:r>
              <a:t>Read each step as an acceptance test. Ask what happens when no transcript exists.</a:t>
            </a:r>
          </a:p>
          <a:p xmlns:a="http://schemas.openxmlformats.org/drawingml/2006/main">
            <a:r>
              <a:t/>
            </a:r>
          </a:p>
          <a:p xmlns:a="http://schemas.openxmlformats.org/drawingml/2006/main">
            <a:r>
              <a:t>CHECK BEFORE CONTINUING</a:t>
            </a:r>
          </a:p>
          <a:p xmlns:a="http://schemas.openxmlformats.org/drawingml/2006/main">
            <a:r>
              <a:t>A second import must not create a second copy.</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Bring evidence into the CRM</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The plan is the product | 0:19–0:22 (3 min)</a:t>
            </a:r>
          </a:p>
          <a:p xmlns:a="http://schemas.openxmlformats.org/drawingml/2006/main">
            <a:r>
              <a:t/>
            </a:r>
          </a:p>
          <a:p xmlns:a="http://schemas.openxmlformats.org/drawingml/2006/main">
            <a:r>
              <a:t>SAY</a:t>
            </a:r>
          </a:p>
          <a:p xmlns:a="http://schemas.openxmlformats.org/drawingml/2006/main">
            <a:r>
              <a:t>The same navy app runs locally and on Vercel. Local practice can use SQLite. Hosting uses an isolated Supabase workspace document and anonymous visitor identity. Fireflies and Calendly adapters accept validated records; the classroom uses fictional samples. Real provider reads remain a separate optional exercise.</a:t>
            </a:r>
          </a:p>
          <a:p xmlns:a="http://schemas.openxmlformats.org/drawingml/2006/main">
            <a:r>
              <a:t/>
            </a:r>
          </a:p>
          <a:p xmlns:a="http://schemas.openxmlformats.org/drawingml/2006/main">
            <a:r>
              <a:t>ON SCREEN</a:t>
            </a:r>
          </a:p>
          <a:p xmlns:a="http://schemas.openxmlformats.org/drawingml/2006/main">
            <a:r>
              <a:t>Trace the source ID through an import, the stored workspace and the client page. Show 02-design/ARCHITECTURE.md for the actual storage decision.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ClientDesk, from screen to services</a:t>
            </a:r>
          </a:p>
          <a:p xmlns:a="http://schemas.openxmlformats.org/drawingml/2006/main">
            <a:r>
              <a:t/>
            </a:r>
          </a:p>
          <a:p xmlns:a="http://schemas.openxmlformats.org/drawingml/2006/main">
            <a:r>
              <a:t>SOURCES / CONTEXT</a:t>
            </a:r>
          </a:p>
          <a:p xmlns:a="http://schemas.openxmlformats.org/drawingml/2006/main">
            <a:r>
              <a:t>https://docs.fireflies.ai/getting-started/introduction</a:t>
            </a:r>
          </a:p>
          <a:p xmlns:a="http://schemas.openxmlformats.org/drawingml/2006/main">
            <a:r>
              <a:t>https://developer.calendly.com/api-docs/overview/api/reference</a:t>
            </a:r>
          </a:p>
          <a:p xmlns:a="http://schemas.openxmlformats.org/drawingml/2006/main">
            <a:r>
              <a:t>https://supabase.com/docs/guides/local-development/cli/getting-started</a:t>
            </a:r>
          </a:p>
          <a:p xmlns:a="http://schemas.openxmlformats.org/drawingml/2006/main">
            <a:r>
              <a:t>https://vercel.com/docs/cli/deploy</a:t>
            </a:r>
          </a:p>
          <a:p xmlns:a="http://schemas.openxmlformats.org/drawingml/2006/main">
            <a:r>
              <a:t>https://cli.github.com/manual/gh_repo_create</a:t>
            </a:r>
          </a:p>
          <a:p xmlns:a="http://schemas.openxmlformats.org/drawingml/2006/main">
            <a:r>
              <a:t>Walkthrough Assets/00-course-map/START-HERE.md</a:t>
            </a:r>
          </a:p>
          <a:p xmlns:a="http://schemas.openxmlformats.org/drawingml/2006/main">
            <a:r>
              <a:t>Official fireflies logo: https://fireflies.ai/images/logo-full-color.svg</a:t>
            </a:r>
          </a:p>
          <a:p xmlns:a="http://schemas.openxmlformats.org/drawingml/2006/main">
            <a:r>
              <a:t>Official calendly logo: https://calendly.com</a:t>
            </a:r>
          </a:p>
          <a:p xmlns:a="http://schemas.openxmlformats.org/drawingml/2006/main">
            <a:r>
              <a:t>Official supabase logo: https://supabase.com/brand-assets.zip</a:t>
            </a:r>
          </a:p>
          <a:p xmlns:a="http://schemas.openxmlformats.org/drawingml/2006/main">
            <a:r>
              <a:t>Official vercel logo: https://vercel.com/vc-ap-b3331f/_next/static/immutable/media/logo-vercel-light.1xgi91gcqswpt.svg</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Build it for real | 0:22–0:23 (1 min)</a:t>
            </a:r>
          </a:p>
          <a:p xmlns:a="http://schemas.openxmlformats.org/drawingml/2006/main">
            <a:r>
              <a:t/>
            </a:r>
          </a:p>
          <a:p xmlns:a="http://schemas.openxmlformats.org/drawingml/2006/main">
            <a:r>
              <a:t>SAY</a:t>
            </a:r>
          </a:p>
          <a:p xmlns:a="http://schemas.openxmlformats.org/drawingml/2006/main">
            <a:r>
              <a:t>Read this as a cross-section. The browser is the screen. Vercel runs the web app and checks each request. Supabase holds the saved workspace records. For chat, Vercel selects only the chosen client’s records and sends a bounded evidence packet to Railway. Railway runs Claude Code in print mode, which contacts the Claude service. The answer returns along the same path. GitHub stores the source used to deploy; it is not in the live request path. Sample imports work without provider accounts. Live Fireflies and Calendly reads are an optional addition.</a:t>
            </a:r>
          </a:p>
          <a:p xmlns:a="http://schemas.openxmlformats.org/drawingml/2006/main">
            <a:r>
              <a:t/>
            </a:r>
          </a:p>
          <a:p xmlns:a="http://schemas.openxmlformats.org/drawingml/2006/main">
            <a:r>
              <a:t>ON SCREEN</a:t>
            </a:r>
          </a:p>
          <a:p xmlns:a="http://schemas.openxmlformats.org/drawingml/2006/main">
            <a:r>
              <a:t>Trace a task save from the browser to Supabase. Then trace a chat question through Railway and back. Ask learners to identify where each piece runs.</a:t>
            </a:r>
          </a:p>
          <a:p xmlns:a="http://schemas.openxmlformats.org/drawingml/2006/main">
            <a:r>
              <a:t/>
            </a:r>
          </a:p>
          <a:p xmlns:a="http://schemas.openxmlformats.org/drawingml/2006/main">
            <a:r>
              <a:t>CHECK BEFORE CONTINUING</a:t>
            </a:r>
          </a:p>
          <a:p xmlns:a="http://schemas.openxmlformats.org/drawingml/2006/main">
            <a:r>
              <a:t>Learners can locate the screen, saved records, app server and Claude worker.</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API, CLI, and MCP</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The plan is the product | 0:23–0:24:30 (1.5 min)</a:t>
            </a:r>
          </a:p>
          <a:p xmlns:a="http://schemas.openxmlformats.org/drawingml/2006/main">
            <a:r>
              <a:t/>
            </a:r>
          </a:p>
          <a:p xmlns:a="http://schemas.openxmlformats.org/drawingml/2006/main">
            <a:r>
              <a:t>SAY</a:t>
            </a:r>
          </a:p>
          <a:p xmlns:a="http://schemas.openxmlformats.org/drawingml/2006/main">
            <a:r>
              <a:t>An API is an application programming interface: the agreed requests software can make. A CLI is a command-line interface: commands a program understands. MCP is the Model Context Protocol: a standard an AI application uses to discover tools and call them. These describe different interfaces. A skill adds instructions for a recurring job, which we revisit with the project files.</a:t>
            </a:r>
          </a:p>
          <a:p xmlns:a="http://schemas.openxmlformats.org/drawingml/2006/main">
            <a:r>
              <a:t/>
            </a:r>
          </a:p>
          <a:p xmlns:a="http://schemas.openxmlformats.org/drawingml/2006/main">
            <a:r>
              <a:t>ON SCREEN</a:t>
            </a:r>
          </a:p>
          <a:p xmlns:a="http://schemas.openxmlformats.org/drawingml/2006/main">
            <a:r>
              <a:t>Read each row through its example. Point out that the CLI is a program Claude can operate for us.</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How the interfaces connect</a:t>
            </a:r>
          </a:p>
          <a:p xmlns:a="http://schemas.openxmlformats.org/drawingml/2006/main">
            <a:r>
              <a:t/>
            </a:r>
          </a:p>
          <a:p xmlns:a="http://schemas.openxmlformats.org/drawingml/2006/main">
            <a:r>
              <a:t>SOURCES / CONTEXT</a:t>
            </a:r>
          </a:p>
          <a:p xmlns:a="http://schemas.openxmlformats.org/drawingml/2006/main">
            <a:r>
              <a:t>https://code.claude.com/docs/en/mcp</a:t>
            </a:r>
          </a:p>
          <a:p xmlns:a="http://schemas.openxmlformats.org/drawingml/2006/main">
            <a:r>
              <a:t>https://code.claude.com/docs/en/skills</a:t>
            </a:r>
          </a:p>
          <a:p xmlns:a="http://schemas.openxmlformats.org/drawingml/2006/main">
            <a:r>
              <a:t>Walkthrough Assets/00-course-map/START-HERE.md</a:t>
            </a:r>
          </a:p>
          <a:p xmlns:a="http://schemas.openxmlformats.org/drawingml/2006/main">
            <a:r>
              <a:t>https://modelcontextprotocol.io/docs/learn/architecture</a:t>
            </a:r>
          </a:p>
          <a:p xmlns:a="http://schemas.openxmlformats.org/drawingml/2006/main">
            <a:r>
              <a:t>https://cli.github.com/</a:t>
            </a:r>
          </a:p>
          <a:p xmlns:a="http://schemas.openxmlformats.org/drawingml/2006/main">
            <a:r>
              <a:t>Walkthrough Assets/03-build/clientdesk/scripts/http-session.mjs</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The plan is the product | 0:24:30–0:25:30 (1 min)</a:t>
            </a:r>
          </a:p>
          <a:p xmlns:a="http://schemas.openxmlformats.org/drawingml/2006/main">
            <a:r>
              <a:t/>
            </a:r>
          </a:p>
          <a:p xmlns:a="http://schemas.openxmlformats.org/drawingml/2006/main">
            <a:r>
              <a:t>SAY</a:t>
            </a:r>
          </a:p>
          <a:p xmlns:a="http://schemas.openxmlformats.org/drawingml/2006/main">
            <a:r>
              <a:t>Start with Claude on the left. In the upper route, Claude runs a CLI command and the CLI requests data from a service API. In the lower route, Claude uses an MCP client to call a tool exposed by an MCP server, and that server calls the API. Both are valid routes. An MCP server can also wrap a CLI. Other tools work with local files or a database, so an external API is not mandatory. There is no universal API, then CLI, then MCP installation ladder.</a:t>
            </a:r>
          </a:p>
          <a:p xmlns:a="http://schemas.openxmlformats.org/drawingml/2006/main">
            <a:r>
              <a:t/>
            </a:r>
          </a:p>
          <a:p xmlns:a="http://schemas.openxmlformats.org/drawingml/2006/main">
            <a:r>
              <a:t>ON SCREEN</a:t>
            </a:r>
          </a:p>
          <a:p xmlns:a="http://schemas.openxmlformats.org/drawingml/2006/main">
            <a:r>
              <a:t>Trace the upper route, then the lower one. Point at the shared API and explain that choosing a route depends on what the service supports.</a:t>
            </a:r>
          </a:p>
          <a:p xmlns:a="http://schemas.openxmlformats.org/drawingml/2006/main">
            <a:r>
              <a:t/>
            </a:r>
          </a:p>
          <a:p xmlns:a="http://schemas.openxmlformats.org/drawingml/2006/main">
            <a:r>
              <a:t>CHECK BEFORE CONTINUING</a:t>
            </a:r>
          </a:p>
          <a:p xmlns:a="http://schemas.openxmlformats.org/drawingml/2006/main">
            <a:r>
              <a:t>Learners can describe two routes and understand that MCP can call an API directly.</a:t>
            </a:r>
          </a:p>
          <a:p xmlns:a="http://schemas.openxmlformats.org/drawingml/2006/main">
            <a:r>
              <a:t/>
            </a:r>
          </a:p>
          <a:p xmlns:a="http://schemas.openxmlformats.org/drawingml/2006/main">
            <a:r>
              <a:t>IF THE DEMO STALLS</a:t>
            </a:r>
          </a:p>
          <a:p xmlns:a="http://schemas.openxmlformats.org/drawingml/2006/main">
            <a:r>
              <a:t>Explain the prepared example. Any uncompleted live setup remains a separate follow-up.</a:t>
            </a:r>
          </a:p>
          <a:p xmlns:a="http://schemas.openxmlformats.org/drawingml/2006/main">
            <a:r>
              <a:t/>
            </a:r>
          </a:p>
          <a:p xmlns:a="http://schemas.openxmlformats.org/drawingml/2006/main">
            <a:r>
              <a:t>TRANSITION</a:t>
            </a:r>
          </a:p>
          <a:p xmlns:a="http://schemas.openxmlformats.org/drawingml/2006/main">
            <a:r>
              <a:t>One request through ClientDesk</a:t>
            </a:r>
          </a:p>
          <a:p xmlns:a="http://schemas.openxmlformats.org/drawingml/2006/main">
            <a:r>
              <a:t/>
            </a:r>
          </a:p>
          <a:p xmlns:a="http://schemas.openxmlformats.org/drawingml/2006/main">
            <a:r>
              <a:t>SOURCES / CONTEXT</a:t>
            </a:r>
          </a:p>
          <a:p xmlns:a="http://schemas.openxmlformats.org/drawingml/2006/main">
            <a:r>
              <a:t>https://modelcontextprotocol.io/docs/learn/architecture</a:t>
            </a:r>
          </a:p>
          <a:p xmlns:a="http://schemas.openxmlformats.org/drawingml/2006/main">
            <a:r>
              <a:t>Walkthrough Assets/03-build/clientdesk/scripts/http-session.mjs</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The plan is the product | 0:25:30–0:27 (1.5 min)</a:t>
            </a:r>
          </a:p>
          <a:p xmlns:a="http://schemas.openxmlformats.org/drawingml/2006/main">
            <a:r>
              <a:t/>
            </a:r>
          </a:p>
          <a:p xmlns:a="http://schemas.openxmlformats.org/drawingml/2006/main">
            <a:r>
              <a:t>SAY</a:t>
            </a:r>
          </a:p>
          <a:p xmlns:a="http://schemas.openxmlformats.org/drawingml/2006/main">
            <a:r>
              <a:t>This example follows our actual MCP server. Claude calls client_evidence with northstar as the client ID. The server requests the ClientDesk workspace API, then selects Northstar’s meetings and tasks. Claude reads the returned evidence and identifies the latest meeting. The source stays attached to the answer. The classroom record was imported from fictional sample data; this does not imply a live Fireflies request. The CLI offers another route to the same workspace API. Its practice identity is separate from the browser identity.</a:t>
            </a:r>
          </a:p>
          <a:p xmlns:a="http://schemas.openxmlformats.org/drawingml/2006/main">
            <a:r>
              <a:t/>
            </a:r>
          </a:p>
          <a:p xmlns:a="http://schemas.openxmlformats.org/drawingml/2006/main">
            <a:r>
              <a:t>ON SCREEN</a:t>
            </a:r>
          </a:p>
          <a:p xmlns:a="http://schemas.openxmlformats.org/drawingml/2006/main">
            <a:r>
              <a:t>Point from the request through client_evidence to /api/workspace, then to the source record. Later, replay the request during the MCP demonstration.</a:t>
            </a:r>
          </a:p>
          <a:p xmlns:a="http://schemas.openxmlformats.org/drawingml/2006/main">
            <a:r>
              <a:t/>
            </a:r>
          </a:p>
          <a:p xmlns:a="http://schemas.openxmlformats.org/drawingml/2006/main">
            <a:r>
              <a:t>EXACT PROMPT</a:t>
            </a:r>
          </a:p>
          <a:p xmlns:a="http://schemas.openxmlformats.org/drawingml/2006/main">
            <a:r>
              <a:t>Find Northstar’s latest meeting. Cite the source ID and tell me what is still undecided.</a:t>
            </a:r>
          </a:p>
          <a:p xmlns:a="http://schemas.openxmlformats.org/drawingml/2006/main">
            <a:r>
              <a:t/>
            </a:r>
          </a:p>
          <a:p xmlns:a="http://schemas.openxmlformats.org/drawingml/2006/main">
            <a:r>
              <a:t>CHECK BEFORE CONTINUING</a:t>
            </a:r>
          </a:p>
          <a:p xmlns:a="http://schemas.openxmlformats.org/drawingml/2006/main">
            <a:r>
              <a:t>The answer names demo-transcript-001 and separates the requested checklist from its undecided owner and delivery timing.</a:t>
            </a:r>
          </a:p>
          <a:p xmlns:a="http://schemas.openxmlformats.org/drawingml/2006/main">
            <a:r>
              <a:t/>
            </a:r>
          </a:p>
          <a:p xmlns:a="http://schemas.openxmlformats.org/drawingml/2006/main">
            <a:r>
              <a:t>IF THE DEMO STALLS</a:t>
            </a:r>
          </a:p>
          <a:p xmlns:a="http://schemas.openxmlformats.org/drawingml/2006/main">
            <a:r>
              <a:t>Explain the prepared example. Any uncompleted live setup remains a separate follow-up.</a:t>
            </a:r>
          </a:p>
          <a:p xmlns:a="http://schemas.openxmlformats.org/drawingml/2006/main">
            <a:r>
              <a:t/>
            </a:r>
          </a:p>
          <a:p xmlns:a="http://schemas.openxmlformats.org/drawingml/2006/main">
            <a:r>
              <a:t>TRANSITION</a:t>
            </a:r>
          </a:p>
          <a:p xmlns:a="http://schemas.openxmlformats.org/drawingml/2006/main">
            <a:r>
              <a:t>The tools have a job before setup</a:t>
            </a:r>
          </a:p>
          <a:p xmlns:a="http://schemas.openxmlformats.org/drawingml/2006/main">
            <a:r>
              <a:t/>
            </a:r>
          </a:p>
          <a:p xmlns:a="http://schemas.openxmlformats.org/drawingml/2006/main">
            <a:r>
              <a:t>SOURCES / CONTEXT</a:t>
            </a:r>
          </a:p>
          <a:p xmlns:a="http://schemas.openxmlformats.org/drawingml/2006/main">
            <a:r>
              <a:t>Walkthrough Assets/03-build/clientdesk/scripts/mcp.mjs</a:t>
            </a:r>
          </a:p>
          <a:p xmlns:a="http://schemas.openxmlformats.org/drawingml/2006/main">
            <a:r>
              <a:t>Walkthrough Assets/03-build/clientdesk/scripts/http-session.mjs</a:t>
            </a:r>
          </a:p>
          <a:p xmlns:a="http://schemas.openxmlformats.org/drawingml/2006/main">
            <a:r>
              <a:t>Walkthrough Assets/01-planning/sample-data/meeting.json</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The plan is the product | 0:27–0:28:30 (1.5 min)</a:t>
            </a:r>
          </a:p>
          <a:p xmlns:a="http://schemas.openxmlformats.org/drawingml/2006/main">
            <a:r>
              <a:t/>
            </a:r>
          </a:p>
          <a:p xmlns:a="http://schemas.openxmlformats.org/drawingml/2006/main">
            <a:r>
              <a:t>SAY</a:t>
            </a:r>
          </a:p>
          <a:p xmlns:a="http://schemas.openxmlformats.org/drawingml/2006/main">
            <a:r>
              <a:t>Tool choice follows the blueprint. We do not need to install everything before knowing why it belongs. Each integration gets a small proof so setup failures are visible before the long build starts.</a:t>
            </a:r>
          </a:p>
          <a:p xmlns:a="http://schemas.openxmlformats.org/drawingml/2006/main">
            <a:r>
              <a:t/>
            </a:r>
          </a:p>
          <a:p xmlns:a="http://schemas.openxmlformats.org/drawingml/2006/main">
            <a:r>
              <a:t>ON SCREEN</a:t>
            </a:r>
          </a:p>
          <a:p xmlns:a="http://schemas.openxmlformats.org/drawingml/2006/main">
            <a:r>
              <a:t>Mark each tool in the setup checklist as ready, fixture, or deferred. Explain that accounts and permissions are prepared before the class demo.</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Ready before the first build</a:t>
            </a:r>
          </a:p>
          <a:p xmlns:a="http://schemas.openxmlformats.org/drawingml/2006/main">
            <a:r>
              <a:t/>
            </a:r>
          </a:p>
          <a:p xmlns:a="http://schemas.openxmlformats.org/drawingml/2006/main">
            <a:r>
              <a:t>SOURCES / CONTEXT</a:t>
            </a:r>
          </a:p>
          <a:p xmlns:a="http://schemas.openxmlformats.org/drawingml/2006/main">
            <a:r>
              <a:t>https://cli.github.com/manual/gh_repo_create</a:t>
            </a:r>
          </a:p>
          <a:p xmlns:a="http://schemas.openxmlformats.org/drawingml/2006/main">
            <a:r>
              <a:t>https://supabase.com/docs/guides/local-development/cli/getting-started</a:t>
            </a:r>
          </a:p>
          <a:p xmlns:a="http://schemas.openxmlformats.org/drawingml/2006/main">
            <a:r>
              <a:t>https://docs.fireflies.ai/getting-started/introduction</a:t>
            </a:r>
          </a:p>
          <a:p xmlns:a="http://schemas.openxmlformats.org/drawingml/2006/main">
            <a:r>
              <a:t>https://developer.calendly.com/api-docs/overview/api/reference</a:t>
            </a:r>
          </a:p>
          <a:p xmlns:a="http://schemas.openxmlformats.org/drawingml/2006/main">
            <a:r>
              <a:t>https://vercel.com/docs/cli/deploy</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The plan is the product | 0:28:30–0:29 (0.5 min)</a:t>
            </a:r>
          </a:p>
          <a:p xmlns:a="http://schemas.openxmlformats.org/drawingml/2006/main">
            <a:r>
              <a:t/>
            </a:r>
          </a:p>
          <a:p xmlns:a="http://schemas.openxmlformats.org/drawingml/2006/main">
            <a:r>
              <a:t>SAY</a:t>
            </a:r>
          </a:p>
          <a:p xmlns:a="http://schemas.openxmlformats.org/drawingml/2006/main">
            <a:r>
              <a:t>You would not begin building a house with discharged tools. In this course, readiness means the project opens, commands run, and our test data is available. Live services should be prepared ahead of class. Nobody should spend the lab waiting on a consent screen.</a:t>
            </a:r>
          </a:p>
          <a:p xmlns:a="http://schemas.openxmlformats.org/drawingml/2006/main">
            <a:r>
              <a:t/>
            </a:r>
          </a:p>
          <a:p xmlns:a="http://schemas.openxmlformats.org/drawingml/2006/main">
            <a:r>
              <a:t>ON SCREEN</a:t>
            </a:r>
          </a:p>
          <a:p xmlns:a="http://schemas.openxmlformats.org/drawingml/2006/main">
            <a:r>
              <a:t>Follow 00-course-map/START-HERE.md before the timer starts. Open Northstar and point to the fictional practice label.</a:t>
            </a:r>
          </a:p>
          <a:p xmlns:a="http://schemas.openxmlformats.org/drawingml/2006/main">
            <a:r>
              <a:t/>
            </a:r>
          </a:p>
          <a:p xmlns:a="http://schemas.openxmlformats.org/drawingml/2006/main">
            <a:r>
              <a:t>CHECK BEFORE CONTINUING</a:t>
            </a:r>
          </a:p>
          <a:p xmlns:a="http://schemas.openxmlformats.org/drawingml/2006/main">
            <a:r>
              <a:t>Fictional sample records are the course’s “fixtures.”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workspace check before building</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The plan is the product | 0:29–0:30 (1 min)</a:t>
            </a:r>
          </a:p>
          <a:p xmlns:a="http://schemas.openxmlformats.org/drawingml/2006/main">
            <a:r>
              <a:t/>
            </a:r>
          </a:p>
          <a:p xmlns:a="http://schemas.openxmlformats.org/drawingml/2006/main">
            <a:r>
              <a:t>SAY</a:t>
            </a:r>
          </a:p>
          <a:p xmlns:a="http://schemas.openxmlformats.org/drawingml/2006/main">
            <a:r>
              <a:t>A prerequisite is simply something the demo needs before it can run. We check it now so the exercise does not turn into a login troubleshooting session. The prepared sample data keeps the classroom moving. Readiness: use the project’s actual instructions. Clarity: surface one concrete blocker before the lab.</a:t>
            </a:r>
          </a:p>
          <a:p xmlns:a="http://schemas.openxmlformats.org/drawingml/2006/main">
            <a:r>
              <a:t/>
            </a:r>
          </a:p>
          <a:p xmlns:a="http://schemas.openxmlformats.org/drawingml/2006/main">
            <a:r>
              <a:t>ON SCREEN</a:t>
            </a:r>
          </a:p>
          <a:p xmlns:a="http://schemas.openxmlformats.org/drawingml/2006/main">
            <a:r>
              <a:t>Complete this setup before class. In class, show the passing checkpoint.</a:t>
            </a:r>
          </a:p>
          <a:p xmlns:a="http://schemas.openxmlformats.org/drawingml/2006/main">
            <a:r>
              <a:t/>
            </a:r>
          </a:p>
          <a:p xmlns:a="http://schemas.openxmlformats.org/drawingml/2006/main">
            <a:r>
              <a:t>EXACT PROMPT</a:t>
            </a:r>
          </a:p>
          <a:p xmlns:a="http://schemas.openxmlformats.org/drawingml/2006/main">
            <a:r>
              <a:t>Read 00-course-map/START-HERE.md. Check Node, install the locked dependencies in 03-build/clientdesk, prepare the demo context, and run the documented checks. Start the app on port 4310. Explain any blocker before continuing.</a:t>
            </a:r>
          </a:p>
          <a:p xmlns:a="http://schemas.openxmlformats.org/drawingml/2006/main">
            <a:r>
              <a:t/>
            </a:r>
          </a:p>
          <a:p xmlns:a="http://schemas.openxmlformats.org/drawingml/2006/main">
            <a:r>
              <a:t>WHY THIS PROMPT</a:t>
            </a:r>
          </a:p>
          <a:p xmlns:a="http://schemas.openxmlformats.org/drawingml/2006/main">
            <a:r>
              <a:t>Readiness: use the project’s actual instructions.</a:t>
            </a:r>
          </a:p>
          <a:p xmlns:a="http://schemas.openxmlformats.org/drawingml/2006/main">
            <a:r>
              <a:t>Clarity: surface one concrete blocker before the lab.</a:t>
            </a:r>
          </a:p>
          <a:p xmlns:a="http://schemas.openxmlformats.org/drawingml/2006/main">
            <a:r>
              <a:t/>
            </a:r>
          </a:p>
          <a:p xmlns:a="http://schemas.openxmlformats.org/drawingml/2006/main">
            <a:r>
              <a:t>CHECK BEFORE CONTINUING</a:t>
            </a:r>
          </a:p>
          <a:p xmlns:a="http://schemas.openxmlformats.org/drawingml/2006/main">
            <a:r>
              <a:t>Northstar opens at localhost:4310 and the current demo date is in 00-course-map/DEMO_CONTEXT.md.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Skills, rules, and hooks in this project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 The plan is the product | 0:30–0:31:30 (1.5 min)</a:t>
            </a:r>
          </a:p>
          <a:p xmlns:a="http://schemas.openxmlformats.org/drawingml/2006/main">
            <a:r>
              <a:t/>
            </a:r>
          </a:p>
          <a:p xmlns:a="http://schemas.openxmlformats.org/drawingml/2006/main">
            <a:r>
              <a:t>SAY</a:t>
            </a:r>
          </a:p>
          <a:p xmlns:a="http://schemas.openxmlformats.org/drawingml/2006/main">
            <a:r>
              <a:t>The first course named these tools. This course uses them together. A rule shapes the work, a skill provides a recurring method, and a hook can run a deterministic check. A written rule is guidance, not a security boundary.</a:t>
            </a:r>
          </a:p>
          <a:p xmlns:a="http://schemas.openxmlformats.org/drawingml/2006/main">
            <a:r>
              <a:t/>
            </a:r>
          </a:p>
          <a:p xmlns:a="http://schemas.openxmlformats.org/drawingml/2006/main">
            <a:r>
              <a:t>ON SCREEN</a:t>
            </a:r>
          </a:p>
          <a:p xmlns:a="http://schemas.openxmlformats.org/drawingml/2006/main">
            <a:r>
              <a:t>Ask learners to place three examples into the right row before revealing the explanation.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Read the structure; let Claude write it</a:t>
            </a:r>
          </a:p>
          <a:p xmlns:a="http://schemas.openxmlformats.org/drawingml/2006/main">
            <a:r>
              <a:t/>
            </a:r>
          </a:p>
          <a:p xmlns:a="http://schemas.openxmlformats.org/drawingml/2006/main">
            <a:r>
              <a:t>SOURCES / CONTEXT</a:t>
            </a:r>
          </a:p>
          <a:p xmlns:a="http://schemas.openxmlformats.org/drawingml/2006/main">
            <a:r>
              <a:t>https://code.claude.com/docs/en/memory</a:t>
            </a:r>
          </a:p>
          <a:p xmlns:a="http://schemas.openxmlformats.org/drawingml/2006/main">
            <a:r>
              <a:t>https://code.claude.com/docs/en/skills</a:t>
            </a:r>
          </a:p>
          <a:p xmlns:a="http://schemas.openxmlformats.org/drawingml/2006/main">
            <a:r>
              <a:t>https://code.claude.com/docs/en/hooks-guide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 Build it for real | 0:31:30–0:32:30 (1 min)</a:t>
            </a:r>
          </a:p>
          <a:p xmlns:a="http://schemas.openxmlformats.org/drawingml/2006/main">
            <a:r>
              <a:t/>
            </a:r>
          </a:p>
          <a:p xmlns:a="http://schemas.openxmlformats.org/drawingml/2006/main">
            <a:r>
              <a:t>SAY</a:t>
            </a:r>
          </a:p>
          <a:p xmlns:a="http://schemas.openxmlformats.org/drawingml/2006/main">
            <a:r>
              <a:t>These are text formats, not concepts you need to master today. Claude writes the punctuation. We read the names and intended values, then ask it to validate the file. In a folder tree, branches show which file belongs inside which folder.</a:t>
            </a:r>
          </a:p>
          <a:p xmlns:a="http://schemas.openxmlformats.org/drawingml/2006/main">
            <a:r>
              <a:t/>
            </a:r>
          </a:p>
          <a:p xmlns:a="http://schemas.openxmlformats.org/drawingml/2006/main">
            <a:r>
              <a:t>ON SCREEN</a:t>
            </a:r>
          </a:p>
          <a:p xmlns:a="http://schemas.openxmlformats.org/drawingml/2006/main">
            <a:r>
              <a:t>Compare the opening lines of BRIEF.md, meeting.json and SKILL.md.</a:t>
            </a:r>
          </a:p>
          <a:p xmlns:a="http://schemas.openxmlformats.org/drawingml/2006/main">
            <a:r>
              <a:t/>
            </a:r>
          </a:p>
          <a:p xmlns:a="http://schemas.openxmlformats.org/drawingml/2006/main">
            <a:r>
              <a:t>CHECK BEFORE CONTINUING</a:t>
            </a:r>
          </a:p>
          <a:p xmlns:a="http://schemas.openxmlformats.org/drawingml/2006/main">
            <a:r>
              <a:t>Learners can distinguish written guidance from structured settings.</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Where Claude finds the instructions</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 The plan is the product | 0:32:30–0:33 (0.5 min)</a:t>
            </a:r>
          </a:p>
          <a:p xmlns:a="http://schemas.openxmlformats.org/drawingml/2006/main">
            <a:r>
              <a:t/>
            </a:r>
          </a:p>
          <a:p xmlns:a="http://schemas.openxmlformats.org/drawingml/2006/main">
            <a:r>
              <a:t>SAY</a:t>
            </a:r>
          </a:p>
          <a:p xmlns:a="http://schemas.openxmlformats.org/drawingml/2006/main">
            <a:r>
              <a:t>CLAUDE.md holds the short project contract. Rules can be grouped under .claude/rules. A skill gets its own folder and SKILL.md. Hook configuration belongs in settings.json. The MCP project file is .mcp.json at the repository root. This is the small map learners need.</a:t>
            </a:r>
          </a:p>
          <a:p xmlns:a="http://schemas.openxmlformats.org/drawingml/2006/main">
            <a:r>
              <a:t/>
            </a:r>
          </a:p>
          <a:p xmlns:a="http://schemas.openxmlformats.org/drawingml/2006/main">
            <a:r>
              <a:t>ON SCREEN</a:t>
            </a:r>
          </a:p>
          <a:p xmlns:a="http://schemas.openxmlformats.org/drawingml/2006/main">
            <a:r>
              <a:t>Open the same files in the companion kit. Do not teach a hooks directory as a magic discovery location; a script must be referenced by hook configuration.</a:t>
            </a:r>
          </a:p>
          <a:p xmlns:a="http://schemas.openxmlformats.org/drawingml/2006/main">
            <a:r>
              <a:t/>
            </a:r>
          </a:p>
          <a:p xmlns:a="http://schemas.openxmlformats.org/drawingml/2006/main">
            <a:r>
              <a:t>CHECK BEFORE CONTINUING</a:t>
            </a:r>
          </a:p>
          <a:p xmlns:a="http://schemas.openxmlformats.org/drawingml/2006/main">
            <a:r>
              <a:t>Project context</a:t>
            </a:r>
          </a:p>
          <a:p xmlns:a="http://schemas.openxmlformats.org/drawingml/2006/main">
            <a:r>
              <a:t>Scoped design rule</a:t>
            </a:r>
          </a:p>
          <a:p xmlns:a="http://schemas.openxmlformats.org/drawingml/2006/main">
            <a:r>
              <a:t>Reusable workflow</a:t>
            </a:r>
          </a:p>
          <a:p xmlns:a="http://schemas.openxmlformats.org/drawingml/2006/main">
            <a:r>
              <a:t>Hook configuration</a:t>
            </a:r>
          </a:p>
          <a:p xmlns:a="http://schemas.openxmlformats.org/drawingml/2006/main">
            <a:r>
              <a:t>Project MCP configuration</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Write the project instructions</a:t>
            </a:r>
          </a:p>
          <a:p xmlns:a="http://schemas.openxmlformats.org/drawingml/2006/main">
            <a:r>
              <a:t/>
            </a:r>
          </a:p>
          <a:p xmlns:a="http://schemas.openxmlformats.org/drawingml/2006/main">
            <a:r>
              <a:t>SOURCES / CONTEXT</a:t>
            </a:r>
          </a:p>
          <a:p xmlns:a="http://schemas.openxmlformats.org/drawingml/2006/main">
            <a:r>
              <a:t>https://code.claude.com/docs/en/memory</a:t>
            </a:r>
          </a:p>
          <a:p xmlns:a="http://schemas.openxmlformats.org/drawingml/2006/main">
            <a:r>
              <a:t>https://code.claude.com/docs/en/skills</a:t>
            </a:r>
          </a:p>
          <a:p xmlns:a="http://schemas.openxmlformats.org/drawingml/2006/main">
            <a:r>
              <a:t>https://code.claude.com/docs/en/hooks-guide</a:t>
            </a:r>
          </a:p>
          <a:p xmlns:a="http://schemas.openxmlformats.org/drawingml/2006/main">
            <a:r>
              <a:t>https://code.claude.com/docs/en/mcp</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 The plan is the product | 0:33–0:33:30 (0.5 min)</a:t>
            </a:r>
          </a:p>
          <a:p xmlns:a="http://schemas.openxmlformats.org/drawingml/2006/main">
            <a:r>
              <a:t/>
            </a:r>
          </a:p>
          <a:p xmlns:a="http://schemas.openxmlformats.org/drawingml/2006/main">
            <a:r>
              <a:t>SAY</a:t>
            </a:r>
          </a:p>
          <a:p xmlns:a="http://schemas.openxmlformats.org/drawingml/2006/main">
            <a:r>
              <a:t>CLAUDE.md is the orientation note Claude can find again in a new conversation. I want it to explain the project and point to authoritative files, not become a transcript of everything we have said. Context: uses the files that actually exist. Maintenance: keeps instructions short enough to review.</a:t>
            </a:r>
          </a:p>
          <a:p xmlns:a="http://schemas.openxmlformats.org/drawingml/2006/main">
            <a:r>
              <a:t/>
            </a:r>
          </a:p>
          <a:p xmlns:a="http://schemas.openxmlformats.org/drawingml/2006/main">
            <a:r>
              <a:t>ON SCREEN</a:t>
            </a:r>
          </a:p>
          <a:p xmlns:a="http://schemas.openxmlformats.org/drawingml/2006/main">
            <a:r>
              <a:t>Show CLAUDE.md in the project file list. Paste the request into Claude Code.</a:t>
            </a:r>
          </a:p>
          <a:p xmlns:a="http://schemas.openxmlformats.org/drawingml/2006/main">
            <a:r>
              <a:t/>
            </a:r>
          </a:p>
          <a:p xmlns:a="http://schemas.openxmlformats.org/drawingml/2006/main">
            <a:r>
              <a:t>EXACT PROMPT</a:t>
            </a:r>
          </a:p>
          <a:p xmlns:a="http://schemas.openxmlformats.org/drawingml/2006/main">
            <a:r>
              <a:t>Read 01-planning/BRIEF.md, 01-planning/SPEC.md if present, and README.md. Create or update CLAUDE.md with the project purpose, file locations, start command, checks, and what requires human review. Keep it short and remove anything that merely repeats another file.</a:t>
            </a:r>
          </a:p>
          <a:p xmlns:a="http://schemas.openxmlformats.org/drawingml/2006/main">
            <a:r>
              <a:t/>
            </a:r>
          </a:p>
          <a:p xmlns:a="http://schemas.openxmlformats.org/drawingml/2006/main">
            <a:r>
              <a:t>WHY THIS PROMPT</a:t>
            </a:r>
          </a:p>
          <a:p xmlns:a="http://schemas.openxmlformats.org/drawingml/2006/main">
            <a:r>
              <a:t>Context: uses the files that actually exist.</a:t>
            </a:r>
          </a:p>
          <a:p xmlns:a="http://schemas.openxmlformats.org/drawingml/2006/main">
            <a:r>
              <a:t>Maintenance: keeps instructions short enough to review.</a:t>
            </a:r>
          </a:p>
          <a:p xmlns:a="http://schemas.openxmlformats.org/drawingml/2006/main">
            <a:r>
              <a:t/>
            </a:r>
          </a:p>
          <a:p xmlns:a="http://schemas.openxmlformats.org/drawingml/2006/main">
            <a:r>
              <a:t>CHECK BEFORE CONTINUING</a:t>
            </a:r>
          </a:p>
          <a:p xmlns:a="http://schemas.openxmlformats.org/drawingml/2006/main">
            <a:r>
              <a:t>The file points to the real start and check commands.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rule Claude can actually apply</a:t>
            </a:r>
          </a:p>
          <a:p xmlns:a="http://schemas.openxmlformats.org/drawingml/2006/main">
            <a:r>
              <a:t/>
            </a:r>
          </a:p>
          <a:p xmlns:a="http://schemas.openxmlformats.org/drawingml/2006/main">
            <a:r>
              <a:t>SOURCES / CONTEXT</a:t>
            </a:r>
          </a:p>
          <a:p xmlns:a="http://schemas.openxmlformats.org/drawingml/2006/main">
            <a:r>
              <a:t>https://code.claude.com/docs/en/memory</a:t>
            </a:r>
          </a:p>
          <a:p xmlns:a="http://schemas.openxmlformats.org/drawingml/2006/main">
            <a:r>
              <a:t>https://code.claude.com/docs/en/skills</a:t>
            </a:r>
          </a:p>
          <a:p xmlns:a="http://schemas.openxmlformats.org/drawingml/2006/main">
            <a:r>
              <a:t>https://code.claude.com/docs/en/hooks-guide</a:t>
            </a:r>
          </a:p>
          <a:p xmlns:a="http://schemas.openxmlformats.org/drawingml/2006/main">
            <a:r>
              <a:t>https://code.claude.com/docs/en/mcp</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 The plan is the product | 0:33:30–0:34 (0.5 min)</a:t>
            </a:r>
          </a:p>
          <a:p xmlns:a="http://schemas.openxmlformats.org/drawingml/2006/main">
            <a:r>
              <a:t/>
            </a:r>
          </a:p>
          <a:p xmlns:a="http://schemas.openxmlformats.org/drawingml/2006/main">
            <a:r>
              <a:t>SAY</a:t>
            </a:r>
          </a:p>
          <a:p xmlns:a="http://schemas.openxmlformats.org/drawingml/2006/main">
            <a:r>
              <a:t>Compare this to “make it beautiful.” The rule names visible behavior and the files it applies to. Use the actual directory in your project. A rule cannot guarantee compliance; visual checks and tests still establish the result.</a:t>
            </a:r>
          </a:p>
          <a:p xmlns:a="http://schemas.openxmlformats.org/drawingml/2006/main">
            <a:r>
              <a:t/>
            </a:r>
          </a:p>
          <a:p xmlns:a="http://schemas.openxmlformats.org/drawingml/2006/main">
            <a:r>
              <a:t>ON SCREEN</a:t>
            </a:r>
          </a:p>
          <a:p xmlns:a="http://schemas.openxmlformats.org/drawingml/2006/main">
            <a:r>
              <a:t>Ask Claude to explain which requirement a proposed UI change satisfies. Show how a vague rule becomes an observable one.</a:t>
            </a:r>
          </a:p>
          <a:p xmlns:a="http://schemas.openxmlformats.org/drawingml/2006/main">
            <a:r>
              <a:t/>
            </a:r>
          </a:p>
          <a:p xmlns:a="http://schemas.openxmlformats.org/drawingml/2006/main">
            <a:r>
              <a:t>CHECK BEFORE CONTINUING</a:t>
            </a:r>
          </a:p>
          <a:p xmlns:a="http://schemas.openxmlformats.org/drawingml/2006/main">
            <a:r>
              <a:t>.claude/rules/interface.md · excerpt from the actual project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Turn a design preference into a rule</a:t>
            </a:r>
          </a:p>
          <a:p xmlns:a="http://schemas.openxmlformats.org/drawingml/2006/main">
            <a:r>
              <a:t/>
            </a:r>
          </a:p>
          <a:p xmlns:a="http://schemas.openxmlformats.org/drawingml/2006/main">
            <a:r>
              <a:t>SOURCES / CONTEXT</a:t>
            </a:r>
          </a:p>
          <a:p xmlns:a="http://schemas.openxmlformats.org/drawingml/2006/main">
            <a:r>
              <a:t>https://code.claude.com/docs/en/memory</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 The plan is the product | 0:34–0:34:30 (0.5 min)</a:t>
            </a:r>
          </a:p>
          <a:p xmlns:a="http://schemas.openxmlformats.org/drawingml/2006/main">
            <a:r>
              <a:t/>
            </a:r>
          </a:p>
          <a:p xmlns:a="http://schemas.openxmlformats.org/drawingml/2006/main">
            <a:r>
              <a:t>SAY</a:t>
            </a:r>
          </a:p>
          <a:p xmlns:a="http://schemas.openxmlformats.org/drawingml/2006/main">
            <a:r>
              <a:t>Make it beautiful is hard to verify. Show the source beside the fact is easy to verify. This is how we turn taste and expectations into guidance that helps the next change. Observable: describes things we can see. Scoped: applies the guidance where interface changes happen.</a:t>
            </a:r>
          </a:p>
          <a:p xmlns:a="http://schemas.openxmlformats.org/drawingml/2006/main">
            <a:r>
              <a:t/>
            </a:r>
          </a:p>
          <a:p xmlns:a="http://schemas.openxmlformats.org/drawingml/2006/main">
            <a:r>
              <a:t>ON SCREEN</a:t>
            </a:r>
          </a:p>
          <a:p xmlns:a="http://schemas.openxmlformats.org/drawingml/2006/main">
            <a:r>
              <a:t>Open .claude/rules. Compare Claude’s result with the example on the previous slide.</a:t>
            </a:r>
          </a:p>
          <a:p xmlns:a="http://schemas.openxmlformats.org/drawingml/2006/main">
            <a:r>
              <a:t/>
            </a:r>
          </a:p>
          <a:p xmlns:a="http://schemas.openxmlformats.org/drawingml/2006/main">
            <a:r>
              <a:t>EXACT PROMPT</a:t>
            </a:r>
          </a:p>
          <a:p xmlns:a="http://schemas.openxmlformats.org/drawingml/2006/main">
            <a:r>
              <a:t>Create a rule in .claude/rules/interface.md for the interface files. Require visible sources beside meeting facts, distinct loading and error states, one clear primary action, and a phone-width review after changes. Show me the file and explain its scope.</a:t>
            </a:r>
          </a:p>
          <a:p xmlns:a="http://schemas.openxmlformats.org/drawingml/2006/main">
            <a:r>
              <a:t/>
            </a:r>
          </a:p>
          <a:p xmlns:a="http://schemas.openxmlformats.org/drawingml/2006/main">
            <a:r>
              <a:t>WHY THIS PROMPT</a:t>
            </a:r>
          </a:p>
          <a:p xmlns:a="http://schemas.openxmlformats.org/drawingml/2006/main">
            <a:r>
              <a:t>Observable: describes things we can see.</a:t>
            </a:r>
          </a:p>
          <a:p xmlns:a="http://schemas.openxmlformats.org/drawingml/2006/main">
            <a:r>
              <a:t>Scoped: applies the guidance where interface changes happen.</a:t>
            </a:r>
          </a:p>
          <a:p xmlns:a="http://schemas.openxmlformats.org/drawingml/2006/main">
            <a:r>
              <a:t/>
            </a:r>
          </a:p>
          <a:p xmlns:a="http://schemas.openxmlformats.org/drawingml/2006/main">
            <a:r>
              <a:t>CHECK BEFORE CONTINUING</a:t>
            </a:r>
          </a:p>
          <a:p xmlns:a="http://schemas.openxmlformats.org/drawingml/2006/main">
            <a:r>
              <a:t>The rule names the real interface path and four observable requirements.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Where a skill belongs</a:t>
            </a:r>
          </a:p>
          <a:p xmlns:a="http://schemas.openxmlformats.org/drawingml/2006/main">
            <a:r>
              <a:t/>
            </a:r>
          </a:p>
          <a:p xmlns:a="http://schemas.openxmlformats.org/drawingml/2006/main">
            <a:r>
              <a:t>SOURCES / CONTEXT</a:t>
            </a:r>
          </a:p>
          <a:p xmlns:a="http://schemas.openxmlformats.org/drawingml/2006/main">
            <a:r>
              <a:t>https://code.claude.com/docs/en/memory</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 The plan is the product | 0:34:30–0:36 (1.5 min)</a:t>
            </a:r>
          </a:p>
          <a:p xmlns:a="http://schemas.openxmlformats.org/drawingml/2006/main">
            <a:r>
              <a:t/>
            </a:r>
          </a:p>
          <a:p xmlns:a="http://schemas.openxmlformats.org/drawingml/2006/main">
            <a:r>
              <a:t>SAY</a:t>
            </a:r>
          </a:p>
          <a:p xmlns:a="http://schemas.openxmlformats.org/drawingml/2006/main">
            <a:r>
              <a:t>A project skill travels with the repository. A personal skill applies across your own projects. For a one-time task, inspect the relevant guidance and ask Claude to summarize the useful parts without installing it. The environment should stay understandable.</a:t>
            </a:r>
          </a:p>
          <a:p xmlns:a="http://schemas.openxmlformats.org/drawingml/2006/main">
            <a:r>
              <a:t/>
            </a:r>
          </a:p>
          <a:p xmlns:a="http://schemas.openxmlformats.org/drawingml/2006/main">
            <a:r>
              <a:t>ON SCREEN</a:t>
            </a:r>
          </a:p>
          <a:p xmlns:a="http://schemas.openxmlformats.org/drawingml/2006/main">
            <a:r>
              <a:t>Use a design skill as the example. Explain why a CRM-specific schema should not be installed globally.</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Review design guidance before using it</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35 | The plan is the product | 0:36–0:37:30 (1.5 min)</a:t>
            </a:r>
          </a:p>
          <a:p xmlns:a="http://schemas.openxmlformats.org/drawingml/2006/main">
            <a:r>
              <a:t/>
            </a:r>
          </a:p>
          <a:p xmlns:a="http://schemas.openxmlformats.org/drawingml/2006/main">
            <a:r>
              <a:t>SAY</a:t>
            </a:r>
          </a:p>
          <a:p xmlns:a="http://schemas.openxmlformats.org/drawingml/2006/main">
            <a:r>
              <a:t>Reading a repository does not mean trusting or executing it. Check what the skill asks Claude to do, what scripts can run, when it was tested, and who maintains it. Record the source revision so later changes are visible.</a:t>
            </a:r>
          </a:p>
          <a:p xmlns:a="http://schemas.openxmlformats.org/drawingml/2006/main">
            <a:r>
              <a:t/>
            </a:r>
          </a:p>
          <a:p xmlns:a="http://schemas.openxmlformats.org/drawingml/2006/main">
            <a:r>
              <a:t>ON SCREEN</a:t>
            </a:r>
          </a:p>
          <a:p xmlns:a="http://schemas.openxmlformats.org/drawingml/2006/main">
            <a:r>
              <a:t>Open .claude/rules/interface.md. Use the local rule as the concrete review example; no external repository is required.</a:t>
            </a:r>
          </a:p>
          <a:p xmlns:a="http://schemas.openxmlformats.org/drawingml/2006/main">
            <a:r>
              <a:t/>
            </a:r>
          </a:p>
          <a:p xmlns:a="http://schemas.openxmlformats.org/drawingml/2006/main">
            <a:r>
              <a:t>EXACT PROMPT</a:t>
            </a:r>
          </a:p>
          <a:p xmlns:a="http://schemas.openxmlformats.org/drawingml/2006/main">
            <a:r>
              <a:t>Read the supplied .claude/rules/interface.md without changing files. Explain its scope and observable checks. If reviewing an external design skill later, record its exact source revision and inspect scripts before using its guidance.</a:t>
            </a:r>
          </a:p>
          <a:p xmlns:a="http://schemas.openxmlformats.org/drawingml/2006/main">
            <a:r>
              <a:t/>
            </a:r>
          </a:p>
          <a:p xmlns:a="http://schemas.openxmlformats.org/drawingml/2006/main">
            <a:r>
              <a:t>CHECK BEFORE CONTINUING</a:t>
            </a:r>
          </a:p>
          <a:p xmlns:a="http://schemas.openxmlformats.org/drawingml/2006/main">
            <a:r>
              <a:t>Classroom example: the supplied interface rule. External skills are an optional extension.</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Enter Plan mode before changing files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36 | Build it for real | 0:37:30–0:38:30 (1 min)</a:t>
            </a:r>
          </a:p>
          <a:p xmlns:a="http://schemas.openxmlformats.org/drawingml/2006/main">
            <a:r>
              <a:t/>
            </a:r>
          </a:p>
          <a:p xmlns:a="http://schemas.openxmlformats.org/drawingml/2006/main">
            <a:r>
              <a:t>SAY</a:t>
            </a:r>
          </a:p>
          <a:p xmlns:a="http://schemas.openxmlformats.org/drawingml/2006/main">
            <a:r>
              <a:t>Plan mode lets us explore and work out the approach. It does not replace our specification. We will save the decisions to files so a new conversation can pick them up. If your interface uses a different control, ask Claude for the current steps and verify the displayed mode.</a:t>
            </a:r>
          </a:p>
          <a:p xmlns:a="http://schemas.openxmlformats.org/drawingml/2006/main">
            <a:r>
              <a:t/>
            </a:r>
          </a:p>
          <a:p xmlns:a="http://schemas.openxmlformats.org/drawingml/2006/main">
            <a:r>
              <a:t>ON SCREEN</a:t>
            </a:r>
          </a:p>
          <a:p xmlns:a="http://schemas.openxmlformats.org/drawingml/2006/main">
            <a:r>
              <a:t>In the interactive Claude Code session, choose Plan mode with the permission-mode control; Shift+Tab cycles modes in the terminal. Confirm the status.</a:t>
            </a:r>
          </a:p>
          <a:p xmlns:a="http://schemas.openxmlformats.org/drawingml/2006/main">
            <a:r>
              <a:t/>
            </a:r>
          </a:p>
          <a:p xmlns:a="http://schemas.openxmlformats.org/drawingml/2006/main">
            <a:r>
              <a:t>EXACT PROMPT</a:t>
            </a:r>
          </a:p>
          <a:p xmlns:a="http://schemas.openxmlformats.org/drawingml/2006/main">
            <a:r>
              <a:t>Help me switch this Claude Code session to Plan mode. Confirm it is active. Read the brief and design files, ask about missing decisions, and propose the build sequence before editing the app.</a:t>
            </a:r>
          </a:p>
          <a:p xmlns:a="http://schemas.openxmlformats.org/drawingml/2006/main">
            <a:r>
              <a:t/>
            </a:r>
          </a:p>
          <a:p xmlns:a="http://schemas.openxmlformats.org/drawingml/2006/main">
            <a:r>
              <a:t>WHY THIS PROMPT</a:t>
            </a:r>
          </a:p>
          <a:p xmlns:a="http://schemas.openxmlformats.org/drawingml/2006/main">
            <a:r>
              <a:t>Mode: separates planning from implementation.</a:t>
            </a:r>
          </a:p>
          <a:p xmlns:a="http://schemas.openxmlformats.org/drawingml/2006/main">
            <a:r>
              <a:t>Evidence: reads the project before proposing work.</a:t>
            </a:r>
          </a:p>
          <a:p xmlns:a="http://schemas.openxmlformats.org/drawingml/2006/main">
            <a:r>
              <a:t/>
            </a:r>
          </a:p>
          <a:p xmlns:a="http://schemas.openxmlformats.org/drawingml/2006/main">
            <a:r>
              <a:t>CHECK BEFORE CONTINUING</a:t>
            </a:r>
          </a:p>
          <a:p xmlns:a="http://schemas.openxmlformats.org/drawingml/2006/main">
            <a:r>
              <a:t>The session shows Plan mode and returns decisions and a plan.</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The planning conversation</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37 | The plan is the product | 0:38:30–0:39:30 (1 min)</a:t>
            </a:r>
          </a:p>
          <a:p xmlns:a="http://schemas.openxmlformats.org/drawingml/2006/main">
            <a:r>
              <a:t/>
            </a:r>
          </a:p>
          <a:p xmlns:a="http://schemas.openxmlformats.org/drawingml/2006/main">
            <a:r>
              <a:t>SAY</a:t>
            </a:r>
          </a:p>
          <a:p xmlns:a="http://schemas.openxmlformats.org/drawingml/2006/main">
            <a:r>
              <a:t>Plan mode helps separate analysis from editing. But the useful output is the written specification, not the fact that a mode was enabled. Have Claude identify missing decisions, answer them deliberately, then save the plan.</a:t>
            </a:r>
          </a:p>
          <a:p xmlns:a="http://schemas.openxmlformats.org/drawingml/2006/main">
            <a:r>
              <a:t/>
            </a:r>
          </a:p>
          <a:p xmlns:a="http://schemas.openxmlformats.org/drawingml/2006/main">
            <a:r>
              <a:t>ON SCREEN</a:t>
            </a:r>
          </a:p>
          <a:p xmlns:a="http://schemas.openxmlformats.org/drawingml/2006/main">
            <a:r>
              <a:t>Enter plan mode, supply the brief, and show the difference between a question that blocks the build and a reversible design choice.</a:t>
            </a:r>
          </a:p>
          <a:p xmlns:a="http://schemas.openxmlformats.org/drawingml/2006/main">
            <a:r>
              <a:t/>
            </a:r>
          </a:p>
          <a:p xmlns:a="http://schemas.openxmlformats.org/drawingml/2006/main">
            <a:r>
              <a:t>EXACT PROMPT</a:t>
            </a:r>
          </a:p>
          <a:p xmlns:a="http://schemas.openxmlformats.org/drawingml/2006/main">
            <a:r>
              <a:t>We are building ClientDesk for a solo consultant. Read 01-planning/BRIEF.md and the sample records. Identify decisions that would block a useful first version. Ask me those questions before proposing the plan. Then outline the scope, screens, data, acceptance checks, and milestones. Do not build yet.</a:t>
            </a:r>
          </a:p>
          <a:p xmlns:a="http://schemas.openxmlformats.org/drawingml/2006/main">
            <a:r>
              <a:t/>
            </a:r>
          </a:p>
          <a:p xmlns:a="http://schemas.openxmlformats.org/drawingml/2006/main">
            <a:r>
              <a:t>CHECK BEFORE CONTINUING</a:t>
            </a:r>
          </a:p>
          <a:p xmlns:a="http://schemas.openxmlformats.org/drawingml/2006/main">
            <a:r>
              <a:t>Where: Claude Code Plan mode. Review the proposed plan before asking Claude to save 01-planning/SPEC.md.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Answer the decisions that block the plan</a:t>
            </a:r>
          </a:p>
          <a:p xmlns:a="http://schemas.openxmlformats.org/drawingml/2006/main">
            <a:r>
              <a:t/>
            </a:r>
          </a:p>
          <a:p xmlns:a="http://schemas.openxmlformats.org/drawingml/2006/main">
            <a:r>
              <a:t>SOURCES / CONTEXT</a:t>
            </a:r>
          </a:p>
          <a:p xmlns:a="http://schemas.openxmlformats.org/drawingml/2006/main">
            <a:r>
              <a:t>https://code.claude.com/docs/en/common-workflows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38 | The plan is the product | 0:39:30–0:40 (0.5 min)</a:t>
            </a:r>
          </a:p>
          <a:p xmlns:a="http://schemas.openxmlformats.org/drawingml/2006/main">
            <a:r>
              <a:t/>
            </a:r>
          </a:p>
          <a:p xmlns:a="http://schemas.openxmlformats.org/drawingml/2006/main">
            <a:r>
              <a:t>SAY</a:t>
            </a:r>
          </a:p>
          <a:p xmlns:a="http://schemas.openxmlformats.org/drawingml/2006/main">
            <a:r>
              <a:t>Claude should ask about decisions that change the build. I do not need to choose every library now. I do need to decide who can save a task, what evidence supports it, and what belongs in the first version. Decisions: resolves the risky unknowns. Sequence: postpones setup that does not prove the first loop.</a:t>
            </a:r>
          </a:p>
          <a:p xmlns:a="http://schemas.openxmlformats.org/drawingml/2006/main">
            <a:r>
              <a:t/>
            </a:r>
          </a:p>
          <a:p xmlns:a="http://schemas.openxmlformats.org/drawingml/2006/main">
            <a:r>
              <a:t>ON SCREEN</a:t>
            </a:r>
          </a:p>
          <a:p xmlns:a="http://schemas.openxmlformats.org/drawingml/2006/main">
            <a:r>
              <a:t>Read Claude’s questions aloud and give this decision summary.</a:t>
            </a:r>
          </a:p>
          <a:p xmlns:a="http://schemas.openxmlformats.org/drawingml/2006/main">
            <a:r>
              <a:t/>
            </a:r>
          </a:p>
          <a:p xmlns:a="http://schemas.openxmlformats.org/drawingml/2006/main">
            <a:r>
              <a:t>EXACT PROMPT</a:t>
            </a:r>
          </a:p>
          <a:p xmlns:a="http://schemas.openxmlformats.org/drawingml/2006/main">
            <a:r>
              <a:t>For the first milestone, use fictional records and one local user. The task must show its supporting meeting, owner, and proposed due date before saving. Importing the same meeting twice must keep one copy. Defer hosting until this loop passes. Keep named sign-in outside this release. Update the proposed plan.</a:t>
            </a:r>
          </a:p>
          <a:p xmlns:a="http://schemas.openxmlformats.org/drawingml/2006/main">
            <a:r>
              <a:t/>
            </a:r>
          </a:p>
          <a:p xmlns:a="http://schemas.openxmlformats.org/drawingml/2006/main">
            <a:r>
              <a:t>WHY THIS PROMPT</a:t>
            </a:r>
          </a:p>
          <a:p xmlns:a="http://schemas.openxmlformats.org/drawingml/2006/main">
            <a:r>
              <a:t>Decisions: resolves the risky unknowns.</a:t>
            </a:r>
          </a:p>
          <a:p xmlns:a="http://schemas.openxmlformats.org/drawingml/2006/main">
            <a:r>
              <a:t>Sequence: postpones setup that does not prove the first loop.</a:t>
            </a:r>
          </a:p>
          <a:p xmlns:a="http://schemas.openxmlformats.org/drawingml/2006/main">
            <a:r>
              <a:t/>
            </a:r>
          </a:p>
          <a:p xmlns:a="http://schemas.openxmlformats.org/drawingml/2006/main">
            <a:r>
              <a:t>CHECK BEFORE CONTINUING</a:t>
            </a:r>
          </a:p>
          <a:p xmlns:a="http://schemas.openxmlformats.org/drawingml/2006/main">
            <a:r>
              <a:t>The plan separates the local first milestone from later live setup.</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Why the planning prompt works</a:t>
            </a:r>
          </a:p>
          <a:p xmlns:a="http://schemas.openxmlformats.org/drawingml/2006/main">
            <a:r>
              <a:t/>
            </a:r>
          </a:p>
          <a:p xmlns:a="http://schemas.openxmlformats.org/drawingml/2006/main">
            <a:r>
              <a:t>SOURCES / CONTEXT</a:t>
            </a:r>
          </a:p>
          <a:p xmlns:a="http://schemas.openxmlformats.org/drawingml/2006/main">
            <a:r>
              <a:t>https://code.claude.com/docs/en/common-workflows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39 | The plan is the product | 0:40–0:40:30 (0.5 min)</a:t>
            </a:r>
          </a:p>
          <a:p xmlns:a="http://schemas.openxmlformats.org/drawingml/2006/main">
            <a:r>
              <a:t/>
            </a:r>
          </a:p>
          <a:p xmlns:a="http://schemas.openxmlformats.org/drawingml/2006/main">
            <a:r>
              <a:t>SAY</a:t>
            </a:r>
          </a:p>
          <a:p xmlns:a="http://schemas.openxmlformats.org/drawingml/2006/main">
            <a:r>
              <a:t>Optimized here means reducing the guesses that would cause rework. There is no magic wording. The prompt supplies context, boundaries, a concrete output, and a check. Those are the parts I want learners to reuse. Grounding: checks against the agreed brief. Testability: turns vague requirements into observable outcomes.</a:t>
            </a:r>
          </a:p>
          <a:p xmlns:a="http://schemas.openxmlformats.org/drawingml/2006/main">
            <a:r>
              <a:t/>
            </a:r>
          </a:p>
          <a:p xmlns:a="http://schemas.openxmlformats.org/drawingml/2006/main">
            <a:r>
              <a:t>ON SCREEN</a:t>
            </a:r>
          </a:p>
          <a:p xmlns:a="http://schemas.openxmlformats.org/drawingml/2006/main">
            <a:r>
              <a:t>Keep the plan and 01-planning/BRIEF.md visible together. Paste this review request.</a:t>
            </a:r>
          </a:p>
          <a:p xmlns:a="http://schemas.openxmlformats.org/drawingml/2006/main">
            <a:r>
              <a:t/>
            </a:r>
          </a:p>
          <a:p xmlns:a="http://schemas.openxmlformats.org/drawingml/2006/main">
            <a:r>
              <a:t>EXACT PROMPT</a:t>
            </a:r>
          </a:p>
          <a:p xmlns:a="http://schemas.openxmlformats.org/drawingml/2006/main">
            <a:r>
              <a:t>Review the proposed plan against 01-planning/BRIEF.md. Identify any unstated assumption, extra feature, or requirement that cannot be checked. For each issue, propose the smallest clarification. Do not start implementation.</a:t>
            </a:r>
          </a:p>
          <a:p xmlns:a="http://schemas.openxmlformats.org/drawingml/2006/main">
            <a:r>
              <a:t/>
            </a:r>
          </a:p>
          <a:p xmlns:a="http://schemas.openxmlformats.org/drawingml/2006/main">
            <a:r>
              <a:t>WHY THIS PROMPT</a:t>
            </a:r>
          </a:p>
          <a:p xmlns:a="http://schemas.openxmlformats.org/drawingml/2006/main">
            <a:r>
              <a:t>Grounding: checks against the agreed brief.</a:t>
            </a:r>
          </a:p>
          <a:p xmlns:a="http://schemas.openxmlformats.org/drawingml/2006/main">
            <a:r>
              <a:t>Testability: turns vague requirements into observable outcomes.</a:t>
            </a:r>
          </a:p>
          <a:p xmlns:a="http://schemas.openxmlformats.org/drawingml/2006/main">
            <a:r>
              <a:t/>
            </a:r>
          </a:p>
          <a:p xmlns:a="http://schemas.openxmlformats.org/drawingml/2006/main">
            <a:r>
              <a:t>CHECK BEFORE CONTINUING</a:t>
            </a:r>
          </a:p>
          <a:p xmlns:a="http://schemas.openxmlformats.org/drawingml/2006/main">
            <a:r>
              <a:t>Every first-milestone requirement has a clear observation or test.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specification Claude can execute</a:t>
            </a:r>
          </a:p>
          <a:p xmlns:a="http://schemas.openxmlformats.org/drawingml/2006/main">
            <a:r>
              <a:t/>
            </a:r>
          </a:p>
          <a:p xmlns:a="http://schemas.openxmlformats.org/drawingml/2006/main">
            <a:r>
              <a:t>SOURCES / CONTEXT</a:t>
            </a:r>
          </a:p>
          <a:p xmlns:a="http://schemas.openxmlformats.org/drawingml/2006/main">
            <a:r>
              <a:t>https://code.claude.com/docs/en/common-workflows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40 | The plan is the product | 0:40:30–0:41 (0.5 min)</a:t>
            </a:r>
          </a:p>
          <a:p xmlns:a="http://schemas.openxmlformats.org/drawingml/2006/main">
            <a:r>
              <a:t/>
            </a:r>
          </a:p>
          <a:p xmlns:a="http://schemas.openxmlformats.org/drawingml/2006/main">
            <a:r>
              <a:t>SAY</a:t>
            </a:r>
          </a:p>
          <a:p xmlns:a="http://schemas.openxmlformats.org/drawingml/2006/main">
            <a:r>
              <a:t>The specification should be short enough to read and precise enough to act on. Each milestone ends in a visible artifact or test. If Claude can interpret a requirement in two incompatible ways, either choose one or name the decision it may make.</a:t>
            </a:r>
          </a:p>
          <a:p xmlns:a="http://schemas.openxmlformats.org/drawingml/2006/main">
            <a:r>
              <a:t/>
            </a:r>
          </a:p>
          <a:p xmlns:a="http://schemas.openxmlformats.org/drawingml/2006/main">
            <a:r>
              <a:t>ON SCREEN</a:t>
            </a:r>
          </a:p>
          <a:p xmlns:a="http://schemas.openxmlformats.org/drawingml/2006/main">
            <a:r>
              <a:t>Open 01-planning/SPEC.md. Point to the exact first milestone and the definition of done.</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Approve and save the specification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41 | The plan is the product | 0:41–0:41:30 (0.5 min)</a:t>
            </a:r>
          </a:p>
          <a:p xmlns:a="http://schemas.openxmlformats.org/drawingml/2006/main">
            <a:r>
              <a:t/>
            </a:r>
          </a:p>
          <a:p xmlns:a="http://schemas.openxmlformats.org/drawingml/2006/main">
            <a:r>
              <a:t>SAY</a:t>
            </a:r>
          </a:p>
          <a:p xmlns:a="http://schemas.openxmlformats.org/drawingml/2006/main">
            <a:r>
              <a:t>Planning and saving are separate actions. I first review the proposed plan. Then I authorize Claude to record it. This avoids teaching that a planning-only conversation has already written the files. Artifact: turns a chat answer into project files. Stop point: lets us read the contract before code changes.</a:t>
            </a:r>
          </a:p>
          <a:p xmlns:a="http://schemas.openxmlformats.org/drawingml/2006/main">
            <a:r>
              <a:t/>
            </a:r>
          </a:p>
          <a:p xmlns:a="http://schemas.openxmlformats.org/drawingml/2006/main">
            <a:r>
              <a:t>ON SCREEN</a:t>
            </a:r>
          </a:p>
          <a:p xmlns:a="http://schemas.openxmlformats.org/drawingml/2006/main">
            <a:r>
              <a:t>After reviewing the plan, allow file editing and send this prompt. Open both resulting files.</a:t>
            </a:r>
          </a:p>
          <a:p xmlns:a="http://schemas.openxmlformats.org/drawingml/2006/main">
            <a:r>
              <a:t/>
            </a:r>
          </a:p>
          <a:p xmlns:a="http://schemas.openxmlformats.org/drawingml/2006/main">
            <a:r>
              <a:t>EXACT PROMPT</a:t>
            </a:r>
          </a:p>
          <a:p xmlns:a="http://schemas.openxmlformats.org/drawingml/2006/main">
            <a:r>
              <a:t>I approve the reviewed plan. Save it to 01-planning/SPEC.md with the first-release scope, source fields, screens, failure behavior, acceptance checks, and milestones. Put the milestone checklist in 01-planning/MILESTONES.md. Do not build yet.</a:t>
            </a:r>
          </a:p>
          <a:p xmlns:a="http://schemas.openxmlformats.org/drawingml/2006/main">
            <a:r>
              <a:t/>
            </a:r>
          </a:p>
          <a:p xmlns:a="http://schemas.openxmlformats.org/drawingml/2006/main">
            <a:r>
              <a:t>WHY THIS PROMPT</a:t>
            </a:r>
          </a:p>
          <a:p xmlns:a="http://schemas.openxmlformats.org/drawingml/2006/main">
            <a:r>
              <a:t>Artifact: turns a chat answer into project files.</a:t>
            </a:r>
          </a:p>
          <a:p xmlns:a="http://schemas.openxmlformats.org/drawingml/2006/main">
            <a:r>
              <a:t>Stop point: lets us read the contract before code changes.</a:t>
            </a:r>
          </a:p>
          <a:p xmlns:a="http://schemas.openxmlformats.org/drawingml/2006/main">
            <a:r>
              <a:t/>
            </a:r>
          </a:p>
          <a:p xmlns:a="http://schemas.openxmlformats.org/drawingml/2006/main">
            <a:r>
              <a:t>CHECK BEFORE CONTINUING</a:t>
            </a:r>
          </a:p>
          <a:p xmlns:a="http://schemas.openxmlformats.org/drawingml/2006/main">
            <a:r>
              <a:t>01-planning/SPEC.md and 01-planning/MILESTONES.md agree on the first milestone.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Acceptance checks remove guesswork</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42 | The plan is the product | 0:41:30–0:43 (1.5 min)</a:t>
            </a:r>
          </a:p>
          <a:p xmlns:a="http://schemas.openxmlformats.org/drawingml/2006/main">
            <a:r>
              <a:t/>
            </a:r>
          </a:p>
          <a:p xmlns:a="http://schemas.openxmlformats.org/drawingml/2006/main">
            <a:r>
              <a:t>SAY</a:t>
            </a:r>
          </a:p>
          <a:p xmlns:a="http://schemas.openxmlformats.org/drawingml/2006/main">
            <a:r>
              <a:t>Acceptance checks include failure and permission cases. The hosted reference gives each browser an anonymous practice identity. We test whether a second identity is refused access to the first workspace’s records. Named account login is outside this release.</a:t>
            </a:r>
          </a:p>
          <a:p xmlns:a="http://schemas.openxmlformats.org/drawingml/2006/main">
            <a:r>
              <a:t/>
            </a:r>
          </a:p>
          <a:p xmlns:a="http://schemas.openxmlformats.org/drawingml/2006/main">
            <a:r>
              <a:t>ON SCREEN</a:t>
            </a:r>
          </a:p>
          <a:p xmlns:a="http://schemas.openxmlformats.org/drawingml/2006/main">
            <a:r>
              <a:t>Add one concrete failure check to the audience plan. Ask how you would observe that it passes.</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Milestones Claude can finish</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43 | The plan is the product | 0:43–0:43:30 (0.5 min)</a:t>
            </a:r>
          </a:p>
          <a:p xmlns:a="http://schemas.openxmlformats.org/drawingml/2006/main">
            <a:r>
              <a:t/>
            </a:r>
          </a:p>
          <a:p xmlns:a="http://schemas.openxmlformats.org/drawingml/2006/main">
            <a:r>
              <a:t>SAY</a:t>
            </a:r>
          </a:p>
          <a:p xmlns:a="http://schemas.openxmlformats.org/drawingml/2006/main">
            <a:r>
              <a:t>Build in small vertical slices. The first one reaches a screen using sample data. The second changes the source without rewriting the entire app. The third proves the journey, and the fourth turns repeated steps into a method someone else can use.</a:t>
            </a:r>
          </a:p>
          <a:p xmlns:a="http://schemas.openxmlformats.org/drawingml/2006/main">
            <a:r>
              <a:t/>
            </a:r>
          </a:p>
          <a:p xmlns:a="http://schemas.openxmlformats.org/drawingml/2006/main">
            <a:r>
              <a:t>ON SCREEN</a:t>
            </a:r>
          </a:p>
          <a:p xmlns:a="http://schemas.openxmlformats.org/drawingml/2006/main">
            <a:r>
              <a:t>Show the checklist in 01-planning/MILESTONES.md. Do not advance merely because the model says it is done.</a:t>
            </a:r>
          </a:p>
          <a:p xmlns:a="http://schemas.openxmlformats.org/drawingml/2006/main">
            <a:r>
              <a:t/>
            </a:r>
          </a:p>
          <a:p xmlns:a="http://schemas.openxmlformats.org/drawingml/2006/main">
            <a:r>
              <a:t>CHECK BEFORE CONTINUING</a:t>
            </a:r>
          </a:p>
          <a:p xmlns:a="http://schemas.openxmlformats.org/drawingml/2006/main">
            <a:r>
              <a:t>The reference preserves each stage in 01-planning/MILESTONES.md and BUILD-LOG.md.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checkpoint before implementation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44 | The plan is the product | 0:43:30–0:44 (0.5 min)</a:t>
            </a:r>
          </a:p>
          <a:p xmlns:a="http://schemas.openxmlformats.org/drawingml/2006/main">
            <a:r>
              <a:t/>
            </a:r>
          </a:p>
          <a:p xmlns:a="http://schemas.openxmlformats.org/drawingml/2006/main">
            <a:r>
              <a:t>SAY</a:t>
            </a:r>
          </a:p>
          <a:p xmlns:a="http://schemas.openxmlformats.org/drawingml/2006/main">
            <a:r>
              <a:t>This is my last inexpensive opportunity to catch a misunderstanding. I am listening for the same user, action, and result. A confident explanation is useful only when it matches the written agreement. Preview: reveals misunderstandings cheaply. Boundary: defines a finish line for the next request.</a:t>
            </a:r>
          </a:p>
          <a:p xmlns:a="http://schemas.openxmlformats.org/drawingml/2006/main">
            <a:r>
              <a:t/>
            </a:r>
          </a:p>
          <a:p xmlns:a="http://schemas.openxmlformats.org/drawingml/2006/main">
            <a:r>
              <a:t>ON SCREEN</a:t>
            </a:r>
          </a:p>
          <a:p xmlns:a="http://schemas.openxmlformats.org/drawingml/2006/main">
            <a:r>
              <a:t>Keep 01-planning/SPEC.md open beside Claude’s response.</a:t>
            </a:r>
          </a:p>
          <a:p xmlns:a="http://schemas.openxmlformats.org/drawingml/2006/main">
            <a:r>
              <a:t/>
            </a:r>
          </a:p>
          <a:p xmlns:a="http://schemas.openxmlformats.org/drawingml/2006/main">
            <a:r>
              <a:t>EXACT PROMPT</a:t>
            </a:r>
          </a:p>
          <a:p xmlns:a="http://schemas.openxmlformats.org/drawingml/2006/main">
            <a:r>
              <a:t>Read the first milestone and explain it back to me as a user journey. Name the files you expect to change, the checks you will run, and where you will stop. Flag anything that is still ambiguous. Do not edit yet.</a:t>
            </a:r>
          </a:p>
          <a:p xmlns:a="http://schemas.openxmlformats.org/drawingml/2006/main">
            <a:r>
              <a:t/>
            </a:r>
          </a:p>
          <a:p xmlns:a="http://schemas.openxmlformats.org/drawingml/2006/main">
            <a:r>
              <a:t>WHY THIS PROMPT</a:t>
            </a:r>
          </a:p>
          <a:p xmlns:a="http://schemas.openxmlformats.org/drawingml/2006/main">
            <a:r>
              <a:t>Preview: reveals misunderstandings cheaply.</a:t>
            </a:r>
          </a:p>
          <a:p xmlns:a="http://schemas.openxmlformats.org/drawingml/2006/main">
            <a:r>
              <a:t>Boundary: defines a finish line for the next request.</a:t>
            </a:r>
          </a:p>
          <a:p xmlns:a="http://schemas.openxmlformats.org/drawingml/2006/main">
            <a:r>
              <a:t/>
            </a:r>
          </a:p>
          <a:p xmlns:a="http://schemas.openxmlformats.org/drawingml/2006/main">
            <a:r>
              <a:t>CHECK BEFORE CONTINUING</a:t>
            </a:r>
          </a:p>
          <a:p xmlns:a="http://schemas.openxmlformats.org/drawingml/2006/main">
            <a:r>
              <a:t>The explanation matches the agreed journey and stopping point.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Your first build plan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45 | The plan is the product | 0:44–0:52 (8 min)</a:t>
            </a:r>
          </a:p>
          <a:p xmlns:a="http://schemas.openxmlformats.org/drawingml/2006/main">
            <a:r>
              <a:t/>
            </a:r>
          </a:p>
          <a:p xmlns:a="http://schemas.openxmlformats.org/drawingml/2006/main">
            <a:r>
              <a:t>SAY</a:t>
            </a:r>
          </a:p>
          <a:p xmlns:a="http://schemas.openxmlformats.org/drawingml/2006/main">
            <a:r>
              <a:t>This is the planning lab. Use the CRM example or your own recurring job. Spend two minutes on the user, three on scope and the journey, and three on acceptance checks. Keep the result small enough to finish.</a:t>
            </a:r>
          </a:p>
          <a:p xmlns:a="http://schemas.openxmlformats.org/drawingml/2006/main">
            <a:r>
              <a:t/>
            </a:r>
          </a:p>
          <a:p xmlns:a="http://schemas.openxmlformats.org/drawingml/2006/main">
            <a:r>
              <a:t>ON SCREEN</a:t>
            </a:r>
          </a:p>
          <a:p xmlns:a="http://schemas.openxmlformats.org/drawingml/2006/main">
            <a:r>
              <a:t>Start an eight-minute timer. At minute four, remind people to cut scope. At minute seven, ask them to save the files.</a:t>
            </a:r>
          </a:p>
          <a:p xmlns:a="http://schemas.openxmlformats.org/drawingml/2006/main">
            <a:r>
              <a:t/>
            </a:r>
          </a:p>
          <a:p xmlns:a="http://schemas.openxmlformats.org/drawingml/2006/main">
            <a:r>
              <a:t>CHECK BEFORE CONTINUING</a:t>
            </a:r>
          </a:p>
          <a:p xmlns:a="http://schemas.openxmlformats.org/drawingml/2006/main">
            <a:r>
              <a:t>01-planning/BRIEF.md + the first milestone in 01-planning/SPEC.md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plan review before code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46 | The plan is the product | 0:52–0:53 (1 min)</a:t>
            </a:r>
          </a:p>
          <a:p xmlns:a="http://schemas.openxmlformats.org/drawingml/2006/main">
            <a:r>
              <a:t/>
            </a:r>
          </a:p>
          <a:p xmlns:a="http://schemas.openxmlformats.org/drawingml/2006/main">
            <a:r>
              <a:t>SAY</a:t>
            </a:r>
          </a:p>
          <a:p xmlns:a="http://schemas.openxmlformats.org/drawingml/2006/main">
            <a:r>
              <a:t>A plan is ready when a second person can explain what it will do and how to test it. We should also know what it deliberately does not do. This review is cheaper than undoing a complete app that solved the wrong problem.</a:t>
            </a:r>
          </a:p>
          <a:p xmlns:a="http://schemas.openxmlformats.org/drawingml/2006/main">
            <a:r>
              <a:t/>
            </a:r>
          </a:p>
          <a:p xmlns:a="http://schemas.openxmlformats.org/drawingml/2006/main">
            <a:r>
              <a:t>ON SCREEN</a:t>
            </a:r>
          </a:p>
          <a:p xmlns:a="http://schemas.openxmlformats.org/drawingml/2006/main">
            <a:r>
              <a:t>Invite one volunteer brief. Tighten one ambiguous requirement together.</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specification is ready to build</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47 | The plan is the product | 0:53–0:53:30 (0.5 min)</a:t>
            </a:r>
          </a:p>
          <a:p xmlns:a="http://schemas.openxmlformats.org/drawingml/2006/main">
            <a:r>
              <a:t/>
            </a:r>
          </a:p>
          <a:p xmlns:a="http://schemas.openxmlformats.org/drawingml/2006/main">
            <a:r>
              <a:t>SAY</a:t>
            </a:r>
          </a:p>
          <a:p xmlns:a="http://schemas.openxmlformats.org/drawingml/2006/main">
            <a:r>
              <a:t>We now have the contract for the build. We know the target journey and the first checkpoint. Keep 01-planning/SPEC.md close; it is the reference when a generated feature looks attractive but does not belong.</a:t>
            </a:r>
          </a:p>
          <a:p xmlns:a="http://schemas.openxmlformats.org/drawingml/2006/main">
            <a:r>
              <a:t/>
            </a:r>
          </a:p>
          <a:p xmlns:a="http://schemas.openxmlformats.org/drawingml/2006/main">
            <a:r>
              <a:t>ON SCREEN</a:t>
            </a:r>
          </a:p>
          <a:p xmlns:a="http://schemas.openxmlformats.org/drawingml/2006/main">
            <a:r>
              <a:t>Save the specification and point to the next milestone.</a:t>
            </a:r>
          </a:p>
          <a:p xmlns:a="http://schemas.openxmlformats.org/drawingml/2006/main">
            <a:r>
              <a:t/>
            </a:r>
          </a:p>
          <a:p xmlns:a="http://schemas.openxmlformats.org/drawingml/2006/main">
            <a:r>
              <a:t>CHECK BEFORE CONTINUING</a:t>
            </a:r>
          </a:p>
          <a:p xmlns:a="http://schemas.openxmlformats.org/drawingml/2006/main">
            <a:r>
              <a:t>Northstar example: meeting source → reviewed proposal → one saved task after reload.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Questions + reset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48 | The plan is the product | 0:53:30–0:54:30 (1 min)</a:t>
            </a:r>
          </a:p>
          <a:p xmlns:a="http://schemas.openxmlformats.org/drawingml/2006/main">
            <a:r>
              <a:t/>
            </a:r>
          </a:p>
          <a:p xmlns:a="http://schemas.openxmlformats.org/drawingml/2006/main">
            <a:r>
              <a:t>SAY</a:t>
            </a:r>
          </a:p>
          <a:p xmlns:a="http://schemas.openxmlformats.org/drawingml/2006/main">
            <a:r>
              <a:t>Take one planning question and reset for the build. Continue to use the same CRM example so the second hour does not feel like a new course.</a:t>
            </a:r>
          </a:p>
          <a:p xmlns:a="http://schemas.openxmlformats.org/drawingml/2006/main">
            <a:r>
              <a:t/>
            </a:r>
          </a:p>
          <a:p xmlns:a="http://schemas.openxmlformats.org/drawingml/2006/main">
            <a:r>
              <a:t>ON SCREEN</a:t>
            </a:r>
          </a:p>
          <a:p xmlns:a="http://schemas.openxmlformats.org/drawingml/2006/main">
            <a:r>
              <a:t>Return at the scheduled time. Queue longer setup questions.</a:t>
            </a:r>
          </a:p>
          <a:p xmlns:a="http://schemas.openxmlformats.org/drawingml/2006/main">
            <a:r>
              <a:t/>
            </a:r>
          </a:p>
          <a:p xmlns:a="http://schemas.openxmlformats.org/drawingml/2006/main">
            <a:r>
              <a:t>CHECK BEFORE CONTINUING</a:t>
            </a:r>
          </a:p>
          <a:p xmlns:a="http://schemas.openxmlformats.org/drawingml/2006/main">
            <a:r>
              <a:t>Next: save the plan and build the first client workflow</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Build it for real</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49 | Build it for real | 0:54:30–0:55:30 (1 min)</a:t>
            </a:r>
          </a:p>
          <a:p xmlns:a="http://schemas.openxmlformats.org/drawingml/2006/main">
            <a:r>
              <a:t/>
            </a:r>
          </a:p>
          <a:p xmlns:a="http://schemas.openxmlformats.org/drawingml/2006/main">
            <a:r>
              <a:t>SAY</a:t>
            </a:r>
          </a:p>
          <a:p xmlns:a="http://schemas.openxmlformats.org/drawingml/2006/main">
            <a:r>
              <a:t>The plan is now the reference for a series of small builds. We will put it in a repository, prove a data connection, inspect the browser, and decide what can safely be shared.</a:t>
            </a:r>
          </a:p>
          <a:p xmlns:a="http://schemas.openxmlformats.org/drawingml/2006/main">
            <a:r>
              <a:t/>
            </a:r>
          </a:p>
          <a:p xmlns:a="http://schemas.openxmlformats.org/drawingml/2006/main">
            <a:r>
              <a:t>ON SCREEN</a:t>
            </a:r>
          </a:p>
          <a:p xmlns:a="http://schemas.openxmlformats.org/drawingml/2006/main">
            <a:r>
              <a:t>Open the course project terminal and 01-planning/SPEC.md.</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Project files and Git history</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50 | Build it for real | 0:55:30–0:56 (0.5 min)</a:t>
            </a:r>
          </a:p>
          <a:p xmlns:a="http://schemas.openxmlformats.org/drawingml/2006/main">
            <a:r>
              <a:t/>
            </a:r>
          </a:p>
          <a:p xmlns:a="http://schemas.openxmlformats.org/drawingml/2006/main">
            <a:r>
              <a:t>SAY</a:t>
            </a:r>
          </a:p>
          <a:p xmlns:a="http://schemas.openxmlformats.org/drawingml/2006/main">
            <a:r>
              <a:t>Saving a file changes the working copy. A Git commit records a named checkpoint. GitHub hosts a remote copy and supports review. The application host is a different service. These distinctions prevent a lot of confusion.</a:t>
            </a:r>
          </a:p>
          <a:p xmlns:a="http://schemas.openxmlformats.org/drawingml/2006/main">
            <a:r>
              <a:t/>
            </a:r>
          </a:p>
          <a:p xmlns:a="http://schemas.openxmlformats.org/drawingml/2006/main">
            <a:r>
              <a:t>ON SCREEN</a:t>
            </a:r>
          </a:p>
          <a:p xmlns:a="http://schemas.openxmlformats.org/drawingml/2006/main">
            <a:r>
              <a:t>Show the folder, git status, and a commit side by side. Keep branch theory brief.</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project’s .gitignore file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51 | Build it for real | 0:56–0:56:30 (0.5 min)</a:t>
            </a:r>
          </a:p>
          <a:p xmlns:a="http://schemas.openxmlformats.org/drawingml/2006/main">
            <a:r>
              <a:t/>
            </a:r>
          </a:p>
          <a:p xmlns:a="http://schemas.openxmlformats.org/drawingml/2006/main">
            <a:r>
              <a:t>SAY</a:t>
            </a:r>
          </a:p>
          <a:p xmlns:a="http://schemas.openxmlformats.org/drawingml/2006/main">
            <a:r>
              <a:t>The ignore file keeps obvious local secrets and private data out of routine commits. It does not remove something already committed. Review the diff. If a secret ever reaches a remote, revoke it and address the history; deleting a line is not enough.</a:t>
            </a:r>
          </a:p>
          <a:p xmlns:a="http://schemas.openxmlformats.org/drawingml/2006/main">
            <a:r>
              <a:t/>
            </a:r>
          </a:p>
          <a:p xmlns:a="http://schemas.openxmlformats.org/drawingml/2006/main">
            <a:r>
              <a:t>ON SCREEN</a:t>
            </a:r>
          </a:p>
          <a:p xmlns:a="http://schemas.openxmlformats.org/drawingml/2006/main">
            <a:r>
              <a:t>Open the provided .gitignore. Show the empty example environment file.</a:t>
            </a:r>
          </a:p>
          <a:p xmlns:a="http://schemas.openxmlformats.org/drawingml/2006/main">
            <a:r>
              <a:t/>
            </a:r>
          </a:p>
          <a:p xmlns:a="http://schemas.openxmlformats.org/drawingml/2006/main">
            <a:r>
              <a:t>EXACT PROMPT</a:t>
            </a:r>
          </a:p>
          <a:p xmlns:a="http://schemas.openxmlformats.org/drawingml/2006/main">
            <a:r>
              <a:t>Set up the project’s ignore file so secrets, machine-specific settings, logs, and generated local data stay out of Git. Keep an empty example of the required environment variables. Show me what will be excluded.</a:t>
            </a:r>
          </a:p>
          <a:p xmlns:a="http://schemas.openxmlformats.org/drawingml/2006/main">
            <a:r>
              <a:t/>
            </a:r>
          </a:p>
          <a:p xmlns:a="http://schemas.openxmlformats.org/drawingml/2006/main">
            <a:r>
              <a:t>CHECK BEFORE CONTINUING</a:t>
            </a:r>
          </a:p>
          <a:p xmlns:a="http://schemas.openxmlformats.org/drawingml/2006/main">
            <a:r>
              <a:t>Keep credentials, generated output and local records outside the reviewed Git checkpoint.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first local checkpoint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52 | Build it for real | 0:56:30–0:57:30 (1 min)</a:t>
            </a:r>
          </a:p>
          <a:p xmlns:a="http://schemas.openxmlformats.org/drawingml/2006/main">
            <a:r>
              <a:t/>
            </a:r>
          </a:p>
          <a:p xmlns:a="http://schemas.openxmlformats.org/drawingml/2006/main">
            <a:r>
              <a:t>SAY</a:t>
            </a:r>
          </a:p>
          <a:p xmlns:a="http://schemas.openxmlformats.org/drawingml/2006/main">
            <a:r>
              <a:t>Initialize a repository in the intended folder. Stage specific files, inspect the staged diff, then commit. Avoid blindly staging a directory that may contain real transcripts or credentials. The learner kit contains fictional data.</a:t>
            </a:r>
          </a:p>
          <a:p xmlns:a="http://schemas.openxmlformats.org/drawingml/2006/main">
            <a:r>
              <a:t/>
            </a:r>
          </a:p>
          <a:p xmlns:a="http://schemas.openxmlformats.org/drawingml/2006/main">
            <a:r>
              <a:t>ON SCREEN</a:t>
            </a:r>
          </a:p>
          <a:p xmlns:a="http://schemas.openxmlformats.org/drawingml/2006/main">
            <a:r>
              <a:t>Demonstrate in a fresh teaching copy. If it is already a repository, skip git init. Explain each command before executing it.</a:t>
            </a:r>
          </a:p>
          <a:p xmlns:a="http://schemas.openxmlformats.org/drawingml/2006/main">
            <a:r>
              <a:t/>
            </a:r>
          </a:p>
          <a:p xmlns:a="http://schemas.openxmlformats.org/drawingml/2006/main">
            <a:r>
              <a:t>EXACT PROMPT</a:t>
            </a:r>
          </a:p>
          <a:p xmlns:a="http://schemas.openxmlformats.org/drawingml/2006/main">
            <a:r>
              <a:t>Save a local checkpoint of the agreed plan. Check whether this folder already uses Git. Show me the files you will include, exclude secrets and local data, then commit the reviewed files with a clear message.</a:t>
            </a:r>
          </a:p>
          <a:p xmlns:a="http://schemas.openxmlformats.org/drawingml/2006/main">
            <a:r>
              <a:t/>
            </a:r>
          </a:p>
          <a:p xmlns:a="http://schemas.openxmlformats.org/drawingml/2006/main">
            <a:r>
              <a:t>CHECK BEFORE CONTINUING</a:t>
            </a:r>
          </a:p>
          <a:p xmlns:a="http://schemas.openxmlformats.org/drawingml/2006/main">
            <a:r>
              <a:t>Result: a named checkpoint we can return to. Claude chooses the required Git commands.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What a checkpoint gives us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53 | Build it for real | 0:57:30–0:58 (0.5 min)</a:t>
            </a:r>
          </a:p>
          <a:p xmlns:a="http://schemas.openxmlformats.org/drawingml/2006/main">
            <a:r>
              <a:t/>
            </a:r>
          </a:p>
          <a:p xmlns:a="http://schemas.openxmlformats.org/drawingml/2006/main">
            <a:r>
              <a:t>SAY</a:t>
            </a:r>
          </a:p>
          <a:p xmlns:a="http://schemas.openxmlformats.org/drawingml/2006/main">
            <a:r>
              <a:t>A commit is a named snapshot. I do not need to memorize the command to benefit from it. I need to understand what was included and why this is a useful point to return to. Meaning: connects Git to a recoverable work habit. Safety: asks for comparison rather than a reset.</a:t>
            </a:r>
          </a:p>
          <a:p xmlns:a="http://schemas.openxmlformats.org/drawingml/2006/main">
            <a:r>
              <a:t/>
            </a:r>
          </a:p>
          <a:p xmlns:a="http://schemas.openxmlformats.org/drawingml/2006/main">
            <a:r>
              <a:t>ON SCREEN</a:t>
            </a:r>
          </a:p>
          <a:p xmlns:a="http://schemas.openxmlformats.org/drawingml/2006/main">
            <a:r>
              <a:t>Show Claude’s summary and the file comparison in the editor.</a:t>
            </a:r>
          </a:p>
          <a:p xmlns:a="http://schemas.openxmlformats.org/drawingml/2006/main">
            <a:r>
              <a:t/>
            </a:r>
          </a:p>
          <a:p xmlns:a="http://schemas.openxmlformats.org/drawingml/2006/main">
            <a:r>
              <a:t>EXACT PROMPT</a:t>
            </a:r>
          </a:p>
          <a:p xmlns:a="http://schemas.openxmlformats.org/drawingml/2006/main">
            <a:r>
              <a:t>Show the latest local checkpoint and summarize its included files. Explain how I could compare the current work with that checkpoint without discarding any changes.</a:t>
            </a:r>
          </a:p>
          <a:p xmlns:a="http://schemas.openxmlformats.org/drawingml/2006/main">
            <a:r>
              <a:t/>
            </a:r>
          </a:p>
          <a:p xmlns:a="http://schemas.openxmlformats.org/drawingml/2006/main">
            <a:r>
              <a:t>WHY THIS PROMPT</a:t>
            </a:r>
          </a:p>
          <a:p xmlns:a="http://schemas.openxmlformats.org/drawingml/2006/main">
            <a:r>
              <a:t>Meaning: connects Git to a recoverable work habit.</a:t>
            </a:r>
          </a:p>
          <a:p xmlns:a="http://schemas.openxmlformats.org/drawingml/2006/main">
            <a:r>
              <a:t>Safety: asks for comparison rather than a reset.</a:t>
            </a:r>
          </a:p>
          <a:p xmlns:a="http://schemas.openxmlformats.org/drawingml/2006/main">
            <a:r>
              <a:t/>
            </a:r>
          </a:p>
          <a:p xmlns:a="http://schemas.openxmlformats.org/drawingml/2006/main">
            <a:r>
              <a:t>CHECK BEFORE CONTINUING</a:t>
            </a:r>
          </a:p>
          <a:p xmlns:a="http://schemas.openxmlformats.org/drawingml/2006/main">
            <a:r>
              <a:t>The checkpoint contains the plan and no secret or generated data.</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Git, GitHub, and the GitHub CLI</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54 | Build it for real | 0:58–0:59 (1 min)</a:t>
            </a:r>
          </a:p>
          <a:p xmlns:a="http://schemas.openxmlformats.org/drawingml/2006/main">
            <a:r>
              <a:t/>
            </a:r>
          </a:p>
          <a:p xmlns:a="http://schemas.openxmlformats.org/drawingml/2006/main">
            <a:r>
              <a:t>SAY</a:t>
            </a:r>
          </a:p>
          <a:p xmlns:a="http://schemas.openxmlformats.org/drawingml/2006/main">
            <a:r>
              <a:t>A repository is the project’s files together with their version history. Git records commits locally, even when we are offline. GitHub hosts a remote repository so we can share and review the work. The GitHub CLI, called gh, lets Claude manage GitHub from the terminal. GitHub hosts our code. Vercel runs the deployed application. Our plan and design files belong in the repository alongside the code.</a:t>
            </a:r>
          </a:p>
          <a:p xmlns:a="http://schemas.openxmlformats.org/drawingml/2006/main">
            <a:r>
              <a:t/>
            </a:r>
          </a:p>
          <a:p xmlns:a="http://schemas.openxmlformats.org/drawingml/2006/main">
            <a:r>
              <a:t>ON SCREEN</a:t>
            </a:r>
          </a:p>
          <a:p xmlns:a="http://schemas.openxmlformats.org/drawingml/2006/main">
            <a:r>
              <a:t>Show the project folder and its existing Git history. Use the schematic to explain how a local checkpoint reaches GitHub and how Vercel deploys a chosen version.</a:t>
            </a:r>
          </a:p>
          <a:p xmlns:a="http://schemas.openxmlformats.org/drawingml/2006/main">
            <a:r>
              <a:t/>
            </a:r>
          </a:p>
          <a:p xmlns:a="http://schemas.openxmlformats.org/drawingml/2006/main">
            <a:r>
              <a:t>CHECK BEFORE CONTINUING</a:t>
            </a:r>
          </a:p>
          <a:p xmlns:a="http://schemas.openxmlformats.org/drawingml/2006/main">
            <a:r>
              <a:t>Learners distinguish saving a file, committing a checkpoint, pushing to GitHub and deploying the app.</a:t>
            </a:r>
          </a:p>
          <a:p xmlns:a="http://schemas.openxmlformats.org/drawingml/2006/main">
            <a:r>
              <a:t/>
            </a:r>
          </a:p>
          <a:p xmlns:a="http://schemas.openxmlformats.org/drawingml/2006/main">
            <a:r>
              <a:t>IF THE DEMO STALLS</a:t>
            </a:r>
          </a:p>
          <a:p xmlns:a="http://schemas.openxmlformats.org/drawingml/2006/main">
            <a:r>
              <a:t>Explain the prepared example. Any uncompleted live setup remains a separate follow-up.</a:t>
            </a:r>
          </a:p>
          <a:p xmlns:a="http://schemas.openxmlformats.org/drawingml/2006/main">
            <a:r>
              <a:t/>
            </a:r>
          </a:p>
          <a:p xmlns:a="http://schemas.openxmlformats.org/drawingml/2006/main">
            <a:r>
              <a:t>TRANSITION</a:t>
            </a:r>
          </a:p>
          <a:p xmlns:a="http://schemas.openxmlformats.org/drawingml/2006/main">
            <a:r>
              <a:t>A GitHub connection, in plain English</a:t>
            </a:r>
          </a:p>
          <a:p xmlns:a="http://schemas.openxmlformats.org/drawingml/2006/main">
            <a:r>
              <a:t/>
            </a:r>
          </a:p>
          <a:p xmlns:a="http://schemas.openxmlformats.org/drawingml/2006/main">
            <a:r>
              <a:t>SOURCES / CONTEXT</a:t>
            </a:r>
          </a:p>
          <a:p xmlns:a="http://schemas.openxmlformats.org/drawingml/2006/main">
            <a:r>
              <a:t>https://docs.github.com/en/get-started/start-your-journey/about-github-and-git</a:t>
            </a:r>
          </a:p>
          <a:p xmlns:a="http://schemas.openxmlformats.org/drawingml/2006/main">
            <a:r>
              <a:t>https://cli.github.com/</a:t>
            </a:r>
          </a:p>
          <a:p xmlns:a="http://schemas.openxmlformats.org/drawingml/2006/main">
            <a:r>
              <a:t>Official github logo: https://brand.github.com/GitHub_Logos.zip</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55 | Build it for real | 0:59–1:01 (2 min)</a:t>
            </a:r>
          </a:p>
          <a:p xmlns:a="http://schemas.openxmlformats.org/drawingml/2006/main">
            <a:r>
              <a:t/>
            </a:r>
          </a:p>
          <a:p xmlns:a="http://schemas.openxmlformats.org/drawingml/2006/main">
            <a:r>
              <a:t>SAY</a:t>
            </a:r>
          </a:p>
          <a:p xmlns:a="http://schemas.openxmlformats.org/drawingml/2006/main">
            <a:r>
              <a:t>I describe the outcome in ordinary language. Claude can check Git and the GitHub CLI, choose installation steps for this machine, and guide me through browser sign-in. I complete that sign-in myself. Then I ask it to verify the account. The built-in /install-github-app command sets up Claude GitHub Actions for a repository; it is a separate workflow. We do not use an invented /install github command. Today the instructor machine should already be prepared, so this is a short setup check rather than a timed installation race.</a:t>
            </a:r>
          </a:p>
          <a:p xmlns:a="http://schemas.openxmlformats.org/drawingml/2006/main">
            <a:r>
              <a:t/>
            </a:r>
          </a:p>
          <a:p xmlns:a="http://schemas.openxmlformats.org/drawingml/2006/main">
            <a:r>
              <a:t>ON SCREEN</a:t>
            </a:r>
          </a:p>
          <a:p xmlns:a="http://schemas.openxmlformats.org/drawingml/2006/main">
            <a:r>
              <a:t>In Claude Code at the project root, send this prompt. Complete any browser sign-in, then inspect the returned account and connection result.</a:t>
            </a:r>
          </a:p>
          <a:p xmlns:a="http://schemas.openxmlformats.org/drawingml/2006/main">
            <a:r>
              <a:t/>
            </a:r>
          </a:p>
          <a:p xmlns:a="http://schemas.openxmlformats.org/drawingml/2006/main">
            <a:r>
              <a:t>EXACT PROMPT</a:t>
            </a:r>
          </a:p>
          <a:p xmlns:a="http://schemas.openxmlformats.org/drawingml/2006/main">
            <a:r>
              <a:t>Help me connect this project to GitHub. Check what’s already installed, set up anything missing, guide me through signing in, and verify the connection. Explain any steps I need to complete myself.</a:t>
            </a:r>
          </a:p>
          <a:p xmlns:a="http://schemas.openxmlformats.org/drawingml/2006/main">
            <a:r>
              <a:t/>
            </a:r>
          </a:p>
          <a:p xmlns:a="http://schemas.openxmlformats.org/drawingml/2006/main">
            <a:r>
              <a:t>WHY THIS PROMPT</a:t>
            </a:r>
          </a:p>
          <a:p xmlns:a="http://schemas.openxmlformats.org/drawingml/2006/main">
            <a:r>
              <a:t>Inspect first: reuse the existing setup.</a:t>
            </a:r>
          </a:p>
          <a:p xmlns:a="http://schemas.openxmlformats.org/drawingml/2006/main">
            <a:r>
              <a:t>Guide me: pause for my sign-in.</a:t>
            </a:r>
          </a:p>
          <a:p xmlns:a="http://schemas.openxmlformats.org/drawingml/2006/main">
            <a:r>
              <a:t>Verify: show the connected account.</a:t>
            </a:r>
          </a:p>
          <a:p xmlns:a="http://schemas.openxmlformats.org/drawingml/2006/main">
            <a:r>
              <a:t/>
            </a:r>
          </a:p>
          <a:p xmlns:a="http://schemas.openxmlformats.org/drawingml/2006/main">
            <a:r>
              <a:t>CHECK BEFORE CONTINUING</a:t>
            </a:r>
          </a:p>
          <a:p xmlns:a="http://schemas.openxmlformats.org/drawingml/2006/main">
            <a:r>
              <a:t>Claude identifies the signed-in account and reports that GitHub access works. Repository creation comes next.</a:t>
            </a:r>
          </a:p>
          <a:p xmlns:a="http://schemas.openxmlformats.org/drawingml/2006/main">
            <a:r>
              <a:t/>
            </a:r>
          </a:p>
          <a:p xmlns:a="http://schemas.openxmlformats.org/drawingml/2006/main">
            <a:r>
              <a:t>IF THE DEMO STALLS</a:t>
            </a:r>
          </a:p>
          <a:p xmlns:a="http://schemas.openxmlformats.org/drawingml/2006/main">
            <a:r>
              <a:t>If setup exceeds two minutes, use the prepared teaching account for the demonstration and have learners finish setup with the same prompt outside the timed exercise.</a:t>
            </a:r>
          </a:p>
          <a:p xmlns:a="http://schemas.openxmlformats.org/drawingml/2006/main">
            <a:r>
              <a:t/>
            </a:r>
          </a:p>
          <a:p xmlns:a="http://schemas.openxmlformats.org/drawingml/2006/main">
            <a:r>
              <a:t>TRANSITION</a:t>
            </a:r>
          </a:p>
          <a:p xmlns:a="http://schemas.openxmlformats.org/drawingml/2006/main">
            <a:r>
              <a:t>A private GitHub repository</a:t>
            </a:r>
          </a:p>
          <a:p xmlns:a="http://schemas.openxmlformats.org/drawingml/2006/main">
            <a:r>
              <a:t/>
            </a:r>
          </a:p>
          <a:p xmlns:a="http://schemas.openxmlformats.org/drawingml/2006/main">
            <a:r>
              <a:t>SOURCES / CONTEXT</a:t>
            </a:r>
          </a:p>
          <a:p xmlns:a="http://schemas.openxmlformats.org/drawingml/2006/main">
            <a:r>
              <a:t>https://code.claude.com/docs/en/commands</a:t>
            </a:r>
          </a:p>
          <a:p xmlns:a="http://schemas.openxmlformats.org/drawingml/2006/main">
            <a:r>
              <a:t>https://cli.github.com/manual/gh_auth_login</a:t>
            </a:r>
          </a:p>
          <a:p xmlns:a="http://schemas.openxmlformats.org/drawingml/2006/main">
            <a:r>
              <a:t>https://github.com/cli/cli#installation</a:t>
            </a:r>
          </a:p>
          <a:p xmlns:a="http://schemas.openxmlformats.org/drawingml/2006/main">
            <a:r>
              <a:t>Official github logo: https://brand.github.com/GitHub_Logos.zip</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56 | Build it for real | 1:01–1:02 (1 min)</a:t>
            </a:r>
          </a:p>
          <a:p xmlns:a="http://schemas.openxmlformats.org/drawingml/2006/main">
            <a:r>
              <a:t/>
            </a:r>
          </a:p>
          <a:p xmlns:a="http://schemas.openxmlformats.org/drawingml/2006/main">
            <a:r>
              <a:t>SAY</a:t>
            </a:r>
          </a:p>
          <a:p xmlns:a="http://schemas.openxmlformats.org/drawingml/2006/main">
            <a:r>
              <a:t>The GitHub CLI can create a private repository and push a committed local project. First verify the intended account and repository name. The command assumes there is no existing origin and that you are using your own teaching repository.</a:t>
            </a:r>
          </a:p>
          <a:p xmlns:a="http://schemas.openxmlformats.org/drawingml/2006/main">
            <a:r>
              <a:t/>
            </a:r>
          </a:p>
          <a:p xmlns:a="http://schemas.openxmlformats.org/drawingml/2006/main">
            <a:r>
              <a:t>ON SCREEN</a:t>
            </a:r>
          </a:p>
          <a:p xmlns:a="http://schemas.openxmlformats.org/drawingml/2006/main">
            <a:r>
              <a:t>Show the confirmation in GitHub. If origin already exists, inspect it instead of recreating it. Do not publish the course kit to a personal account by accident.</a:t>
            </a:r>
          </a:p>
          <a:p xmlns:a="http://schemas.openxmlformats.org/drawingml/2006/main">
            <a:r>
              <a:t/>
            </a:r>
          </a:p>
          <a:p xmlns:a="http://schemas.openxmlformats.org/drawingml/2006/main">
            <a:r>
              <a:t>EXACT PROMPT</a:t>
            </a:r>
          </a:p>
          <a:p xmlns:a="http://schemas.openxmlformats.org/drawingml/2006/main">
            <a:r>
              <a:t>Create a private GitHub repository for this project using the account I have signed in to. First show me the account, repository name, and files to upload. Check for an existing remote. After I confirm those details, upload the reviewed checkpoint.</a:t>
            </a:r>
          </a:p>
          <a:p xmlns:a="http://schemas.openxmlformats.org/drawingml/2006/main">
            <a:r>
              <a:t/>
            </a:r>
          </a:p>
          <a:p xmlns:a="http://schemas.openxmlformats.org/drawingml/2006/main">
            <a:r>
              <a:t>CHECK BEFORE CONTINUING</a:t>
            </a:r>
          </a:p>
          <a:p xmlns:a="http://schemas.openxmlformats.org/drawingml/2006/main">
            <a:r>
              <a:t>Result: a private repository containing the reviewed files. A remote is the project’s linked online repository.</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Verify the repository before moving on</a:t>
            </a:r>
          </a:p>
          <a:p xmlns:a="http://schemas.openxmlformats.org/drawingml/2006/main">
            <a:r>
              <a:t/>
            </a:r>
          </a:p>
          <a:p xmlns:a="http://schemas.openxmlformats.org/drawingml/2006/main">
            <a:r>
              <a:t>SOURCES / CONTEXT</a:t>
            </a:r>
          </a:p>
          <a:p xmlns:a="http://schemas.openxmlformats.org/drawingml/2006/main">
            <a:r>
              <a:t>https://cli.github.com/manual/gh_repo_create</a:t>
            </a:r>
          </a:p>
          <a:p xmlns:a="http://schemas.openxmlformats.org/drawingml/2006/main">
            <a:r>
              <a:t>Walkthrough Assets/00-course-map/START-HERE.md</a:t>
            </a:r>
          </a:p>
          <a:p xmlns:a="http://schemas.openxmlformats.org/drawingml/2006/main">
            <a:r>
              <a:t>Official github logo: https://brand.github.com/GitHub_Logos.zip</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57 | Build it for real | 1:02–1:02:30 (0.5 min)</a:t>
            </a:r>
          </a:p>
          <a:p xmlns:a="http://schemas.openxmlformats.org/drawingml/2006/main">
            <a:r>
              <a:t/>
            </a:r>
          </a:p>
          <a:p xmlns:a="http://schemas.openxmlformats.org/drawingml/2006/main">
            <a:r>
              <a:t>SAY</a:t>
            </a:r>
          </a:p>
          <a:p xmlns:a="http://schemas.openxmlformats.org/drawingml/2006/main">
            <a:r>
              <a:t>Creating a repository is not the finish line. I look at the actual result. This is the same habit we will use for a database record, a browser fix, and a shared skill. Verification: checks the actual destination. Visibility: makes the private/public choice explicit.</a:t>
            </a:r>
          </a:p>
          <a:p xmlns:a="http://schemas.openxmlformats.org/drawingml/2006/main">
            <a:r>
              <a:t/>
            </a:r>
          </a:p>
          <a:p xmlns:a="http://schemas.openxmlformats.org/drawingml/2006/main">
            <a:r>
              <a:t>ON SCREEN</a:t>
            </a:r>
          </a:p>
          <a:p xmlns:a="http://schemas.openxmlformats.org/drawingml/2006/main">
            <a:r>
              <a:t>Open the repository Claude created in the browser.</a:t>
            </a:r>
          </a:p>
          <a:p xmlns:a="http://schemas.openxmlformats.org/drawingml/2006/main">
            <a:r>
              <a:t/>
            </a:r>
          </a:p>
          <a:p xmlns:a="http://schemas.openxmlformats.org/drawingml/2006/main">
            <a:r>
              <a:t>EXACT PROMPT</a:t>
            </a:r>
          </a:p>
          <a:p xmlns:a="http://schemas.openxmlformats.org/drawingml/2006/main">
            <a:r>
              <a:t>Show the repository URL, visibility, account owner, and latest uploaded checkpoint. Compare the uploaded files with the reviewed list. If anything is missing or unexpected, explain it before changing the repository.</a:t>
            </a:r>
          </a:p>
          <a:p xmlns:a="http://schemas.openxmlformats.org/drawingml/2006/main">
            <a:r>
              <a:t/>
            </a:r>
          </a:p>
          <a:p xmlns:a="http://schemas.openxmlformats.org/drawingml/2006/main">
            <a:r>
              <a:t>WHY THIS PROMPT</a:t>
            </a:r>
          </a:p>
          <a:p xmlns:a="http://schemas.openxmlformats.org/drawingml/2006/main">
            <a:r>
              <a:t>Verification: checks the actual destination.</a:t>
            </a:r>
          </a:p>
          <a:p xmlns:a="http://schemas.openxmlformats.org/drawingml/2006/main">
            <a:r>
              <a:t>Visibility: makes the private/public choice explicit.</a:t>
            </a:r>
          </a:p>
          <a:p xmlns:a="http://schemas.openxmlformats.org/drawingml/2006/main">
            <a:r>
              <a:t/>
            </a:r>
          </a:p>
          <a:p xmlns:a="http://schemas.openxmlformats.org/drawingml/2006/main">
            <a:r>
              <a:t>CHECK BEFORE CONTINUING</a:t>
            </a:r>
          </a:p>
          <a:p xmlns:a="http://schemas.openxmlformats.org/drawingml/2006/main">
            <a:r>
              <a:t>The browser shows the intended private repository and reviewed files.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Give the build a visual direction</a:t>
            </a:r>
          </a:p>
          <a:p xmlns:a="http://schemas.openxmlformats.org/drawingml/2006/main">
            <a:r>
              <a:t/>
            </a:r>
          </a:p>
          <a:p xmlns:a="http://schemas.openxmlformats.org/drawingml/2006/main">
            <a:r>
              <a:t>SOURCES / CONTEXT</a:t>
            </a:r>
          </a:p>
          <a:p xmlns:a="http://schemas.openxmlformats.org/drawingml/2006/main">
            <a:r>
              <a:t>https://cli.github.com/manual/gh_repo_create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58 | Build it for real | 1:02:30–1:03:30 (1 min)</a:t>
            </a:r>
          </a:p>
          <a:p xmlns:a="http://schemas.openxmlformats.org/drawingml/2006/main">
            <a:r>
              <a:t/>
            </a:r>
          </a:p>
          <a:p xmlns:a="http://schemas.openxmlformats.org/drawingml/2006/main">
            <a:r>
              <a:t>SAY</a:t>
            </a:r>
          </a:p>
          <a:p xmlns:a="http://schemas.openxmlformats.org/drawingml/2006/main">
            <a:r>
              <a:t>Design guidance is an input to the build. We describe what deserves attention and use real font and spacing choices. The course deck keeps O’Reilly red; the app has its own navy identity.</a:t>
            </a:r>
          </a:p>
          <a:p xmlns:a="http://schemas.openxmlformats.org/drawingml/2006/main">
            <a:r>
              <a:t/>
            </a:r>
          </a:p>
          <a:p xmlns:a="http://schemas.openxmlformats.org/drawingml/2006/main">
            <a:r>
              <a:t>ON SCREEN</a:t>
            </a:r>
          </a:p>
          <a:p xmlns:a="http://schemas.openxmlformats.org/drawingml/2006/main">
            <a:r>
              <a:t>Open the design folder and the actual reference screen, then send the prompt.</a:t>
            </a:r>
          </a:p>
          <a:p xmlns:a="http://schemas.openxmlformats.org/drawingml/2006/main">
            <a:r>
              <a:t/>
            </a:r>
          </a:p>
          <a:p xmlns:a="http://schemas.openxmlformats.org/drawingml/2006/main">
            <a:r>
              <a:t>EXACT PROMPT</a:t>
            </a:r>
          </a:p>
          <a:p xmlns:a="http://schemas.openxmlformats.org/drawingml/2006/main">
            <a:r>
              <a:t>Read 02-design/DESIGN.md and its assets. Use deep navy, quiet surfaces, Manrope headings and DM Sans body text. Make meeting evidence and the next action easy to find. Show the desktop and phone layout plan before implementation.</a:t>
            </a:r>
          </a:p>
          <a:p xmlns:a="http://schemas.openxmlformats.org/drawingml/2006/main">
            <a:r>
              <a:t/>
            </a:r>
          </a:p>
          <a:p xmlns:a="http://schemas.openxmlformats.org/drawingml/2006/main">
            <a:r>
              <a:t>WHY THIS PROMPT</a:t>
            </a:r>
          </a:p>
          <a:p xmlns:a="http://schemas.openxmlformats.org/drawingml/2006/main">
            <a:r>
              <a:t>Specificity: names hierarchy, fonts and color.</a:t>
            </a:r>
          </a:p>
          <a:p xmlns:a="http://schemas.openxmlformats.org/drawingml/2006/main">
            <a:r>
              <a:t>Continuity: reuses saved design decisions.</a:t>
            </a:r>
          </a:p>
          <a:p xmlns:a="http://schemas.openxmlformats.org/drawingml/2006/main">
            <a:r>
              <a:t/>
            </a:r>
          </a:p>
          <a:p xmlns:a="http://schemas.openxmlformats.org/drawingml/2006/main">
            <a:r>
              <a:t>CHECK BEFORE CONTINUING</a:t>
            </a:r>
          </a:p>
          <a:p xmlns:a="http://schemas.openxmlformats.org/drawingml/2006/main">
            <a:r>
              <a:t>The layout has a clear reading order and a phone plan.</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Create the app’s starting structure</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59 | Build it for real | 1:03:30–1:04:30 (1 min)</a:t>
            </a:r>
          </a:p>
          <a:p xmlns:a="http://schemas.openxmlformats.org/drawingml/2006/main">
            <a:r>
              <a:t/>
            </a:r>
          </a:p>
          <a:p xmlns:a="http://schemas.openxmlformats.org/drawingml/2006/main">
            <a:r>
              <a:t>SAY</a:t>
            </a:r>
          </a:p>
          <a:p xmlns:a="http://schemas.openxmlformats.org/drawingml/2006/main">
            <a:r>
              <a:t>Next.js provides the page and server structure. TypeScript helps catch incompatible values. Node runs the server. package.json records dependencies and named commands. The reference lockfile records exact resolved versions; use npm ci when reproducing that source. A fresh generated build should record its own lockfile and checks.</a:t>
            </a:r>
          </a:p>
          <a:p xmlns:a="http://schemas.openxmlformats.org/drawingml/2006/main">
            <a:r>
              <a:t/>
            </a:r>
          </a:p>
          <a:p xmlns:a="http://schemas.openxmlformats.org/drawingml/2006/main">
            <a:r>
              <a:t>ON SCREEN</a:t>
            </a:r>
          </a:p>
          <a:p xmlns:a="http://schemas.openxmlformats.org/drawingml/2006/main">
            <a:r>
              <a:t>Use the rebuild folder. Open package.json and compare the scripts with the reference.</a:t>
            </a:r>
          </a:p>
          <a:p xmlns:a="http://schemas.openxmlformats.org/drawingml/2006/main">
            <a:r>
              <a:t/>
            </a:r>
          </a:p>
          <a:p xmlns:a="http://schemas.openxmlformats.org/drawingml/2006/main">
            <a:r>
              <a:t>EXACT PROMPT</a:t>
            </a:r>
          </a:p>
          <a:p xmlns:a="http://schemas.openxmlformats.org/drawingml/2006/main">
            <a:r>
              <a:t>In this rebuild, create 03-build/clientdesk using Next.js, TypeScript and Node 24. Add the documented dependencies and scripts. Create the page, server routes and sample storage structure from SPEC.md. Start it on port 4310 and show a working page.</a:t>
            </a:r>
          </a:p>
          <a:p xmlns:a="http://schemas.openxmlformats.org/drawingml/2006/main">
            <a:r>
              <a:t/>
            </a:r>
          </a:p>
          <a:p xmlns:a="http://schemas.openxmlformats.org/drawingml/2006/main">
            <a:r>
              <a:t>WHY THIS PROMPT</a:t>
            </a:r>
          </a:p>
          <a:p xmlns:a="http://schemas.openxmlformats.org/drawingml/2006/main">
            <a:r>
              <a:t>Foundation: makes the project runnable.</a:t>
            </a:r>
          </a:p>
          <a:p xmlns:a="http://schemas.openxmlformats.org/drawingml/2006/main">
            <a:r>
              <a:t>Check: proves setup before adding features.</a:t>
            </a:r>
          </a:p>
          <a:p xmlns:a="http://schemas.openxmlformats.org/drawingml/2006/main">
            <a:r>
              <a:t/>
            </a:r>
          </a:p>
          <a:p xmlns:a="http://schemas.openxmlformats.org/drawingml/2006/main">
            <a:r>
              <a:t>CHECK BEFORE CONTINUING</a:t>
            </a:r>
          </a:p>
          <a:p xmlns:a="http://schemas.openxmlformats.org/drawingml/2006/main">
            <a:r>
              <a:t>The page opens locally and the build and type checks pass.</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The first implementation request</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60 | Build it for real | 1:04:30–1:12:30 (8 min)</a:t>
            </a:r>
          </a:p>
          <a:p xmlns:a="http://schemas.openxmlformats.org/drawingml/2006/main">
            <a:r>
              <a:t/>
            </a:r>
          </a:p>
          <a:p xmlns:a="http://schemas.openxmlformats.org/drawingml/2006/main">
            <a:r>
              <a:t>SAY</a:t>
            </a:r>
          </a:p>
          <a:p xmlns:a="http://schemas.openxmlformats.org/drawingml/2006/main">
            <a:r>
              <a:t>This request narrows the scope to one milestone and requires evidence. It lets Claude decide ordinary code details while preventing it from silently implementing the entire backlog. The milestone is complete when the behavior can be demonstrated.</a:t>
            </a:r>
          </a:p>
          <a:p xmlns:a="http://schemas.openxmlformats.org/drawingml/2006/main">
            <a:r>
              <a:t/>
            </a:r>
          </a:p>
          <a:p xmlns:a="http://schemas.openxmlformats.org/drawingml/2006/main">
            <a:r>
              <a:t>ON SCREEN</a:t>
            </a:r>
          </a:p>
          <a:p xmlns:a="http://schemas.openxmlformats.org/drawingml/2006/main">
            <a:r>
              <a:t>Use a separate working copy. Keep the finished reference on port 4310.</a:t>
            </a:r>
          </a:p>
          <a:p xmlns:a="http://schemas.openxmlformats.org/drawingml/2006/main">
            <a:r>
              <a:t/>
            </a:r>
          </a:p>
          <a:p xmlns:a="http://schemas.openxmlformats.org/drawingml/2006/main">
            <a:r>
              <a:t>EXACT PROMPT</a:t>
            </a:r>
          </a:p>
          <a:p xmlns:a="http://schemas.openxmlformats.org/drawingml/2006/main">
            <a:r>
              <a:t>Read 01-planning/SPEC.md and 01-planning/MILESTONES.md. Build the first client workflow in 03-build/clientdesk with fictional records: meeting evidence, an editable follow-up, review, and save. Run the agreed checks and show the result in the browser. Stop before adding live services.</a:t>
            </a:r>
          </a:p>
          <a:p xmlns:a="http://schemas.openxmlformats.org/drawingml/2006/main">
            <a:r>
              <a:t/>
            </a:r>
          </a:p>
          <a:p xmlns:a="http://schemas.openxmlformats.org/drawingml/2006/main">
            <a:r>
              <a:t>CHECK BEFORE CONTINUING</a:t>
            </a:r>
          </a:p>
          <a:p xmlns:a="http://schemas.openxmlformats.org/drawingml/2006/main">
            <a:r>
              <a:t>While Claude works, inspect the acceptance checks and prepared reference.</a:t>
            </a:r>
          </a:p>
          <a:p xmlns:a="http://schemas.openxmlformats.org/drawingml/2006/main">
            <a:r>
              <a:t/>
            </a:r>
          </a:p>
          <a:p xmlns:a="http://schemas.openxmlformats.org/drawingml/2006/main">
            <a:r>
              <a:t>IF THE DEMO STALLS</a:t>
            </a:r>
          </a:p>
          <a:p xmlns:a="http://schemas.openxmlformats.org/drawingml/2006/main">
            <a:r>
              <a:t>At six minutes, if the slice is still building, show the completed reference and name the unfinished work. Do not present it as the new build’s result.</a:t>
            </a:r>
          </a:p>
          <a:p xmlns:a="http://schemas.openxmlformats.org/drawingml/2006/main">
            <a:r>
              <a:t/>
            </a:r>
          </a:p>
          <a:p xmlns:a="http://schemas.openxmlformats.org/drawingml/2006/main">
            <a:r>
              <a:t>TRANSITION</a:t>
            </a:r>
          </a:p>
          <a:p xmlns:a="http://schemas.openxmlformats.org/drawingml/2006/main">
            <a:r>
              <a:t>Read the build result like a reviewer</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61 | Build it for real | 1:12:30–1:15:30 (3 min)</a:t>
            </a:r>
          </a:p>
          <a:p xmlns:a="http://schemas.openxmlformats.org/drawingml/2006/main">
            <a:r>
              <a:t/>
            </a:r>
          </a:p>
          <a:p xmlns:a="http://schemas.openxmlformats.org/drawingml/2006/main">
            <a:r>
              <a:t>SAY</a:t>
            </a:r>
          </a:p>
          <a:p xmlns:a="http://schemas.openxmlformats.org/drawingml/2006/main">
            <a:r>
              <a:t>I am not reviewing every line of code. I am reviewing the behavior we asked for. If Claude says something works, I ask what it observed. A check that was not run stays unverified. Evidence: prevents a success summary from becoming the test. Honesty: distinguishes passed from untested.</a:t>
            </a:r>
          </a:p>
          <a:p xmlns:a="http://schemas.openxmlformats.org/drawingml/2006/main">
            <a:r>
              <a:t/>
            </a:r>
          </a:p>
          <a:p xmlns:a="http://schemas.openxmlformats.org/drawingml/2006/main">
            <a:r>
              <a:t>ON SCREEN</a:t>
            </a:r>
          </a:p>
          <a:p xmlns:a="http://schemas.openxmlformats.org/drawingml/2006/main">
            <a:r>
              <a:t>Wait for the build to finish. Open the local URL Claude reports.</a:t>
            </a:r>
          </a:p>
          <a:p xmlns:a="http://schemas.openxmlformats.org/drawingml/2006/main">
            <a:r>
              <a:t/>
            </a:r>
          </a:p>
          <a:p xmlns:a="http://schemas.openxmlformats.org/drawingml/2006/main">
            <a:r>
              <a:t>EXACT PROMPT</a:t>
            </a:r>
          </a:p>
          <a:p xmlns:a="http://schemas.openxmlformats.org/drawingml/2006/main">
            <a:r>
              <a:t>Compare the changed files and check results with the first milestone. Open the actual app and explain what passes, what is incomplete, and where you stopped.</a:t>
            </a:r>
          </a:p>
          <a:p xmlns:a="http://schemas.openxmlformats.org/drawingml/2006/main">
            <a:r>
              <a:t/>
            </a:r>
          </a:p>
          <a:p xmlns:a="http://schemas.openxmlformats.org/drawingml/2006/main">
            <a:r>
              <a:t>WHY THIS PROMPT</a:t>
            </a:r>
          </a:p>
          <a:p xmlns:a="http://schemas.openxmlformats.org/drawingml/2006/main">
            <a:r>
              <a:t>Evidence: prevents a success summary from becoming the test.</a:t>
            </a:r>
          </a:p>
          <a:p xmlns:a="http://schemas.openxmlformats.org/drawingml/2006/main">
            <a:r>
              <a:t>Honesty: distinguishes passed from untested.</a:t>
            </a:r>
          </a:p>
          <a:p xmlns:a="http://schemas.openxmlformats.org/drawingml/2006/main">
            <a:r>
              <a:t/>
            </a:r>
          </a:p>
          <a:p xmlns:a="http://schemas.openxmlformats.org/drawingml/2006/main">
            <a:r>
              <a:t>CHECK BEFORE CONTINUING</a:t>
            </a:r>
          </a:p>
          <a:p xmlns:a="http://schemas.openxmlformats.org/drawingml/2006/main">
            <a:r>
              <a:t>The screen and checks support the claim; unfinished work stays named.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Complete the CRM around the first loop</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62 | Build it for real | 1:15:30–1:16:30 (1 min)</a:t>
            </a:r>
          </a:p>
          <a:p xmlns:a="http://schemas.openxmlformats.org/drawingml/2006/main">
            <a:r>
              <a:t/>
            </a:r>
          </a:p>
          <a:p xmlns:a="http://schemas.openxmlformats.org/drawingml/2006/main">
            <a:r>
              <a:t>SAY</a:t>
            </a:r>
          </a:p>
          <a:p xmlns:a="http://schemas.openxmlformats.org/drawingml/2006/main">
            <a:r>
              <a:t>The first loop proves one useful journey. It is not the entire application. We now widen the implementation deliberately. Save behavior, missing data and errors are features too. Do not accept a button that only looks finished.</a:t>
            </a:r>
          </a:p>
          <a:p xmlns:a="http://schemas.openxmlformats.org/drawingml/2006/main">
            <a:r>
              <a:t/>
            </a:r>
          </a:p>
          <a:p xmlns:a="http://schemas.openxmlformats.org/drawingml/2006/main">
            <a:r>
              <a:t>ON SCREEN</a:t>
            </a:r>
          </a:p>
          <a:p xmlns:a="http://schemas.openxmlformats.org/drawingml/2006/main">
            <a:r>
              <a:t>Compare the SPEC.md feature list with the running rebuild, marking complete, missing or failed.</a:t>
            </a:r>
          </a:p>
          <a:p xmlns:a="http://schemas.openxmlformats.org/drawingml/2006/main">
            <a:r>
              <a:t/>
            </a:r>
          </a:p>
          <a:p xmlns:a="http://schemas.openxmlformats.org/drawingml/2006/main">
            <a:r>
              <a:t>EXACT PROMPT</a:t>
            </a:r>
          </a:p>
          <a:p xmlns:a="http://schemas.openxmlformats.org/drawingml/2006/main">
            <a:r>
              <a:t>Now add the remaining SPEC.md screens: client list and details, meetings, upcoming calls, follow-ups, Connections and brief export. Include client creation, task review, completion and reload behavior. Work in milestones and show the test result for each.</a:t>
            </a:r>
          </a:p>
          <a:p xmlns:a="http://schemas.openxmlformats.org/drawingml/2006/main">
            <a:r>
              <a:t/>
            </a:r>
          </a:p>
          <a:p xmlns:a="http://schemas.openxmlformats.org/drawingml/2006/main">
            <a:r>
              <a:t>WHY THIS PROMPT</a:t>
            </a:r>
          </a:p>
          <a:p xmlns:a="http://schemas.openxmlformats.org/drawingml/2006/main">
            <a:r>
              <a:t>Coverage: names the remaining screens.</a:t>
            </a:r>
          </a:p>
          <a:p xmlns:a="http://schemas.openxmlformats.org/drawingml/2006/main">
            <a:r>
              <a:t>Milestones: exposes unfinished behavior early.</a:t>
            </a:r>
          </a:p>
          <a:p xmlns:a="http://schemas.openxmlformats.org/drawingml/2006/main">
            <a:r>
              <a:t/>
            </a:r>
          </a:p>
          <a:p xmlns:a="http://schemas.openxmlformats.org/drawingml/2006/main">
            <a:r>
              <a:t>CHECK BEFORE CONTINUING</a:t>
            </a:r>
          </a:p>
          <a:p xmlns:a="http://schemas.openxmlformats.org/drawingml/2006/main">
            <a:r>
              <a:t>Every required screen works; saved changes survive reload.</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The data model stays small</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63 | Build it for real | 1:16:30–1:17 (0.5 min)</a:t>
            </a:r>
          </a:p>
          <a:p xmlns:a="http://schemas.openxmlformats.org/drawingml/2006/main">
            <a:r>
              <a:t/>
            </a:r>
          </a:p>
          <a:p xmlns:a="http://schemas.openxmlformats.org/drawingml/2006/main">
            <a:r>
              <a:t>SAY</a:t>
            </a:r>
          </a:p>
          <a:p xmlns:a="http://schemas.openxmlformats.org/drawingml/2006/main">
            <a:r>
              <a:t>The client is the common link. A meeting keeps the provider and original source ID. A task keeps its meeting ID so someone can verify where the suggestion came from. Dates and unknown values need consistent handling at the adapter boundary.</a:t>
            </a:r>
          </a:p>
          <a:p xmlns:a="http://schemas.openxmlformats.org/drawingml/2006/main">
            <a:r>
              <a:t/>
            </a:r>
          </a:p>
          <a:p xmlns:a="http://schemas.openxmlformats.org/drawingml/2006/main">
            <a:r>
              <a:t>ON SCREEN</a:t>
            </a:r>
          </a:p>
          <a:p xmlns:a="http://schemas.openxmlformats.org/drawingml/2006/main">
            <a:r>
              <a:t>Trace one task back to one meeting and one client. Explain why a company name alone is a poor unique identifier.</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classroom connection path</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64 | Build it for real | 1:17–1:17:30 (0.5 min)</a:t>
            </a:r>
          </a:p>
          <a:p xmlns:a="http://schemas.openxmlformats.org/drawingml/2006/main">
            <a:r>
              <a:t/>
            </a:r>
          </a:p>
          <a:p xmlns:a="http://schemas.openxmlformats.org/drawingml/2006/main">
            <a:r>
              <a:t>SAY</a:t>
            </a:r>
          </a:p>
          <a:p xmlns:a="http://schemas.openxmlformats.org/drawingml/2006/main">
            <a:r>
              <a:t>Everyone follows the fictional import path during this course. It exercises the same mapping and validation boundary. A live provider read is an optional extension with its own account preparation and recorded result.</a:t>
            </a:r>
          </a:p>
          <a:p xmlns:a="http://schemas.openxmlformats.org/drawingml/2006/main">
            <a:r>
              <a:t/>
            </a:r>
          </a:p>
          <a:p xmlns:a="http://schemas.openxmlformats.org/drawingml/2006/main">
            <a:r>
              <a:t>ON SCREEN</a:t>
            </a:r>
          </a:p>
          <a:p xmlns:a="http://schemas.openxmlformats.org/drawingml/2006/main">
            <a:r>
              <a:t>Open Connections. Point to Sample source before opening Import record.</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Inspect the source connection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65 | Build it for real | 1:17:30–1:18:30 (1 min)</a:t>
            </a:r>
          </a:p>
          <a:p xmlns:a="http://schemas.openxmlformats.org/drawingml/2006/main">
            <a:r>
              <a:t/>
            </a:r>
          </a:p>
          <a:p xmlns:a="http://schemas.openxmlformats.org/drawingml/2006/main">
            <a:r>
              <a:t>SAY</a:t>
            </a:r>
          </a:p>
          <a:p xmlns:a="http://schemas.openxmlformats.org/drawingml/2006/main">
            <a:r>
              <a:t>An adapter translates a service’s response into the record our app expects. We change that small boundary first. We do not rewrite the screen just because the source changed. Isolation: changes one source while preserving the working journey. Contract: keeps the screen independent of provider details.</a:t>
            </a:r>
          </a:p>
          <a:p xmlns:a="http://schemas.openxmlformats.org/drawingml/2006/main">
            <a:r>
              <a:t/>
            </a:r>
          </a:p>
          <a:p xmlns:a="http://schemas.openxmlformats.org/drawingml/2006/main">
            <a:r>
              <a:t>ON SCREEN</a:t>
            </a:r>
          </a:p>
          <a:p xmlns:a="http://schemas.openxmlformats.org/drawingml/2006/main">
            <a:r>
              <a:t>Show the sample record and its adapter in the project.</a:t>
            </a:r>
          </a:p>
          <a:p xmlns:a="http://schemas.openxmlformats.org/drawingml/2006/main">
            <a:r>
              <a:t/>
            </a:r>
          </a:p>
          <a:p xmlns:a="http://schemas.openxmlformats.org/drawingml/2006/main">
            <a:r>
              <a:t>EXACT PROMPT</a:t>
            </a:r>
          </a:p>
          <a:p xmlns:a="http://schemas.openxmlformats.org/drawingml/2006/main">
            <a:r>
              <a:t>Open Connections and inspect the supplied sample meeting. Explain how its source ID, client and summary reach the app. Use the fictional record for this demonstration.</a:t>
            </a:r>
          </a:p>
          <a:p xmlns:a="http://schemas.openxmlformats.org/drawingml/2006/main">
            <a:r>
              <a:t/>
            </a:r>
          </a:p>
          <a:p xmlns:a="http://schemas.openxmlformats.org/drawingml/2006/main">
            <a:r>
              <a:t>WHY THIS PROMPT</a:t>
            </a:r>
          </a:p>
          <a:p xmlns:a="http://schemas.openxmlformats.org/drawingml/2006/main">
            <a:r>
              <a:t>Isolation: changes one source while preserving the working journey.</a:t>
            </a:r>
          </a:p>
          <a:p xmlns:a="http://schemas.openxmlformats.org/drawingml/2006/main">
            <a:r>
              <a:t>Contract: keeps the screen independent of provider details.</a:t>
            </a:r>
          </a:p>
          <a:p xmlns:a="http://schemas.openxmlformats.org/drawingml/2006/main">
            <a:r>
              <a:t/>
            </a:r>
          </a:p>
          <a:p xmlns:a="http://schemas.openxmlformats.org/drawingml/2006/main">
            <a:r>
              <a:t>CHECK BEFORE CONTINUING</a:t>
            </a:r>
          </a:p>
          <a:p xmlns:a="http://schemas.openxmlformats.org/drawingml/2006/main">
            <a:r>
              <a:t>The app says Sample source; no live connection is implied.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meeting record the app needs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66 | Build it for real | 1:18:30–1:19 (0.5 min)</a:t>
            </a:r>
          </a:p>
          <a:p xmlns:a="http://schemas.openxmlformats.org/drawingml/2006/main">
            <a:r>
              <a:t/>
            </a:r>
          </a:p>
          <a:p xmlns:a="http://schemas.openxmlformats.org/drawingml/2006/main">
            <a:r>
              <a:t>SAY</a:t>
            </a:r>
          </a:p>
          <a:p xmlns:a="http://schemas.openxmlformats.org/drawingml/2006/main">
            <a:r>
              <a:t>This is the app contract, not a claim about the provider response format. The adapter transforms the provider data and validates the required fields at runtime. A TypeScript interface alone does not validate a network response.</a:t>
            </a:r>
          </a:p>
          <a:p xmlns:a="http://schemas.openxmlformats.org/drawingml/2006/main">
            <a:r>
              <a:t/>
            </a:r>
          </a:p>
          <a:p xmlns:a="http://schemas.openxmlformats.org/drawingml/2006/main">
            <a:r>
              <a:t>ON SCREEN</a:t>
            </a:r>
          </a:p>
          <a:p xmlns:a="http://schemas.openxmlformats.org/drawingml/2006/main">
            <a:r>
              <a:t>Show the raw fixture beside the normalized meeting. Point to the preserved source ID.</a:t>
            </a:r>
          </a:p>
          <a:p xmlns:a="http://schemas.openxmlformats.org/drawingml/2006/main">
            <a:r>
              <a:t/>
            </a:r>
          </a:p>
          <a:p xmlns:a="http://schemas.openxmlformats.org/drawingml/2006/main">
            <a:r>
              <a:t>CHECK BEFORE CONTINUING</a:t>
            </a:r>
          </a:p>
          <a:p xmlns:a="http://schemas.openxmlformats.org/drawingml/2006/main">
            <a:r>
              <a:t>App record after normalization. This is not the provider’s raw response.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Fireflies records retain their source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67 | Build it for real | 1:19–1:19:30 (0.5 min)</a:t>
            </a:r>
          </a:p>
          <a:p xmlns:a="http://schemas.openxmlformats.org/drawingml/2006/main">
            <a:r>
              <a:t/>
            </a:r>
          </a:p>
          <a:p xmlns:a="http://schemas.openxmlformats.org/drawingml/2006/main">
            <a:r>
              <a:t>SAY</a:t>
            </a:r>
          </a:p>
          <a:p xmlns:a="http://schemas.openxmlformats.org/drawingml/2006/main">
            <a:r>
              <a:t>Fireflies provides a GraphQL API. Ask only for the fields the CRM needs and handle missing transcripts explicitly. Match the record through an explicit client mapping. Do not guess the client from a similar company name.</a:t>
            </a:r>
          </a:p>
          <a:p xmlns:a="http://schemas.openxmlformats.org/drawingml/2006/main">
            <a:r>
              <a:t/>
            </a:r>
          </a:p>
          <a:p xmlns:a="http://schemas.openxmlformats.org/drawingml/2006/main">
            <a:r>
              <a:t>ON SCREEN</a:t>
            </a:r>
          </a:p>
          <a:p xmlns:a="http://schemas.openxmlformats.org/drawingml/2006/main">
            <a:r>
              <a:t>Open the sample record beside Connections. Explain the mapping without logging into Fireflies.</a:t>
            </a:r>
          </a:p>
          <a:p xmlns:a="http://schemas.openxmlformats.org/drawingml/2006/main">
            <a:r>
              <a:t/>
            </a:r>
          </a:p>
          <a:p xmlns:a="http://schemas.openxmlformats.org/drawingml/2006/main">
            <a:r>
              <a:t>CHECK BEFORE CONTINUING</a:t>
            </a:r>
          </a:p>
          <a:p xmlns:a="http://schemas.openxmlformats.org/drawingml/2006/main">
            <a:r>
              <a:t>Classroom source: 01-planning/sample-data/meeting.json. Live API reads are optional.</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Import the meeting and prove it</a:t>
            </a:r>
          </a:p>
          <a:p xmlns:a="http://schemas.openxmlformats.org/drawingml/2006/main">
            <a:r>
              <a:t/>
            </a:r>
          </a:p>
          <a:p xmlns:a="http://schemas.openxmlformats.org/drawingml/2006/main">
            <a:r>
              <a:t>SOURCES / CONTEXT</a:t>
            </a:r>
          </a:p>
          <a:p xmlns:a="http://schemas.openxmlformats.org/drawingml/2006/main">
            <a:r>
              <a:t>https://docs.fireflies.ai/getting-started/introduction</a:t>
            </a:r>
          </a:p>
          <a:p xmlns:a="http://schemas.openxmlformats.org/drawingml/2006/main">
            <a:r>
              <a:t>Walkthrough Assets/00-course-map/START-HERE.md</a:t>
            </a:r>
          </a:p>
          <a:p xmlns:a="http://schemas.openxmlformats.org/drawingml/2006/main">
            <a:r>
              <a:t>Official fireflies logo: https://fireflies.ai/images/logo-full-color.svg</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68 | Build it for real | 1:19:30–1:22:30 (3 min)</a:t>
            </a:r>
          </a:p>
          <a:p xmlns:a="http://schemas.openxmlformats.org/drawingml/2006/main">
            <a:r>
              <a:t/>
            </a:r>
          </a:p>
          <a:p xmlns:a="http://schemas.openxmlformats.org/drawingml/2006/main">
            <a:r>
              <a:t>SAY</a:t>
            </a:r>
          </a:p>
          <a:p xmlns:a="http://schemas.openxmlformats.org/drawingml/2006/main">
            <a:r>
              <a:t>This prompt names a result and the checks that matter. Claude can choose the API or CLI steps supported by our setup. I still decide which account and record it may use. Scope: one transcript makes failures easier to diagnose. Traceability: preserves the source and duplicate check.</a:t>
            </a:r>
          </a:p>
          <a:p xmlns:a="http://schemas.openxmlformats.org/drawingml/2006/main">
            <a:r>
              <a:t/>
            </a:r>
          </a:p>
          <a:p xmlns:a="http://schemas.openxmlformats.org/drawingml/2006/main">
            <a:r>
              <a:t>ON SCREEN</a:t>
            </a:r>
          </a:p>
          <a:p xmlns:a="http://schemas.openxmlformats.org/drawingml/2006/main">
            <a:r>
              <a:t>Connections → Import record → Northstar → inspect JSON → Import meeting. Repeat the same import.</a:t>
            </a:r>
          </a:p>
          <a:p xmlns:a="http://schemas.openxmlformats.org/drawingml/2006/main">
            <a:r>
              <a:t/>
            </a:r>
          </a:p>
          <a:p xmlns:a="http://schemas.openxmlformats.org/drawingml/2006/main">
            <a:r>
              <a:t>EXACT PROMPT</a:t>
            </a:r>
          </a:p>
          <a:p xmlns:a="http://schemas.openxmlformats.org/drawingml/2006/main">
            <a:r>
              <a:t>Use the fictional Northstar meeting in 01-planning/sample-data/meeting.json. Import it into this browser’s practice workspace. Compare the source ID with the client page. Import it again and confirm the meeting count stays the same.</a:t>
            </a:r>
          </a:p>
          <a:p xmlns:a="http://schemas.openxmlformats.org/drawingml/2006/main">
            <a:r>
              <a:t/>
            </a:r>
          </a:p>
          <a:p xmlns:a="http://schemas.openxmlformats.org/drawingml/2006/main">
            <a:r>
              <a:t>WHY THIS PROMPT</a:t>
            </a:r>
          </a:p>
          <a:p xmlns:a="http://schemas.openxmlformats.org/drawingml/2006/main">
            <a:r>
              <a:t>Scope: one transcript makes failures easier to diagnose.</a:t>
            </a:r>
          </a:p>
          <a:p xmlns:a="http://schemas.openxmlformats.org/drawingml/2006/main">
            <a:r>
              <a:t>Traceability: preserves the source and duplicate check.</a:t>
            </a:r>
          </a:p>
          <a:p xmlns:a="http://schemas.openxmlformats.org/drawingml/2006/main">
            <a:r>
              <a:t/>
            </a:r>
          </a:p>
          <a:p xmlns:a="http://schemas.openxmlformats.org/drawingml/2006/main">
            <a:r>
              <a:t>CHECK BEFORE CONTINUING</a:t>
            </a:r>
          </a:p>
          <a:p xmlns:a="http://schemas.openxmlformats.org/drawingml/2006/main">
            <a:r>
              <a:t>The source ID is unchanged and the second import does not increase the count.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Calendly records keep time and status</a:t>
            </a:r>
          </a:p>
          <a:p xmlns:a="http://schemas.openxmlformats.org/drawingml/2006/main">
            <a:r>
              <a:t/>
            </a:r>
          </a:p>
          <a:p xmlns:a="http://schemas.openxmlformats.org/drawingml/2006/main">
            <a:r>
              <a:t>SOURCES / CONTEXT</a:t>
            </a:r>
          </a:p>
          <a:p xmlns:a="http://schemas.openxmlformats.org/drawingml/2006/main">
            <a:r>
              <a:t>https://docs.fireflies.ai/getting-started/introduction</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69 | Build it for real | 1:22:30–1:23 (0.5 min)</a:t>
            </a:r>
          </a:p>
          <a:p xmlns:a="http://schemas.openxmlformats.org/drawingml/2006/main">
            <a:r>
              <a:t/>
            </a:r>
          </a:p>
          <a:p xmlns:a="http://schemas.openxmlformats.org/drawingml/2006/main">
            <a:r>
              <a:t>SAY</a:t>
            </a:r>
          </a:p>
          <a:p xmlns:a="http://schemas.openxmlformats.org/drawingml/2006/main">
            <a:r>
              <a:t>Calendly supplies upcoming scheduling context. Preserve the provider event ID and timezone. A canceled event should not continue to appear as the next call. Keep this separate from the meeting transcript because they have different lifecycles.</a:t>
            </a:r>
          </a:p>
          <a:p xmlns:a="http://schemas.openxmlformats.org/drawingml/2006/main">
            <a:r>
              <a:t/>
            </a:r>
          </a:p>
          <a:p xmlns:a="http://schemas.openxmlformats.org/drawingml/2006/main">
            <a:r>
              <a:t>ON SCREEN</a:t>
            </a:r>
          </a:p>
          <a:p xmlns:a="http://schemas.openxmlformats.org/drawingml/2006/main">
            <a:r>
              <a:t>Open the fictional event file and compare it with Northstar’s next-call card.</a:t>
            </a:r>
          </a:p>
          <a:p xmlns:a="http://schemas.openxmlformats.org/drawingml/2006/main">
            <a:r>
              <a:t/>
            </a:r>
          </a:p>
          <a:p xmlns:a="http://schemas.openxmlformats.org/drawingml/2006/main">
            <a:r>
              <a:t>CHECK BEFORE CONTINUING</a:t>
            </a:r>
          </a:p>
          <a:p xmlns:a="http://schemas.openxmlformats.org/drawingml/2006/main">
            <a:r>
              <a:t>Classroom source: 01-planning/sample-data/event.json. Canceled events must not become the next call.</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upcoming-call check</a:t>
            </a:r>
          </a:p>
          <a:p xmlns:a="http://schemas.openxmlformats.org/drawingml/2006/main">
            <a:r>
              <a:t/>
            </a:r>
          </a:p>
          <a:p xmlns:a="http://schemas.openxmlformats.org/drawingml/2006/main">
            <a:r>
              <a:t>SOURCES / CONTEXT</a:t>
            </a:r>
          </a:p>
          <a:p xmlns:a="http://schemas.openxmlformats.org/drawingml/2006/main">
            <a:r>
              <a:t>https://developer.calendly.com/api-docs/overview/api/reference</a:t>
            </a:r>
          </a:p>
          <a:p xmlns:a="http://schemas.openxmlformats.org/drawingml/2006/main">
            <a:r>
              <a:t>Walkthrough Assets/00-course-map/START-HERE.md</a:t>
            </a:r>
          </a:p>
          <a:p xmlns:a="http://schemas.openxmlformats.org/drawingml/2006/main">
            <a:r>
              <a:t>Official calendly logo: https://calendly.com</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70 | Build it for real | 1:23–1:24 (1 min)</a:t>
            </a:r>
          </a:p>
          <a:p xmlns:a="http://schemas.openxmlformats.org/drawingml/2006/main">
            <a:r>
              <a:t/>
            </a:r>
          </a:p>
          <a:p xmlns:a="http://schemas.openxmlformats.org/drawingml/2006/main">
            <a:r>
              <a:t>SAY</a:t>
            </a:r>
          </a:p>
          <a:p xmlns:a="http://schemas.openxmlformats.org/drawingml/2006/main">
            <a:r>
              <a:t>The calendar tells us when the next conversation happens. It does not tell us that a task was promised. We keep those meanings separate even though the information appears on the same page. Identity: avoids matching people by a similar name. Time: preserves the event’s actual timezone.</a:t>
            </a:r>
          </a:p>
          <a:p xmlns:a="http://schemas.openxmlformats.org/drawingml/2006/main">
            <a:r>
              <a:t/>
            </a:r>
          </a:p>
          <a:p xmlns:a="http://schemas.openxmlformats.org/drawingml/2006/main">
            <a:r>
              <a:t>ON SCREEN</a:t>
            </a:r>
          </a:p>
          <a:p xmlns:a="http://schemas.openxmlformats.org/drawingml/2006/main">
            <a:r>
              <a:t>Connections → Import event → Northstar → paste the sample event → Import event. Compare the updated next-call card.</a:t>
            </a:r>
          </a:p>
          <a:p xmlns:a="http://schemas.openxmlformats.org/drawingml/2006/main">
            <a:r>
              <a:t/>
            </a:r>
          </a:p>
          <a:p xmlns:a="http://schemas.openxmlformats.org/drawingml/2006/main">
            <a:r>
              <a:t>EXACT PROMPT</a:t>
            </a:r>
          </a:p>
          <a:p xmlns:a="http://schemas.openxmlformats.org/drawingml/2006/main">
            <a:r>
              <a:t>Import the fictional event in 01-planning/sample-data/event.json for Northstar. Compare its source ID, timezone and status with the upcoming-call card. Explain why a scheduled call does not create an agreed task deadline.</a:t>
            </a:r>
          </a:p>
          <a:p xmlns:a="http://schemas.openxmlformats.org/drawingml/2006/main">
            <a:r>
              <a:t/>
            </a:r>
          </a:p>
          <a:p xmlns:a="http://schemas.openxmlformats.org/drawingml/2006/main">
            <a:r>
              <a:t>WHY THIS PROMPT</a:t>
            </a:r>
          </a:p>
          <a:p xmlns:a="http://schemas.openxmlformats.org/drawingml/2006/main">
            <a:r>
              <a:t>Identity: avoids matching people by a similar name.</a:t>
            </a:r>
          </a:p>
          <a:p xmlns:a="http://schemas.openxmlformats.org/drawingml/2006/main">
            <a:r>
              <a:t>Time: preserves the event’s actual timezone.</a:t>
            </a:r>
          </a:p>
          <a:p xmlns:a="http://schemas.openxmlformats.org/drawingml/2006/main">
            <a:r>
              <a:t/>
            </a:r>
          </a:p>
          <a:p xmlns:a="http://schemas.openxmlformats.org/drawingml/2006/main">
            <a:r>
              <a:t>CHECK BEFORE CONTINUING</a:t>
            </a:r>
          </a:p>
          <a:p xmlns:a="http://schemas.openxmlformats.org/drawingml/2006/main">
            <a:r>
              <a:t>The event remains separate from the meeting and from a proposed task date.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Supabase: records and identity</a:t>
            </a:r>
          </a:p>
          <a:p xmlns:a="http://schemas.openxmlformats.org/drawingml/2006/main">
            <a:r>
              <a:t/>
            </a:r>
          </a:p>
          <a:p xmlns:a="http://schemas.openxmlformats.org/drawingml/2006/main">
            <a:r>
              <a:t>SOURCES / CONTEXT</a:t>
            </a:r>
          </a:p>
          <a:p xmlns:a="http://schemas.openxmlformats.org/drawingml/2006/main">
            <a:r>
              <a:t>https://developer.calendly.com/api-docs/overview/api/reference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71 | Build it for real | 1:24–1:24:30 (0.5 min)</a:t>
            </a:r>
          </a:p>
          <a:p xmlns:a="http://schemas.openxmlformats.org/drawingml/2006/main">
            <a:r>
              <a:t/>
            </a:r>
          </a:p>
          <a:p xmlns:a="http://schemas.openxmlformats.org/drawingml/2006/main">
            <a:r>
              <a:t>SAY</a:t>
            </a:r>
          </a:p>
          <a:p xmlns:a="http://schemas.openxmlformats.org/drawingml/2006/main">
            <a:r>
              <a:t>The actual implementation stores a versioned workspace document in Supabase with row ownership. Each browser receives an anonymous practice identity. This is appropriate for a fictional teaching workspace; it is not a finished team-account product.</a:t>
            </a:r>
          </a:p>
          <a:p xmlns:a="http://schemas.openxmlformats.org/drawingml/2006/main">
            <a:r>
              <a:t/>
            </a:r>
          </a:p>
          <a:p xmlns:a="http://schemas.openxmlformats.org/drawingml/2006/main">
            <a:r>
              <a:t>ON SCREEN</a:t>
            </a:r>
          </a:p>
          <a:p xmlns:a="http://schemas.openxmlformats.org/drawingml/2006/main">
            <a:r>
              <a:t>Open 03-build/clientdesk/README.md and 01-planning/DECISIONS.md. Explain the recorded storage tradeoff.</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Local storage and hosted storage</a:t>
            </a:r>
          </a:p>
          <a:p xmlns:a="http://schemas.openxmlformats.org/drawingml/2006/main">
            <a:r>
              <a:t/>
            </a:r>
          </a:p>
          <a:p xmlns:a="http://schemas.openxmlformats.org/drawingml/2006/main">
            <a:r>
              <a:t>SOURCES / CONTEXT</a:t>
            </a:r>
          </a:p>
          <a:p xmlns:a="http://schemas.openxmlformats.org/drawingml/2006/main">
            <a:r>
              <a:t>https://supabase.com/docs/guides/local-development/cli/getting-started</a:t>
            </a:r>
          </a:p>
          <a:p xmlns:a="http://schemas.openxmlformats.org/drawingml/2006/main">
            <a:r>
              <a:t>https://supabase.com/docs/guides/database/postgres/row-level-security</a:t>
            </a:r>
          </a:p>
          <a:p xmlns:a="http://schemas.openxmlformats.org/drawingml/2006/main">
            <a:r>
              <a:t>Walkthrough Assets/00-course-map/START-HERE.md</a:t>
            </a:r>
          </a:p>
          <a:p xmlns:a="http://schemas.openxmlformats.org/drawingml/2006/main">
            <a:r>
              <a:t>Official supabase logo: https://supabase.com/brand-assets.zip</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72 | Build it for real | 1:24:30–1:25:30 (1 min)</a:t>
            </a:r>
          </a:p>
          <a:p xmlns:a="http://schemas.openxmlformats.org/drawingml/2006/main">
            <a:r>
              <a:t/>
            </a:r>
          </a:p>
          <a:p xmlns:a="http://schemas.openxmlformats.org/drawingml/2006/main">
            <a:r>
              <a:t>SAY</a:t>
            </a:r>
          </a:p>
          <a:p xmlns:a="http://schemas.openxmlformats.org/drawingml/2006/main">
            <a:r>
              <a:t>A database stores information so it is available after the page closes or the server restarts. Locally we use SQLite. On Vercel the app requires Supabase because local server files are not our durable database. Row-level security means the database checks which identity may access each stored row. This reference stores a workspace document in an owned row.</a:t>
            </a:r>
          </a:p>
          <a:p xmlns:a="http://schemas.openxmlformats.org/drawingml/2006/main">
            <a:r>
              <a:t/>
            </a:r>
          </a:p>
          <a:p xmlns:a="http://schemas.openxmlformats.org/drawingml/2006/main">
            <a:r>
              <a:t>ON SCREEN</a:t>
            </a:r>
          </a:p>
          <a:p xmlns:a="http://schemas.openxmlformats.org/drawingml/2006/main">
            <a:r>
              <a:t>Open the storage decision and the two migration files. Explain that a migration is a recorded change to database structure or rules.</a:t>
            </a:r>
          </a:p>
          <a:p xmlns:a="http://schemas.openxmlformats.org/drawingml/2006/main">
            <a:r>
              <a:t/>
            </a:r>
          </a:p>
          <a:p xmlns:a="http://schemas.openxmlformats.org/drawingml/2006/main">
            <a:r>
              <a:t>CHECK BEFORE CONTINUING</a:t>
            </a:r>
          </a:p>
          <a:p xmlns:a="http://schemas.openxmlformats.org/drawingml/2006/main">
            <a:r>
              <a:t>Learners understand why deploying code alone does not create the hosted database.</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Create your Supabase project</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73 | Build it for real | 1:25:30–1:26:30 (1 min)</a:t>
            </a:r>
          </a:p>
          <a:p xmlns:a="http://schemas.openxmlformats.org/drawingml/2006/main">
            <a:r>
              <a:t/>
            </a:r>
          </a:p>
          <a:p xmlns:a="http://schemas.openxmlformats.org/drawingml/2006/main">
            <a:r>
              <a:t>SAY</a:t>
            </a:r>
          </a:p>
          <a:p xmlns:a="http://schemas.openxmlformats.org/drawingml/2006/main">
            <a:r>
              <a:t>Use your own project and record its reference. The migrations define the workspace table, ownership rules and expected data shape. Do not paste a fragment from a slide. Open and apply each full file. Anonymous sign-in creates a real authenticated identity without asking for a name or email; losing that browser identity can lose access to the practice workspace.</a:t>
            </a:r>
          </a:p>
          <a:p xmlns:a="http://schemas.openxmlformats.org/drawingml/2006/main">
            <a:r>
              <a:t/>
            </a:r>
          </a:p>
          <a:p xmlns:a="http://schemas.openxmlformats.org/drawingml/2006/main">
            <a:r>
              <a:t>ON SCREEN</a:t>
            </a:r>
          </a:p>
          <a:p xmlns:a="http://schemas.openxmlformats.org/drawingml/2006/main">
            <a:r>
              <a:t>In your own Supabase account create a project. Use its SQL Editor for the two complete migration files, then Authentication settings to enable anonymous sign-ins.</a:t>
            </a:r>
          </a:p>
          <a:p xmlns:a="http://schemas.openxmlformats.org/drawingml/2006/main">
            <a:r>
              <a:t/>
            </a:r>
          </a:p>
          <a:p xmlns:a="http://schemas.openxmlformats.org/drawingml/2006/main">
            <a:r>
              <a:t>EXACT PROMPT</a:t>
            </a:r>
          </a:p>
          <a:p xmlns:a="http://schemas.openxmlformats.org/drawingml/2006/main">
            <a:r>
              <a:t>Help me create a dedicated Supabase project for this fictional CRM. Apply both SQL migration files from the app’s supabase/migrations folder in filename order. Enable anonymous sign-ins. Verify that two visitor identities cannot read or change each other’s workspace.</a:t>
            </a:r>
          </a:p>
          <a:p xmlns:a="http://schemas.openxmlformats.org/drawingml/2006/main">
            <a:r>
              <a:t/>
            </a:r>
          </a:p>
          <a:p xmlns:a="http://schemas.openxmlformats.org/drawingml/2006/main">
            <a:r>
              <a:t>WHY THIS PROMPT</a:t>
            </a:r>
          </a:p>
          <a:p xmlns:a="http://schemas.openxmlformats.org/drawingml/2006/main">
            <a:r>
              <a:t>Order: applies the recorded database setup.</a:t>
            </a:r>
          </a:p>
          <a:p xmlns:a="http://schemas.openxmlformats.org/drawingml/2006/main">
            <a:r>
              <a:t>Isolation: checks who can access records.</a:t>
            </a:r>
          </a:p>
          <a:p xmlns:a="http://schemas.openxmlformats.org/drawingml/2006/main">
            <a:r>
              <a:t/>
            </a:r>
          </a:p>
          <a:p xmlns:a="http://schemas.openxmlformats.org/drawingml/2006/main">
            <a:r>
              <a:t>CHECK BEFORE CONTINUING</a:t>
            </a:r>
          </a:p>
          <a:p xmlns:a="http://schemas.openxmlformats.org/drawingml/2006/main">
            <a:r>
              <a:t>Both migrations succeed and the two-identity access check passes.</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Ask for an access check in plain English</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74 | Build it for real | 1:26:30–1:29:30 (3 min)</a:t>
            </a:r>
          </a:p>
          <a:p xmlns:a="http://schemas.openxmlformats.org/drawingml/2006/main">
            <a:r>
              <a:t/>
            </a:r>
          </a:p>
          <a:p xmlns:a="http://schemas.openxmlformats.org/drawingml/2006/main">
            <a:r>
              <a:t>SAY</a:t>
            </a:r>
          </a:p>
          <a:p xmlns:a="http://schemas.openxmlformats.org/drawingml/2006/main">
            <a:r>
              <a:t>A hidden button does not protect a record. The server must refuse the wrong user. I ask for the behavior in plain English and then inspect the two results. Enforcement: tests the actual data boundary. Contrast: one allowed and one denied case prove different things.</a:t>
            </a:r>
          </a:p>
          <a:p xmlns:a="http://schemas.openxmlformats.org/drawingml/2006/main">
            <a:r>
              <a:t/>
            </a:r>
          </a:p>
          <a:p xmlns:a="http://schemas.openxmlformats.org/drawingml/2006/main">
            <a:r>
              <a:t>ON SCREEN</a:t>
            </a:r>
          </a:p>
          <a:p xmlns:a="http://schemas.openxmlformats.org/drawingml/2006/main">
            <a:r>
              <a:t>In 03-build/clientdesk run npm run test:http; use verify-rls.mjs only with the dedicated configured teaching database.</a:t>
            </a:r>
          </a:p>
          <a:p xmlns:a="http://schemas.openxmlformats.org/drawingml/2006/main">
            <a:r>
              <a:t/>
            </a:r>
          </a:p>
          <a:p xmlns:a="http://schemas.openxmlformats.org/drawingml/2006/main">
            <a:r>
              <a:t>EXACT PROMPT</a:t>
            </a:r>
          </a:p>
          <a:p xmlns:a="http://schemas.openxmlformats.org/drawingml/2006/main">
            <a:r>
              <a:t>Read the existing access tests. Run the documented check with two isolated practice identities. Show that one can access its records and the other cannot. Explain the enforced boundary and any untested deployment condition.</a:t>
            </a:r>
          </a:p>
          <a:p xmlns:a="http://schemas.openxmlformats.org/drawingml/2006/main">
            <a:r>
              <a:t/>
            </a:r>
          </a:p>
          <a:p xmlns:a="http://schemas.openxmlformats.org/drawingml/2006/main">
            <a:r>
              <a:t>WHY THIS PROMPT</a:t>
            </a:r>
          </a:p>
          <a:p xmlns:a="http://schemas.openxmlformats.org/drawingml/2006/main">
            <a:r>
              <a:t>Enforcement: tests the actual data boundary.</a:t>
            </a:r>
          </a:p>
          <a:p xmlns:a="http://schemas.openxmlformats.org/drawingml/2006/main">
            <a:r>
              <a:t>Contrast: one allowed and one denied case prove different things.</a:t>
            </a:r>
          </a:p>
          <a:p xmlns:a="http://schemas.openxmlformats.org/drawingml/2006/main">
            <a:r>
              <a:t/>
            </a:r>
          </a:p>
          <a:p xmlns:a="http://schemas.openxmlformats.org/drawingml/2006/main">
            <a:r>
              <a:t>CHECK BEFORE CONTINUING</a:t>
            </a:r>
          </a:p>
          <a:p xmlns:a="http://schemas.openxmlformats.org/drawingml/2006/main">
            <a:r>
              <a:t>Allowed and denied results are visible. Distinguish local repository tests from database-policy tests.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repeatable connection check</a:t>
            </a:r>
          </a:p>
          <a:p xmlns:a="http://schemas.openxmlformats.org/drawingml/2006/main">
            <a:r>
              <a:t/>
            </a:r>
          </a:p>
          <a:p xmlns:a="http://schemas.openxmlformats.org/drawingml/2006/main">
            <a:r>
              <a:t>SOURCES / CONTEXT</a:t>
            </a:r>
          </a:p>
          <a:p xmlns:a="http://schemas.openxmlformats.org/drawingml/2006/main">
            <a:r>
              <a:t>https://supabase.com/docs/guides/local-development/cli/getting-started</a:t>
            </a:r>
          </a:p>
          <a:p xmlns:a="http://schemas.openxmlformats.org/drawingml/2006/main">
            <a:r>
              <a:t>https://supabase.com/docs/guides/database/postgres/row-level-security</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75 | Build it for real | 1:29:30–1:30 (0.5 min)</a:t>
            </a:r>
          </a:p>
          <a:p xmlns:a="http://schemas.openxmlformats.org/drawingml/2006/main">
            <a:r>
              <a:t/>
            </a:r>
          </a:p>
          <a:p xmlns:a="http://schemas.openxmlformats.org/drawingml/2006/main">
            <a:r>
              <a:t>SAY</a:t>
            </a:r>
          </a:p>
          <a:p xmlns:a="http://schemas.openxmlformats.org/drawingml/2006/main">
            <a:r>
              <a:t>A connection is not complete when a token is accepted. We need the right account, the intended record, the expected data shape, and a visible result in the app. Save a redacted example so the next person can repeat the check.</a:t>
            </a:r>
          </a:p>
          <a:p xmlns:a="http://schemas.openxmlformats.org/drawingml/2006/main">
            <a:r>
              <a:t/>
            </a:r>
          </a:p>
          <a:p xmlns:a="http://schemas.openxmlformats.org/drawingml/2006/main">
            <a:r>
              <a:t>ON SCREEN</a:t>
            </a:r>
          </a:p>
          <a:p xmlns:a="http://schemas.openxmlformats.org/drawingml/2006/main">
            <a:r>
              <a:t>Perform the four checks on a single sandbox record. Stop before expanding the sync to a whole account.</a:t>
            </a:r>
          </a:p>
          <a:p xmlns:a="http://schemas.openxmlformats.org/drawingml/2006/main">
            <a:r>
              <a:t/>
            </a:r>
          </a:p>
          <a:p xmlns:a="http://schemas.openxmlformats.org/drawingml/2006/main">
            <a:r>
              <a:t>CHECK BEFORE CONTINUING</a:t>
            </a:r>
          </a:p>
          <a:p xmlns:a="http://schemas.openxmlformats.org/drawingml/2006/main">
            <a:r>
              <a:t>CLI and MCP share their own practice identity. The browser has a separate one; compare within the same workspace.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MCP connects Claude to tools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76 | Build it for real | 1:30–1:32 (2 min)</a:t>
            </a:r>
          </a:p>
          <a:p xmlns:a="http://schemas.openxmlformats.org/drawingml/2006/main">
            <a:r>
              <a:t/>
            </a:r>
          </a:p>
          <a:p xmlns:a="http://schemas.openxmlformats.org/drawingml/2006/main">
            <a:r>
              <a:t>SAY</a:t>
            </a:r>
          </a:p>
          <a:p xmlns:a="http://schemas.openxmlformats.org/drawingml/2006/main">
            <a:r>
              <a:t>MCP gives Claude a structured tool interface. It does not replace the API, provide unlimited access, or make tool output trustworthy. We will use a local read-only tool to investigate which meeting supports a proposed follow-up.</a:t>
            </a:r>
          </a:p>
          <a:p xmlns:a="http://schemas.openxmlformats.org/drawingml/2006/main">
            <a:r>
              <a:t/>
            </a:r>
          </a:p>
          <a:p xmlns:a="http://schemas.openxmlformats.org/drawingml/2006/main">
            <a:r>
              <a:t>ON SCREEN</a:t>
            </a:r>
          </a:p>
          <a:p xmlns:a="http://schemas.openxmlformats.org/drawingml/2006/main">
            <a:r>
              <a:t>Show .mcp.json, then /mcp. Open the tool description before running it.</a:t>
            </a:r>
          </a:p>
          <a:p xmlns:a="http://schemas.openxmlformats.org/drawingml/2006/main">
            <a:r>
              <a:t/>
            </a:r>
          </a:p>
          <a:p xmlns:a="http://schemas.openxmlformats.org/drawingml/2006/main">
            <a:r>
              <a:t>CHECK BEFORE CONTINUING</a:t>
            </a:r>
          </a:p>
          <a:p xmlns:a="http://schemas.openxmlformats.org/drawingml/2006/main">
            <a:r>
              <a:t>Claude requests a tool call. The server returns structured evidence from the service.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Give Claude a CLI and an MCP interface</a:t>
            </a:r>
          </a:p>
          <a:p xmlns:a="http://schemas.openxmlformats.org/drawingml/2006/main">
            <a:r>
              <a:t/>
            </a:r>
          </a:p>
          <a:p xmlns:a="http://schemas.openxmlformats.org/drawingml/2006/main">
            <a:r>
              <a:t>SOURCES / CONTEXT</a:t>
            </a:r>
          </a:p>
          <a:p xmlns:a="http://schemas.openxmlformats.org/drawingml/2006/main">
            <a:r>
              <a:t>https://code.claude.com/docs/en/mcp</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77 | Build it for real | 1:32–1:33 (1 min)</a:t>
            </a:r>
          </a:p>
          <a:p xmlns:a="http://schemas.openxmlformats.org/drawingml/2006/main">
            <a:r>
              <a:t/>
            </a:r>
          </a:p>
          <a:p xmlns:a="http://schemas.openxmlformats.org/drawingml/2006/main">
            <a:r>
              <a:t>SAY</a:t>
            </a:r>
          </a:p>
          <a:p xmlns:a="http://schemas.openxmlformats.org/drawingml/2006/main">
            <a:r>
              <a:t>A wrapper is a small program that presents another program’s capabilities through a new interface. Our CLI and MCP server both call the existing app. They use a practice session separate from the browser, so compare evidence within the same identity.</a:t>
            </a:r>
          </a:p>
          <a:p xmlns:a="http://schemas.openxmlformats.org/drawingml/2006/main">
            <a:r>
              <a:t/>
            </a:r>
          </a:p>
          <a:p xmlns:a="http://schemas.openxmlformats.org/drawingml/2006/main">
            <a:r>
              <a:t>ON SCREEN</a:t>
            </a:r>
          </a:p>
          <a:p xmlns:a="http://schemas.openxmlformats.org/drawingml/2006/main">
            <a:r>
              <a:t>Inspect scripts/clientdesk.ts, scripts/mcp.mjs and scripts/http-session.mjs in the reference app; implement their responsibilities in the rebuild.</a:t>
            </a:r>
          </a:p>
          <a:p xmlns:a="http://schemas.openxmlformats.org/drawingml/2006/main">
            <a:r>
              <a:t/>
            </a:r>
          </a:p>
          <a:p xmlns:a="http://schemas.openxmlformats.org/drawingml/2006/main">
            <a:r>
              <a:t>EXACT PROMPT</a:t>
            </a:r>
          </a:p>
          <a:p xmlns:a="http://schemas.openxmlformats.org/drawingml/2006/main">
            <a:r>
              <a:t>Build the ClientDesk CLI and MCP server described in the spec. Reuse the app’s workspace API and identity handling. Support reading client evidence and preparing a sourced brief. Test the normal case, an unknown client and missing meeting data.</a:t>
            </a:r>
          </a:p>
          <a:p xmlns:a="http://schemas.openxmlformats.org/drawingml/2006/main">
            <a:r>
              <a:t/>
            </a:r>
          </a:p>
          <a:p xmlns:a="http://schemas.openxmlformats.org/drawingml/2006/main">
            <a:r>
              <a:t>WHY THIS PROMPT</a:t>
            </a:r>
          </a:p>
          <a:p xmlns:a="http://schemas.openxmlformats.org/drawingml/2006/main">
            <a:r>
              <a:t>Reuse: keeps one source of app behavior.</a:t>
            </a:r>
          </a:p>
          <a:p xmlns:a="http://schemas.openxmlformats.org/drawingml/2006/main">
            <a:r>
              <a:t>Cases: proves the interface handles uncertainty.</a:t>
            </a:r>
          </a:p>
          <a:p xmlns:a="http://schemas.openxmlformats.org/drawingml/2006/main">
            <a:r>
              <a:t/>
            </a:r>
          </a:p>
          <a:p xmlns:a="http://schemas.openxmlformats.org/drawingml/2006/main">
            <a:r>
              <a:t>CHECK BEFORE CONTINUING</a:t>
            </a:r>
          </a:p>
          <a:p xmlns:a="http://schemas.openxmlformats.org/drawingml/2006/main">
            <a:r>
              <a:t>The CLI and MCP return the same evidence in their shared practice workspace.</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Connect the project’s MCP server</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78 | Build it for real | 1:33–1:34 (1 min)</a:t>
            </a:r>
          </a:p>
          <a:p xmlns:a="http://schemas.openxmlformats.org/drawingml/2006/main">
            <a:r>
              <a:t/>
            </a:r>
          </a:p>
          <a:p xmlns:a="http://schemas.openxmlformats.org/drawingml/2006/main">
            <a:r>
              <a:t>SAY</a:t>
            </a:r>
          </a:p>
          <a:p xmlns:a="http://schemas.openxmlformats.org/drawingml/2006/main">
            <a:r>
              <a:t>The configuration tells Claude how to start our MCP server. This is different from a service password. Dependencies must already be installed in the app folder. If connection fails, check the root folder, Node, dependencies and running app before changing the prompt.</a:t>
            </a:r>
          </a:p>
          <a:p xmlns:a="http://schemas.openxmlformats.org/drawingml/2006/main">
            <a:r>
              <a:t/>
            </a:r>
          </a:p>
          <a:p xmlns:a="http://schemas.openxmlformats.org/drawingml/2006/main">
            <a:r>
              <a:t>ON SCREEN</a:t>
            </a:r>
          </a:p>
          <a:p xmlns:a="http://schemas.openxmlformats.org/drawingml/2006/main">
            <a:r>
              <a:t>From the project root inspect .mcp.json. It uses node, args 03-build/clientdesk/scripts/mcp.mjs, and CLIENTDESK_URL http://127.0.0.1:4310. Restart the Claude session after configuration changes.</a:t>
            </a:r>
          </a:p>
          <a:p xmlns:a="http://schemas.openxmlformats.org/drawingml/2006/main">
            <a:r>
              <a:t/>
            </a:r>
          </a:p>
          <a:p xmlns:a="http://schemas.openxmlformats.org/drawingml/2006/main">
            <a:r>
              <a:t>EXACT PROMPT</a:t>
            </a:r>
          </a:p>
          <a:p xmlns:a="http://schemas.openxmlformats.org/drawingml/2006/main">
            <a:r>
              <a:t>Check that the app is running. Review the project-root .mcp.json and point its ClientDesk entry at our app’s scripts/mcp.mjs. Start Claude Code from this project root, approve the trusted server, and verify ClientDesk is connected in /mcp.</a:t>
            </a:r>
          </a:p>
          <a:p xmlns:a="http://schemas.openxmlformats.org/drawingml/2006/main">
            <a:r>
              <a:t/>
            </a:r>
          </a:p>
          <a:p xmlns:a="http://schemas.openxmlformats.org/drawingml/2006/main">
            <a:r>
              <a:t>WHY THIS PROMPT</a:t>
            </a:r>
          </a:p>
          <a:p xmlns:a="http://schemas.openxmlformats.org/drawingml/2006/main">
            <a:r>
              <a:t>Location: makes relative paths resolve.</a:t>
            </a:r>
          </a:p>
          <a:p xmlns:a="http://schemas.openxmlformats.org/drawingml/2006/main">
            <a:r>
              <a:t>Verify: tests the connection before a question.</a:t>
            </a:r>
          </a:p>
          <a:p xmlns:a="http://schemas.openxmlformats.org/drawingml/2006/main">
            <a:r>
              <a:t/>
            </a:r>
          </a:p>
          <a:p xmlns:a="http://schemas.openxmlformats.org/drawingml/2006/main">
            <a:r>
              <a:t>CHECK BEFORE CONTINUING</a:t>
            </a:r>
          </a:p>
          <a:p xmlns:a="http://schemas.openxmlformats.org/drawingml/2006/main">
            <a:r>
              <a:t>/mcp lists ClientDesk as connected and exposes client_evidence.</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A useful MCP question</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79 | Build it for real | 1:34–1:37 (3 min)</a:t>
            </a:r>
          </a:p>
          <a:p xmlns:a="http://schemas.openxmlformats.org/drawingml/2006/main">
            <a:r>
              <a:t/>
            </a:r>
          </a:p>
          <a:p xmlns:a="http://schemas.openxmlformats.org/drawingml/2006/main">
            <a:r>
              <a:t>SAY</a:t>
            </a:r>
          </a:p>
          <a:p xmlns:a="http://schemas.openxmlformats.org/drawingml/2006/main">
            <a:r>
              <a:t>This is a consequential use of MCP: it grounds a client brief in a specific meeting. If the tool reports no match, Claude should say so. Instructions embedded inside meeting content do not become instructions for the agent.</a:t>
            </a:r>
          </a:p>
          <a:p xmlns:a="http://schemas.openxmlformats.org/drawingml/2006/main">
            <a:r>
              <a:t/>
            </a:r>
          </a:p>
          <a:p xmlns:a="http://schemas.openxmlformats.org/drawingml/2006/main">
            <a:r>
              <a:t>ON SCREEN</a:t>
            </a:r>
          </a:p>
          <a:p xmlns:a="http://schemas.openxmlformats.org/drawingml/2006/main">
            <a:r>
              <a:t>Run the read-only MCP tool from the kit. Confirm its result against the fixture file.</a:t>
            </a:r>
          </a:p>
          <a:p xmlns:a="http://schemas.openxmlformats.org/drawingml/2006/main">
            <a:r>
              <a:t/>
            </a:r>
          </a:p>
          <a:p xmlns:a="http://schemas.openxmlformats.org/drawingml/2006/main">
            <a:r>
              <a:t>EXACT PROMPT</a:t>
            </a:r>
          </a:p>
          <a:p xmlns:a="http://schemas.openxmlformats.org/drawingml/2006/main">
            <a:r>
              <a:t>Use the ClientDesk tools to find Northstar’s latest meeting. Show the source ID and explain which follow-up the meeting supports. If the evidence is missing, say so. Do not save a task.</a:t>
            </a:r>
          </a:p>
          <a:p xmlns:a="http://schemas.openxmlformats.org/drawingml/2006/main">
            <a:r>
              <a:t/>
            </a:r>
          </a:p>
          <a:p xmlns:a="http://schemas.openxmlformats.org/drawingml/2006/main">
            <a:r>
              <a:t>CHECK BEFORE CONTINUING</a:t>
            </a:r>
          </a:p>
          <a:p xmlns:a="http://schemas.openxmlformats.org/drawingml/2006/main">
            <a:r>
              <a:t>Before the prompt: use /mcp to check that the ClientDesk server and tools are available.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What to inspect in the MCP answer</a:t>
            </a:r>
          </a:p>
          <a:p xmlns:a="http://schemas.openxmlformats.org/drawingml/2006/main">
            <a:r>
              <a:t/>
            </a:r>
          </a:p>
          <a:p xmlns:a="http://schemas.openxmlformats.org/drawingml/2006/main">
            <a:r>
              <a:t>SOURCES / CONTEXT</a:t>
            </a:r>
          </a:p>
          <a:p xmlns:a="http://schemas.openxmlformats.org/drawingml/2006/main">
            <a:r>
              <a:t>https://code.claude.com/docs/en/mcp</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80 | Build it for real | 1:37–1:37:30 (0.5 min)</a:t>
            </a:r>
          </a:p>
          <a:p xmlns:a="http://schemas.openxmlformats.org/drawingml/2006/main">
            <a:r>
              <a:t/>
            </a:r>
          </a:p>
          <a:p xmlns:a="http://schemas.openxmlformats.org/drawingml/2006/main">
            <a:r>
              <a:t>SAY</a:t>
            </a:r>
          </a:p>
          <a:p xmlns:a="http://schemas.openxmlformats.org/drawingml/2006/main">
            <a:r>
              <a:t>MCP makes tools available to Claude. It does not make every answer correct. We inspect the evidence and the action boundary just as we would with any other integration. Separation: keeps facts distinct from suggestions. Boundary: proves a read request did not become a write.</a:t>
            </a:r>
          </a:p>
          <a:p xmlns:a="http://schemas.openxmlformats.org/drawingml/2006/main">
            <a:r>
              <a:t/>
            </a:r>
          </a:p>
          <a:p xmlns:a="http://schemas.openxmlformats.org/drawingml/2006/main">
            <a:r>
              <a:t>ON SCREEN</a:t>
            </a:r>
          </a:p>
          <a:p xmlns:a="http://schemas.openxmlformats.org/drawingml/2006/main">
            <a:r>
              <a:t>Keep Claude’s tool answer and the meeting evidence visible.</a:t>
            </a:r>
          </a:p>
          <a:p xmlns:a="http://schemas.openxmlformats.org/drawingml/2006/main">
            <a:r>
              <a:t/>
            </a:r>
          </a:p>
          <a:p xmlns:a="http://schemas.openxmlformats.org/drawingml/2006/main">
            <a:r>
              <a:t>EXACT PROMPT</a:t>
            </a:r>
          </a:p>
          <a:p xmlns:a="http://schemas.openxmlformats.org/drawingml/2006/main">
            <a:r>
              <a:t>Compare your answer with Northstar’s source meeting. Separate the quoted fact, any missing information, and your proposed follow-up. Show the source ID for the fact and confirm that no task was saved.</a:t>
            </a:r>
          </a:p>
          <a:p xmlns:a="http://schemas.openxmlformats.org/drawingml/2006/main">
            <a:r>
              <a:t/>
            </a:r>
          </a:p>
          <a:p xmlns:a="http://schemas.openxmlformats.org/drawingml/2006/main">
            <a:r>
              <a:t>WHY THIS PROMPT</a:t>
            </a:r>
          </a:p>
          <a:p xmlns:a="http://schemas.openxmlformats.org/drawingml/2006/main">
            <a:r>
              <a:t>Separation: keeps facts distinct from suggestions.</a:t>
            </a:r>
          </a:p>
          <a:p xmlns:a="http://schemas.openxmlformats.org/drawingml/2006/main">
            <a:r>
              <a:t>Boundary: proves a read request did not become a write.</a:t>
            </a:r>
          </a:p>
          <a:p xmlns:a="http://schemas.openxmlformats.org/drawingml/2006/main">
            <a:r>
              <a:t/>
            </a:r>
          </a:p>
          <a:p xmlns:a="http://schemas.openxmlformats.org/drawingml/2006/main">
            <a:r>
              <a:t>CHECK BEFORE CONTINUING</a:t>
            </a:r>
          </a:p>
          <a:p xmlns:a="http://schemas.openxmlformats.org/drawingml/2006/main">
            <a:r>
              <a:t>The checklist request is sourced, the date is unknown, and the task count is unchanged.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Import one meeting twice</a:t>
            </a:r>
          </a:p>
          <a:p xmlns:a="http://schemas.openxmlformats.org/drawingml/2006/main">
            <a:r>
              <a:t/>
            </a:r>
          </a:p>
          <a:p xmlns:a="http://schemas.openxmlformats.org/drawingml/2006/main">
            <a:r>
              <a:t>SOURCES / CONTEXT</a:t>
            </a:r>
          </a:p>
          <a:p xmlns:a="http://schemas.openxmlformats.org/drawingml/2006/main">
            <a:r>
              <a:t>https://code.claude.com/docs/en/mcp</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81 | Build it for real | 1:37:30–1:45:30 (8 min)</a:t>
            </a:r>
          </a:p>
          <a:p xmlns:a="http://schemas.openxmlformats.org/drawingml/2006/main">
            <a:r>
              <a:t/>
            </a:r>
          </a:p>
          <a:p xmlns:a="http://schemas.openxmlformats.org/drawingml/2006/main">
            <a:r>
              <a:t>SAY</a:t>
            </a:r>
          </a:p>
          <a:p xmlns:a="http://schemas.openxmlformats.org/drawingml/2006/main">
            <a:r>
              <a:t>Use the working app. Read the source identifier before importing. On the second import, the count should remain the same. Record the visible source and the two counts. This is a sample import exercise; it does not require a Fireflies account.</a:t>
            </a:r>
          </a:p>
          <a:p xmlns:a="http://schemas.openxmlformats.org/drawingml/2006/main">
            <a:r>
              <a:t/>
            </a:r>
          </a:p>
          <a:p xmlns:a="http://schemas.openxmlformats.org/drawingml/2006/main">
            <a:r>
              <a:t>ON SCREEN</a:t>
            </a:r>
          </a:p>
          <a:p xmlns:a="http://schemas.openxmlformats.org/drawingml/2006/main">
            <a:r>
              <a:t>Use 00-course-map/labs/02-connection.md. Start the timer and check for a visible source ID, not just a green test message.</a:t>
            </a:r>
          </a:p>
          <a:p xmlns:a="http://schemas.openxmlformats.org/drawingml/2006/main">
            <a:r>
              <a:t/>
            </a:r>
          </a:p>
          <a:p xmlns:a="http://schemas.openxmlformats.org/drawingml/2006/main">
            <a:r>
              <a:t>CHECK BEFORE CONTINUING</a:t>
            </a:r>
          </a:p>
          <a:p xmlns:a="http://schemas.openxmlformats.org/drawingml/2006/main">
            <a:r>
              <a:t>One source record, two imports, no duplicate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Working checkpoint: client evidence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82 | Build it for real | 1:45:30–1:46:30 (1 min)</a:t>
            </a:r>
          </a:p>
          <a:p xmlns:a="http://schemas.openxmlformats.org/drawingml/2006/main">
            <a:r>
              <a:t/>
            </a:r>
          </a:p>
          <a:p xmlns:a="http://schemas.openxmlformats.org/drawingml/2006/main">
            <a:r>
              <a:t>SAY</a:t>
            </a:r>
          </a:p>
          <a:p xmlns:a="http://schemas.openxmlformats.org/drawingml/2006/main">
            <a:r>
              <a:t>The client page should now answer a small number of questions: who is this client, what happened most recently, and what needs attention? The source is close to the meeting and task, where it is needed. We do not need a wall of metrics.</a:t>
            </a:r>
          </a:p>
          <a:p xmlns:a="http://schemas.openxmlformats.org/drawingml/2006/main">
            <a:r>
              <a:t/>
            </a:r>
          </a:p>
          <a:p xmlns:a="http://schemas.openxmlformats.org/drawingml/2006/main">
            <a:r>
              <a:t>ON SCREEN</a:t>
            </a:r>
          </a:p>
          <a:p xmlns:a="http://schemas.openxmlformats.org/drawingml/2006/main">
            <a:r>
              <a:t>Compare the actual build with the journey. Have someone identify the next action without explanation.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phone-sized screen, explained</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83 | Build it for real | 1:46:30–1:47:30 (1 min)</a:t>
            </a:r>
          </a:p>
          <a:p xmlns:a="http://schemas.openxmlformats.org/drawingml/2006/main">
            <a:r>
              <a:t/>
            </a:r>
          </a:p>
          <a:p xmlns:a="http://schemas.openxmlformats.org/drawingml/2006/main">
            <a:r>
              <a:t>SAY</a:t>
            </a:r>
          </a:p>
          <a:p xmlns:a="http://schemas.openxmlformats.org/drawingml/2006/main">
            <a:r>
              <a:t>Viewport means the part of the browser that displays the page. Three hundred and ninety pixels is a useful phone-sized test, not a magic number. I am shrinking the available space to see whether a person can still reach the next action. Comparison: changes one condition at a time. Purpose: tests the job rather than judging a tiny screenshot.</a:t>
            </a:r>
          </a:p>
          <a:p xmlns:a="http://schemas.openxmlformats.org/drawingml/2006/main">
            <a:r>
              <a:t/>
            </a:r>
          </a:p>
          <a:p xmlns:a="http://schemas.openxmlformats.org/drawingml/2006/main">
            <a:r>
              <a:t>ON SCREEN</a:t>
            </a:r>
          </a:p>
          <a:p xmlns:a="http://schemas.openxmlformats.org/drawingml/2006/main">
            <a:r>
              <a:t>Open Chrome’s device toolbar, choose Responsive, and enter 390 for width. Or ask Claude’s browser tool to set that width.</a:t>
            </a:r>
          </a:p>
          <a:p xmlns:a="http://schemas.openxmlformats.org/drawingml/2006/main">
            <a:r>
              <a:t/>
            </a:r>
          </a:p>
          <a:p xmlns:a="http://schemas.openxmlformats.org/drawingml/2006/main">
            <a:r>
              <a:t>EXACT PROMPT</a:t>
            </a:r>
          </a:p>
          <a:p xmlns:a="http://schemas.openxmlformats.org/drawingml/2006/main">
            <a:r>
              <a:t>Show Northstar’s page at desktop width, then at 390 pixels wide. Explain the difference in plain English. Keep the meeting and Review control visible so we can see whether the same job still works on a small screen.</a:t>
            </a:r>
          </a:p>
          <a:p xmlns:a="http://schemas.openxmlformats.org/drawingml/2006/main">
            <a:r>
              <a:t/>
            </a:r>
          </a:p>
          <a:p xmlns:a="http://schemas.openxmlformats.org/drawingml/2006/main">
            <a:r>
              <a:t>WHY THIS PROMPT</a:t>
            </a:r>
          </a:p>
          <a:p xmlns:a="http://schemas.openxmlformats.org/drawingml/2006/main">
            <a:r>
              <a:t>Comparison: changes one condition at a time.</a:t>
            </a:r>
          </a:p>
          <a:p xmlns:a="http://schemas.openxmlformats.org/drawingml/2006/main">
            <a:r>
              <a:t>Purpose: tests the job rather than judging a tiny screenshot.</a:t>
            </a:r>
          </a:p>
          <a:p xmlns:a="http://schemas.openxmlformats.org/drawingml/2006/main">
            <a:r>
              <a:t/>
            </a:r>
          </a:p>
          <a:p xmlns:a="http://schemas.openxmlformats.org/drawingml/2006/main">
            <a:r>
              <a:t>CHECK BEFORE CONTINUING</a:t>
            </a:r>
          </a:p>
          <a:p xmlns:a="http://schemas.openxmlformats.org/drawingml/2006/main">
            <a:r>
              <a:t>The audience sees the same page become phone-sized.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design review with visible criteria</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84 | Build it for real | 1:47:30–1:48 (0.5 min)</a:t>
            </a:r>
          </a:p>
          <a:p xmlns:a="http://schemas.openxmlformats.org/drawingml/2006/main">
            <a:r>
              <a:t/>
            </a:r>
          </a:p>
          <a:p xmlns:a="http://schemas.openxmlformats.org/drawingml/2006/main">
            <a:r>
              <a:t>SAY</a:t>
            </a:r>
          </a:p>
          <a:p xmlns:a="http://schemas.openxmlformats.org/drawingml/2006/main">
            <a:r>
              <a:t>Good visual feedback names an element and a user consequence. The brief includes hierarchy, spacing, typography, and states. If the task cannot be identified quickly, that is a usability problem we can observe and fix.</a:t>
            </a:r>
          </a:p>
          <a:p xmlns:a="http://schemas.openxmlformats.org/drawingml/2006/main">
            <a:r>
              <a:t/>
            </a:r>
          </a:p>
          <a:p xmlns:a="http://schemas.openxmlformats.org/drawingml/2006/main">
            <a:r>
              <a:t>ON SCREEN</a:t>
            </a:r>
          </a:p>
          <a:p xmlns:a="http://schemas.openxmlformats.org/drawingml/2006/main">
            <a:r>
              <a:t>Open the design rule from the planning section. Show how the same rule now guides a specific revision.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Claude in Chrome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85 | Build it for real | 1:48–1:49 (1 min)</a:t>
            </a:r>
          </a:p>
          <a:p xmlns:a="http://schemas.openxmlformats.org/drawingml/2006/main">
            <a:r>
              <a:t/>
            </a:r>
          </a:p>
          <a:p xmlns:a="http://schemas.openxmlformats.org/drawingml/2006/main">
            <a:r>
              <a:t>SAY</a:t>
            </a:r>
          </a:p>
          <a:p xmlns:a="http://schemas.openxmlformats.org/drawingml/2006/main">
            <a:r>
              <a:t>Use Claude Code with the browser extension to inspect the app it built. The current setup requires a supported Chromium browser, the extension, and direct plan sign-in. Check the official prerequisites before delivery; account and version support can change.</a:t>
            </a:r>
          </a:p>
          <a:p xmlns:a="http://schemas.openxmlformats.org/drawingml/2006/main">
            <a:r>
              <a:t/>
            </a:r>
          </a:p>
          <a:p xmlns:a="http://schemas.openxmlformats.org/drawingml/2006/main">
            <a:r>
              <a:t>ON SCREEN</a:t>
            </a:r>
          </a:p>
          <a:p xmlns:a="http://schemas.openxmlformats.org/drawingml/2006/main">
            <a:r>
              <a:t>Show the extension connection and the local app URL. Ask Claude to identify the client name from the rendered page.</a:t>
            </a:r>
          </a:p>
          <a:p xmlns:a="http://schemas.openxmlformats.org/drawingml/2006/main">
            <a:r>
              <a:t/>
            </a:r>
          </a:p>
          <a:p xmlns:a="http://schemas.openxmlformats.org/drawingml/2006/main">
            <a:r>
              <a:t>EXACT PROMPT</a:t>
            </a:r>
          </a:p>
          <a:p xmlns:a="http://schemas.openxmlformats.org/drawingml/2006/main">
            <a:r>
              <a:t>Help me connect this Claude Code session to Chrome. Check the current requirements and explain the setup steps I need to complete. Once connected, show the open ClientDesk page so I can confirm you have the right tab.</a:t>
            </a:r>
          </a:p>
          <a:p xmlns:a="http://schemas.openxmlformats.org/drawingml/2006/main">
            <a:r>
              <a:t/>
            </a:r>
          </a:p>
          <a:p xmlns:a="http://schemas.openxmlformats.org/drawingml/2006/main">
            <a:r>
              <a:t>CHECK BEFORE CONTINUING</a:t>
            </a:r>
          </a:p>
          <a:p xmlns:a="http://schemas.openxmlformats.org/drawingml/2006/main">
            <a:r>
              <a:t>Where: start in Claude Code. The technical reference shows the terminal launch command and the in-session status command.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Confirm Claude can see the right page</a:t>
            </a:r>
          </a:p>
          <a:p xmlns:a="http://schemas.openxmlformats.org/drawingml/2006/main">
            <a:r>
              <a:t/>
            </a:r>
          </a:p>
          <a:p xmlns:a="http://schemas.openxmlformats.org/drawingml/2006/main">
            <a:r>
              <a:t>SOURCES / CONTEXT</a:t>
            </a:r>
          </a:p>
          <a:p xmlns:a="http://schemas.openxmlformats.org/drawingml/2006/main">
            <a:r>
              <a:t>https://code.claude.com/docs/en/chrome</a:t>
            </a:r>
          </a:p>
          <a:p xmlns:a="http://schemas.openxmlformats.org/drawingml/2006/main">
            <a:r>
              <a:t>Walkthrough Assets/00-course-map/START-HERE.md</a:t>
            </a:r>
          </a:p>
          <a:p xmlns:a="http://schemas.openxmlformats.org/drawingml/2006/main">
            <a:r>
              <a:t>Official chrome logo: https://www.google.com/chrome/static/images/chrome-logo-m100.svg</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86 | Build it for real | 1:49–1:49:30 (0.5 min)</a:t>
            </a:r>
          </a:p>
          <a:p xmlns:a="http://schemas.openxmlformats.org/drawingml/2006/main">
            <a:r>
              <a:t/>
            </a:r>
          </a:p>
          <a:p xmlns:a="http://schemas.openxmlformats.org/drawingml/2006/main">
            <a:r>
              <a:t>SAY</a:t>
            </a:r>
          </a:p>
          <a:p xmlns:a="http://schemas.openxmlformats.org/drawingml/2006/main">
            <a:r>
              <a:t>Before I ask Claude to test the page, I confirm it is looking at the right page. A description of the actual controls is better evidence than a generic statement that the browser is connected. Confirmation: establishes the correct tab. Observation: distinguishes seeing the page from reading its source files.</a:t>
            </a:r>
          </a:p>
          <a:p xmlns:a="http://schemas.openxmlformats.org/drawingml/2006/main">
            <a:r>
              <a:t/>
            </a:r>
          </a:p>
          <a:p xmlns:a="http://schemas.openxmlformats.org/drawingml/2006/main">
            <a:r>
              <a:t>ON SCREEN</a:t>
            </a:r>
          </a:p>
          <a:p xmlns:a="http://schemas.openxmlformats.org/drawingml/2006/main">
            <a:r>
              <a:t>Run the browser connection check and keep Northstar visible.</a:t>
            </a:r>
          </a:p>
          <a:p xmlns:a="http://schemas.openxmlformats.org/drawingml/2006/main">
            <a:r>
              <a:t/>
            </a:r>
          </a:p>
          <a:p xmlns:a="http://schemas.openxmlformats.org/drawingml/2006/main">
            <a:r>
              <a:t>EXACT PROMPT</a:t>
            </a:r>
          </a:p>
          <a:p xmlns:a="http://schemas.openxmlformats.org/drawingml/2006/main">
            <a:r>
              <a:t>Use the browser connection to describe the open ClientDesk page. Name the client, the latest meeting, and the primary action you can see. Do not click or change anything yet.</a:t>
            </a:r>
          </a:p>
          <a:p xmlns:a="http://schemas.openxmlformats.org/drawingml/2006/main">
            <a:r>
              <a:t/>
            </a:r>
          </a:p>
          <a:p xmlns:a="http://schemas.openxmlformats.org/drawingml/2006/main">
            <a:r>
              <a:t>WHY THIS PROMPT</a:t>
            </a:r>
          </a:p>
          <a:p xmlns:a="http://schemas.openxmlformats.org/drawingml/2006/main">
            <a:r>
              <a:t>Confirmation: establishes the correct tab.</a:t>
            </a:r>
          </a:p>
          <a:p xmlns:a="http://schemas.openxmlformats.org/drawingml/2006/main">
            <a:r>
              <a:t>Observation: distinguishes seeing the page from reading its source files.</a:t>
            </a:r>
          </a:p>
          <a:p xmlns:a="http://schemas.openxmlformats.org/drawingml/2006/main">
            <a:r>
              <a:t/>
            </a:r>
          </a:p>
          <a:p xmlns:a="http://schemas.openxmlformats.org/drawingml/2006/main">
            <a:r>
              <a:t>CHECK BEFORE CONTINUING</a:t>
            </a:r>
          </a:p>
          <a:p xmlns:a="http://schemas.openxmlformats.org/drawingml/2006/main">
            <a:r>
              <a:t>Claude correctly identifies Northstar and Review task.</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browser review request</a:t>
            </a:r>
          </a:p>
          <a:p xmlns:a="http://schemas.openxmlformats.org/drawingml/2006/main">
            <a:r>
              <a:t/>
            </a:r>
          </a:p>
          <a:p xmlns:a="http://schemas.openxmlformats.org/drawingml/2006/main">
            <a:r>
              <a:t>SOURCES / CONTEXT</a:t>
            </a:r>
          </a:p>
          <a:p xmlns:a="http://schemas.openxmlformats.org/drawingml/2006/main">
            <a:r>
              <a:t>https://code.claude.com/docs/en/chrome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87 | Build it for real | 1:49:30–1:52:30 (3 min)</a:t>
            </a:r>
          </a:p>
          <a:p xmlns:a="http://schemas.openxmlformats.org/drawingml/2006/main">
            <a:r>
              <a:t/>
            </a:r>
          </a:p>
          <a:p xmlns:a="http://schemas.openxmlformats.org/drawingml/2006/main">
            <a:r>
              <a:t>SAY</a:t>
            </a:r>
          </a:p>
          <a:p xmlns:a="http://schemas.openxmlformats.org/drawingml/2006/main">
            <a:r>
              <a:t>The request combines task completion and visual inspection. Looking at source code is not the same as looking at the screen. Ask for a specific problem, an observed consequence, and a repeat of the same journey after the fix.</a:t>
            </a:r>
          </a:p>
          <a:p xmlns:a="http://schemas.openxmlformats.org/drawingml/2006/main">
            <a:r>
              <a:t/>
            </a:r>
          </a:p>
          <a:p xmlns:a="http://schemas.openxmlformats.org/drawingml/2006/main">
            <a:r>
              <a:t>ON SCREEN</a:t>
            </a:r>
          </a:p>
          <a:p xmlns:a="http://schemas.openxmlformats.org/drawingml/2006/main">
            <a:r>
              <a:t>Run the request and record the actual journey. Show a passing result or the observed defect and its recheck.</a:t>
            </a:r>
          </a:p>
          <a:p xmlns:a="http://schemas.openxmlformats.org/drawingml/2006/main">
            <a:r>
              <a:t/>
            </a:r>
          </a:p>
          <a:p xmlns:a="http://schemas.openxmlformats.org/drawingml/2006/main">
            <a:r>
              <a:t>EXACT PROMPT</a:t>
            </a:r>
          </a:p>
          <a:p xmlns:a="http://schemas.openxmlformats.org/drawingml/2006/main">
            <a:r>
              <a:t>Open Northstar in the running ClientDesk app. Set the browser’s content area to 390 pixels wide, roughly a phone screen. Find the latest meeting and reach Review using the keyboard. Record what happens. If a control is clipped, explain the cause, fix it and repeat the same journey. Otherwise, document the passing result.</a:t>
            </a:r>
          </a:p>
          <a:p xmlns:a="http://schemas.openxmlformats.org/drawingml/2006/main">
            <a:r>
              <a:t/>
            </a:r>
          </a:p>
          <a:p xmlns:a="http://schemas.openxmlformats.org/drawingml/2006/main">
            <a:r>
              <a:t>CHECK BEFORE CONTINUING</a:t>
            </a:r>
          </a:p>
          <a:p xmlns:a="http://schemas.openxmlformats.org/drawingml/2006/main">
            <a:r>
              <a:t>Evidence: the tested width, the action and its result. For a fix, compare before and after.</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defect report you can act on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88 | Build it for real | 1:52:30–1:53:30 (1 min)</a:t>
            </a:r>
          </a:p>
          <a:p xmlns:a="http://schemas.openxmlformats.org/drawingml/2006/main">
            <a:r>
              <a:t/>
            </a:r>
          </a:p>
          <a:p xmlns:a="http://schemas.openxmlformats.org/drawingml/2006/main">
            <a:r>
              <a:t>SAY</a:t>
            </a:r>
          </a:p>
          <a:p xmlns:a="http://schemas.openxmlformats.org/drawingml/2006/main">
            <a:r>
              <a:t>A useful defect report tells me what the user could not do. We are not asking Claude to make an arbitrary visual improvement. We are giving it a repeatable problem and a visible finish line. Reproduction: names the condition and blocked action. Comparison: holds the width and journey constant.</a:t>
            </a:r>
          </a:p>
          <a:p xmlns:a="http://schemas.openxmlformats.org/drawingml/2006/main">
            <a:r>
              <a:t/>
            </a:r>
          </a:p>
          <a:p xmlns:a="http://schemas.openxmlformats.org/drawingml/2006/main">
            <a:r>
              <a:t>ON SCREEN</a:t>
            </a:r>
          </a:p>
          <a:p xmlns:a="http://schemas.openxmlformats.org/drawingml/2006/main">
            <a:r>
              <a:t>Use the working navy app at /?view=client&amp;client=northstar. Report an observed problem; there is no hidden cramped-mode parameter.</a:t>
            </a:r>
          </a:p>
          <a:p xmlns:a="http://schemas.openxmlformats.org/drawingml/2006/main">
            <a:r>
              <a:t/>
            </a:r>
          </a:p>
          <a:p xmlns:a="http://schemas.openxmlformats.org/drawingml/2006/main">
            <a:r>
              <a:t>EXACT PROMPT</a:t>
            </a:r>
          </a:p>
          <a:p xmlns:a="http://schemas.openxmlformats.org/drawingml/2006/main">
            <a:r>
              <a:t>At 390 pixels wide, inspect the Northstar page and reach Review with the keyboard. If an action is blocked, capture it, explain the cause, fix it and repeat the same path. If it works, record the passing evidence instead of inventing a defect.</a:t>
            </a:r>
          </a:p>
          <a:p xmlns:a="http://schemas.openxmlformats.org/drawingml/2006/main">
            <a:r>
              <a:t/>
            </a:r>
          </a:p>
          <a:p xmlns:a="http://schemas.openxmlformats.org/drawingml/2006/main">
            <a:r>
              <a:t>WHY THIS PROMPT</a:t>
            </a:r>
          </a:p>
          <a:p xmlns:a="http://schemas.openxmlformats.org/drawingml/2006/main">
            <a:r>
              <a:t>Reproduction: names the condition and blocked action.</a:t>
            </a:r>
          </a:p>
          <a:p xmlns:a="http://schemas.openxmlformats.org/drawingml/2006/main">
            <a:r>
              <a:t>Comparison: holds the width and journey constant.</a:t>
            </a:r>
          </a:p>
          <a:p xmlns:a="http://schemas.openxmlformats.org/drawingml/2006/main">
            <a:r>
              <a:t/>
            </a:r>
          </a:p>
          <a:p xmlns:a="http://schemas.openxmlformats.org/drawingml/2006/main">
            <a:r>
              <a:t>CHECK BEFORE CONTINUING</a:t>
            </a:r>
          </a:p>
          <a:p xmlns:a="http://schemas.openxmlformats.org/drawingml/2006/main">
            <a:r>
              <a:t>A real defect has a before/after comparison; a passing journey has a recorded result.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Loading, missing data, and failed saves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89 | Build it for real | 1:53:30–1:54 (0.5 min)</a:t>
            </a:r>
          </a:p>
          <a:p xmlns:a="http://schemas.openxmlformats.org/drawingml/2006/main">
            <a:r>
              <a:t/>
            </a:r>
          </a:p>
          <a:p xmlns:a="http://schemas.openxmlformats.org/drawingml/2006/main">
            <a:r>
              <a:t>SAY</a:t>
            </a:r>
          </a:p>
          <a:p xmlns:a="http://schemas.openxmlformats.org/drawingml/2006/main">
            <a:r>
              <a:t>A trustworthy interface distinguishes no data from a failed request. It preserves the user’s work and makes recovery visible. These states belong in the specification and the browser review, not in an optional polish pass.</a:t>
            </a:r>
          </a:p>
          <a:p xmlns:a="http://schemas.openxmlformats.org/drawingml/2006/main">
            <a:r>
              <a:t/>
            </a:r>
          </a:p>
          <a:p xmlns:a="http://schemas.openxmlformats.org/drawingml/2006/main">
            <a:r>
              <a:t>ON SCREEN</a:t>
            </a:r>
          </a:p>
          <a:p xmlns:a="http://schemas.openxmlformats.org/drawingml/2006/main">
            <a:r>
              <a:t>Trigger two states with the fixture kit. Ask whether the message suggests the right next action.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Test the journey on a phone-sized screen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90 | Build it for real | 1:54–2:00 (6 min)</a:t>
            </a:r>
          </a:p>
          <a:p xmlns:a="http://schemas.openxmlformats.org/drawingml/2006/main">
            <a:r>
              <a:t/>
            </a:r>
          </a:p>
          <a:p xmlns:a="http://schemas.openxmlformats.org/drawingml/2006/main">
            <a:r>
              <a:t>SAY</a:t>
            </a:r>
          </a:p>
          <a:p xmlns:a="http://schemas.openxmlformats.org/drawingml/2006/main">
            <a:r>
              <a:t>Use the actual navy app. There is no forced broken-layout switch. Learners record what happens and report a real blocked action if one exists. A successful journey is valid evidence; do not manufacture a problem.</a:t>
            </a:r>
          </a:p>
          <a:p xmlns:a="http://schemas.openxmlformats.org/drawingml/2006/main">
            <a:r>
              <a:t/>
            </a:r>
          </a:p>
          <a:p xmlns:a="http://schemas.openxmlformats.org/drawingml/2006/main">
            <a:r>
              <a:t>ON SCREEN</a:t>
            </a:r>
          </a:p>
          <a:p xmlns:a="http://schemas.openxmlformats.org/drawingml/2006/main">
            <a:r>
              <a:t>Use 00-course-map/labs/03-browser.md. Start a six-minute timer. Require the same viewport for before and after.</a:t>
            </a:r>
          </a:p>
          <a:p xmlns:a="http://schemas.openxmlformats.org/drawingml/2006/main">
            <a:r>
              <a:t/>
            </a:r>
          </a:p>
          <a:p xmlns:a="http://schemas.openxmlformats.org/drawingml/2006/main">
            <a:r>
              <a:t>CHECK BEFORE CONTINUING</a:t>
            </a:r>
          </a:p>
          <a:p xmlns:a="http://schemas.openxmlformats.org/drawingml/2006/main">
            <a:r>
              <a:t>A reproducible defect report or a verified passing journey</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Chrome and computer use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91 | Build it for real | 2:00–2:01:30 (1.5 min)</a:t>
            </a:r>
          </a:p>
          <a:p xmlns:a="http://schemas.openxmlformats.org/drawingml/2006/main">
            <a:r>
              <a:t/>
            </a:r>
          </a:p>
          <a:p xmlns:a="http://schemas.openxmlformats.org/drawingml/2006/main">
            <a:r>
              <a:t>SAY</a:t>
            </a:r>
          </a:p>
          <a:p xmlns:a="http://schemas.openxmlformats.org/drawingml/2006/main">
            <a:r>
              <a:t>Browser integration handles the CRM. Desktop computer use covers the native app that receives its output. The two are different capabilities. Use the precise browser or CLI interface when it exists, and screen control for the remaining GUI-only step.</a:t>
            </a:r>
          </a:p>
          <a:p xmlns:a="http://schemas.openxmlformats.org/drawingml/2006/main">
            <a:r>
              <a:t/>
            </a:r>
          </a:p>
          <a:p xmlns:a="http://schemas.openxmlformats.org/drawingml/2006/main">
            <a:r>
              <a:t>ON SCREEN</a:t>
            </a:r>
          </a:p>
          <a:p xmlns:a="http://schemas.openxmlformats.org/drawingml/2006/main">
            <a:r>
              <a:t>Introduce the native preview demonstration. Keep the desktop clean and use fictional exported data.</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Computer use setup</a:t>
            </a:r>
          </a:p>
          <a:p xmlns:a="http://schemas.openxmlformats.org/drawingml/2006/main">
            <a:r>
              <a:t/>
            </a:r>
          </a:p>
          <a:p xmlns:a="http://schemas.openxmlformats.org/drawingml/2006/main">
            <a:r>
              <a:t>SOURCES / CONTEXT</a:t>
            </a:r>
          </a:p>
          <a:p xmlns:a="http://schemas.openxmlformats.org/drawingml/2006/main">
            <a:r>
              <a:t>https://code.claude.com/docs/en/chrome</a:t>
            </a:r>
          </a:p>
          <a:p xmlns:a="http://schemas.openxmlformats.org/drawingml/2006/main">
            <a:r>
              <a:t>https://code.claude.com/docs/en/computer-use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92 | Build it for real | 2:01:30–2:02:30 (1 min)</a:t>
            </a:r>
          </a:p>
          <a:p xmlns:a="http://schemas.openxmlformats.org/drawingml/2006/main">
            <a:r>
              <a:t/>
            </a:r>
          </a:p>
          <a:p xmlns:a="http://schemas.openxmlformats.org/drawingml/2006/main">
            <a:r>
              <a:t>SAY</a:t>
            </a:r>
          </a:p>
          <a:p xmlns:a="http://schemas.openxmlformats.org/drawingml/2006/main">
            <a:r>
              <a:t>These are the current CLI prerequisites. Desktop also has a settings route and supports a different platform set. Do not present screen access as automatic. It is off by default, and the user approves the app. Use a manual demonstration on unsupported setups; no recorded fallback is bundled.</a:t>
            </a:r>
          </a:p>
          <a:p xmlns:a="http://schemas.openxmlformats.org/drawingml/2006/main">
            <a:r>
              <a:t/>
            </a:r>
          </a:p>
          <a:p xmlns:a="http://schemas.openxmlformats.org/drawingml/2006/main">
            <a:r>
              <a:t>ON SCREEN</a:t>
            </a:r>
          </a:p>
          <a:p xmlns:a="http://schemas.openxmlformats.org/drawingml/2006/main">
            <a:r>
              <a:t>Show the setup menu without changing audience permissions. Recheck availability before the live course.</a:t>
            </a:r>
          </a:p>
          <a:p xmlns:a="http://schemas.openxmlformats.org/drawingml/2006/main">
            <a:r>
              <a:t/>
            </a:r>
          </a:p>
          <a:p xmlns:a="http://schemas.openxmlformats.org/drawingml/2006/main">
            <a:r>
              <a:t>EXACT PROMPT</a:t>
            </a:r>
          </a:p>
          <a:p xmlns:a="http://schemas.openxmlformats.org/drawingml/2006/main">
            <a:r>
              <a:t>Help me enable computer use in this Claude Code session. Check whether my device and account support it. Explain the permissions I need to grant, then wait while I enable access to the document viewer.</a:t>
            </a:r>
          </a:p>
          <a:p xmlns:a="http://schemas.openxmlformats.org/drawingml/2006/main">
            <a:r>
              <a:t/>
            </a:r>
          </a:p>
          <a:p xmlns:a="http://schemas.openxmlformats.org/drawingml/2006/main">
            <a:r>
              <a:t>CHECK BEFORE CONTINUING</a:t>
            </a:r>
          </a:p>
          <a:p xmlns:a="http://schemas.openxmlformats.org/drawingml/2006/main">
            <a:r>
              <a:t>Requires: an eligible macOS setup and interactive Claude Code session. Check current requirements before class.</a:t>
            </a:r>
          </a:p>
          <a:p xmlns:a="http://schemas.openxmlformats.org/drawingml/2006/main">
            <a:r>
              <a:t/>
            </a:r>
          </a:p>
          <a:p xmlns:a="http://schemas.openxmlformats.org/drawingml/2006/main">
            <a:r>
              <a:t>IF THE DEMO STALLS</a:t>
            </a:r>
          </a:p>
          <a:p xmlns:a="http://schemas.openxmlformats.org/drawingml/2006/main">
            <a:r>
              <a:t>Demonstrate the document review manually if the delivery setup does not support native computer use. Label it as a manual review.</a:t>
            </a:r>
          </a:p>
          <a:p xmlns:a="http://schemas.openxmlformats.org/drawingml/2006/main">
            <a:r>
              <a:t/>
            </a:r>
          </a:p>
          <a:p xmlns:a="http://schemas.openxmlformats.org/drawingml/2006/main">
            <a:r>
              <a:t>TRANSITION</a:t>
            </a:r>
          </a:p>
          <a:p xmlns:a="http://schemas.openxmlformats.org/drawingml/2006/main">
            <a:r>
              <a:t>The native document review prompt</a:t>
            </a:r>
          </a:p>
          <a:p xmlns:a="http://schemas.openxmlformats.org/drawingml/2006/main">
            <a:r>
              <a:t/>
            </a:r>
          </a:p>
          <a:p xmlns:a="http://schemas.openxmlformats.org/drawingml/2006/main">
            <a:r>
              <a:t>SOURCES / CONTEXT</a:t>
            </a:r>
          </a:p>
          <a:p xmlns:a="http://schemas.openxmlformats.org/drawingml/2006/main">
            <a:r>
              <a:t>https://code.claude.com/docs/en/computer-use</a:t>
            </a:r>
          </a:p>
          <a:p xmlns:a="http://schemas.openxmlformats.org/drawingml/2006/main">
            <a:r>
              <a:t>https://code.claude.com/docs/en/desktop</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93 | Build it for real | 2:02:30–2:03:30 (1 min)</a:t>
            </a:r>
          </a:p>
          <a:p xmlns:a="http://schemas.openxmlformats.org/drawingml/2006/main">
            <a:r>
              <a:t/>
            </a:r>
          </a:p>
          <a:p xmlns:a="http://schemas.openxmlformats.org/drawingml/2006/main">
            <a:r>
              <a:t>SAY</a:t>
            </a:r>
          </a:p>
          <a:p xmlns:a="http://schemas.openxmlformats.org/drawingml/2006/main">
            <a:r>
              <a:t>Computer use matters here because the deliverable is a document, not just text in a conversation. I want Claude to inspect what the recipient will actually open. Surface: tests the file in the app people will use. Specificity: gives the review observable criteria.</a:t>
            </a:r>
          </a:p>
          <a:p xmlns:a="http://schemas.openxmlformats.org/drawingml/2006/main">
            <a:r>
              <a:t/>
            </a:r>
          </a:p>
          <a:p xmlns:a="http://schemas.openxmlformats.org/drawingml/2006/main">
            <a:r>
              <a:t>ON SCREEN</a:t>
            </a:r>
          </a:p>
          <a:p xmlns:a="http://schemas.openxmlformats.org/drawingml/2006/main">
            <a:r>
              <a:t>Export the brief first, then select its real local file in the viewer.</a:t>
            </a:r>
          </a:p>
          <a:p xmlns:a="http://schemas.openxmlformats.org/drawingml/2006/main">
            <a:r>
              <a:t/>
            </a:r>
          </a:p>
          <a:p xmlns:a="http://schemas.openxmlformats.org/drawingml/2006/main">
            <a:r>
              <a:t>EXACT PROMPT</a:t>
            </a:r>
          </a:p>
          <a:p xmlns:a="http://schemas.openxmlformats.org/drawingml/2006/main">
            <a:r>
              <a:t>Open the exported Northstar brief in the approved document viewer. Check that every section is readable, sources stay beside facts, and proposed actions are clearly labeled. Capture any clipped text and identify its section. Do not send or upload the document.</a:t>
            </a:r>
          </a:p>
          <a:p xmlns:a="http://schemas.openxmlformats.org/drawingml/2006/main">
            <a:r>
              <a:t/>
            </a:r>
          </a:p>
          <a:p xmlns:a="http://schemas.openxmlformats.org/drawingml/2006/main">
            <a:r>
              <a:t>WHY THIS PROMPT</a:t>
            </a:r>
          </a:p>
          <a:p xmlns:a="http://schemas.openxmlformats.org/drawingml/2006/main">
            <a:r>
              <a:t>Surface: tests the file in the app people will use.</a:t>
            </a:r>
          </a:p>
          <a:p xmlns:a="http://schemas.openxmlformats.org/drawingml/2006/main">
            <a:r>
              <a:t>Specificity: gives the review observable criteria.</a:t>
            </a:r>
          </a:p>
          <a:p xmlns:a="http://schemas.openxmlformats.org/drawingml/2006/main">
            <a:r>
              <a:t/>
            </a:r>
          </a:p>
          <a:p xmlns:a="http://schemas.openxmlformats.org/drawingml/2006/main">
            <a:r>
              <a:t>CHECK BEFORE CONTINUING</a:t>
            </a:r>
          </a:p>
          <a:p xmlns:a="http://schemas.openxmlformats.org/drawingml/2006/main">
            <a:r>
              <a:t>A screenshot and section-level findings support the review.</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Export the brief, then inspect it</a:t>
            </a:r>
          </a:p>
          <a:p xmlns:a="http://schemas.openxmlformats.org/drawingml/2006/main">
            <a:r>
              <a:t/>
            </a:r>
          </a:p>
          <a:p xmlns:a="http://schemas.openxmlformats.org/drawingml/2006/main">
            <a:r>
              <a:t>SOURCES / CONTEXT</a:t>
            </a:r>
          </a:p>
          <a:p xmlns:a="http://schemas.openxmlformats.org/drawingml/2006/main">
            <a:r>
              <a:t>https://code.claude.com/docs/en/computer-use</a:t>
            </a:r>
          </a:p>
          <a:p xmlns:a="http://schemas.openxmlformats.org/drawingml/2006/main">
            <a:r>
              <a:t>https://code.claude.com/docs/en/desktop</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94 | Build it for real | 2:03:30–2:04 (0.5 min)</a:t>
            </a:r>
          </a:p>
          <a:p xmlns:a="http://schemas.openxmlformats.org/drawingml/2006/main">
            <a:r>
              <a:t/>
            </a:r>
          </a:p>
          <a:p xmlns:a="http://schemas.openxmlformats.org/drawingml/2006/main">
            <a:r>
              <a:t>SAY</a:t>
            </a:r>
          </a:p>
          <a:p xmlns:a="http://schemas.openxmlformats.org/drawingml/2006/main">
            <a:r>
              <a:t>This is the GUI-only part of our workflow. We exported a client brief and now inspect it in a native viewer. The result may reveal formatting that the web app did not show. This is a small, bounded use of computer use.</a:t>
            </a:r>
          </a:p>
          <a:p xmlns:a="http://schemas.openxmlformats.org/drawingml/2006/main">
            <a:r>
              <a:t/>
            </a:r>
          </a:p>
          <a:p xmlns:a="http://schemas.openxmlformats.org/drawingml/2006/main">
            <a:r>
              <a:t>ON SCREEN</a:t>
            </a:r>
          </a:p>
          <a:p xmlns:a="http://schemas.openxmlformats.org/drawingml/2006/main">
            <a:r>
              <a:t>Use a fictional export in Preview or the prepared native viewer. Point out the per-app approval and how to stop screen control.</a:t>
            </a:r>
          </a:p>
          <a:p xmlns:a="http://schemas.openxmlformats.org/drawingml/2006/main">
            <a:r>
              <a:t/>
            </a:r>
          </a:p>
          <a:p xmlns:a="http://schemas.openxmlformats.org/drawingml/2006/main">
            <a:r>
              <a:t>EXACT PROMPT</a:t>
            </a:r>
          </a:p>
          <a:p xmlns:a="http://schemas.openxmlformats.org/drawingml/2006/main">
            <a:r>
              <a:t>Open the exported client brief in the native viewer.</a:t>
            </a:r>
          </a:p>
          <a:p xmlns:a="http://schemas.openxmlformats.org/drawingml/2006/main">
            <a:r>
              <a:t>Check that the client, source, owner, and due date</a:t>
            </a:r>
          </a:p>
          <a:p xmlns:a="http://schemas.openxmlformats.org/drawingml/2006/main">
            <a:r>
              <a:t>are readable. Screenshot any clipping.</a:t>
            </a:r>
          </a:p>
          <a:p xmlns:a="http://schemas.openxmlformats.org/drawingml/2006/main">
            <a:r>
              <a:t>Do not share, email, or upload the file.</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task is reviewed before it is saved</a:t>
            </a:r>
          </a:p>
          <a:p xmlns:a="http://schemas.openxmlformats.org/drawingml/2006/main">
            <a:r>
              <a:t/>
            </a:r>
          </a:p>
          <a:p xmlns:a="http://schemas.openxmlformats.org/drawingml/2006/main">
            <a:r>
              <a:t>SOURCES / CONTEXT</a:t>
            </a:r>
          </a:p>
          <a:p xmlns:a="http://schemas.openxmlformats.org/drawingml/2006/main">
            <a:r>
              <a:t>https://code.claude.com/docs/en/computer-use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95 | Build it for real | 2:04–2:06 (2 min)</a:t>
            </a:r>
          </a:p>
          <a:p xmlns:a="http://schemas.openxmlformats.org/drawingml/2006/main">
            <a:r>
              <a:t/>
            </a:r>
          </a:p>
          <a:p xmlns:a="http://schemas.openxmlformats.org/drawingml/2006/main">
            <a:r>
              <a:t>SAY</a:t>
            </a:r>
          </a:p>
          <a:p xmlns:a="http://schemas.openxmlformats.org/drawingml/2006/main">
            <a:r>
              <a:t>A suggested task is a proposal. The app shows the exact task before saving it. After saving, read it back from storage. In the hosted target, the authenticated user and database policies enforce access. Email remains outside the scope.</a:t>
            </a:r>
          </a:p>
          <a:p xmlns:a="http://schemas.openxmlformats.org/drawingml/2006/main">
            <a:r>
              <a:t/>
            </a:r>
          </a:p>
          <a:p xmlns:a="http://schemas.openxmlformats.org/drawingml/2006/main">
            <a:r>
              <a:t>ON SCREEN</a:t>
            </a:r>
          </a:p>
          <a:p xmlns:a="http://schemas.openxmlformats.org/drawingml/2006/main">
            <a:r>
              <a:t>Review the Northstar task in the app, confirm it once, and refresh to verify persistence.</a:t>
            </a:r>
          </a:p>
          <a:p xmlns:a="http://schemas.openxmlformats.org/drawingml/2006/main">
            <a:r>
              <a:t/>
            </a:r>
          </a:p>
          <a:p xmlns:a="http://schemas.openxmlformats.org/drawingml/2006/main">
            <a:r>
              <a:t>CHECK BEFORE CONTINUING</a:t>
            </a:r>
          </a:p>
          <a:p xmlns:a="http://schemas.openxmlformats.org/drawingml/2006/main">
            <a:r>
              <a:t>Review checklist: the supporting meeting, Alex as owner, and a proposed date before the next call.</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Recovery is part of the build</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96 | Build it for real | 2:06–2:07 (1 min)</a:t>
            </a:r>
          </a:p>
          <a:p xmlns:a="http://schemas.openxmlformats.org/drawingml/2006/main">
            <a:r>
              <a:t/>
            </a:r>
          </a:p>
          <a:p xmlns:a="http://schemas.openxmlformats.org/drawingml/2006/main">
            <a:r>
              <a:t>SAY</a:t>
            </a:r>
          </a:p>
          <a:p xmlns:a="http://schemas.openxmlformats.org/drawingml/2006/main">
            <a:r>
              <a:t>Do not infer success from a spinner disappearing. Keep a stable operation identifier and make retries safe. Scope the first live write to one task record; multi-service writes need a more detailed recovery design.</a:t>
            </a:r>
          </a:p>
          <a:p xmlns:a="http://schemas.openxmlformats.org/drawingml/2006/main">
            <a:r>
              <a:t/>
            </a:r>
          </a:p>
          <a:p xmlns:a="http://schemas.openxmlformats.org/drawingml/2006/main">
            <a:r>
              <a:t>ON SCREEN</a:t>
            </a:r>
          </a:p>
          <a:p xmlns:a="http://schemas.openxmlformats.org/drawingml/2006/main">
            <a:r>
              <a:t>Run the duplicate task case in the reference kit. Verify there is still one task.</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Evidence that the build works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97 | Build it for real | 2:07–2:08:30 (1.5 min)</a:t>
            </a:r>
          </a:p>
          <a:p xmlns:a="http://schemas.openxmlformats.org/drawingml/2006/main">
            <a:r>
              <a:t/>
            </a:r>
          </a:p>
          <a:p xmlns:a="http://schemas.openxmlformats.org/drawingml/2006/main">
            <a:r>
              <a:t>SAY</a:t>
            </a:r>
          </a:p>
          <a:p xmlns:a="http://schemas.openxmlformats.org/drawingml/2006/main">
            <a:r>
              <a:t>Different checks answer different questions. A unit test can prove duplicate handling, but it cannot prove OAuth is configured. The browser test can prove the action is visible, but it cannot establish row-level access. Keep the evidence honest.</a:t>
            </a:r>
          </a:p>
          <a:p xmlns:a="http://schemas.openxmlformats.org/drawingml/2006/main">
            <a:r>
              <a:t/>
            </a:r>
          </a:p>
          <a:p xmlns:a="http://schemas.openxmlformats.org/drawingml/2006/main">
            <a:r>
              <a:t>ON SCREEN</a:t>
            </a:r>
          </a:p>
          <a:p xmlns:a="http://schemas.openxmlformats.org/drawingml/2006/main">
            <a:r>
              <a:t>Show the passing local checks and mark which live checks still need rehearsal.</a:t>
            </a:r>
          </a:p>
          <a:p xmlns:a="http://schemas.openxmlformats.org/drawingml/2006/main">
            <a:r>
              <a:t/>
            </a:r>
          </a:p>
          <a:p xmlns:a="http://schemas.openxmlformats.org/drawingml/2006/main">
            <a:r>
              <a:t>CHECK BEFORE CONTINUING</a:t>
            </a:r>
          </a:p>
          <a:p xmlns:a="http://schemas.openxmlformats.org/drawingml/2006/main">
            <a:r>
              <a:t>Run the documented checks. A passing fictional import does not verify a live provider account.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Settings that stay outside the source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98 | Build it for real | 2:08:30–2:09:30 (1 min)</a:t>
            </a:r>
          </a:p>
          <a:p xmlns:a="http://schemas.openxmlformats.org/drawingml/2006/main">
            <a:r>
              <a:t/>
            </a:r>
          </a:p>
          <a:p xmlns:a="http://schemas.openxmlformats.org/drawingml/2006/main">
            <a:r>
              <a:t>SAY</a:t>
            </a:r>
          </a:p>
          <a:p xmlns:a="http://schemas.openxmlformats.org/drawingml/2006/main">
            <a:r>
              <a:t>Environment variables let the same code run with different service addresses and credentials. .env.example lists names without real secrets. Copy it to .env.local for local use. On Vercel use the project environment settings. Never put private values in a slide, browser code or a Git commit.</a:t>
            </a:r>
          </a:p>
          <a:p xmlns:a="http://schemas.openxmlformats.org/drawingml/2006/main">
            <a:r>
              <a:t/>
            </a:r>
          </a:p>
          <a:p xmlns:a="http://schemas.openxmlformats.org/drawingml/2006/main">
            <a:r>
              <a:t>ON SCREEN</a:t>
            </a:r>
          </a:p>
          <a:p xmlns:a="http://schemas.openxmlformats.org/drawingml/2006/main">
            <a:r>
              <a:t>Open .env.example and the hosting settings with values hidden. Identify the database URL and anonymous key fields.</a:t>
            </a:r>
          </a:p>
          <a:p xmlns:a="http://schemas.openxmlformats.org/drawingml/2006/main">
            <a:r>
              <a:t/>
            </a:r>
          </a:p>
          <a:p xmlns:a="http://schemas.openxmlformats.org/drawingml/2006/main">
            <a:r>
              <a:t>CHECK BEFORE CONTINUING</a:t>
            </a:r>
          </a:p>
          <a:p xmlns:a="http://schemas.openxmlformats.org/drawingml/2006/main">
            <a:r>
              <a:t>Learners can distinguish a variable name from its private value.</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Connect the app to Vercel</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99 | Build it for real | 2:09:30–2:10:30 (1 min)</a:t>
            </a:r>
          </a:p>
          <a:p xmlns:a="http://schemas.openxmlformats.org/drawingml/2006/main">
            <a:r>
              <a:t/>
            </a:r>
          </a:p>
          <a:p xmlns:a="http://schemas.openxmlformats.org/drawingml/2006/main">
            <a:r>
              <a:t>SAY</a:t>
            </a:r>
          </a:p>
          <a:p xmlns:a="http://schemas.openxmlformats.org/drawingml/2006/main">
            <a:r>
              <a:t>This code expects SUPABASE_ANON_KEY; it does not need a service-role key that bypasses database access rules. Scope the variables to the environment you will test. Preview and production have different URLs and can have different settings. Record the actual chosen URL rather than using the instructor’s project.</a:t>
            </a:r>
          </a:p>
          <a:p xmlns:a="http://schemas.openxmlformats.org/drawingml/2006/main">
            <a:r>
              <a:t/>
            </a:r>
          </a:p>
          <a:p xmlns:a="http://schemas.openxmlformats.org/drawingml/2006/main">
            <a:r>
              <a:t>ON SCREEN</a:t>
            </a:r>
          </a:p>
          <a:p xmlns:a="http://schemas.openxmlformats.org/drawingml/2006/main">
            <a:r>
              <a:t>Use Vercel Add New Project, choose your repository and set the root directory. Obtain the URL and legacy anon key from your Supabase project settings.</a:t>
            </a:r>
          </a:p>
          <a:p xmlns:a="http://schemas.openxmlformats.org/drawingml/2006/main">
            <a:r>
              <a:t/>
            </a:r>
          </a:p>
          <a:p xmlns:a="http://schemas.openxmlformats.org/drawingml/2006/main">
            <a:r>
              <a:t>EXACT PROMPT</a:t>
            </a:r>
          </a:p>
          <a:p xmlns:a="http://schemas.openxmlformats.org/drawingml/2006/main">
            <a:r>
              <a:t>Help me import my reviewed GitHub repository into Vercel. Set the root directory to 03-build/clientdesk and Node to 24. Add my SUPABASE_URL and SUPABASE_ANON_KEY in server settings for the deployment environment. Show the destination and build settings before deploying.</a:t>
            </a:r>
          </a:p>
          <a:p xmlns:a="http://schemas.openxmlformats.org/drawingml/2006/main">
            <a:r>
              <a:t/>
            </a:r>
          </a:p>
          <a:p xmlns:a="http://schemas.openxmlformats.org/drawingml/2006/main">
            <a:r>
              <a:t>WHY THIS PROMPT</a:t>
            </a:r>
          </a:p>
          <a:p xmlns:a="http://schemas.openxmlformats.org/drawingml/2006/main">
            <a:r>
              <a:t>Root: deploys the app folder, not the whole kit.</a:t>
            </a:r>
          </a:p>
          <a:p xmlns:a="http://schemas.openxmlformats.org/drawingml/2006/main">
            <a:r>
              <a:t>Configuration: connects the prepared database.</a:t>
            </a:r>
          </a:p>
          <a:p xmlns:a="http://schemas.openxmlformats.org/drawingml/2006/main">
            <a:r>
              <a:t/>
            </a:r>
          </a:p>
          <a:p xmlns:a="http://schemas.openxmlformats.org/drawingml/2006/main">
            <a:r>
              <a:t>CHECK BEFORE CONTINUING</a:t>
            </a:r>
          </a:p>
          <a:p xmlns:a="http://schemas.openxmlformats.org/drawingml/2006/main">
            <a:r>
              <a:t>The deployment builds and the hosted app reports Supabase storage.</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Run the checks before deployment</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100 | Build it for real | 2:10:30–2:11:30 (1 min)</a:t>
            </a:r>
          </a:p>
          <a:p xmlns:a="http://schemas.openxmlformats.org/drawingml/2006/main">
            <a:r>
              <a:t/>
            </a:r>
          </a:p>
          <a:p xmlns:a="http://schemas.openxmlformats.org/drawingml/2006/main">
            <a:r>
              <a:t>SAY</a:t>
            </a:r>
          </a:p>
          <a:p xmlns:a="http://schemas.openxmlformats.org/drawingml/2006/main">
            <a:r>
              <a:t>Tests are repeatable questions we ask the app. The HTTP check sends actual requests to the running local server. A passing test suite still needs a browser review. New hosting settings require another check at the deployed URL.</a:t>
            </a:r>
          </a:p>
          <a:p xmlns:a="http://schemas.openxmlformats.org/drawingml/2006/main">
            <a:r>
              <a:t/>
            </a:r>
          </a:p>
          <a:p xmlns:a="http://schemas.openxmlformats.org/drawingml/2006/main">
            <a:r>
              <a:t>ON SCREEN</a:t>
            </a:r>
          </a:p>
          <a:p xmlns:a="http://schemas.openxmlformats.org/drawingml/2006/main">
            <a:r>
              <a:t>Keep the app server in one terminal and run checks in another. Open 04-verification for the expected checks and receipts.</a:t>
            </a:r>
          </a:p>
          <a:p xmlns:a="http://schemas.openxmlformats.org/drawingml/2006/main">
            <a:r>
              <a:t/>
            </a:r>
          </a:p>
          <a:p xmlns:a="http://schemas.openxmlformats.org/drawingml/2006/main">
            <a:r>
              <a:t>EXACT PROMPT</a:t>
            </a:r>
          </a:p>
          <a:p xmlns:a="http://schemas.openxmlformats.org/drawingml/2006/main">
            <a:r>
              <a:t>Run npm test, npm run typecheck and npm run build in the app folder. With the local app running, run npm run test:http. Explain failures, fix their cause, and repeat the affected checks before deploying.</a:t>
            </a:r>
          </a:p>
          <a:p xmlns:a="http://schemas.openxmlformats.org/drawingml/2006/main">
            <a:r>
              <a:t/>
            </a:r>
          </a:p>
          <a:p xmlns:a="http://schemas.openxmlformats.org/drawingml/2006/main">
            <a:r>
              <a:t>WHY THIS PROMPT</a:t>
            </a:r>
          </a:p>
          <a:p xmlns:a="http://schemas.openxmlformats.org/drawingml/2006/main">
            <a:r>
              <a:t>Layers: checks data, types, build and real requests.</a:t>
            </a:r>
          </a:p>
          <a:p xmlns:a="http://schemas.openxmlformats.org/drawingml/2006/main">
            <a:r>
              <a:t>Evidence: distinguishes passing code from a passing screen.</a:t>
            </a:r>
          </a:p>
          <a:p xmlns:a="http://schemas.openxmlformats.org/drawingml/2006/main">
            <a:r>
              <a:t/>
            </a:r>
          </a:p>
          <a:p xmlns:a="http://schemas.openxmlformats.org/drawingml/2006/main">
            <a:r>
              <a:t>CHECK BEFORE CONTINUING</a:t>
            </a:r>
          </a:p>
          <a:p xmlns:a="http://schemas.openxmlformats.org/drawingml/2006/main">
            <a:r>
              <a:t>All four checks pass; the browser journey also works.</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A hosted preview of the CRM</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101 | Build it for real | 2:11:30–2:17:30 (6 min)</a:t>
            </a:r>
          </a:p>
          <a:p xmlns:a="http://schemas.openxmlformats.org/drawingml/2006/main">
            <a:r>
              <a:t/>
            </a:r>
          </a:p>
          <a:p xmlns:a="http://schemas.openxmlformats.org/drawingml/2006/main">
            <a:r>
              <a:t>SAY</a:t>
            </a:r>
          </a:p>
          <a:p xmlns:a="http://schemas.openxmlformats.org/drawingml/2006/main">
            <a:r>
              <a:t>A preview deployment gives us a real URL for testing. Configure server-side secrets through the host, verify environment selection, and test sign-in before exposing real client data. A preview URL is not automatically private. Keep a known working commit for rollback.</a:t>
            </a:r>
          </a:p>
          <a:p xmlns:a="http://schemas.openxmlformats.org/drawingml/2006/main">
            <a:r>
              <a:t/>
            </a:r>
          </a:p>
          <a:p xmlns:a="http://schemas.openxmlformats.org/drawingml/2006/main">
            <a:r>
              <a:t>ON SCREEN</a:t>
            </a:r>
          </a:p>
          <a:p xmlns:a="http://schemas.openxmlformats.org/drawingml/2006/main">
            <a:r>
              <a:t>Demonstrate only in the prepared hosting project. Record the preview URL and the commit that produced it. Use localhost if setup is not ready.</a:t>
            </a:r>
          </a:p>
          <a:p xmlns:a="http://schemas.openxmlformats.org/drawingml/2006/main">
            <a:r>
              <a:t/>
            </a:r>
          </a:p>
          <a:p xmlns:a="http://schemas.openxmlformats.org/drawingml/2006/main">
            <a:r>
              <a:t>EXACT PROMPT</a:t>
            </a:r>
          </a:p>
          <a:p xmlns:a="http://schemas.openxmlformats.org/drawingml/2006/main">
            <a:r>
              <a:t>Prepare a hosted preview of the reviewed CRM. Run the checks, inspect the changed files, and show me the hosting project and visibility settings. After I approve that destination, deploy the preview and record its URL and code version.</a:t>
            </a:r>
          </a:p>
          <a:p xmlns:a="http://schemas.openxmlformats.org/drawingml/2006/main">
            <a:r>
              <a:t/>
            </a:r>
          </a:p>
          <a:p xmlns:a="http://schemas.openxmlformats.org/drawingml/2006/main">
            <a:r>
              <a:t>CHECK BEFORE CONTINUING</a:t>
            </a:r>
          </a:p>
          <a:p xmlns:a="http://schemas.openxmlformats.org/drawingml/2006/main">
            <a:r>
              <a:t>Your own Vercel project + your Supabase database. Follow 05-deployment/SETUP.md.</a:t>
            </a:r>
          </a:p>
          <a:p xmlns:a="http://schemas.openxmlformats.org/drawingml/2006/main">
            <a:r>
              <a:t/>
            </a:r>
          </a:p>
          <a:p xmlns:a="http://schemas.openxmlformats.org/drawingml/2006/main">
            <a:r>
              <a:t>IF THE DEMO STALLS</a:t>
            </a:r>
          </a:p>
          <a:p xmlns:a="http://schemas.openxmlformats.org/drawingml/2006/main">
            <a:r>
              <a:t>If the deployment is still pending at five minutes, open the existing reference URL and show its recorded version. Label the pending deployment clearly.</a:t>
            </a:r>
          </a:p>
          <a:p xmlns:a="http://schemas.openxmlformats.org/drawingml/2006/main">
            <a:r>
              <a:t/>
            </a:r>
          </a:p>
          <a:p xmlns:a="http://schemas.openxmlformats.org/drawingml/2006/main">
            <a:r>
              <a:t>TRANSITION</a:t>
            </a:r>
          </a:p>
          <a:p xmlns:a="http://schemas.openxmlformats.org/drawingml/2006/main">
            <a:r>
              <a:t>Check the hosted result</a:t>
            </a:r>
          </a:p>
          <a:p xmlns:a="http://schemas.openxmlformats.org/drawingml/2006/main">
            <a:r>
              <a:t/>
            </a:r>
          </a:p>
          <a:p xmlns:a="http://schemas.openxmlformats.org/drawingml/2006/main">
            <a:r>
              <a:t>SOURCES / CONTEXT</a:t>
            </a:r>
          </a:p>
          <a:p xmlns:a="http://schemas.openxmlformats.org/drawingml/2006/main">
            <a:r>
              <a:t>https://vercel.com/docs/cli/deploy</a:t>
            </a:r>
          </a:p>
          <a:p xmlns:a="http://schemas.openxmlformats.org/drawingml/2006/main">
            <a:r>
              <a:t>Walkthrough Assets/00-course-map/START-HERE.md</a:t>
            </a:r>
          </a:p>
          <a:p xmlns:a="http://schemas.openxmlformats.org/drawingml/2006/main">
            <a:r>
              <a:t>Official vercel logo: https://vercel.com/vc-ap-b3331f/_next/static/immutable/media/logo-vercel-light.1xgi91gcqswpt.svg</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102 | Build it for real | 2:17:30–2:20:30 (3 min)</a:t>
            </a:r>
          </a:p>
          <a:p xmlns:a="http://schemas.openxmlformats.org/drawingml/2006/main">
            <a:r>
              <a:t/>
            </a:r>
          </a:p>
          <a:p xmlns:a="http://schemas.openxmlformats.org/drawingml/2006/main">
            <a:r>
              <a:t>SAY</a:t>
            </a:r>
          </a:p>
          <a:p xmlns:a="http://schemas.openxmlformats.org/drawingml/2006/main">
            <a:r>
              <a:t>Deployment moves the app to another environment. That can introduce different settings and failures. We repeat the important journey because the local result does not automatically prove the hosted result. Outcome: verifies the destination, not only the command. Version: makes the result reproducible. The screenshot is the actual hosted reference. Practice dates vary; repeat the checks at your own deployed URL.</a:t>
            </a:r>
          </a:p>
          <a:p xmlns:a="http://schemas.openxmlformats.org/drawingml/2006/main">
            <a:r>
              <a:t/>
            </a:r>
          </a:p>
          <a:p xmlns:a="http://schemas.openxmlformats.org/drawingml/2006/main">
            <a:r>
              <a:t>ON SCREEN</a:t>
            </a:r>
          </a:p>
          <a:p xmlns:a="http://schemas.openxmlformats.org/drawingml/2006/main">
            <a:r>
              <a:t>Open the actual URL from the approved deployment.</a:t>
            </a:r>
          </a:p>
          <a:p xmlns:a="http://schemas.openxmlformats.org/drawingml/2006/main">
            <a:r>
              <a:t/>
            </a:r>
          </a:p>
          <a:p xmlns:a="http://schemas.openxmlformats.org/drawingml/2006/main">
            <a:r>
              <a:t>EXACT PROMPT</a:t>
            </a:r>
          </a:p>
          <a:p xmlns:a="http://schemas.openxmlformats.org/drawingml/2006/main">
            <a:r>
              <a:t>Open the new preview URL and repeat the agreed client journey with fictional data. Confirm the intended access settings and code version. Report failed or untested checks separately. Do not treat a successful deployment message as proof that the app works.</a:t>
            </a:r>
          </a:p>
          <a:p xmlns:a="http://schemas.openxmlformats.org/drawingml/2006/main">
            <a:r>
              <a:t/>
            </a:r>
          </a:p>
          <a:p xmlns:a="http://schemas.openxmlformats.org/drawingml/2006/main">
            <a:r>
              <a:t>WHY THIS PROMPT</a:t>
            </a:r>
          </a:p>
          <a:p xmlns:a="http://schemas.openxmlformats.org/drawingml/2006/main">
            <a:r>
              <a:t>Outcome: verifies the destination, not only the command.</a:t>
            </a:r>
          </a:p>
          <a:p xmlns:a="http://schemas.openxmlformats.org/drawingml/2006/main">
            <a:r>
              <a:t>Version: makes the result reproducible.</a:t>
            </a:r>
          </a:p>
          <a:p xmlns:a="http://schemas.openxmlformats.org/drawingml/2006/main">
            <a:r>
              <a:t/>
            </a:r>
          </a:p>
          <a:p xmlns:a="http://schemas.openxmlformats.org/drawingml/2006/main">
            <a:r>
              <a:t>CHECK BEFORE CONTINUING</a:t>
            </a:r>
          </a:p>
          <a:p xmlns:a="http://schemas.openxmlformats.org/drawingml/2006/main">
            <a:r>
              <a:t>The hosted journey works and its version and access settings are recorded.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Ask Claude about the client</a:t>
            </a:r>
          </a:p>
          <a:p xmlns:a="http://schemas.openxmlformats.org/drawingml/2006/main">
            <a:r>
              <a:t/>
            </a:r>
          </a:p>
          <a:p xmlns:a="http://schemas.openxmlformats.org/drawingml/2006/main">
            <a:r>
              <a:t>SOURCES / CONTEXT</a:t>
            </a:r>
          </a:p>
          <a:p xmlns:a="http://schemas.openxmlformats.org/drawingml/2006/main">
            <a:r>
              <a:t>https://vercel.com/docs/cli/deploy</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103 | Build it for real | 2:20:30–2:24:30 (4 min)</a:t>
            </a:r>
          </a:p>
          <a:p xmlns:a="http://schemas.openxmlformats.org/drawingml/2006/main">
            <a:r>
              <a:t/>
            </a:r>
          </a:p>
          <a:p xmlns:a="http://schemas.openxmlformats.org/drawingml/2006/main">
            <a:r>
              <a:t>SAY</a:t>
            </a:r>
          </a:p>
          <a:p xmlns:a="http://schemas.openxmlformats.org/drawingml/2006/main">
            <a:r>
              <a:t>Here is the payoff: I can ask about one client and get a short answer tied to the meeting. I check the source instead of treating the answer as authority. The reply distinguishes the request from the decisions still to make. Now let us look at the small command behind that interaction.</a:t>
            </a:r>
          </a:p>
          <a:p xmlns:a="http://schemas.openxmlformats.org/drawingml/2006/main">
            <a:r>
              <a:t/>
            </a:r>
          </a:p>
          <a:p xmlns:a="http://schemas.openxmlformats.org/drawingml/2006/main">
            <a:r>
              <a:t>ON SCREEN</a:t>
            </a:r>
          </a:p>
          <a:p xmlns:a="http://schemas.openxmlformats.org/drawingml/2006/main">
            <a:r>
              <a:t>Open Ask Claude on localhost, select Northstar and send this one question.</a:t>
            </a:r>
          </a:p>
          <a:p xmlns:a="http://schemas.openxmlformats.org/drawingml/2006/main">
            <a:r>
              <a:t/>
            </a:r>
          </a:p>
          <a:p xmlns:a="http://schemas.openxmlformats.org/drawingml/2006/main">
            <a:r>
              <a:t>EXACT PROMPT</a:t>
            </a:r>
          </a:p>
          <a:p xmlns:a="http://schemas.openxmlformats.org/drawingml/2006/main">
            <a:r>
              <a:t>What did Maya request? Cite the meeting source ID. What did the meeting leave undecided? Keep it to three short bullets.</a:t>
            </a:r>
          </a:p>
          <a:p xmlns:a="http://schemas.openxmlformats.org/drawingml/2006/main">
            <a:r>
              <a:t/>
            </a:r>
          </a:p>
          <a:p xmlns:a="http://schemas.openxmlformats.org/drawingml/2006/main">
            <a:r>
              <a:t>FOLLOW-UP PROMPT</a:t>
            </a:r>
          </a:p>
          <a:p xmlns:a="http://schemas.openxmlformats.org/drawingml/2006/main">
            <a:r>
              <a:t>Which source supports the checklist request? Cite the original source ID.</a:t>
            </a:r>
          </a:p>
          <a:p xmlns:a="http://schemas.openxmlformats.org/drawingml/2006/main">
            <a:r>
              <a:t/>
            </a:r>
          </a:p>
          <a:p xmlns:a="http://schemas.openxmlformats.org/drawingml/2006/main">
            <a:r>
              <a:t>CHECK BEFORE CONTINUING</a:t>
            </a:r>
          </a:p>
          <a:p xmlns:a="http://schemas.openxmlformats.org/drawingml/2006/main">
            <a:r>
              <a:t>The reply cites demo-transcript-001, preserves the unknowns, and leaves the task count unchanged.</a:t>
            </a:r>
          </a:p>
          <a:p xmlns:a="http://schemas.openxmlformats.org/drawingml/2006/main">
            <a:r>
              <a:t/>
            </a:r>
          </a:p>
          <a:p xmlns:a="http://schemas.openxmlformats.org/drawingml/2006/main">
            <a:r>
              <a:t>IF THE DEMO STALLS</a:t>
            </a:r>
          </a:p>
          <a:p xmlns:a="http://schemas.openxmlformats.org/drawingml/2006/main">
            <a:r>
              <a:t>After 90 seconds, use 04-verification/current-chat.txt as the recorded reply. Say that it is a prior result, then compare it with the same transcript.</a:t>
            </a:r>
          </a:p>
          <a:p xmlns:a="http://schemas.openxmlformats.org/drawingml/2006/main">
            <a:r>
              <a:t/>
            </a:r>
          </a:p>
          <a:p xmlns:a="http://schemas.openxmlformats.org/drawingml/2006/main">
            <a:r>
              <a:t>TRANSITION</a:t>
            </a:r>
          </a:p>
          <a:p xmlns:a="http://schemas.openxmlformats.org/drawingml/2006/main">
            <a:r>
              <a:t>Headless: Claude without its chat screen</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104 | Build it for real | 2:24:30–2:25 (0.5 min)</a:t>
            </a:r>
          </a:p>
          <a:p xmlns:a="http://schemas.openxmlformats.org/drawingml/2006/main">
            <a:r>
              <a:t/>
            </a:r>
          </a:p>
          <a:p xmlns:a="http://schemas.openxmlformats.org/drawingml/2006/main">
            <a:r>
              <a:t>SAY</a:t>
            </a:r>
          </a:p>
          <a:p xmlns:a="http://schemas.openxmlformats.org/drawingml/2006/main">
            <a:r>
              <a:t>Headless means running without the interactive user interface. The app can still have its own chat panel. In our case the web app starts Claude Code with -p, gives it one request and receives its answer. Claude is still contacting the online Claude service. Headless does not mean offline, free or automatically safe. Our worker controls tools, context and timeouts separately.</a:t>
            </a:r>
          </a:p>
          <a:p xmlns:a="http://schemas.openxmlformats.org/drawingml/2006/main">
            <a:r>
              <a:t/>
            </a:r>
          </a:p>
          <a:p xmlns:a="http://schemas.openxmlformats.org/drawingml/2006/main">
            <a:r>
              <a:t>ON SCREEN</a:t>
            </a:r>
          </a:p>
          <a:p xmlns:a="http://schemas.openxmlformats.org/drawingml/2006/main">
            <a:r>
              <a:t>Show a regular terminal beside ClientDesk. Explain that the following command runs in the terminal, outside an existing Claude conversation.</a:t>
            </a:r>
          </a:p>
          <a:p xmlns:a="http://schemas.openxmlformats.org/drawingml/2006/main">
            <a:r>
              <a:t/>
            </a:r>
          </a:p>
          <a:p xmlns:a="http://schemas.openxmlformats.org/drawingml/2006/main">
            <a:r>
              <a:t>CHECK BEFORE CONTINUING</a:t>
            </a:r>
          </a:p>
          <a:p xmlns:a="http://schemas.openxmlformats.org/drawingml/2006/main">
            <a:r>
              <a:t>Learners can explain the difference between an interactive conversation and one programmatic request.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small command behind the chat</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105 | Build it for real | 2:25–2:28 (3 min)</a:t>
            </a:r>
          </a:p>
          <a:p xmlns:a="http://schemas.openxmlformats.org/drawingml/2006/main">
            <a:r>
              <a:t/>
            </a:r>
          </a:p>
          <a:p xmlns:a="http://schemas.openxmlformats.org/drawingml/2006/main">
            <a:r>
              <a:t>SAY</a:t>
            </a:r>
          </a:p>
          <a:p xmlns:a="http://schemas.openxmlformats.org/drawingml/2006/main">
            <a:r>
              <a:t>The new idea is only dash p, the short form of print. We send a prompt, receive the answer and return to the terminal. This minimal command explains the interface. For the live run, use the prepared run-first.sh file: it also chooses the model and disables tools. Those settings control behavior; they are separate from print mode.</a:t>
            </a:r>
          </a:p>
          <a:p xmlns:a="http://schemas.openxmlformats.org/drawingml/2006/main">
            <a:r>
              <a:t/>
            </a:r>
          </a:p>
          <a:p xmlns:a="http://schemas.openxmlformats.org/drawingml/2006/main">
            <a:r>
              <a:t>ON SCREEN</a:t>
            </a:r>
          </a:p>
          <a:p xmlns:a="http://schemas.openxmlformats.org/drawingml/2006/main">
            <a:r>
              <a:t>Open 00-course-map/headless-example/run-first.sh. Run the prepared script in the terminal.</a:t>
            </a:r>
          </a:p>
          <a:p xmlns:a="http://schemas.openxmlformats.org/drawingml/2006/main">
            <a:r>
              <a:t/>
            </a:r>
          </a:p>
          <a:p xmlns:a="http://schemas.openxmlformats.org/drawingml/2006/main">
            <a:r>
              <a:t>EXACT PROMPT</a:t>
            </a:r>
          </a:p>
          <a:p xmlns:a="http://schemas.openxmlformats.org/drawingml/2006/main">
            <a:r>
              <a:t>Ask for one small result:</a:t>
            </a:r>
          </a:p>
          <a:p xmlns:a="http://schemas.openxmlformats.org/drawingml/2006/main">
            <a:r>
              <a:t/>
            </a:r>
          </a:p>
          <a:p xmlns:a="http://schemas.openxmlformats.org/drawingml/2006/main">
            <a:r>
              <a:t>“Explain a CRM in one sentence.”</a:t>
            </a:r>
          </a:p>
          <a:p xmlns:a="http://schemas.openxmlformats.org/drawingml/2006/main">
            <a:r>
              <a:t/>
            </a:r>
          </a:p>
          <a:p xmlns:a="http://schemas.openxmlformats.org/drawingml/2006/main">
            <a:r>
              <a:t>Run the command in your terminal. Claude prints the answer and returns control to you.</a:t>
            </a:r>
          </a:p>
          <a:p xmlns:a="http://schemas.openxmlformats.org/drawingml/2006/main">
            <a:r>
              <a:t/>
            </a:r>
          </a:p>
          <a:p xmlns:a="http://schemas.openxmlformats.org/drawingml/2006/main">
            <a:r>
              <a:t>EXACT TERMINAL COMMAND</a:t>
            </a:r>
          </a:p>
          <a:p xmlns:a="http://schemas.openxmlformats.org/drawingml/2006/main">
            <a:r>
              <a:t>claude -p "Explain a CRM in one sentence."</a:t>
            </a:r>
          </a:p>
          <a:p xmlns:a="http://schemas.openxmlformats.org/drawingml/2006/main">
            <a:r>
              <a:t/>
            </a:r>
          </a:p>
          <a:p xmlns:a="http://schemas.openxmlformats.org/drawingml/2006/main">
            <a:r>
              <a:t>CHECK BEFORE CONTINUING</a:t>
            </a:r>
          </a:p>
          <a:p xmlns:a="http://schemas.openxmlformats.org/drawingml/2006/main">
            <a:r>
              <a:t>An answer appears and the process exits.</a:t>
            </a:r>
          </a:p>
          <a:p xmlns:a="http://schemas.openxmlformats.org/drawingml/2006/main">
            <a:r>
              <a:t/>
            </a:r>
          </a:p>
          <a:p xmlns:a="http://schemas.openxmlformats.org/drawingml/2006/main">
            <a:r>
              <a:t>IF THE DEMO STALLS</a:t>
            </a:r>
          </a:p>
          <a:p xmlns:a="http://schemas.openxmlformats.org/drawingml/2006/main">
            <a:r>
              <a:t>Show the recorded first-command response in 04-verification/headless-first-command.json.</a:t>
            </a:r>
          </a:p>
          <a:p xmlns:a="http://schemas.openxmlformats.org/drawingml/2006/main">
            <a:r>
              <a:t/>
            </a:r>
          </a:p>
          <a:p xmlns:a="http://schemas.openxmlformats.org/drawingml/2006/main">
            <a:r>
              <a:t>TRANSITION</a:t>
            </a:r>
          </a:p>
          <a:p xmlns:a="http://schemas.openxmlformats.org/drawingml/2006/main">
            <a:r>
              <a:t>Give the request a source file</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106 | Build it for real | 2:28–2:31 (3 min)</a:t>
            </a:r>
          </a:p>
          <a:p xmlns:a="http://schemas.openxmlformats.org/drawingml/2006/main">
            <a:r>
              <a:t/>
            </a:r>
          </a:p>
          <a:p xmlns:a="http://schemas.openxmlformats.org/drawingml/2006/main">
            <a:r>
              <a:t>SAY</a:t>
            </a:r>
          </a:p>
          <a:p xmlns:a="http://schemas.openxmlformats.org/drawingml/2006/main">
            <a:r>
              <a:t>The system-prompt option tells Claude how to handle the evidence in the input file. The two arrows here are terminal file operators. The less-than sign supplies the contents of our prepared source file as input. The greater-than sign puts the answer in a draft file. This is useful for a meeting brief, a reviewed summary, or another repeatable document task. It overwrites the named output file on a repeat run, so this dedicated example uses a disposable draft. The file contains a checklist request, but no agreed owner or due date. A good answer preserves that distinction. The shell writes the output; Claude does not need a file-writing tool. Open the file and read it before reusing it.</a:t>
            </a:r>
          </a:p>
          <a:p xmlns:a="http://schemas.openxmlformats.org/drawingml/2006/main">
            <a:r>
              <a:t/>
            </a:r>
          </a:p>
          <a:p xmlns:a="http://schemas.openxmlformats.org/drawingml/2006/main">
            <a:r>
              <a:t>ON SCREEN</a:t>
            </a:r>
          </a:p>
          <a:p xmlns:a="http://schemas.openxmlformats.org/drawingml/2006/main">
            <a:r>
              <a:t>Run 00-course-map/headless-example/run-file.sh from its folder. Read the saved draft.</a:t>
            </a:r>
          </a:p>
          <a:p xmlns:a="http://schemas.openxmlformats.org/drawingml/2006/main">
            <a:r>
              <a:t/>
            </a:r>
          </a:p>
          <a:p xmlns:a="http://schemas.openxmlformats.org/drawingml/2006/main">
            <a:r>
              <a:t>EXACT PROMPT</a:t>
            </a:r>
          </a:p>
          <a:p xmlns:a="http://schemas.openxmlformats.org/drawingml/2006/main">
            <a:r>
              <a:t>Use only the supplied evidence. List facts and unknowns. Cite source IDs. Do not ask what to do.</a:t>
            </a:r>
          </a:p>
          <a:p xmlns:a="http://schemas.openxmlformats.org/drawingml/2006/main">
            <a:r>
              <a:t/>
            </a:r>
          </a:p>
          <a:p xmlns:a="http://schemas.openxmlformats.org/drawingml/2006/main">
            <a:r>
              <a:t>EXACT TERMINAL COMMAND</a:t>
            </a:r>
          </a:p>
          <a:p xmlns:a="http://schemas.openxmlformats.org/drawingml/2006/main">
            <a:r>
              <a:t>claude --safe-mode -p --tools "" \</a:t>
            </a:r>
          </a:p>
          <a:p xmlns:a="http://schemas.openxmlformats.org/drawingml/2006/main">
            <a:r>
              <a:t>  --model sonnet --effort low \</a:t>
            </a:r>
          </a:p>
          <a:p xmlns:a="http://schemas.openxmlformats.org/drawingml/2006/main">
            <a:r>
              <a:t>  --system-prompt "Use only the supplied evidence.</a:t>
            </a:r>
          </a:p>
          <a:p xmlns:a="http://schemas.openxmlformats.org/drawingml/2006/main">
            <a:r>
              <a:t>List facts and unknowns. Cite source IDs.</a:t>
            </a:r>
          </a:p>
          <a:p xmlns:a="http://schemas.openxmlformats.org/drawingml/2006/main">
            <a:r>
              <a:t>Do not ask what to do." \</a:t>
            </a:r>
          </a:p>
          <a:p xmlns:a="http://schemas.openxmlformats.org/drawingml/2006/main">
            <a:r>
              <a:t>  &lt; northstar-context.txt &gt; northstar-draft.txt</a:t>
            </a:r>
          </a:p>
          <a:p xmlns:a="http://schemas.openxmlformats.org/drawingml/2006/main">
            <a:r>
              <a:t/>
            </a:r>
          </a:p>
          <a:p xmlns:a="http://schemas.openxmlformats.org/drawingml/2006/main">
            <a:r>
              <a:t>CHECK BEFORE CONTINUING</a:t>
            </a:r>
          </a:p>
          <a:p xmlns:a="http://schemas.openxmlformats.org/drawingml/2006/main">
            <a:r>
              <a:t>The draft cites demo-transcript-001 and says the owner and due date were not agreed.</a:t>
            </a:r>
          </a:p>
          <a:p xmlns:a="http://schemas.openxmlformats.org/drawingml/2006/main">
            <a:r>
              <a:t/>
            </a:r>
          </a:p>
          <a:p xmlns:a="http://schemas.openxmlformats.org/drawingml/2006/main">
            <a:r>
              <a:t>IF THE DEMO STALLS</a:t>
            </a:r>
          </a:p>
          <a:p xmlns:a="http://schemas.openxmlformats.org/drawingml/2006/main">
            <a:r>
              <a:t>Use VERIFIED-EXAMPLE.md as a recorded response, not a new run.</a:t>
            </a:r>
          </a:p>
          <a:p xmlns:a="http://schemas.openxmlformats.org/drawingml/2006/main">
            <a:r>
              <a:t/>
            </a:r>
          </a:p>
          <a:p xmlns:a="http://schemas.openxmlformats.org/drawingml/2006/main">
            <a:r>
              <a:t>TRANSITION</a:t>
            </a:r>
          </a:p>
          <a:p xmlns:a="http://schemas.openxmlformats.org/drawingml/2006/main">
            <a:r>
              <a:t>The chat behind ClientDesk</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107 | Build it for real | 2:31–2:31:30 (0.5 min)</a:t>
            </a:r>
          </a:p>
          <a:p xmlns:a="http://schemas.openxmlformats.org/drawingml/2006/main">
            <a:r>
              <a:t/>
            </a:r>
          </a:p>
          <a:p xmlns:a="http://schemas.openxmlformats.org/drawingml/2006/main">
            <a:r>
              <a:t>SAY</a:t>
            </a:r>
          </a:p>
          <a:p xmlns:a="http://schemas.openxmlformats.org/drawingml/2006/main">
            <a:r>
              <a:t>Our interface is the front door. The local server reads the visitor’s selected client records and packages them with the question. It starts Claude Code, sends that context, checks the returned result, and displays the answer. The app supplies the recent conversation again on each turn. Print mode is not secretly remembering the whole CRM or the earlier chat. In this implementation, each client has a separate conversation in page memory and reloading clears it. The bridge uses JSON output so it can detect a result or an error before showing text.</a:t>
            </a:r>
          </a:p>
          <a:p xmlns:a="http://schemas.openxmlformats.org/drawingml/2006/main">
            <a:r>
              <a:t/>
            </a:r>
          </a:p>
          <a:p xmlns:a="http://schemas.openxmlformats.org/drawingml/2006/main">
            <a:r>
              <a:t>ON SCREEN</a:t>
            </a:r>
          </a:p>
          <a:p xmlns:a="http://schemas.openxmlformats.org/drawingml/2006/main">
            <a:r>
              <a:t>Show Ask Claude in the local app. Then point to app/api/chat/route.ts, lib/chat.ts, and lib/claude-local.ts in the real build without reading the code line by line.</a:t>
            </a:r>
          </a:p>
          <a:p xmlns:a="http://schemas.openxmlformats.org/drawingml/2006/main">
            <a:r>
              <a:t/>
            </a:r>
          </a:p>
          <a:p xmlns:a="http://schemas.openxmlformats.org/drawingml/2006/main">
            <a:r>
              <a:t>CHECK BEFORE CONTINUING</a:t>
            </a:r>
          </a:p>
          <a:p xmlns:a="http://schemas.openxmlformats.org/drawingml/2006/main">
            <a:r>
              <a:t>The visible client matches the context selector and the reply is a draft, not a saved task.</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Ask Claude to build the bridge</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108 | Build it for real | 2:31:30–2:32:30 (1 min)</a:t>
            </a:r>
          </a:p>
          <a:p xmlns:a="http://schemas.openxmlformats.org/drawingml/2006/main">
            <a:r>
              <a:t/>
            </a:r>
          </a:p>
          <a:p xmlns:a="http://schemas.openxmlformats.org/drawingml/2006/main">
            <a:r>
              <a:t>SAY</a:t>
            </a:r>
          </a:p>
          <a:p xmlns:a="http://schemas.openxmlformats.org/drawingml/2006/main">
            <a:r>
              <a:t>This is the implementation request I would give Claude after reviewing the plan. It describes the job in plain English and makes the important decisions explicit. The model should not be able to wander through the project or save a suggested follow-up. We ask for cancellation and failure behavior because real requests can be slow or fail. The source files in our walkthrough are the completed example of this request, including result validation and tests. We are explaining an implementation that exists, not pretending we built the entire bridge in a one-minute live typing exercise. This is the local milestone. The following Railway steps implement the hosted version.</a:t>
            </a:r>
          </a:p>
          <a:p xmlns:a="http://schemas.openxmlformats.org/drawingml/2006/main">
            <a:r>
              <a:t/>
            </a:r>
          </a:p>
          <a:p xmlns:a="http://schemas.openxmlformats.org/drawingml/2006/main">
            <a:r>
              <a:t>ON SCREEN</a:t>
            </a:r>
          </a:p>
          <a:p xmlns:a="http://schemas.openxmlformats.org/drawingml/2006/main">
            <a:r>
              <a:t>Show the exact request, then the completed local bridge files and tests/chat.test.ts. Use the prepared implementation during this short demonstration.</a:t>
            </a:r>
          </a:p>
          <a:p xmlns:a="http://schemas.openxmlformats.org/drawingml/2006/main">
            <a:r>
              <a:t/>
            </a:r>
          </a:p>
          <a:p xmlns:a="http://schemas.openxmlformats.org/drawingml/2006/main">
            <a:r>
              <a:t>EXACT PROMPT</a:t>
            </a:r>
          </a:p>
          <a:p xmlns:a="http://schemas.openxmlformats.org/drawingml/2006/main">
            <a:r>
              <a:t>First add a local Ask Claude panel for the selected client. Use the signed-in Claude Code CLI in print mode. Send only that client’s evidence and recent chat. Return a sourced answer with no tools or writes. Include Stop, errors and a timeout. Enable it only on localhost.</a:t>
            </a:r>
          </a:p>
          <a:p xmlns:a="http://schemas.openxmlformats.org/drawingml/2006/main">
            <a:r>
              <a:t/>
            </a:r>
          </a:p>
          <a:p xmlns:a="http://schemas.openxmlformats.org/drawingml/2006/main">
            <a:r>
              <a:t>WHY THIS PROMPT</a:t>
            </a:r>
          </a:p>
          <a:p xmlns:a="http://schemas.openxmlformats.org/drawingml/2006/main">
            <a:r>
              <a:t>Context: limits the request to one client.</a:t>
            </a:r>
          </a:p>
          <a:p xmlns:a="http://schemas.openxmlformats.org/drawingml/2006/main">
            <a:r>
              <a:t>Behavior: names the result and the failure states.</a:t>
            </a:r>
          </a:p>
          <a:p xmlns:a="http://schemas.openxmlformats.org/drawingml/2006/main">
            <a:r>
              <a:t>Boundary: keeps the subscription bridge local.</a:t>
            </a:r>
          </a:p>
          <a:p xmlns:a="http://schemas.openxmlformats.org/drawingml/2006/main">
            <a:r>
              <a:t/>
            </a:r>
          </a:p>
          <a:p xmlns:a="http://schemas.openxmlformats.org/drawingml/2006/main">
            <a:r>
              <a:t>CHECK BEFORE CONTINUING</a:t>
            </a:r>
          </a:p>
          <a:p xmlns:a="http://schemas.openxmlformats.org/drawingml/2006/main">
            <a:r>
              <a:t>One client’s evidence goes in; a sourced answer or a useful error comes back.</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Headless does not mean read-only</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109 | Build it for real | 2:32:30–2:33 (0.5 min)</a:t>
            </a:r>
          </a:p>
          <a:p xmlns:a="http://schemas.openxmlformats.org/drawingml/2006/main">
            <a:r>
              <a:t/>
            </a:r>
          </a:p>
          <a:p xmlns:a="http://schemas.openxmlformats.org/drawingml/2006/main">
            <a:r>
              <a:t>SAY</a:t>
            </a:r>
          </a:p>
          <a:p xmlns:a="http://schemas.openxmlformats.org/drawingml/2006/main">
            <a:r>
              <a:t>This distinction is essential. Print mode can power an agent that takes actions, but we have chosen a narrower job. Our server starts it in a temporary empty folder with safe mode, no built-in tools, an empty strict MCP configuration, and no session persistence. The server also checks the local origin and current visitor’s workspace. These are implementation choices, not promises made by dash p. The app sends bounded evidence and recent messages each time. The full invocation is documented in LOCAL-CLAUDE-CHAT.md; learners do not need to memorize every flag.</a:t>
            </a:r>
          </a:p>
          <a:p xmlns:a="http://schemas.openxmlformats.org/drawingml/2006/main">
            <a:r>
              <a:t/>
            </a:r>
          </a:p>
          <a:p xmlns:a="http://schemas.openxmlformats.org/drawingml/2006/main">
            <a:r>
              <a:t>ON SCREEN</a:t>
            </a:r>
          </a:p>
          <a:p xmlns:a="http://schemas.openxmlformats.org/drawingml/2006/main">
            <a:r>
              <a:t>Show the guardrails section of LOCAL-CLAUDE-CHAT.md and the command argument list in lib/claude-local.ts. Point out --tools "" and --output-format json.</a:t>
            </a:r>
          </a:p>
          <a:p xmlns:a="http://schemas.openxmlformats.org/drawingml/2006/main">
            <a:r>
              <a:t/>
            </a:r>
          </a:p>
          <a:p xmlns:a="http://schemas.openxmlformats.org/drawingml/2006/main">
            <a:r>
              <a:t>CHECK BEFORE CONTINUING</a:t>
            </a:r>
          </a:p>
          <a:p xmlns:a="http://schemas.openxmlformats.org/drawingml/2006/main">
            <a:r>
              <a:t>Learners can name which part prevents writes: the configured tool boundary and app flow, not -p.</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Included usage still counts</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110 | Build it for real | 2:33–2:33:30 (0.5 min)</a:t>
            </a:r>
          </a:p>
          <a:p xmlns:a="http://schemas.openxmlformats.org/drawingml/2006/main">
            <a:r>
              <a:t/>
            </a:r>
          </a:p>
          <a:p xmlns:a="http://schemas.openxmlformats.org/drawingml/2006/main">
            <a:r>
              <a:t>SAY</a:t>
            </a:r>
          </a:p>
          <a:p xmlns:a="http://schemas.openxmlformats.org/drawingml/2006/main">
            <a:r>
              <a:t>Our implementation uses a subscription login and excludes API-key fallback. Requests still consume the connected account’s allowance. Paid extra usage settings may affect charges; hosting has its own costs. Inspect the current account settings privately before class. Headless describes how the program runs, not how it is billed.</a:t>
            </a:r>
          </a:p>
          <a:p xmlns:a="http://schemas.openxmlformats.org/drawingml/2006/main">
            <a:r>
              <a:t/>
            </a:r>
          </a:p>
          <a:p xmlns:a="http://schemas.openxmlformats.org/drawingml/2006/main">
            <a:r>
              <a:t>ON SCREEN</a:t>
            </a:r>
          </a:p>
          <a:p xmlns:a="http://schemas.openxmlformats.org/drawingml/2006/main">
            <a:r>
              <a:t>Explain the distinction using this slide. Before class, privately inspect login and usage; do not display credentials or account billing details to learners.</a:t>
            </a:r>
          </a:p>
          <a:p xmlns:a="http://schemas.openxmlformats.org/drawingml/2006/main">
            <a:r>
              <a:t/>
            </a:r>
          </a:p>
          <a:p xmlns:a="http://schemas.openxmlformats.org/drawingml/2006/main">
            <a:r>
              <a:t>CHECK BEFORE CONTINUING</a:t>
            </a:r>
          </a:p>
          <a:p xmlns:a="http://schemas.openxmlformats.org/drawingml/2006/main">
            <a:r>
              <a:t>The class understands “uses my plan allowance” rather than “no tokens or possible charges.”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same chat, on two computers</a:t>
            </a:r>
          </a:p>
          <a:p xmlns:a="http://schemas.openxmlformats.org/drawingml/2006/main">
            <a:r>
              <a:t/>
            </a:r>
          </a:p>
          <a:p xmlns:a="http://schemas.openxmlformats.org/drawingml/2006/main">
            <a:r>
              <a:t>SOURCES / CONTEXT</a:t>
            </a:r>
          </a:p>
          <a:p xmlns:a="http://schemas.openxmlformats.org/drawingml/2006/main">
            <a:r>
              <a:t>https://code.claude.com/docs/en/headless</a:t>
            </a:r>
          </a:p>
          <a:p xmlns:a="http://schemas.openxmlformats.org/drawingml/2006/main">
            <a:r>
              <a:t>https://support.claude.com/en/articles/15036540-use-the-claude-agent-sdk-with-your-claude-plan</a:t>
            </a:r>
          </a:p>
          <a:p xmlns:a="http://schemas.openxmlformats.org/drawingml/2006/main">
            <a:r>
              <a:t>https://support.claude.com/en/articles/12304248-manage-api-key-environment-variables-in-claude-code</a:t>
            </a:r>
          </a:p>
          <a:p xmlns:a="http://schemas.openxmlformats.org/drawingml/2006/main">
            <a:r>
              <a:t>Walkthrough Assets/05-deployment/LOCAL-CLAUDE-CHAT.md</a:t>
            </a:r>
          </a:p>
          <a:p xmlns:a="http://schemas.openxmlformats.org/drawingml/2006/main">
            <a:r>
              <a:t>Walkthrough Assets/03-build/clientdesk/lib/claude-local.ts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111 | Build it for real | 2:33:30–2:34 (0.5 min)</a:t>
            </a:r>
          </a:p>
          <a:p xmlns:a="http://schemas.openxmlformats.org/drawingml/2006/main">
            <a:r>
              <a:t/>
            </a:r>
          </a:p>
          <a:p xmlns:a="http://schemas.openxmlformats.org/drawingml/2006/main">
            <a:r>
              <a:t>SAY</a:t>
            </a:r>
          </a:p>
          <a:p xmlns:a="http://schemas.openxmlformats.org/drawingml/2006/main">
            <a:r>
              <a:t>The hosted app cannot start a program on your laptop. Railway provides a separate server where our Claude worker runs. The visitor still opens the Vercel app. We now configure that second deployment and test the complete path.</a:t>
            </a:r>
          </a:p>
          <a:p xmlns:a="http://schemas.openxmlformats.org/drawingml/2006/main">
            <a:r>
              <a:t/>
            </a:r>
          </a:p>
          <a:p xmlns:a="http://schemas.openxmlformats.org/drawingml/2006/main">
            <a:r>
              <a:t>ON SCREEN</a:t>
            </a:r>
          </a:p>
          <a:p xmlns:a="http://schemas.openxmlformats.org/drawingml/2006/main">
            <a:r>
              <a:t>Open the live reference at clientdesk-course.vercel.app and identify the Ask Claude panel. Then return to your own deployment setup.</a:t>
            </a:r>
          </a:p>
          <a:p xmlns:a="http://schemas.openxmlformats.org/drawingml/2006/main">
            <a:r>
              <a:t/>
            </a:r>
          </a:p>
          <a:p xmlns:a="http://schemas.openxmlformats.org/drawingml/2006/main">
            <a:r>
              <a:t>CHECK BEFORE CONTINUING</a:t>
            </a:r>
          </a:p>
          <a:p xmlns:a="http://schemas.openxmlformats.org/drawingml/2006/main">
            <a:r>
              <a:t>Learners distinguish the public app URL from the private worker endpoint.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What the chat knows about a client</a:t>
            </a:r>
          </a:p>
          <a:p xmlns:a="http://schemas.openxmlformats.org/drawingml/2006/main">
            <a:r>
              <a:t/>
            </a:r>
          </a:p>
          <a:p xmlns:a="http://schemas.openxmlformats.org/drawingml/2006/main">
            <a:r>
              <a:t>SOURCES / CONTEXT</a:t>
            </a:r>
          </a:p>
          <a:p xmlns:a="http://schemas.openxmlformats.org/drawingml/2006/main">
            <a:r>
              <a:t>Walkthrough Assets/05-deployment/HOSTED-CLAUDE-CHAT.md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112 | Build it for real | 2:34–2:35 (1 min)</a:t>
            </a:r>
          </a:p>
          <a:p xmlns:a="http://schemas.openxmlformats.org/drawingml/2006/main">
            <a:r>
              <a:t/>
            </a:r>
          </a:p>
          <a:p xmlns:a="http://schemas.openxmlformats.org/drawingml/2006/main">
            <a:r>
              <a:t>SAY</a:t>
            </a:r>
          </a:p>
          <a:p xmlns:a="http://schemas.openxmlformats.org/drawingml/2006/main">
            <a:r>
              <a:t>The app loads the current authenticated workspace before each turn. It selects this client and sends a bounded packet. Meeting summaries and transcripts are capped at 3,000 characters each; the last six conversation messages provide recent context. Claude is not directly browsing the database. Ask it to acknowledge missing or shortened information. A saved task deadline is not proof the meeting agreed that deadline.</a:t>
            </a:r>
          </a:p>
          <a:p xmlns:a="http://schemas.openxmlformats.org/drawingml/2006/main">
            <a:r>
              <a:t/>
            </a:r>
          </a:p>
          <a:p xmlns:a="http://schemas.openxmlformats.org/drawingml/2006/main">
            <a:r>
              <a:t>ON SCREEN</a:t>
            </a:r>
          </a:p>
          <a:p xmlns:a="http://schemas.openxmlformats.org/drawingml/2006/main">
            <a:r>
              <a:t>Open lib/chat.ts and point to the selected-client context builder. Compare one response with the original meeting.</a:t>
            </a:r>
          </a:p>
          <a:p xmlns:a="http://schemas.openxmlformats.org/drawingml/2006/main">
            <a:r>
              <a:t/>
            </a:r>
          </a:p>
          <a:p xmlns:a="http://schemas.openxmlformats.org/drawingml/2006/main">
            <a:r>
              <a:t>CHECK BEFORE CONTINUING</a:t>
            </a:r>
          </a:p>
          <a:p xmlns:a="http://schemas.openxmlformats.org/drawingml/2006/main">
            <a:r>
              <a:t>Learners can explain where an answer’s evidence comes from.</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Build the hosted Claude worker</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113 | Build it for real | 2:35–2:36 (1 min)</a:t>
            </a:r>
          </a:p>
          <a:p xmlns:a="http://schemas.openxmlformats.org/drawingml/2006/main">
            <a:r>
              <a:t/>
            </a:r>
          </a:p>
          <a:p xmlns:a="http://schemas.openxmlformats.org/drawingml/2006/main">
            <a:r>
              <a:t>SAY</a:t>
            </a:r>
          </a:p>
          <a:p xmlns:a="http://schemas.openxmlformats.org/drawingml/2006/main">
            <a:r>
              <a:t>A worker is a server program that handles the chat request. Docker describes the environment it needs: Node, certificates and Claude Code. Our reference pins Claude Code 2.1.263. Its child process has isolated settings, no tools or MCP and no API fallback. Send evidence through the program input, not by constructing a shell command from user text.</a:t>
            </a:r>
          </a:p>
          <a:p xmlns:a="http://schemas.openxmlformats.org/drawingml/2006/main">
            <a:r>
              <a:t/>
            </a:r>
          </a:p>
          <a:p xmlns:a="http://schemas.openxmlformats.org/drawingml/2006/main">
            <a:r>
              <a:t>ON SCREEN</a:t>
            </a:r>
          </a:p>
          <a:p xmlns:a="http://schemas.openxmlformats.org/drawingml/2006/main">
            <a:r>
              <a:t>Open the worker Dockerfile, src/claude.ts, src/server.ts and src/guard.ts. Compare with 05-deployment/HOSTED-CLAUDE-CHAT.md.</a:t>
            </a:r>
          </a:p>
          <a:p xmlns:a="http://schemas.openxmlformats.org/drawingml/2006/main">
            <a:r>
              <a:t/>
            </a:r>
          </a:p>
          <a:p xmlns:a="http://schemas.openxmlformats.org/drawingml/2006/main">
            <a:r>
              <a:t>EXACT PROMPT</a:t>
            </a:r>
          </a:p>
          <a:p xmlns:a="http://schemas.openxmlformats.org/drawingml/2006/main">
            <a:r>
              <a:t>Create 03-build/clientdesk-chat from the hosted chat guide. Install the pinned Claude Code version in its Docker image. Accept authenticated requests, run Claude with the supplied client evidence and no tools, and return a validated answer. Add Stop, timeouts and request limits.</a:t>
            </a:r>
          </a:p>
          <a:p xmlns:a="http://schemas.openxmlformats.org/drawingml/2006/main">
            <a:r>
              <a:t/>
            </a:r>
          </a:p>
          <a:p xmlns:a="http://schemas.openxmlformats.org/drawingml/2006/main">
            <a:r>
              <a:t>WHY THIS PROMPT</a:t>
            </a:r>
          </a:p>
          <a:p xmlns:a="http://schemas.openxmlformats.org/drawingml/2006/main">
            <a:r>
              <a:t>Separation: keeps Claude in its own service.</a:t>
            </a:r>
          </a:p>
          <a:p xmlns:a="http://schemas.openxmlformats.org/drawingml/2006/main">
            <a:r>
              <a:t>Behavior: defines success and failure.</a:t>
            </a:r>
          </a:p>
          <a:p xmlns:a="http://schemas.openxmlformats.org/drawingml/2006/main">
            <a:r>
              <a:t/>
            </a:r>
          </a:p>
          <a:p xmlns:a="http://schemas.openxmlformats.org/drawingml/2006/main">
            <a:r>
              <a:t>CHECK BEFORE CONTINUING</a:t>
            </a:r>
          </a:p>
          <a:p xmlns:a="http://schemas.openxmlformats.org/drawingml/2006/main">
            <a:r>
              <a:t>Worker tests and type checks pass; the restricted request is inspected.</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Give the worker a home on Railway</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114 | Build it for real | 2:36–2:37 (1 min)</a:t>
            </a:r>
          </a:p>
          <a:p xmlns:a="http://schemas.openxmlformats.org/drawingml/2006/main">
            <a:r>
              <a:t/>
            </a:r>
          </a:p>
          <a:p xmlns:a="http://schemas.openxmlformats.org/drawingml/2006/main">
            <a:r>
              <a:t>SAY</a:t>
            </a:r>
          </a:p>
          <a:p xmlns:a="http://schemas.openxmlformats.org/drawingml/2006/main">
            <a:r>
              <a:t>A volume is storage that survives a replacement of the running container. Our worker uses it for dedicated sign-in and quota counters. The service token is for Vercel to call Railway. The course code is entered by an approved visitor. Do not use one value for both.</a:t>
            </a:r>
          </a:p>
          <a:p xmlns:a="http://schemas.openxmlformats.org/drawingml/2006/main">
            <a:r>
              <a:t/>
            </a:r>
          </a:p>
          <a:p xmlns:a="http://schemas.openxmlformats.org/drawingml/2006/main">
            <a:r>
              <a:t>ON SCREEN</a:t>
            </a:r>
          </a:p>
          <a:p xmlns:a="http://schemas.openxmlformats.org/drawingml/2006/main">
            <a:r>
              <a:t>In Railway create a project and service from your repository, select the worker root, attach the volume and set the variables. Record your own service URL.</a:t>
            </a:r>
          </a:p>
          <a:p xmlns:a="http://schemas.openxmlformats.org/drawingml/2006/main">
            <a:r>
              <a:t/>
            </a:r>
          </a:p>
          <a:p xmlns:a="http://schemas.openxmlformats.org/drawingml/2006/main">
            <a:r>
              <a:t>EXACT PROMPT</a:t>
            </a:r>
          </a:p>
          <a:p xmlns:a="http://schemas.openxmlformats.org/drawingml/2006/main">
            <a:r>
              <a:t>Help me create a dedicated Railway service from 03-build/clientdesk-chat. Use its Dockerfile, add a persistent volume mounted at /data, and generate a service domain. Configure CHAT_SERVICE_TOKEN and CHAT_ACCESS_CODE with separate private values.</a:t>
            </a:r>
          </a:p>
          <a:p xmlns:a="http://schemas.openxmlformats.org/drawingml/2006/main">
            <a:r>
              <a:t/>
            </a:r>
          </a:p>
          <a:p xmlns:a="http://schemas.openxmlformats.org/drawingml/2006/main">
            <a:r>
              <a:t>WHY THIS PROMPT</a:t>
            </a:r>
          </a:p>
          <a:p xmlns:a="http://schemas.openxmlformats.org/drawingml/2006/main">
            <a:r>
              <a:t>Volume: preserves login and usage counters.</a:t>
            </a:r>
          </a:p>
          <a:p xmlns:a="http://schemas.openxmlformats.org/drawingml/2006/main">
            <a:r>
              <a:t>Separation: uses two different access credentials.</a:t>
            </a:r>
          </a:p>
          <a:p xmlns:a="http://schemas.openxmlformats.org/drawingml/2006/main">
            <a:r>
              <a:t/>
            </a:r>
          </a:p>
          <a:p xmlns:a="http://schemas.openxmlformats.org/drawingml/2006/main">
            <a:r>
              <a:t>CHECK BEFORE CONTINUING</a:t>
            </a:r>
          </a:p>
          <a:p xmlns:a="http://schemas.openxmlformats.org/drawingml/2006/main">
            <a:r>
              <a:t>The service is running with /data mounted and its private settings present.</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Sign Claude in on the Railway server</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115 | Build it for real | 2:37–2:38 (1 min)</a:t>
            </a:r>
          </a:p>
          <a:p xmlns:a="http://schemas.openxmlformats.org/drawingml/2006/main">
            <a:r>
              <a:t/>
            </a:r>
          </a:p>
          <a:p xmlns:a="http://schemas.openxmlformats.org/drawingml/2006/main">
            <a:r>
              <a:t>SAY</a:t>
            </a:r>
          </a:p>
          <a:p xmlns:a="http://schemas.openxmlformats.org/drawingml/2006/main">
            <a:r>
              <a:t>Signing into Claude on your laptop does not sign in the Railway computer. The helper writes the dedicated subscription credentials directly to its persistent volume. Keep secrets out of terminal logs and course assets. If authorization expires, repeat the helper. A health response alone is not proof Claude can answer.</a:t>
            </a:r>
          </a:p>
          <a:p xmlns:a="http://schemas.openxmlformats.org/drawingml/2006/main">
            <a:r>
              <a:t/>
            </a:r>
          </a:p>
          <a:p xmlns:a="http://schemas.openxmlformats.org/drawingml/2006/main">
            <a:r>
              <a:t>ON SCREEN</a:t>
            </a:r>
          </a:p>
          <a:p xmlns:a="http://schemas.openxmlformats.org/drawingml/2006/main">
            <a:r>
              <a:t>Ask Claude to install the Railway CLI, sign in and link the worker folder to the intended service. Verify with railway status. Then run railway ssh node scripts/login.mjs and complete its browser authorization.</a:t>
            </a:r>
          </a:p>
          <a:p xmlns:a="http://schemas.openxmlformats.org/drawingml/2006/main">
            <a:r>
              <a:t/>
            </a:r>
          </a:p>
          <a:p xmlns:a="http://schemas.openxmlformats.org/drawingml/2006/main">
            <a:r>
              <a:t>EXACT PROMPT</a:t>
            </a:r>
          </a:p>
          <a:p xmlns:a="http://schemas.openxmlformats.org/drawingml/2006/main">
            <a:r>
              <a:t>Guide me through signing the Railway worker into the intended Claude subscription. Use the supplied login helper and keep credentials on the /data volume. Verify a real answer, then redeploy the worker and verify sign-in still works.</a:t>
            </a:r>
          </a:p>
          <a:p xmlns:a="http://schemas.openxmlformats.org/drawingml/2006/main">
            <a:r>
              <a:t/>
            </a:r>
          </a:p>
          <a:p xmlns:a="http://schemas.openxmlformats.org/drawingml/2006/main">
            <a:r>
              <a:t>WHY THIS PROMPT</a:t>
            </a:r>
          </a:p>
          <a:p xmlns:a="http://schemas.openxmlformats.org/drawingml/2006/main">
            <a:r>
              <a:t>Location: signs in where Claude actually runs.</a:t>
            </a:r>
          </a:p>
          <a:p xmlns:a="http://schemas.openxmlformats.org/drawingml/2006/main">
            <a:r>
              <a:t>Persistence: tests a fresh deployment.</a:t>
            </a:r>
          </a:p>
          <a:p xmlns:a="http://schemas.openxmlformats.org/drawingml/2006/main">
            <a:r>
              <a:t/>
            </a:r>
          </a:p>
          <a:p xmlns:a="http://schemas.openxmlformats.org/drawingml/2006/main">
            <a:r>
              <a:t>CHECK BEFORE CONTINUING</a:t>
            </a:r>
          </a:p>
          <a:p xmlns:a="http://schemas.openxmlformats.org/drawingml/2006/main">
            <a:r>
              <a:t>A real sourced answer works before and after worker redeployment.</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Connect Vercel to the chat worker</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116 | Build it for real | 2:38–2:39 (1 min)</a:t>
            </a:r>
          </a:p>
          <a:p xmlns:a="http://schemas.openxmlformats.org/drawingml/2006/main">
            <a:r>
              <a:t/>
            </a:r>
          </a:p>
          <a:p xmlns:a="http://schemas.openxmlformats.org/drawingml/2006/main">
            <a:r>
              <a:t>SAY</a:t>
            </a:r>
          </a:p>
          <a:p xmlns:a="http://schemas.openxmlformats.org/drawingml/2006/main">
            <a:r>
              <a:t>These variables belong in Vercel server settings. The origin is the exact scheme and host without a page path or trailing slash. A preview URL needs its own matching configuration. Set the variables for the environment being deployed, then redeploy. The app chooses hosted chat when this configuration is present. Railway never needs Supabase credentials.</a:t>
            </a:r>
          </a:p>
          <a:p xmlns:a="http://schemas.openxmlformats.org/drawingml/2006/main">
            <a:r>
              <a:t/>
            </a:r>
          </a:p>
          <a:p xmlns:a="http://schemas.openxmlformats.org/drawingml/2006/main">
            <a:r>
              <a:t>ON SCREEN</a:t>
            </a:r>
          </a:p>
          <a:p xmlns:a="http://schemas.openxmlformats.org/drawingml/2006/main">
            <a:r>
              <a:t>Enter the three settings privately in Vercel, redeploy the app and open its actual URL.</a:t>
            </a:r>
          </a:p>
          <a:p xmlns:a="http://schemas.openxmlformats.org/drawingml/2006/main">
            <a:r>
              <a:t/>
            </a:r>
          </a:p>
          <a:p xmlns:a="http://schemas.openxmlformats.org/drawingml/2006/main">
            <a:r>
              <a:t>CHECK BEFORE CONTINUING</a:t>
            </a:r>
          </a:p>
          <a:p xmlns:a="http://schemas.openxmlformats.org/drawingml/2006/main">
            <a:r>
              <a:t>The hosted Ask Claude panel accepts the course code and reaches the worker.</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Prove the full hosted conversation</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117 | Build it for real | 2:39–2:40 (1 min)</a:t>
            </a:r>
          </a:p>
          <a:p xmlns:a="http://schemas.openxmlformats.org/drawingml/2006/main">
            <a:r>
              <a:t/>
            </a:r>
          </a:p>
          <a:p xmlns:a="http://schemas.openxmlformats.org/drawingml/2006/main">
            <a:r>
              <a:t>SAY</a:t>
            </a:r>
          </a:p>
          <a:p xmlns:a="http://schemas.openxmlformats.org/drawingml/2006/main">
            <a:r>
              <a:t>This is the acceptance test for the whole system. A successful deploy is not the same as a useful app. Inspect the answer’s facts, source and uncertainty. Confirm a task suggestion is not silently saved. Save records live in Supabase; the conversation is held in page memory and resets when the page is reloaded.</a:t>
            </a:r>
          </a:p>
          <a:p xmlns:a="http://schemas.openxmlformats.org/drawingml/2006/main">
            <a:r>
              <a:t/>
            </a:r>
          </a:p>
          <a:p xmlns:a="http://schemas.openxmlformats.org/drawingml/2006/main">
            <a:r>
              <a:t>ON SCREEN</a:t>
            </a:r>
          </a:p>
          <a:p xmlns:a="http://schemas.openxmlformats.org/drawingml/2006/main">
            <a:r>
              <a:t>Open your deployed app in a fresh browser workspace. Use fictional sample data. Enter the private course code only in the chat panel.</a:t>
            </a:r>
          </a:p>
          <a:p xmlns:a="http://schemas.openxmlformats.org/drawingml/2006/main">
            <a:r>
              <a:t/>
            </a:r>
          </a:p>
          <a:p xmlns:a="http://schemas.openxmlformats.org/drawingml/2006/main">
            <a:r>
              <a:t>EXACT PROMPT</a:t>
            </a:r>
          </a:p>
          <a:p xmlns:a="http://schemas.openxmlformats.org/drawingml/2006/main">
            <a:r>
              <a:t>At my Vercel URL, ask what Maya requested and require the meeting source ID. Switch to Atlas and check the missing-meeting response. Test a wrong course code, Stop, a retry and phone width. Save a reviewed task separately and reload it. Record each result.</a:t>
            </a:r>
          </a:p>
          <a:p xmlns:a="http://schemas.openxmlformats.org/drawingml/2006/main">
            <a:r>
              <a:t/>
            </a:r>
          </a:p>
          <a:p xmlns:a="http://schemas.openxmlformats.org/drawingml/2006/main">
            <a:r>
              <a:t>WHY THIS PROMPT</a:t>
            </a:r>
          </a:p>
          <a:p xmlns:a="http://schemas.openxmlformats.org/drawingml/2006/main">
            <a:r>
              <a:t>End to end: tests the deployed services together.</a:t>
            </a:r>
          </a:p>
          <a:p xmlns:a="http://schemas.openxmlformats.org/drawingml/2006/main">
            <a:r>
              <a:t>Contrast: checks evidence and missing evidence.</a:t>
            </a:r>
          </a:p>
          <a:p xmlns:a="http://schemas.openxmlformats.org/drawingml/2006/main">
            <a:r>
              <a:t/>
            </a:r>
          </a:p>
          <a:p xmlns:a="http://schemas.openxmlformats.org/drawingml/2006/main">
            <a:r>
              <a:t>CHECK BEFORE CONTINUING</a:t>
            </a:r>
          </a:p>
          <a:p xmlns:a="http://schemas.openxmlformats.org/drawingml/2006/main">
            <a:r>
              <a:t>Northstar cites demo-transcript-001; Atlas has no invented meeting; task save remains separate.</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If the hosted path fails, locate the break</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118 | Build it for real | 2:40–2:41 (1 min)</a:t>
            </a:r>
          </a:p>
          <a:p xmlns:a="http://schemas.openxmlformats.org/drawingml/2006/main">
            <a:r>
              <a:t/>
            </a:r>
          </a:p>
          <a:p xmlns:a="http://schemas.openxmlformats.org/drawingml/2006/main">
            <a:r>
              <a:t>SAY</a:t>
            </a:r>
          </a:p>
          <a:p xmlns:a="http://schemas.openxmlformats.org/drawingml/2006/main">
            <a:r>
              <a:t>Troubleshoot one boundary at a time. Do not keep rewriting the user’s prompt when the service cannot authenticate. Logs should reveal status and error categories without printing private credentials, meeting text or chat answers. END-TO-END.md has a longer recovery checklist.</a:t>
            </a:r>
          </a:p>
          <a:p xmlns:a="http://schemas.openxmlformats.org/drawingml/2006/main">
            <a:r>
              <a:t/>
            </a:r>
          </a:p>
          <a:p xmlns:a="http://schemas.openxmlformats.org/drawingml/2006/main">
            <a:r>
              <a:t>ON SCREEN</a:t>
            </a:r>
          </a:p>
          <a:p xmlns:a="http://schemas.openxmlformats.org/drawingml/2006/main">
            <a:r>
              <a:t>Identify the symptom and open only the relevant configuration or log. Retest the same failed request after the correction.</a:t>
            </a:r>
          </a:p>
          <a:p xmlns:a="http://schemas.openxmlformats.org/drawingml/2006/main">
            <a:r>
              <a:t/>
            </a:r>
          </a:p>
          <a:p xmlns:a="http://schemas.openxmlformats.org/drawingml/2006/main">
            <a:r>
              <a:t>CHECK BEFORE CONTINUING</a:t>
            </a:r>
          </a:p>
          <a:p xmlns:a="http://schemas.openxmlformats.org/drawingml/2006/main">
            <a:r>
              <a:t>Learners can choose a likely failing component and a concrete next check.</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Build Q&amp;A + reset</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119 | Build it for real | 2:41–2:44:30 (3.5 min)</a:t>
            </a:r>
          </a:p>
          <a:p xmlns:a="http://schemas.openxmlformats.org/drawingml/2006/main">
            <a:r>
              <a:t/>
            </a:r>
          </a:p>
          <a:p xmlns:a="http://schemas.openxmlformats.org/drawingml/2006/main">
            <a:r>
              <a:t>SAY</a:t>
            </a:r>
          </a:p>
          <a:p xmlns:a="http://schemas.openxmlformats.org/drawingml/2006/main">
            <a:r>
              <a:t>The build has a useful journey, a connection boundary, and an explicit test record. Now we isolate the recurring work and turn it into a skill. That skill should help another person perform the task without inheriting our whole conversation.</a:t>
            </a:r>
          </a:p>
          <a:p xmlns:a="http://schemas.openxmlformats.org/drawingml/2006/main">
            <a:r>
              <a:t/>
            </a:r>
          </a:p>
          <a:p xmlns:a="http://schemas.openxmlformats.org/drawingml/2006/main">
            <a:r>
              <a:t>ON SCREEN</a:t>
            </a:r>
          </a:p>
          <a:p xmlns:a="http://schemas.openxmlformats.org/drawingml/2006/main">
            <a:r>
              <a:t>Take one build question. Keep the app and the project open for the skills section.</a:t>
            </a:r>
          </a:p>
          <a:p xmlns:a="http://schemas.openxmlformats.org/drawingml/2006/main">
            <a:r>
              <a:t/>
            </a:r>
          </a:p>
          <a:p xmlns:a="http://schemas.openxmlformats.org/drawingml/2006/main">
            <a:r>
              <a:t>CHECK BEFORE CONTINUING</a:t>
            </a:r>
          </a:p>
          <a:p xmlns:a="http://schemas.openxmlformats.org/drawingml/2006/main">
            <a:r>
              <a:t>Next: package the method someone else will repeat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skill anyone can run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120 | Create, iterate, and distribute skills | 2:44:30–2:45:30 (1 min)</a:t>
            </a:r>
          </a:p>
          <a:p xmlns:a="http://schemas.openxmlformats.org/drawingml/2006/main">
            <a:r>
              <a:t/>
            </a:r>
          </a:p>
          <a:p xmlns:a="http://schemas.openxmlformats.org/drawingml/2006/main">
            <a:r>
              <a:t>SAY</a:t>
            </a:r>
          </a:p>
          <a:p xmlns:a="http://schemas.openxmlformats.org/drawingml/2006/main">
            <a:r>
              <a:t>The app is the product. The skill is the method for recurring work around it. Our example prepares a client brief from known records and proposes a follow-up for review. It should explain itself in a fresh session.</a:t>
            </a:r>
          </a:p>
          <a:p xmlns:a="http://schemas.openxmlformats.org/drawingml/2006/main">
            <a:r>
              <a:t/>
            </a:r>
          </a:p>
          <a:p xmlns:a="http://schemas.openxmlformats.org/drawingml/2006/main">
            <a:r>
              <a:t>ON SCREEN</a:t>
            </a:r>
          </a:p>
          <a:p xmlns:a="http://schemas.openxmlformats.org/drawingml/2006/main">
            <a:r>
              <a:t>Open .claude/skills/client-brief/SKILL.md.</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Which work deserves a skill?</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121 | Create, iterate, and distribute skills | 2:45:30–2:46:30 (1 min)</a:t>
            </a:r>
          </a:p>
          <a:p xmlns:a="http://schemas.openxmlformats.org/drawingml/2006/main">
            <a:r>
              <a:t/>
            </a:r>
          </a:p>
          <a:p xmlns:a="http://schemas.openxmlformats.org/drawingml/2006/main">
            <a:r>
              <a:t>SAY</a:t>
            </a:r>
          </a:p>
          <a:p xmlns:a="http://schemas.openxmlformats.org/drawingml/2006/main">
            <a:r>
              <a:t>A skill is useful when a method recurs. It should remove repeated explanation while retaining the choices that require judgment. A one-off prompt may be enough when there is no recurring method to maintain.</a:t>
            </a:r>
          </a:p>
          <a:p xmlns:a="http://schemas.openxmlformats.org/drawingml/2006/main">
            <a:r>
              <a:t/>
            </a:r>
          </a:p>
          <a:p xmlns:a="http://schemas.openxmlformats.org/drawingml/2006/main">
            <a:r>
              <a:t>ON SCREEN</a:t>
            </a:r>
          </a:p>
          <a:p xmlns:a="http://schemas.openxmlformats.org/drawingml/2006/main">
            <a:r>
              <a:t>Ask what people repeated during the build. Choose preparing a client brief as the shared example.</a:t>
            </a:r>
          </a:p>
          <a:p xmlns:a="http://schemas.openxmlformats.org/drawingml/2006/main">
            <a:r>
              <a:t/>
            </a:r>
          </a:p>
          <a:p xmlns:a="http://schemas.openxmlformats.org/drawingml/2006/main">
            <a:r>
              <a:t>CHECK BEFORE CONTINUING</a:t>
            </a:r>
          </a:p>
          <a:p xmlns:a="http://schemas.openxmlformats.org/drawingml/2006/main">
            <a:r>
              <a:t>Northstar today. Cedar tomorrow.</a:t>
            </a:r>
          </a:p>
          <a:p xmlns:a="http://schemas.openxmlformats.org/drawingml/2006/main">
            <a:r>
              <a:t>The same brief structure.</a:t>
            </a:r>
          </a:p>
          <a:p xmlns:a="http://schemas.openxmlformats.org/drawingml/2006/main">
            <a:r>
              <a:t>A different client and meeting.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app and the skill</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122 | Create, iterate, and distribute skills | 2:46:30–2:47 (0.5 min)</a:t>
            </a:r>
          </a:p>
          <a:p xmlns:a="http://schemas.openxmlformats.org/drawingml/2006/main">
            <a:r>
              <a:t/>
            </a:r>
          </a:p>
          <a:p xmlns:a="http://schemas.openxmlformats.org/drawingml/2006/main">
            <a:r>
              <a:t>SAY</a:t>
            </a:r>
          </a:p>
          <a:p xmlns:a="http://schemas.openxmlformats.org/drawingml/2006/main">
            <a:r>
              <a:t>The skill does not become a second database or bypass the application contract. It reads through a defined interface, produces a clear result, and routes the proposed action to review. This separation lets us revise the method without rewriting the whole app.</a:t>
            </a:r>
          </a:p>
          <a:p xmlns:a="http://schemas.openxmlformats.org/drawingml/2006/main">
            <a:r>
              <a:t/>
            </a:r>
          </a:p>
          <a:p xmlns:a="http://schemas.openxmlformats.org/drawingml/2006/main">
            <a:r>
              <a:t>ON SCREEN</a:t>
            </a:r>
          </a:p>
          <a:p xmlns:a="http://schemas.openxmlformats.org/drawingml/2006/main">
            <a:r>
              <a:t>Trace the existing client page to the command or MCP tool the skill will use.</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skill creation prompt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123 | Create, iterate, and distribute skills | 2:47–2:48 (1 min)</a:t>
            </a:r>
          </a:p>
          <a:p xmlns:a="http://schemas.openxmlformats.org/drawingml/2006/main">
            <a:r>
              <a:t/>
            </a:r>
          </a:p>
          <a:p xmlns:a="http://schemas.openxmlformats.org/drawingml/2006/main">
            <a:r>
              <a:t>SAY</a:t>
            </a:r>
          </a:p>
          <a:p xmlns:a="http://schemas.openxmlformats.org/drawingml/2006/main">
            <a:r>
              <a:t>I create the skill after we understand the method. Otherwise we risk packaging our guesses. The app manages the workflow; the skill gives Claude a repeatable way to prepare the brief. Repeatability: packages the method we already tested. Inputs: makes client and date explicit.</a:t>
            </a:r>
          </a:p>
          <a:p xmlns:a="http://schemas.openxmlformats.org/drawingml/2006/main">
            <a:r>
              <a:t/>
            </a:r>
          </a:p>
          <a:p xmlns:a="http://schemas.openxmlformats.org/drawingml/2006/main">
            <a:r>
              <a:t>ON SCREEN</a:t>
            </a:r>
          </a:p>
          <a:p xmlns:a="http://schemas.openxmlformats.org/drawingml/2006/main">
            <a:r>
              <a:t>Open .claude/skills and paste the prompt into the project conversation.</a:t>
            </a:r>
          </a:p>
          <a:p xmlns:a="http://schemas.openxmlformats.org/drawingml/2006/main">
            <a:r>
              <a:t/>
            </a:r>
          </a:p>
          <a:p xmlns:a="http://schemas.openxmlformats.org/drawingml/2006/main">
            <a:r>
              <a:t>EXACT PROMPT</a:t>
            </a:r>
          </a:p>
          <a:p xmlns:a="http://schemas.openxmlformats.org/drawingml/2006/main">
            <a:r>
              <a:t>Turn our client-brief method into a project skill named client-brief. It should accept a client ID and brief date, read evidence, separate facts from proposals, and create a consistent brief. Include a template, an example, and meaningful failure cases. Do not save tasks or send messages.</a:t>
            </a:r>
          </a:p>
          <a:p xmlns:a="http://schemas.openxmlformats.org/drawingml/2006/main">
            <a:r>
              <a:t/>
            </a:r>
          </a:p>
          <a:p xmlns:a="http://schemas.openxmlformats.org/drawingml/2006/main">
            <a:r>
              <a:t>WHY THIS PROMPT</a:t>
            </a:r>
          </a:p>
          <a:p xmlns:a="http://schemas.openxmlformats.org/drawingml/2006/main">
            <a:r>
              <a:t>Repeatability: packages the method we already tested.</a:t>
            </a:r>
          </a:p>
          <a:p xmlns:a="http://schemas.openxmlformats.org/drawingml/2006/main">
            <a:r>
              <a:t>Inputs: makes client and date explicit.</a:t>
            </a:r>
          </a:p>
          <a:p xmlns:a="http://schemas.openxmlformats.org/drawingml/2006/main">
            <a:r>
              <a:t/>
            </a:r>
          </a:p>
          <a:p xmlns:a="http://schemas.openxmlformats.org/drawingml/2006/main">
            <a:r>
              <a:t>CHECK BEFORE CONTINUING</a:t>
            </a:r>
          </a:p>
          <a:p xmlns:a="http://schemas.openxmlformats.org/drawingml/2006/main">
            <a:r>
              <a:t>The skill folder contains an entry point and the promised supporting files.</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Name and argument hints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124 | Create, iterate, and distribute skills | 2:48–2:48:30 (0.5 min)</a:t>
            </a:r>
          </a:p>
          <a:p xmlns:a="http://schemas.openxmlformats.org/drawingml/2006/main">
            <a:r>
              <a:t/>
            </a:r>
          </a:p>
          <a:p xmlns:a="http://schemas.openxmlformats.org/drawingml/2006/main">
            <a:r>
              <a:t>SAY</a:t>
            </a:r>
          </a:p>
          <a:p xmlns:a="http://schemas.openxmlformats.org/drawingml/2006/main">
            <a:r>
              <a:t>A clear name tells a teammate what will happen. The description says when to use it. The argument hint helps autocomplete. Keep the project folder and name aligned to avoid confusion about the command. We will invoke this teaching skill manually.</a:t>
            </a:r>
          </a:p>
          <a:p xmlns:a="http://schemas.openxmlformats.org/drawingml/2006/main">
            <a:r>
              <a:t/>
            </a:r>
          </a:p>
          <a:p xmlns:a="http://schemas.openxmlformats.org/drawingml/2006/main">
            <a:r>
              <a:t>ON SCREEN</a:t>
            </a:r>
          </a:p>
          <a:p xmlns:a="http://schemas.openxmlformats.org/drawingml/2006/main">
            <a:r>
              <a:t>Type the command and show its hint. Point to the matching directory.</a:t>
            </a:r>
          </a:p>
          <a:p xmlns:a="http://schemas.openxmlformats.org/drawingml/2006/main">
            <a:r>
              <a:t/>
            </a:r>
          </a:p>
          <a:p xmlns:a="http://schemas.openxmlformats.org/drawingml/2006/main">
            <a:r>
              <a:t>CHECK BEFORE CONTINUING</a:t>
            </a:r>
          </a:p>
          <a:p xmlns:a="http://schemas.openxmlformats.org/drawingml/2006/main">
            <a:r>
              <a:t>The skill folder is client-brief; invoke /client-brief.</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Why the name and hints matter</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125 | Create, iterate, and distribute skills | 2:48:30–2:49 (0.5 min)</a:t>
            </a:r>
          </a:p>
          <a:p xmlns:a="http://schemas.openxmlformats.org/drawingml/2006/main">
            <a:r>
              <a:t/>
            </a:r>
          </a:p>
          <a:p xmlns:a="http://schemas.openxmlformats.org/drawingml/2006/main">
            <a:r>
              <a:t>SAY</a:t>
            </a:r>
          </a:p>
          <a:p xmlns:a="http://schemas.openxmlformats.org/drawingml/2006/main">
            <a:r>
              <a:t>A good name is a small piece of interface design. The hint should help someone begin, but it does not validate the input. The instructions still need to handle a missing client or impossible date. Discoverability: tests the words the next person will see. Control: checks when invocation is allowed.</a:t>
            </a:r>
          </a:p>
          <a:p xmlns:a="http://schemas.openxmlformats.org/drawingml/2006/main">
            <a:r>
              <a:t/>
            </a:r>
          </a:p>
          <a:p xmlns:a="http://schemas.openxmlformats.org/drawingml/2006/main">
            <a:r>
              <a:t>ON SCREEN</a:t>
            </a:r>
          </a:p>
          <a:p xmlns:a="http://schemas.openxmlformats.org/drawingml/2006/main">
            <a:r>
              <a:t>Open the top of SKILL.md and then its slash-command hint.</a:t>
            </a:r>
          </a:p>
          <a:p xmlns:a="http://schemas.openxmlformats.org/drawingml/2006/main">
            <a:r>
              <a:t/>
            </a:r>
          </a:p>
          <a:p xmlns:a="http://schemas.openxmlformats.org/drawingml/2006/main">
            <a:r>
              <a:t>EXACT PROMPT</a:t>
            </a:r>
          </a:p>
          <a:p xmlns:a="http://schemas.openxmlformats.org/drawingml/2006/main">
            <a:r>
              <a:t>Review the skill metadata as if you were a new teammate. Explain how to discover it, what arguments it expects, and whether it runs only when requested. Suggest clearer wording if any field makes you guess.</a:t>
            </a:r>
          </a:p>
          <a:p xmlns:a="http://schemas.openxmlformats.org/drawingml/2006/main">
            <a:r>
              <a:t/>
            </a:r>
          </a:p>
          <a:p xmlns:a="http://schemas.openxmlformats.org/drawingml/2006/main">
            <a:r>
              <a:t>WHY THIS PROMPT</a:t>
            </a:r>
          </a:p>
          <a:p xmlns:a="http://schemas.openxmlformats.org/drawingml/2006/main">
            <a:r>
              <a:t>Discoverability: tests the words the next person will see.</a:t>
            </a:r>
          </a:p>
          <a:p xmlns:a="http://schemas.openxmlformats.org/drawingml/2006/main">
            <a:r>
              <a:t>Control: checks when invocation is allowed.</a:t>
            </a:r>
          </a:p>
          <a:p xmlns:a="http://schemas.openxmlformats.org/drawingml/2006/main">
            <a:r>
              <a:t/>
            </a:r>
          </a:p>
          <a:p xmlns:a="http://schemas.openxmlformats.org/drawingml/2006/main">
            <a:r>
              <a:t>CHECK BEFORE CONTINUING</a:t>
            </a:r>
          </a:p>
          <a:p xmlns:a="http://schemas.openxmlformats.org/drawingml/2006/main">
            <a:r>
              <a:t>The name, description, argument hint, and invocation setting agree.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hint does not validate an input</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126 | Create, iterate, and distribute skills | 2:49–2:50:30 (1.5 min)</a:t>
            </a:r>
          </a:p>
          <a:p xmlns:a="http://schemas.openxmlformats.org/drawingml/2006/main">
            <a:r>
              <a:t/>
            </a:r>
          </a:p>
          <a:p xmlns:a="http://schemas.openxmlformats.org/drawingml/2006/main">
            <a:r>
              <a:t>SAY</a:t>
            </a:r>
          </a:p>
          <a:p xmlns:a="http://schemas.openxmlformats.org/drawingml/2006/main">
            <a:r>
              <a:t>The hint is a user aid. The command parser or workflow must validate the actual input. “Northstar” and “northstar” need a deliberate mapping. A date-shaped string such as February 30 should not silently pass.</a:t>
            </a:r>
          </a:p>
          <a:p xmlns:a="http://schemas.openxmlformats.org/drawingml/2006/main">
            <a:r>
              <a:t/>
            </a:r>
          </a:p>
          <a:p xmlns:a="http://schemas.openxmlformats.org/drawingml/2006/main">
            <a:r>
              <a:t>ON SCREEN</a:t>
            </a:r>
          </a:p>
          <a:p xmlns:a="http://schemas.openxmlformats.org/drawingml/2006/main">
            <a:r>
              <a:t>Run one missing client and one invalid date. Show the helpful response rather than allowing a guessed value.</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skill’s working instructions</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127 | Create, iterate, and distribute skills | 2:50:30–2:51 (0.5 min)</a:t>
            </a:r>
          </a:p>
          <a:p xmlns:a="http://schemas.openxmlformats.org/drawingml/2006/main">
            <a:r>
              <a:t/>
            </a:r>
          </a:p>
          <a:p xmlns:a="http://schemas.openxmlformats.org/drawingml/2006/main">
            <a:r>
              <a:t>SAY</a:t>
            </a:r>
          </a:p>
          <a:p xmlns:a="http://schemas.openxmlformats.org/drawingml/2006/main">
            <a:r>
              <a:t>The body defines the method and its limits. It should not contain every provider manual. Put larger examples and templates beside the file. The crucial behavior here is preserving uncertainty and evidence while proposing a useful next action.</a:t>
            </a:r>
          </a:p>
          <a:p xmlns:a="http://schemas.openxmlformats.org/drawingml/2006/main">
            <a:r>
              <a:t/>
            </a:r>
          </a:p>
          <a:p xmlns:a="http://schemas.openxmlformats.org/drawingml/2006/main">
            <a:r>
              <a:t>ON SCREEN</a:t>
            </a:r>
          </a:p>
          <a:p xmlns:a="http://schemas.openxmlformats.org/drawingml/2006/main">
            <a:r>
              <a:t>Read the instructions aloud as if you had never seen the course. Remove any step that relies on hidden chat history.</a:t>
            </a:r>
          </a:p>
          <a:p xmlns:a="http://schemas.openxmlformats.org/drawingml/2006/main">
            <a:r>
              <a:t/>
            </a:r>
          </a:p>
          <a:p xmlns:a="http://schemas.openxmlformats.org/drawingml/2006/main">
            <a:r>
              <a:t>EXACT PROMPT</a:t>
            </a:r>
          </a:p>
          <a:p xmlns:a="http://schemas.openxmlformats.org/drawingml/2006/main">
            <a:r>
              <a:t>Validate the client and brief date. Read the client and available meeting evidence. Identify missing information. Write the brief using templates/brief.md. Cite each meeting fact. Label suggestions as proposed. Do not save a task or send a message.</a:t>
            </a:r>
          </a:p>
          <a:p xmlns:a="http://schemas.openxmlformats.org/drawingml/2006/main">
            <a:r>
              <a:t/>
            </a:r>
          </a:p>
          <a:p xmlns:a="http://schemas.openxmlformats.org/drawingml/2006/main">
            <a:r>
              <a:t>CHECK BEFORE CONTINUING</a:t>
            </a:r>
          </a:p>
          <a:p xmlns:a="http://schemas.openxmlformats.org/drawingml/2006/main">
            <a:r>
              <a:t>File: .claude/skills/client-brief/SKILL.md, below its metadata.</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Run the skill with the demo date</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128 | Create, iterate, and distribute skills | 2:51–2:54 (3 min)</a:t>
            </a:r>
          </a:p>
          <a:p xmlns:a="http://schemas.openxmlformats.org/drawingml/2006/main">
            <a:r>
              <a:t/>
            </a:r>
          </a:p>
          <a:p xmlns:a="http://schemas.openxmlformats.org/drawingml/2006/main">
            <a:r>
              <a:t>SAY</a:t>
            </a:r>
          </a:p>
          <a:p xmlns:a="http://schemas.openxmlformats.org/drawingml/2006/main">
            <a:r>
              <a:t>The slide gives a reusable request. Claude reads the prepared date and produces the exact command for today’s demonstration. We do not need to edit the deck each time the course runs. Reusable date: avoids a stale classroom example. Inspection: checks the output against the intended structure.</a:t>
            </a:r>
          </a:p>
          <a:p xmlns:a="http://schemas.openxmlformats.org/drawingml/2006/main">
            <a:r>
              <a:t/>
            </a:r>
          </a:p>
          <a:p xmlns:a="http://schemas.openxmlformats.org/drawingml/2006/main">
            <a:r>
              <a:t>ON SCREEN</a:t>
            </a:r>
          </a:p>
          <a:p xmlns:a="http://schemas.openxmlformats.org/drawingml/2006/main">
            <a:r>
              <a:t>Start a fresh Claude Code conversation from Walkthrough Assets. Type /client-brief and inspect its argument hint.</a:t>
            </a:r>
          </a:p>
          <a:p xmlns:a="http://schemas.openxmlformats.org/drawingml/2006/main">
            <a:r>
              <a:t/>
            </a:r>
          </a:p>
          <a:p xmlns:a="http://schemas.openxmlformats.org/drawingml/2006/main">
            <a:r>
              <a:t>EXACT PROMPT</a:t>
            </a:r>
          </a:p>
          <a:p xmlns:a="http://schemas.openxmlformats.org/drawingml/2006/main">
            <a:r>
              <a:t>Open the prepared demo context and read its date. Type /client-brief with northstar and that date. Compare the cited meeting with the CLI evidence. Then try an unknown client and record the validation response.</a:t>
            </a:r>
          </a:p>
          <a:p xmlns:a="http://schemas.openxmlformats.org/drawingml/2006/main">
            <a:r>
              <a:t/>
            </a:r>
          </a:p>
          <a:p xmlns:a="http://schemas.openxmlformats.org/drawingml/2006/main">
            <a:r>
              <a:t>WHY THIS PROMPT</a:t>
            </a:r>
          </a:p>
          <a:p xmlns:a="http://schemas.openxmlformats.org/drawingml/2006/main">
            <a:r>
              <a:t>Reusable date: avoids a stale classroom example.</a:t>
            </a:r>
          </a:p>
          <a:p xmlns:a="http://schemas.openxmlformats.org/drawingml/2006/main">
            <a:r>
              <a:t>Inspection: checks the output against the intended structure.</a:t>
            </a:r>
          </a:p>
          <a:p xmlns:a="http://schemas.openxmlformats.org/drawingml/2006/main">
            <a:r>
              <a:t/>
            </a:r>
          </a:p>
          <a:p xmlns:a="http://schemas.openxmlformats.org/drawingml/2006/main">
            <a:r>
              <a:t>CHECK BEFORE CONTINUING</a:t>
            </a:r>
          </a:p>
          <a:p xmlns:a="http://schemas.openxmlformats.org/drawingml/2006/main">
            <a:r>
              <a:t>A known client returns a sourced brief; an unknown client asks for a correction.</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small skill package</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129 | Create, iterate, and distribute skills | 2:54–2:55:30 (1.5 min)</a:t>
            </a:r>
          </a:p>
          <a:p xmlns:a="http://schemas.openxmlformats.org/drawingml/2006/main">
            <a:r>
              <a:t/>
            </a:r>
          </a:p>
          <a:p xmlns:a="http://schemas.openxmlformats.org/drawingml/2006/main">
            <a:r>
              <a:t>SAY</a:t>
            </a:r>
          </a:p>
          <a:p xmlns:a="http://schemas.openxmlformats.org/drawingml/2006/main">
            <a:r>
              <a:t>The instruction file routes the work. The template defines the output. The example shows the quality bar. The test cases record situations that previously failed. Keep referenced files relative to the skill directory.</a:t>
            </a:r>
          </a:p>
          <a:p xmlns:a="http://schemas.openxmlformats.org/drawingml/2006/main">
            <a:r>
              <a:t/>
            </a:r>
          </a:p>
          <a:p xmlns:a="http://schemas.openxmlformats.org/drawingml/2006/main">
            <a:r>
              <a:t>ON SCREEN</a:t>
            </a:r>
          </a:p>
          <a:p xmlns:a="http://schemas.openxmlformats.org/drawingml/2006/main">
            <a:r>
              <a:t>Open one supporting file only when it is relevant. Explain that compact entry instructions reduce unnecessary context.</a:t>
            </a:r>
          </a:p>
          <a:p xmlns:a="http://schemas.openxmlformats.org/drawingml/2006/main">
            <a:r>
              <a:t/>
            </a:r>
          </a:p>
          <a:p xmlns:a="http://schemas.openxmlformats.org/drawingml/2006/main">
            <a:r>
              <a:t>CHECK BEFORE CONTINUING</a:t>
            </a:r>
          </a:p>
          <a:p xmlns:a="http://schemas.openxmlformats.org/drawingml/2006/main">
            <a:r>
              <a:t>Instructions</a:t>
            </a:r>
          </a:p>
          <a:p xmlns:a="http://schemas.openxmlformats.org/drawingml/2006/main">
            <a:r>
              <a:t>Output structure</a:t>
            </a:r>
          </a:p>
          <a:p xmlns:a="http://schemas.openxmlformats.org/drawingml/2006/main">
            <a:r>
              <a:t>A good example</a:t>
            </a:r>
          </a:p>
          <a:p xmlns:a="http://schemas.openxmlformats.org/drawingml/2006/main">
            <a:r>
              <a:t>Cases to rerun</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brief a teammate receives</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130 | Create, iterate, and distribute skills | 2:55:30–2:57:30 (2 min)</a:t>
            </a:r>
          </a:p>
          <a:p xmlns:a="http://schemas.openxmlformats.org/drawingml/2006/main">
            <a:r>
              <a:t/>
            </a:r>
          </a:p>
          <a:p xmlns:a="http://schemas.openxmlformats.org/drawingml/2006/main">
            <a:r>
              <a:t>SAY</a:t>
            </a:r>
          </a:p>
          <a:p xmlns:a="http://schemas.openxmlformats.org/drawingml/2006/main">
            <a:r>
              <a:t>A useful brief separates facts from suggestions. If a due date was not agreed, the model should not present its own date as a client commitment. Put the proposed date in the suggestion and ask the reviewer to confirm it.</a:t>
            </a:r>
          </a:p>
          <a:p xmlns:a="http://schemas.openxmlformats.org/drawingml/2006/main">
            <a:r>
              <a:t/>
            </a:r>
          </a:p>
          <a:p xmlns:a="http://schemas.openxmlformats.org/drawingml/2006/main">
            <a:r>
              <a:t>ON SCREEN</a:t>
            </a:r>
          </a:p>
          <a:p xmlns:a="http://schemas.openxmlformats.org/drawingml/2006/main">
            <a:r>
              <a:t>Show examples/northstar.md. Identify one sourced fact and one proposed action.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Read skill and write action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131 | Create, iterate, and distribute skills | 2:57:30–2:59 (1.5 min)</a:t>
            </a:r>
          </a:p>
          <a:p xmlns:a="http://schemas.openxmlformats.org/drawingml/2006/main">
            <a:r>
              <a:t/>
            </a:r>
          </a:p>
          <a:p xmlns:a="http://schemas.openxmlformats.org/drawingml/2006/main">
            <a:r>
              <a:t>SAY</a:t>
            </a:r>
          </a:p>
          <a:p xmlns:a="http://schemas.openxmlformats.org/drawingml/2006/main">
            <a:r>
              <a:t>Our first skill has no automatic external write. The application handles the reviewed save. If a later team adds an apply skill, keep approval separate and validate the actual payload and authenticated identity in code. A skill instruction alone is not a control.</a:t>
            </a:r>
          </a:p>
          <a:p xmlns:a="http://schemas.openxmlformats.org/drawingml/2006/main">
            <a:r>
              <a:t/>
            </a:r>
          </a:p>
          <a:p xmlns:a="http://schemas.openxmlformats.org/drawingml/2006/main">
            <a:r>
              <a:t>ON SCREEN</a:t>
            </a:r>
          </a:p>
          <a:p xmlns:a="http://schemas.openxmlformats.org/drawingml/2006/main">
            <a:r>
              <a:t>Demonstrate that invoking the skill leaves the task count unchanged.</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Rules keep the method consistent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132 | Create, iterate, and distribute skills | 2:59–3:00:30 (1.5 min)</a:t>
            </a:r>
          </a:p>
          <a:p xmlns:a="http://schemas.openxmlformats.org/drawingml/2006/main">
            <a:r>
              <a:t/>
            </a:r>
          </a:p>
          <a:p xmlns:a="http://schemas.openxmlformats.org/drawingml/2006/main">
            <a:r>
              <a:t>SAY</a:t>
            </a:r>
          </a:p>
          <a:p xmlns:a="http://schemas.openxmlformats.org/drawingml/2006/main">
            <a:r>
              <a:t>Rules should capture requirements that apply beyond one command. Avoid copying a long rule into every skill. Keep the shared project contract short and use topic files when they make it easier to maintain.</a:t>
            </a:r>
          </a:p>
          <a:p xmlns:a="http://schemas.openxmlformats.org/drawingml/2006/main">
            <a:r>
              <a:t/>
            </a:r>
          </a:p>
          <a:p xmlns:a="http://schemas.openxmlformats.org/drawingml/2006/main">
            <a:r>
              <a:t>ON SCREEN</a:t>
            </a:r>
          </a:p>
          <a:p xmlns:a="http://schemas.openxmlformats.org/drawingml/2006/main">
            <a:r>
              <a:t>Show a meeting with an embedded malicious instruction. Explain why the brief uses it only as source content.</a:t>
            </a:r>
          </a:p>
          <a:p xmlns:a="http://schemas.openxmlformats.org/drawingml/2006/main">
            <a:r>
              <a:t/>
            </a:r>
          </a:p>
          <a:p xmlns:a="http://schemas.openxmlformats.org/drawingml/2006/main">
            <a:r>
              <a:t>CHECK BEFORE CONTINUING</a:t>
            </a:r>
          </a:p>
          <a:p xmlns:a="http://schemas.openxmlformats.org/drawingml/2006/main">
            <a:r>
              <a:t>These behaviors are preserved in the actual skill and interface rule.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hook checks edited sample files</a:t>
            </a:r>
          </a:p>
          <a:p xmlns:a="http://schemas.openxmlformats.org/drawingml/2006/main">
            <a:r>
              <a:t/>
            </a:r>
          </a:p>
          <a:p xmlns:a="http://schemas.openxmlformats.org/drawingml/2006/main">
            <a:r>
              <a:t>SOURCES / CONTEXT</a:t>
            </a:r>
          </a:p>
          <a:p xmlns:a="http://schemas.openxmlformats.org/drawingml/2006/main">
            <a:r>
              <a:t>https://code.claude.com/docs/en/memory</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133 | Create, iterate, and distribute skills | 3:00:30–3:01 (0.5 min)</a:t>
            </a:r>
          </a:p>
          <a:p xmlns:a="http://schemas.openxmlformats.org/drawingml/2006/main">
            <a:r>
              <a:t/>
            </a:r>
          </a:p>
          <a:p xmlns:a="http://schemas.openxmlformats.org/drawingml/2006/main">
            <a:r>
              <a:t>SAY</a:t>
            </a:r>
          </a:p>
          <a:p xmlns:a="http://schemas.openxmlformats.org/drawingml/2006/main">
            <a:r>
              <a:t>This hook runs after a matching edit or write. The script reads the event and validates a fixture file if that file changed. It does not rewrite the file or make a network request. Review hook scripts before enabling them and merge configuration into existing settings.</a:t>
            </a:r>
          </a:p>
          <a:p xmlns:a="http://schemas.openxmlformats.org/drawingml/2006/main">
            <a:r>
              <a:t/>
            </a:r>
          </a:p>
          <a:p xmlns:a="http://schemas.openxmlformats.org/drawingml/2006/main">
            <a:r>
              <a:t>ON SCREEN</a:t>
            </a:r>
          </a:p>
          <a:p xmlns:a="http://schemas.openxmlformats.org/drawingml/2006/main">
            <a:r>
              <a:t>Show settings.example.json and the script. Do not replace an attendee’s existing settings. Note that a post-edit check reports a problem after the edit.</a:t>
            </a:r>
          </a:p>
          <a:p xmlns:a="http://schemas.openxmlformats.org/drawingml/2006/main">
            <a:r>
              <a:t/>
            </a:r>
          </a:p>
          <a:p xmlns:a="http://schemas.openxmlformats.org/drawingml/2006/main">
            <a:r>
              <a:t>CHECK BEFORE CONTINUING</a:t>
            </a:r>
          </a:p>
          <a:p xmlns:a="http://schemas.openxmlformats.org/drawingml/2006/main">
            <a:r>
              <a:t>.claude/settings.example.json · merge the hooks object after reviewing the script.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Add a hook with a clear purpose</a:t>
            </a:r>
          </a:p>
          <a:p xmlns:a="http://schemas.openxmlformats.org/drawingml/2006/main">
            <a:r>
              <a:t/>
            </a:r>
          </a:p>
          <a:p xmlns:a="http://schemas.openxmlformats.org/drawingml/2006/main">
            <a:r>
              <a:t>SOURCES / CONTEXT</a:t>
            </a:r>
          </a:p>
          <a:p xmlns:a="http://schemas.openxmlformats.org/drawingml/2006/main">
            <a:r>
              <a:t>https://code.claude.com/docs/en/hooks-guide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134 | Create, iterate, and distribute skills | 3:01–3:04 (3 min)</a:t>
            </a:r>
          </a:p>
          <a:p xmlns:a="http://schemas.openxmlformats.org/drawingml/2006/main">
            <a:r>
              <a:t/>
            </a:r>
          </a:p>
          <a:p xmlns:a="http://schemas.openxmlformats.org/drawingml/2006/main">
            <a:r>
              <a:t>SAY</a:t>
            </a:r>
          </a:p>
          <a:p xmlns:a="http://schemas.openxmlformats.org/drawingml/2006/main">
            <a:r>
              <a:t>The hook is a small automatic check. It is not a promise that the entire project is correct. We make its trigger and its limits visible so the team knows what it does. Review: reads executable code before enabling it. Integration: preserves the project’s other settings.</a:t>
            </a:r>
          </a:p>
          <a:p xmlns:a="http://schemas.openxmlformats.org/drawingml/2006/main">
            <a:r>
              <a:t/>
            </a:r>
          </a:p>
          <a:p xmlns:a="http://schemas.openxmlformats.org/drawingml/2006/main">
            <a:r>
              <a:t>ON SCREEN</a:t>
            </a:r>
          </a:p>
          <a:p xmlns:a="http://schemas.openxmlformats.org/drawingml/2006/main">
            <a:r>
              <a:t>Use the exercise copy. Run 00-course-map/test-hook.mjs before enabling the example.</a:t>
            </a:r>
          </a:p>
          <a:p xmlns:a="http://schemas.openxmlformats.org/drawingml/2006/main">
            <a:r>
              <a:t/>
            </a:r>
          </a:p>
          <a:p xmlns:a="http://schemas.openxmlformats.org/drawingml/2006/main">
            <a:r>
              <a:t>EXACT PROMPT</a:t>
            </a:r>
          </a:p>
          <a:p xmlns:a="http://schemas.openxmlformats.org/drawingml/2006/main">
            <a:r>
              <a:t>Review 00-course-map/check-fixture.mjs and .claude/settings.example.json. Explain the checked files and limits. In an exercise copy, merge the hook into existing settings. Test one valid event and one invalid meeting without changing the reference data.</a:t>
            </a:r>
          </a:p>
          <a:p xmlns:a="http://schemas.openxmlformats.org/drawingml/2006/main">
            <a:r>
              <a:t/>
            </a:r>
          </a:p>
          <a:p xmlns:a="http://schemas.openxmlformats.org/drawingml/2006/main">
            <a:r>
              <a:t>WHY THIS PROMPT</a:t>
            </a:r>
          </a:p>
          <a:p xmlns:a="http://schemas.openxmlformats.org/drawingml/2006/main">
            <a:r>
              <a:t>Review: reads executable code before enabling it.</a:t>
            </a:r>
          </a:p>
          <a:p xmlns:a="http://schemas.openxmlformats.org/drawingml/2006/main">
            <a:r>
              <a:t>Integration: preserves the project’s other settings.</a:t>
            </a:r>
          </a:p>
          <a:p xmlns:a="http://schemas.openxmlformats.org/drawingml/2006/main">
            <a:r>
              <a:t/>
            </a:r>
          </a:p>
          <a:p xmlns:a="http://schemas.openxmlformats.org/drawingml/2006/main">
            <a:r>
              <a:t>CHECK BEFORE CONTINUING</a:t>
            </a:r>
          </a:p>
          <a:p xmlns:a="http://schemas.openxmlformats.org/drawingml/2006/main">
            <a:r>
              <a:t>The valid event passes and the invalid meeting is reported. The checker makes no network request.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concrete quality loop</a:t>
            </a:r>
          </a:p>
          <a:p xmlns:a="http://schemas.openxmlformats.org/drawingml/2006/main">
            <a:r>
              <a:t/>
            </a:r>
          </a:p>
          <a:p xmlns:a="http://schemas.openxmlformats.org/drawingml/2006/main">
            <a:r>
              <a:t>SOURCES / CONTEXT</a:t>
            </a:r>
          </a:p>
          <a:p xmlns:a="http://schemas.openxmlformats.org/drawingml/2006/main">
            <a:r>
              <a:t>https://code.claude.com/docs/en/hooks-guide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135 | Create, iterate, and distribute skills | 3:04–3:05 (1 min)</a:t>
            </a:r>
          </a:p>
          <a:p xmlns:a="http://schemas.openxmlformats.org/drawingml/2006/main">
            <a:r>
              <a:t/>
            </a:r>
          </a:p>
          <a:p xmlns:a="http://schemas.openxmlformats.org/drawingml/2006/main">
            <a:r>
              <a:t>SAY</a:t>
            </a:r>
          </a:p>
          <a:p xmlns:a="http://schemas.openxmlformats.org/drawingml/2006/main">
            <a:r>
              <a:t>These layers complement each other. A rule asks for evidence. A skill retrieves and cites it. A hook can verify a known format. A person decides whether the result is useful and whether an action should be saved.</a:t>
            </a:r>
          </a:p>
          <a:p xmlns:a="http://schemas.openxmlformats.org/drawingml/2006/main">
            <a:r>
              <a:t/>
            </a:r>
          </a:p>
          <a:p xmlns:a="http://schemas.openxmlformats.org/drawingml/2006/main">
            <a:r>
              <a:t>ON SCREEN</a:t>
            </a:r>
          </a:p>
          <a:p xmlns:a="http://schemas.openxmlformats.org/drawingml/2006/main">
            <a:r>
              <a:t>Ask which layer should fix an invalid date, a missing source citation, and a confusing title.</a:t>
            </a:r>
          </a:p>
          <a:p xmlns:a="http://schemas.openxmlformats.org/drawingml/2006/main">
            <a:r>
              <a:t/>
            </a:r>
          </a:p>
          <a:p xmlns:a="http://schemas.openxmlformats.org/drawingml/2006/main">
            <a:r>
              <a:t>CHECK BEFORE CONTINUING</a:t>
            </a:r>
          </a:p>
          <a:p xmlns:a="http://schemas.openxmlformats.org/drawingml/2006/main">
            <a:r>
              <a:t>For the checklist proposal, the person confirms the owner and due date before saving.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Build /client-brief</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136 | Create, iterate, and distribute skills | 3:05–3:15 (10 min)</a:t>
            </a:r>
          </a:p>
          <a:p xmlns:a="http://schemas.openxmlformats.org/drawingml/2006/main">
            <a:r>
              <a:t/>
            </a:r>
          </a:p>
          <a:p xmlns:a="http://schemas.openxmlformats.org/drawingml/2006/main">
            <a:r>
              <a:t>SAY</a:t>
            </a:r>
          </a:p>
          <a:p xmlns:a="http://schemas.openxmlformats.org/drawingml/2006/main">
            <a:r>
              <a:t>Use the starter file or create the folder yourself. Spend three minutes on metadata and inputs, four on the method and template, and three running the normal and invalid cases. The skill must not create a task as a side effect.</a:t>
            </a:r>
          </a:p>
          <a:p xmlns:a="http://schemas.openxmlformats.org/drawingml/2006/main">
            <a:r>
              <a:t/>
            </a:r>
          </a:p>
          <a:p xmlns:a="http://schemas.openxmlformats.org/drawingml/2006/main">
            <a:r>
              <a:t>ON SCREEN</a:t>
            </a:r>
          </a:p>
          <a:p xmlns:a="http://schemas.openxmlformats.org/drawingml/2006/main">
            <a:r>
              <a:t>Use 00-course-map/labs/04-skill.md. At minute seven, ask everyone to run the command. Early finishers add a missing transcript case.</a:t>
            </a:r>
          </a:p>
          <a:p xmlns:a="http://schemas.openxmlformats.org/drawingml/2006/main">
            <a:r>
              <a:t/>
            </a:r>
          </a:p>
          <a:p xmlns:a="http://schemas.openxmlformats.org/drawingml/2006/main">
            <a:r>
              <a:t>CHECK BEFORE CONTINUING</a:t>
            </a:r>
          </a:p>
          <a:p xmlns:a="http://schemas.openxmlformats.org/drawingml/2006/main">
            <a:r>
              <a:t>A manually invoked skill with a source-backed brief</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skill review before sharing</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137 | Create, iterate, and distribute skills | 3:15–3:16 (1 min)</a:t>
            </a:r>
          </a:p>
          <a:p xmlns:a="http://schemas.openxmlformats.org/drawingml/2006/main">
            <a:r>
              <a:t/>
            </a:r>
          </a:p>
          <a:p xmlns:a="http://schemas.openxmlformats.org/drawingml/2006/main">
            <a:r>
              <a:t>SAY</a:t>
            </a:r>
          </a:p>
          <a:p xmlns:a="http://schemas.openxmlformats.org/drawingml/2006/main">
            <a:r>
              <a:t>A skill that works for its author may rely on tools, paths, or context the teammate does not have. Review the package against this list. Keep claims tied to observed runs, and record any environment assumptions.</a:t>
            </a:r>
          </a:p>
          <a:p xmlns:a="http://schemas.openxmlformats.org/drawingml/2006/main">
            <a:r>
              <a:t/>
            </a:r>
          </a:p>
          <a:p xmlns:a="http://schemas.openxmlformats.org/drawingml/2006/main">
            <a:r>
              <a:t>ON SCREEN</a:t>
            </a:r>
          </a:p>
          <a:p xmlns:a="http://schemas.openxmlformats.org/drawingml/2006/main">
            <a:r>
              <a:t>Review one skill from the lab. Open any referenced script before recommending that someone execute it.</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fresh session is the real test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138 | Create, iterate, and distribute skills | 3:16–3:16:30 (0.5 min)</a:t>
            </a:r>
          </a:p>
          <a:p xmlns:a="http://schemas.openxmlformats.org/drawingml/2006/main">
            <a:r>
              <a:t/>
            </a:r>
          </a:p>
          <a:p xmlns:a="http://schemas.openxmlformats.org/drawingml/2006/main">
            <a:r>
              <a:t>SAY</a:t>
            </a:r>
          </a:p>
          <a:p xmlns:a="http://schemas.openxmlformats.org/drawingml/2006/main">
            <a:r>
              <a:t>A cold run removes the accidental support of the author’s chat. It exposes missing prerequisites, unclear inputs, and hidden judgments. We are testing the method’s portability, not the skill of the person receiving it.</a:t>
            </a:r>
          </a:p>
          <a:p xmlns:a="http://schemas.openxmlformats.org/drawingml/2006/main">
            <a:r>
              <a:t/>
            </a:r>
          </a:p>
          <a:p xmlns:a="http://schemas.openxmlformats.org/drawingml/2006/main">
            <a:r>
              <a:t>ON SCREEN</a:t>
            </a:r>
          </a:p>
          <a:p xmlns:a="http://schemas.openxmlformats.org/drawingml/2006/main">
            <a:r>
              <a:t>Start a fresh session or ask a partner to take the written instructions.</a:t>
            </a:r>
          </a:p>
          <a:p xmlns:a="http://schemas.openxmlformats.org/drawingml/2006/main">
            <a:r>
              <a:t/>
            </a:r>
          </a:p>
          <a:p xmlns:a="http://schemas.openxmlformats.org/drawingml/2006/main">
            <a:r>
              <a:t>CHECK BEFORE CONTINUING</a:t>
            </a:r>
          </a:p>
          <a:p xmlns:a="http://schemas.openxmlformats.org/drawingml/2006/main">
            <a:r>
              <a:t>Could a teammate run /client-brief</a:t>
            </a:r>
          </a:p>
          <a:p xmlns:a="http://schemas.openxmlformats.org/drawingml/2006/main">
            <a:r>
              <a:t>using only the README</a:t>
            </a:r>
          </a:p>
          <a:p xmlns:a="http://schemas.openxmlformats.org/drawingml/2006/main">
            <a:r>
              <a:t>and a fresh conversation?</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fresh-session rehearsal</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139 | Create, iterate, and distribute skills | 3:16:30–3:17:30 (1 min)</a:t>
            </a:r>
          </a:p>
          <a:p xmlns:a="http://schemas.openxmlformats.org/drawingml/2006/main">
            <a:r>
              <a:t/>
            </a:r>
          </a:p>
          <a:p xmlns:a="http://schemas.openxmlformats.org/drawingml/2006/main">
            <a:r>
              <a:t>SAY</a:t>
            </a:r>
          </a:p>
          <a:p xmlns:a="http://schemas.openxmlformats.org/drawingml/2006/main">
            <a:r>
              <a:t>The author stays quiet for the first attempt. If I explain the missing step aloud, I hide the defect. The point is to improve the package until another person can follow it independently. Independence: removes hidden chat context. Feedback: turns guessing into a specific documentation defect.</a:t>
            </a:r>
          </a:p>
          <a:p xmlns:a="http://schemas.openxmlformats.org/drawingml/2006/main">
            <a:r>
              <a:t/>
            </a:r>
          </a:p>
          <a:p xmlns:a="http://schemas.openxmlformats.org/drawingml/2006/main">
            <a:r>
              <a:t>ON SCREEN</a:t>
            </a:r>
          </a:p>
          <a:p xmlns:a="http://schemas.openxmlformats.org/drawingml/2006/main">
            <a:r>
              <a:t>Start a new Claude Code conversation in a separate working copy. Ask a teammate to follow the README.</a:t>
            </a:r>
          </a:p>
          <a:p xmlns:a="http://schemas.openxmlformats.org/drawingml/2006/main">
            <a:r>
              <a:t/>
            </a:r>
          </a:p>
          <a:p xmlns:a="http://schemas.openxmlformats.org/drawingml/2006/main">
            <a:r>
              <a:t>EXACT PROMPT</a:t>
            </a:r>
          </a:p>
          <a:p xmlns:a="http://schemas.openxmlformats.org/drawingml/2006/main">
            <a:r>
              <a:t>Read this release’s README in a fresh conversation. Follow its setup and run the documented Northstar brief example. Record every point where you need information that is absent from the files. Do not use the author’s earlier conversation.</a:t>
            </a:r>
          </a:p>
          <a:p xmlns:a="http://schemas.openxmlformats.org/drawingml/2006/main">
            <a:r>
              <a:t/>
            </a:r>
          </a:p>
          <a:p xmlns:a="http://schemas.openxmlformats.org/drawingml/2006/main">
            <a:r>
              <a:t>WHY THIS PROMPT</a:t>
            </a:r>
          </a:p>
          <a:p xmlns:a="http://schemas.openxmlformats.org/drawingml/2006/main">
            <a:r>
              <a:t>Independence: removes hidden chat context.</a:t>
            </a:r>
          </a:p>
          <a:p xmlns:a="http://schemas.openxmlformats.org/drawingml/2006/main">
            <a:r>
              <a:t>Feedback: turns guessing into a specific documentation defect.</a:t>
            </a:r>
          </a:p>
          <a:p xmlns:a="http://schemas.openxmlformats.org/drawingml/2006/main">
            <a:r>
              <a:t/>
            </a:r>
          </a:p>
          <a:p xmlns:a="http://schemas.openxmlformats.org/drawingml/2006/main">
            <a:r>
              <a:t>CHECK BEFORE CONTINUING</a:t>
            </a:r>
          </a:p>
          <a:p xmlns:a="http://schemas.openxmlformats.org/drawingml/2006/main">
            <a:r>
              <a:t>The teammate finishes or produces a reproducible missing-information report.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Run it cold</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140 | Create, iterate, and distribute skills | 3:17:30–3:25:30 (8 min)</a:t>
            </a:r>
          </a:p>
          <a:p xmlns:a="http://schemas.openxmlformats.org/drawingml/2006/main">
            <a:r>
              <a:t/>
            </a:r>
          </a:p>
          <a:p xmlns:a="http://schemas.openxmlformats.org/drawingml/2006/main">
            <a:r>
              <a:t>SAY</a:t>
            </a:r>
          </a:p>
          <a:p xmlns:a="http://schemas.openxmlformats.org/drawingml/2006/main">
            <a:r>
              <a:t>The author stays quiet for the first attempt. The tester records the input, expected behavior, observed result, and consequence. Missing setup documentation is a defect even if the core instructions are excellent.</a:t>
            </a:r>
          </a:p>
          <a:p xmlns:a="http://schemas.openxmlformats.org/drawingml/2006/main">
            <a:r>
              <a:t/>
            </a:r>
          </a:p>
          <a:p xmlns:a="http://schemas.openxmlformats.org/drawingml/2006/main">
            <a:r>
              <a:t>ON SCREEN</a:t>
            </a:r>
          </a:p>
          <a:p xmlns:a="http://schemas.openxmlformats.org/drawingml/2006/main">
            <a:r>
              <a:t>Use 00-course-map/labs/05-cold-run.md. Start an eight-minute timer. If working alone, clear the conversation and follow only the README.</a:t>
            </a:r>
          </a:p>
          <a:p xmlns:a="http://schemas.openxmlformats.org/drawingml/2006/main">
            <a:r>
              <a:t/>
            </a:r>
          </a:p>
          <a:p xmlns:a="http://schemas.openxmlformats.org/drawingml/2006/main">
            <a:r>
              <a:t>CHECK BEFORE CONTINUING</a:t>
            </a:r>
          </a:p>
          <a:p xmlns:a="http://schemas.openxmlformats.org/drawingml/2006/main">
            <a:r>
              <a:t>One reproducible friction report</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Fix the layer that caused the failure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141 | Create, iterate, and distribute skills | 3:25:30–3:26:30 (1 min)</a:t>
            </a:r>
          </a:p>
          <a:p xmlns:a="http://schemas.openxmlformats.org/drawingml/2006/main">
            <a:r>
              <a:t/>
            </a:r>
          </a:p>
          <a:p xmlns:a="http://schemas.openxmlformats.org/drawingml/2006/main">
            <a:r>
              <a:t>SAY</a:t>
            </a:r>
          </a:p>
          <a:p xmlns:a="http://schemas.openxmlformats.org/drawingml/2006/main">
            <a:r>
              <a:t>Match the fix to the cause. If data conversion loses a field, repair that conversion. If someone cannot find the command, improve its name or README. If access is wrong, fix the enforced rule in the server or database and retest.</a:t>
            </a:r>
          </a:p>
          <a:p xmlns:a="http://schemas.openxmlformats.org/drawingml/2006/main">
            <a:r>
              <a:t/>
            </a:r>
          </a:p>
          <a:p xmlns:a="http://schemas.openxmlformats.org/drawingml/2006/main">
            <a:r>
              <a:t>ON SCREEN</a:t>
            </a:r>
          </a:p>
          <a:p xmlns:a="http://schemas.openxmlformats.org/drawingml/2006/main">
            <a:r>
              <a:t>Classify the friction report before editing anything.</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One observed defect, one revision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142 | Create, iterate, and distribute skills | 3:26:30–3:27:30 (1 min)</a:t>
            </a:r>
          </a:p>
          <a:p xmlns:a="http://schemas.openxmlformats.org/drawingml/2006/main">
            <a:r>
              <a:t/>
            </a:r>
          </a:p>
          <a:p xmlns:a="http://schemas.openxmlformats.org/drawingml/2006/main">
            <a:r>
              <a:t>SAY</a:t>
            </a:r>
          </a:p>
          <a:p xmlns:a="http://schemas.openxmlformats.org/drawingml/2006/main">
            <a:r>
              <a:t>This is a specific revision motivated by evidence. It changes how the result communicates uncertainty. Rerun the same case and one normal case to confirm that the fix does not erase useful information.</a:t>
            </a:r>
          </a:p>
          <a:p xmlns:a="http://schemas.openxmlformats.org/drawingml/2006/main">
            <a:r>
              <a:t/>
            </a:r>
          </a:p>
          <a:p xmlns:a="http://schemas.openxmlformats.org/drawingml/2006/main">
            <a:r>
              <a:t>ON SCREEN</a:t>
            </a:r>
          </a:p>
          <a:p xmlns:a="http://schemas.openxmlformats.org/drawingml/2006/main">
            <a:r>
              <a:t>Edit the template and instruction. Show the changed lines and rerun the exact case.</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Checks to repeat after each change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143 | Create, iterate, and distribute skills | 3:27:30–3:28:30 (1 min)</a:t>
            </a:r>
          </a:p>
          <a:p xmlns:a="http://schemas.openxmlformats.org/drawingml/2006/main">
            <a:r>
              <a:t/>
            </a:r>
          </a:p>
          <a:p xmlns:a="http://schemas.openxmlformats.org/drawingml/2006/main">
            <a:r>
              <a:t>SAY</a:t>
            </a:r>
          </a:p>
          <a:p xmlns:a="http://schemas.openxmlformats.org/drawingml/2006/main">
            <a:r>
              <a:t>Keep a small set of meaningful cases with the skill. Add cases when an actual failure teaches you something. The goal is confidence in the behavior that matters, not a large test count.</a:t>
            </a:r>
          </a:p>
          <a:p xmlns:a="http://schemas.openxmlformats.org/drawingml/2006/main">
            <a:r>
              <a:t/>
            </a:r>
          </a:p>
          <a:p xmlns:a="http://schemas.openxmlformats.org/drawingml/2006/main">
            <a:r>
              <a:t>ON SCREEN</a:t>
            </a:r>
          </a:p>
          <a:p xmlns:a="http://schemas.openxmlformats.org/drawingml/2006/main">
            <a:r>
              <a:t>Save the new case in tests/cases.md and record the outcome.</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Into your team’s hands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144 | Create, iterate, and distribute skills | 3:28:30–3:29:30 (1 min)</a:t>
            </a:r>
          </a:p>
          <a:p xmlns:a="http://schemas.openxmlformats.org/drawingml/2006/main">
            <a:r>
              <a:t/>
            </a:r>
          </a:p>
          <a:p xmlns:a="http://schemas.openxmlformats.org/drawingml/2006/main">
            <a:r>
              <a:t>SAY</a:t>
            </a:r>
          </a:p>
          <a:p xmlns:a="http://schemas.openxmlformats.org/drawingml/2006/main">
            <a:r>
              <a:t>Distribution adds new people, machines, and failure modes. Start with one teammate and a known version. The shared repository should make the setup, ownership, and supported behavior clear.</a:t>
            </a:r>
          </a:p>
          <a:p xmlns:a="http://schemas.openxmlformats.org/drawingml/2006/main">
            <a:r>
              <a:t/>
            </a:r>
          </a:p>
          <a:p xmlns:a="http://schemas.openxmlformats.org/drawingml/2006/main">
            <a:r>
              <a:t>ON SCREEN</a:t>
            </a:r>
          </a:p>
          <a:p xmlns:a="http://schemas.openxmlformats.org/drawingml/2006/main">
            <a:r>
              <a:t>Open the repository’s release checklist.</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GitHub is the shared home</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145 | Create, iterate, and distribute skills | 3:29:30–3:30 (0.5 min)</a:t>
            </a:r>
          </a:p>
          <a:p xmlns:a="http://schemas.openxmlformats.org/drawingml/2006/main">
            <a:r>
              <a:t/>
            </a:r>
          </a:p>
          <a:p xmlns:a="http://schemas.openxmlformats.org/drawingml/2006/main">
            <a:r>
              <a:t>SAY</a:t>
            </a:r>
          </a:p>
          <a:p xmlns:a="http://schemas.openxmlformats.org/drawingml/2006/main">
            <a:r>
              <a:t>For this project, committing the skill beside the app is the simplest shared home. A teammate receives the same code, rules, templates, and skill. A plugin can be useful later when the same package needs to span many projects.</a:t>
            </a:r>
          </a:p>
          <a:p xmlns:a="http://schemas.openxmlformats.org/drawingml/2006/main">
            <a:r>
              <a:t/>
            </a:r>
          </a:p>
          <a:p xmlns:a="http://schemas.openxmlformats.org/drawingml/2006/main">
            <a:r>
              <a:t>ON SCREEN</a:t>
            </a:r>
          </a:p>
          <a:p xmlns:a="http://schemas.openxmlformats.org/drawingml/2006/main">
            <a:r>
              <a:t>Show a pull request description with the changed behavior and the cases tested. Keep secret files out of the diff.</a:t>
            </a:r>
          </a:p>
          <a:p xmlns:a="http://schemas.openxmlformats.org/drawingml/2006/main">
            <a:r>
              <a:t/>
            </a:r>
          </a:p>
          <a:p xmlns:a="http://schemas.openxmlformats.org/drawingml/2006/main">
            <a:r>
              <a:t>CHECK BEFORE CONTINUING</a:t>
            </a:r>
          </a:p>
          <a:p xmlns:a="http://schemas.openxmlformats.org/drawingml/2006/main">
            <a:r>
              <a:t>A reviewed release includes the app, plan, design, .claude instructions, tests and startup guide.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Prepare the release in plain English</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https://cli.github.com/manual/gh_repo_create</a:t>
            </a:r>
          </a:p>
          <a:p xmlns:a="http://schemas.openxmlformats.org/drawingml/2006/main">
            <a:r>
              <a:t>Walkthrough Assets/00-course-map/START-HERE.md</a:t>
            </a:r>
          </a:p>
          <a:p xmlns:a="http://schemas.openxmlformats.org/drawingml/2006/main">
            <a:r>
              <a:t>Official github logo: https://brand.github.com/GitHub_Logos.zip</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146 | Create, iterate, and distribute skills | 3:30–3:31 (1 min)</a:t>
            </a:r>
          </a:p>
          <a:p xmlns:a="http://schemas.openxmlformats.org/drawingml/2006/main">
            <a:r>
              <a:t/>
            </a:r>
          </a:p>
          <a:p xmlns:a="http://schemas.openxmlformats.org/drawingml/2006/main">
            <a:r>
              <a:t>SAY</a:t>
            </a:r>
          </a:p>
          <a:p xmlns:a="http://schemas.openxmlformats.org/drawingml/2006/main">
            <a:r>
              <a:t>A release is more than uploading SKILL.md. It includes the method, the supporting files, and the instructions that remove guessing. We start with one teammate and use their first run to improve it. Completeness: includes the instructions around the skill. Review: ties sharing to a known, tested version.</a:t>
            </a:r>
          </a:p>
          <a:p xmlns:a="http://schemas.openxmlformats.org/drawingml/2006/main">
            <a:r>
              <a:t/>
            </a:r>
          </a:p>
          <a:p xmlns:a="http://schemas.openxmlformats.org/drawingml/2006/main">
            <a:r>
              <a:t>ON SCREEN</a:t>
            </a:r>
          </a:p>
          <a:p xmlns:a="http://schemas.openxmlformats.org/drawingml/2006/main">
            <a:r>
              <a:t>Open RELEASE.md and review the file list before approving repository changes.</a:t>
            </a:r>
          </a:p>
          <a:p xmlns:a="http://schemas.openxmlformats.org/drawingml/2006/main">
            <a:r>
              <a:t/>
            </a:r>
          </a:p>
          <a:p xmlns:a="http://schemas.openxmlformats.org/drawingml/2006/main">
            <a:r>
              <a:t>EXACT PROMPT</a:t>
            </a:r>
          </a:p>
          <a:p xmlns:a="http://schemas.openxmlformats.org/drawingml/2006/main">
            <a:r>
              <a:t>Prepare a reviewed release of the app and client-brief skill. Include setup, one example, permissions, known limitations, and the cases tested. Show the changed files and proposed version. After I approve them, create the versioned release and give me the teammate setup instructions.</a:t>
            </a:r>
          </a:p>
          <a:p xmlns:a="http://schemas.openxmlformats.org/drawingml/2006/main">
            <a:r>
              <a:t/>
            </a:r>
          </a:p>
          <a:p xmlns:a="http://schemas.openxmlformats.org/drawingml/2006/main">
            <a:r>
              <a:t>WHY THIS PROMPT</a:t>
            </a:r>
          </a:p>
          <a:p xmlns:a="http://schemas.openxmlformats.org/drawingml/2006/main">
            <a:r>
              <a:t>Completeness: includes the instructions around the skill.</a:t>
            </a:r>
          </a:p>
          <a:p xmlns:a="http://schemas.openxmlformats.org/drawingml/2006/main">
            <a:r>
              <a:t>Review: ties sharing to a known, tested version.</a:t>
            </a:r>
          </a:p>
          <a:p xmlns:a="http://schemas.openxmlformats.org/drawingml/2006/main">
            <a:r>
              <a:t/>
            </a:r>
          </a:p>
          <a:p xmlns:a="http://schemas.openxmlformats.org/drawingml/2006/main">
            <a:r>
              <a:t>CHECK BEFORE CONTINUING</a:t>
            </a:r>
          </a:p>
          <a:p xmlns:a="http://schemas.openxmlformats.org/drawingml/2006/main">
            <a:r>
              <a:t>The release points to one version and a setup another person can follow.</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teammate starts from a known version</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https://cli.github.com/manual/gh_repo_create</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147 | Create, iterate, and distribute skills | 3:31–3:32 (1 min)</a:t>
            </a:r>
          </a:p>
          <a:p xmlns:a="http://schemas.openxmlformats.org/drawingml/2006/main">
            <a:r>
              <a:t/>
            </a:r>
          </a:p>
          <a:p xmlns:a="http://schemas.openxmlformats.org/drawingml/2006/main">
            <a:r>
              <a:t>SAY</a:t>
            </a:r>
          </a:p>
          <a:p xmlns:a="http://schemas.openxmlformats.org/drawingml/2006/main">
            <a:r>
              <a:t>The released app should include a lockfile and documented prerequisites. The teaching kit uses built-in Node modules, so its README gives the simpler start command. For a real release, test the exact installation steps on a clean machine.</a:t>
            </a:r>
          </a:p>
          <a:p xmlns:a="http://schemas.openxmlformats.org/drawingml/2006/main">
            <a:r>
              <a:t/>
            </a:r>
          </a:p>
          <a:p xmlns:a="http://schemas.openxmlformats.org/drawingml/2006/main">
            <a:r>
              <a:t>ON SCREEN</a:t>
            </a:r>
          </a:p>
          <a:p xmlns:a="http://schemas.openxmlformats.org/drawingml/2006/main">
            <a:r>
              <a:t>Use a prepared private demo repository. Replace the placeholder URL with its real address in the teaching copy; do not invent a public course repository.</a:t>
            </a:r>
          </a:p>
          <a:p xmlns:a="http://schemas.openxmlformats.org/drawingml/2006/main">
            <a:r>
              <a:t/>
            </a:r>
          </a:p>
          <a:p xmlns:a="http://schemas.openxmlformats.org/drawingml/2006/main">
            <a:r>
              <a:t>EXACT PROMPT</a:t>
            </a:r>
          </a:p>
          <a:p xmlns:a="http://schemas.openxmlformats.org/drawingml/2006/main">
            <a:r>
              <a:t>Open the supplied Walkthrough Assets folder or clone the instructor’s reviewed repository. Read 00-course-map/START-HERE.md and follow its setup. Start Claude Code at the root and run /client-brief with Northstar and the prepared date.</a:t>
            </a:r>
          </a:p>
          <a:p xmlns:a="http://schemas.openxmlformats.org/drawingml/2006/main">
            <a:r>
              <a:t/>
            </a:r>
          </a:p>
          <a:p xmlns:a="http://schemas.openxmlformats.org/drawingml/2006/main">
            <a:r>
              <a:t>CHECK BEFORE CONTINUING</a:t>
            </a:r>
          </a:p>
          <a:p xmlns:a="http://schemas.openxmlformats.org/drawingml/2006/main">
            <a:r>
              <a:t>Use the supplied folder today. A repository URL and real version are supplied only for a published team release.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Package it for a teammate</a:t>
            </a:r>
          </a:p>
          <a:p xmlns:a="http://schemas.openxmlformats.org/drawingml/2006/main">
            <a:r>
              <a:t/>
            </a:r>
          </a:p>
          <a:p xmlns:a="http://schemas.openxmlformats.org/drawingml/2006/main">
            <a:r>
              <a:t>SOURCES / CONTEXT</a:t>
            </a:r>
          </a:p>
          <a:p xmlns:a="http://schemas.openxmlformats.org/drawingml/2006/main">
            <a:r>
              <a:t>https://cli.github.com/manual/gh_repo_create</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148 | Create, iterate, and distribute skills | 3:32–3:38 (6 min)</a:t>
            </a:r>
          </a:p>
          <a:p xmlns:a="http://schemas.openxmlformats.org/drawingml/2006/main">
            <a:r>
              <a:t/>
            </a:r>
          </a:p>
          <a:p xmlns:a="http://schemas.openxmlformats.org/drawingml/2006/main">
            <a:r>
              <a:t>SAY</a:t>
            </a:r>
          </a:p>
          <a:p xmlns:a="http://schemas.openxmlformats.org/drawingml/2006/main">
            <a:r>
              <a:t>A release is the method plus everything needed to use it. The README should show prerequisites, setup, the first command, expected output, and how to report a problem. A local tag is enough for the exercise if the remote is not ready.</a:t>
            </a:r>
          </a:p>
          <a:p xmlns:a="http://schemas.openxmlformats.org/drawingml/2006/main">
            <a:r>
              <a:t/>
            </a:r>
          </a:p>
          <a:p xmlns:a="http://schemas.openxmlformats.org/drawingml/2006/main">
            <a:r>
              <a:t>ON SCREEN</a:t>
            </a:r>
          </a:p>
          <a:p xmlns:a="http://schemas.openxmlformats.org/drawingml/2006/main">
            <a:r>
              <a:t>Use 00-course-map/labs/06-release.md. Require a setup path that works without asking the author.</a:t>
            </a:r>
          </a:p>
          <a:p xmlns:a="http://schemas.openxmlformats.org/drawingml/2006/main">
            <a:r>
              <a:t/>
            </a:r>
          </a:p>
          <a:p xmlns:a="http://schemas.openxmlformats.org/drawingml/2006/main">
            <a:r>
              <a:t>CHECK BEFORE CONTINUING</a:t>
            </a:r>
          </a:p>
          <a:p xmlns:a="http://schemas.openxmlformats.org/drawingml/2006/main">
            <a:r>
              <a:t>A local handoff another person can follow</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Keep the library useful</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149 | Create, iterate, and distribute skills | 3:38–3:39 (1 min)</a:t>
            </a:r>
          </a:p>
          <a:p xmlns:a="http://schemas.openxmlformats.org/drawingml/2006/main">
            <a:r>
              <a:t/>
            </a:r>
          </a:p>
          <a:p xmlns:a="http://schemas.openxmlformats.org/drawingml/2006/main">
            <a:r>
              <a:t>SAY</a:t>
            </a:r>
          </a:p>
          <a:p xmlns:a="http://schemas.openxmlformats.org/drawingml/2006/main">
            <a:r>
              <a:t>Skills decay when tools, commands, or team workflows change. Review the library based on actual usage and failures. Retire or archive obsolete methods visibly instead of leaving multiple conflicting versions installed.</a:t>
            </a:r>
          </a:p>
          <a:p xmlns:a="http://schemas.openxmlformats.org/drawingml/2006/main">
            <a:r>
              <a:t/>
            </a:r>
          </a:p>
          <a:p xmlns:a="http://schemas.openxmlformats.org/drawingml/2006/main">
            <a:r>
              <a:t>ON SCREEN</a:t>
            </a:r>
          </a:p>
          <a:p xmlns:a="http://schemas.openxmlformats.org/drawingml/2006/main">
            <a:r>
              <a:t>Name an owner and next review date for the course skill. Explain when project scope should become a shared plugin.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workflow ends with a useful brief</a:t>
            </a:r>
          </a:p>
          <a:p xmlns:a="http://schemas.openxmlformats.org/drawingml/2006/main">
            <a:r>
              <a:t/>
            </a:r>
          </a:p>
          <a:p xmlns:a="http://schemas.openxmlformats.org/drawingml/2006/main">
            <a:r>
              <a:t>SOURCES / CONTEXT</a:t>
            </a:r>
          </a:p>
          <a:p xmlns:a="http://schemas.openxmlformats.org/drawingml/2006/main">
            <a:r>
              <a:t>https://code.claude.com/docs/en/skills</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150 | Create, iterate, and distribute skills | 3:39–3:41 (2 min)</a:t>
            </a:r>
          </a:p>
          <a:p xmlns:a="http://schemas.openxmlformats.org/drawingml/2006/main">
            <a:r>
              <a:t/>
            </a:r>
          </a:p>
          <a:p xmlns:a="http://schemas.openxmlformats.org/drawingml/2006/main">
            <a:r>
              <a:t>SAY</a:t>
            </a:r>
          </a:p>
          <a:p xmlns:a="http://schemas.openxmlformats.org/drawingml/2006/main">
            <a:r>
              <a:t>We can now connect the whole story. The specification defines the job. The app brings the evidence together. Browser testing improves the journey. The skill produces a consistent brief. A reviewer saves the follow-up, and a teammate can reproduce the method.</a:t>
            </a:r>
          </a:p>
          <a:p xmlns:a="http://schemas.openxmlformats.org/drawingml/2006/main">
            <a:r>
              <a:t/>
            </a:r>
          </a:p>
          <a:p xmlns:a="http://schemas.openxmlformats.org/drawingml/2006/main">
            <a:r>
              <a:t>ON SCREEN</a:t>
            </a:r>
          </a:p>
          <a:p xmlns:a="http://schemas.openxmlformats.org/drawingml/2006/main">
            <a:r>
              <a:t>Run the end-to-end fixture path once. Name the corresponding plan, source, screen, skill, and saved task.</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What “ready to share” means</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151 | Create, iterate, and distribute skills | 3:41–3:42 (1 min)</a:t>
            </a:r>
          </a:p>
          <a:p xmlns:a="http://schemas.openxmlformats.org/drawingml/2006/main">
            <a:r>
              <a:t/>
            </a:r>
          </a:p>
          <a:p xmlns:a="http://schemas.openxmlformats.org/drawingml/2006/main">
            <a:r>
              <a:t>SAY</a:t>
            </a:r>
          </a:p>
          <a:p xmlns:a="http://schemas.openxmlformats.org/drawingml/2006/main">
            <a:r>
              <a:t>Do not equate publishing a repository with successful adoption. Watch one person use it for a real task, collect the friction, and improve the method before expanding access. For real data, complete the live and authorization checks first.</a:t>
            </a:r>
          </a:p>
          <a:p xmlns:a="http://schemas.openxmlformats.org/drawingml/2006/main">
            <a:r>
              <a:t/>
            </a:r>
          </a:p>
          <a:p xmlns:a="http://schemas.openxmlformats.org/drawingml/2006/main">
            <a:r>
              <a:t>ON SCREEN</a:t>
            </a:r>
          </a:p>
          <a:p xmlns:a="http://schemas.openxmlformats.org/drawingml/2006/main">
            <a:r>
              <a:t>Ask learners to name their pilot teammate and the first task they will observe.</a:t>
            </a:r>
          </a:p>
          <a:p xmlns:a="http://schemas.openxmlformats.org/drawingml/2006/main">
            <a:r>
              <a:t/>
            </a:r>
          </a:p>
          <a:p xmlns:a="http://schemas.openxmlformats.org/drawingml/2006/main">
            <a:r>
              <a:t>CHECK BEFORE CONTINUING</a:t>
            </a:r>
          </a:p>
          <a:p xmlns:a="http://schemas.openxmlformats.org/drawingml/2006/main">
            <a:r>
              <a:t>Start with one pilot teammate.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Skills Q&amp;A + reset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152 | Create, iterate, and distribute skills | 3:42–3:44 (2 min)</a:t>
            </a:r>
          </a:p>
          <a:p xmlns:a="http://schemas.openxmlformats.org/drawingml/2006/main">
            <a:r>
              <a:t/>
            </a:r>
          </a:p>
          <a:p xmlns:a="http://schemas.openxmlformats.org/drawingml/2006/main">
            <a:r>
              <a:t>SAY</a:t>
            </a:r>
          </a:p>
          <a:p xmlns:a="http://schemas.openxmlformats.org/drawingml/2006/main">
            <a:r>
              <a:t>Take questions on naming, arguments, scope, review, and distribution. Use the CRM example to keep answers concrete. We finish with one useful weekend build.</a:t>
            </a:r>
          </a:p>
          <a:p xmlns:a="http://schemas.openxmlformats.org/drawingml/2006/main">
            <a:r>
              <a:t/>
            </a:r>
          </a:p>
          <a:p xmlns:a="http://schemas.openxmlformats.org/drawingml/2006/main">
            <a:r>
              <a:t>ON SCREEN</a:t>
            </a:r>
          </a:p>
          <a:p xmlns:a="http://schemas.openxmlformats.org/drawingml/2006/main">
            <a:r>
              <a:t>Take one or two focused questions and protect the closing block.</a:t>
            </a:r>
          </a:p>
          <a:p xmlns:a="http://schemas.openxmlformats.org/drawingml/2006/main">
            <a:r>
              <a:t/>
            </a:r>
          </a:p>
          <a:p xmlns:a="http://schemas.openxmlformats.org/drawingml/2006/main">
            <a:r>
              <a:t>CHECK BEFORE CONTINUING</a:t>
            </a:r>
          </a:p>
          <a:p xmlns:a="http://schemas.openxmlformats.org/drawingml/2006/main">
            <a:r>
              <a:t>Next: your weekend build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A useful tool starts with a useful job</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153 | Your weekend build | 3:44–3:45:30 (1.5 min)</a:t>
            </a:r>
          </a:p>
          <a:p xmlns:a="http://schemas.openxmlformats.org/drawingml/2006/main">
            <a:r>
              <a:t/>
            </a:r>
          </a:p>
          <a:p xmlns:a="http://schemas.openxmlformats.org/drawingml/2006/main">
            <a:r>
              <a:t>SAY</a:t>
            </a:r>
          </a:p>
          <a:p xmlns:a="http://schemas.openxmlformats.org/drawingml/2006/main">
            <a:r>
              <a:t>A useful first version does not require a month-long runway. Keep the first job small, prepare the accounts, and use the checkpoints from today. Your weekend goal is one usable loop with enough evidence to show another person.</a:t>
            </a:r>
          </a:p>
          <a:p xmlns:a="http://schemas.openxmlformats.org/drawingml/2006/main">
            <a:r>
              <a:t/>
            </a:r>
          </a:p>
          <a:p xmlns:a="http://schemas.openxmlformats.org/drawingml/2006/main">
            <a:r>
              <a:t>ON SCREEN</a:t>
            </a:r>
          </a:p>
          <a:p xmlns:a="http://schemas.openxmlformats.org/drawingml/2006/main">
            <a:r>
              <a:t>Ask learners to write the job, the first user, and the smallest useful result.</a:t>
            </a:r>
          </a:p>
          <a:p xmlns:a="http://schemas.openxmlformats.org/drawingml/2006/main">
            <a:r>
              <a:t/>
            </a:r>
          </a:p>
          <a:p xmlns:a="http://schemas.openxmlformats.org/drawingml/2006/main">
            <a:r>
              <a:t>CHECK BEFORE CONTINUING</a:t>
            </a:r>
          </a:p>
          <a:p xmlns:a="http://schemas.openxmlformats.org/drawingml/2006/main">
            <a:r>
              <a:t>Choose one recurring task</a:t>
            </a:r>
          </a:p>
          <a:p xmlns:a="http://schemas.openxmlformats.org/drawingml/2006/main">
            <a:r>
              <a:t>you can improve this weekend.</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Your weekend build</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154 | Your weekend build | 3:45:30–3:48:30 (3 min)</a:t>
            </a:r>
          </a:p>
          <a:p xmlns:a="http://schemas.openxmlformats.org/drawingml/2006/main">
            <a:r>
              <a:t/>
            </a:r>
          </a:p>
          <a:p xmlns:a="http://schemas.openxmlformats.org/drawingml/2006/main">
            <a:r>
              <a:t>SAY</a:t>
            </a:r>
          </a:p>
          <a:p xmlns:a="http://schemas.openxmlformats.org/drawingml/2006/main">
            <a:r>
              <a:t>This is a suggested pace for a small first version with accounts ready. Friday defines the job. Saturday gets one loop working and checks it. Sunday packages the repeatable method and lets another person try it. If an integration blocks progress, keep the sample-data path and record the missing check rather than calling it complete.</a:t>
            </a:r>
          </a:p>
          <a:p xmlns:a="http://schemas.openxmlformats.org/drawingml/2006/main">
            <a:r>
              <a:t/>
            </a:r>
          </a:p>
          <a:p xmlns:a="http://schemas.openxmlformats.org/drawingml/2006/main">
            <a:r>
              <a:t>ON SCREEN</a:t>
            </a:r>
          </a:p>
          <a:p xmlns:a="http://schemas.openxmlformats.org/drawingml/2006/main">
            <a:r>
              <a:t>Choose the weekend and the person who will try the result. Circle the one integration that needs preparation.</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The complete build, with a check at each step</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155 | Build it for real | 3:48:30–3:49:30 (1 min)</a:t>
            </a:r>
          </a:p>
          <a:p xmlns:a="http://schemas.openxmlformats.org/drawingml/2006/main">
            <a:r>
              <a:t/>
            </a:r>
          </a:p>
          <a:p xmlns:a="http://schemas.openxmlformats.org/drawingml/2006/main">
            <a:r>
              <a:t>SAY</a:t>
            </a:r>
          </a:p>
          <a:p xmlns:a="http://schemas.openxmlformats.org/drawingml/2006/main">
            <a:r>
              <a:t>This is the whole route. The end-to-end guide links each step to its exact artifact and prompt. If you only want to run the finished reference, use the reference startup path. If you want to learn the construction process, use the separate rebuild path. The source code is included for exact reproduction; prose specifies behavior and design but does not guarantee an identical generated implementation.</a:t>
            </a:r>
          </a:p>
          <a:p xmlns:a="http://schemas.openxmlformats.org/drawingml/2006/main">
            <a:r>
              <a:t/>
            </a:r>
          </a:p>
          <a:p xmlns:a="http://schemas.openxmlformats.org/drawingml/2006/main">
            <a:r>
              <a:t>ON SCREEN</a:t>
            </a:r>
          </a:p>
          <a:p xmlns:a="http://schemas.openxmlformats.org/drawingml/2006/main">
            <a:r>
              <a:t>Open 00-course-map/END-TO-END.md and show the stage-to-file map.</a:t>
            </a:r>
          </a:p>
          <a:p xmlns:a="http://schemas.openxmlformats.org/drawingml/2006/main">
            <a:r>
              <a:t/>
            </a:r>
          </a:p>
          <a:p xmlns:a="http://schemas.openxmlformats.org/drawingml/2006/main">
            <a:r>
              <a:t>CHECK BEFORE CONTINUING</a:t>
            </a:r>
          </a:p>
          <a:p xmlns:a="http://schemas.openxmlformats.org/drawingml/2006/main">
            <a:r>
              <a:t>Every stage has an artifact and a result someone else can check.</a:t>
            </a:r>
          </a:p>
          <a:p xmlns:a="http://schemas.openxmlformats.org/drawingml/2006/main">
            <a:r>
              <a:t/>
            </a:r>
          </a:p>
          <a:p xmlns:a="http://schemas.openxmlformats.org/drawingml/2006/main">
            <a:r>
              <a:t>IF THE DEMO STALLS</a:t>
            </a:r>
          </a:p>
          <a:p xmlns:a="http://schemas.openxmlformats.org/drawingml/2006/main">
            <a:r>
              <a:t>Open the named file in the completed reference. Identify the unfinished step in your rebuild and record it before continuing.</a:t>
            </a:r>
          </a:p>
          <a:p xmlns:a="http://schemas.openxmlformats.org/drawingml/2006/main">
            <a:r>
              <a:t/>
            </a:r>
          </a:p>
          <a:p xmlns:a="http://schemas.openxmlformats.org/drawingml/2006/main">
            <a:r>
              <a:t>TRANSITION</a:t>
            </a:r>
          </a:p>
          <a:p xmlns:a="http://schemas.openxmlformats.org/drawingml/2006/main">
            <a:r>
              <a:t>Your ClientDesk course kit</a:t>
            </a:r>
          </a:p>
          <a:p xmlns:a="http://schemas.openxmlformats.org/drawingml/2006/main">
            <a:r>
              <a:t/>
            </a:r>
          </a:p>
          <a:p xmlns:a="http://schemas.openxmlformats.org/drawingml/2006/main">
            <a:r>
              <a:t>SOURCES / CONTEXT</a:t>
            </a:r>
          </a:p>
          <a:p xmlns:a="http://schemas.openxmlformats.org/drawingml/2006/main">
            <a:r>
              <a:t>Walkthrough Assets/00-course-map/END-TO-END.md</a:t>
            </a:r>
          </a:p>
          <a:p xmlns:a="http://schemas.openxmlformats.org/drawingml/2006/main">
            <a:r>
              <a:t>https://docs.railway.com/cli</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156 | Your weekend build | 3:49:30–3:52 (2.5 min)</a:t>
            </a:r>
          </a:p>
          <a:p xmlns:a="http://schemas.openxmlformats.org/drawingml/2006/main">
            <a:r>
              <a:t/>
            </a:r>
          </a:p>
          <a:p xmlns:a="http://schemas.openxmlformats.org/drawingml/2006/main">
            <a:r>
              <a:t>SAY</a:t>
            </a:r>
          </a:p>
          <a:p xmlns:a="http://schemas.openxmlformats.org/drawingml/2006/main">
            <a:r>
              <a:t>There is one current reference project. The course kit is a portable copy of Walkthrough Assets, with the same app, paths, skill and labs. The older simple app is archived, so learners do not choose between conflicting setup instructions.</a:t>
            </a:r>
          </a:p>
          <a:p xmlns:a="http://schemas.openxmlformats.org/drawingml/2006/main">
            <a:r>
              <a:t/>
            </a:r>
          </a:p>
          <a:p xmlns:a="http://schemas.openxmlformats.org/drawingml/2006/main">
            <a:r>
              <a:t>ON SCREEN</a:t>
            </a:r>
          </a:p>
          <a:p xmlns:a="http://schemas.openxmlformats.org/drawingml/2006/main">
            <a:r>
              <a:t>Open Walkthrough Assets/00-course-map/START-HERE.md. All course paths resolve inside that folder.</a:t>
            </a:r>
          </a:p>
          <a:p xmlns:a="http://schemas.openxmlformats.org/drawingml/2006/main">
            <a:r>
              <a:t/>
            </a:r>
          </a:p>
          <a:p xmlns:a="http://schemas.openxmlformats.org/drawingml/2006/main">
            <a:r>
              <a:t>CHECK BEFORE CONTINUING</a:t>
            </a:r>
          </a:p>
          <a:p xmlns:a="http://schemas.openxmlformats.org/drawingml/2006/main">
            <a:r>
              <a:t>Compare the visible result with the criteria on this slide before continuing.</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What will your team run next?</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157 | Your weekend build | 3:52–3:54 (2 min)</a:t>
            </a:r>
          </a:p>
          <a:p xmlns:a="http://schemas.openxmlformats.org/drawingml/2006/main">
            <a:r>
              <a:t/>
            </a:r>
          </a:p>
          <a:p xmlns:a="http://schemas.openxmlformats.org/drawingml/2006/main">
            <a:r>
              <a:t>SAY</a:t>
            </a:r>
          </a:p>
          <a:p xmlns:a="http://schemas.openxmlformats.org/drawingml/2006/main">
            <a:r>
              <a:t>Write the workflow, the person who owns it, and the date someone else will try it. That is a concrete next step you can act on after this course. Thank you for building along.</a:t>
            </a:r>
          </a:p>
          <a:p xmlns:a="http://schemas.openxmlformats.org/drawingml/2006/main">
            <a:r>
              <a:t/>
            </a:r>
          </a:p>
          <a:p xmlns:a="http://schemas.openxmlformats.org/drawingml/2006/main">
            <a:r>
              <a:t>ON SCREEN</a:t>
            </a:r>
          </a:p>
          <a:p xmlns:a="http://schemas.openxmlformats.org/drawingml/2006/main">
            <a:r>
              <a:t>Invite two commitments in chat, thank the audience, and finish at 3:30.</a:t>
            </a:r>
          </a:p>
          <a:p xmlns:a="http://schemas.openxmlformats.org/drawingml/2006/main">
            <a:r>
              <a:t/>
            </a:r>
          </a:p>
          <a:p xmlns:a="http://schemas.openxmlformats.org/drawingml/2006/main">
            <a:r>
              <a:t>CHECK BEFORE CONTINUING</a:t>
            </a:r>
          </a:p>
          <a:p xmlns:a="http://schemas.openxmlformats.org/drawingml/2006/main">
            <a:r>
              <a:t>One workflow. One owner. One review date.</a:t>
            </a:r>
          </a:p>
          <a:p xmlns:a="http://schemas.openxmlformats.org/drawingml/2006/main">
            <a:r>
              <a:t/>
            </a:r>
          </a:p>
          <a:p xmlns:a="http://schemas.openxmlformats.org/drawingml/2006/main">
            <a:r>
              <a:t>IF THE DEMO STALLS</a:t>
            </a:r>
          </a:p>
          <a:p xmlns:a="http://schemas.openxmlformats.org/drawingml/2006/main">
            <a:r>
              <a:t>Use the corresponding file in the completed Walkthrough Assets reference. State which live step is unfinished and record it before moving on.</a:t>
            </a:r>
          </a:p>
          <a:p xmlns:a="http://schemas.openxmlformats.org/drawingml/2006/main">
            <a:r>
              <a:t/>
            </a:r>
          </a:p>
          <a:p xmlns:a="http://schemas.openxmlformats.org/drawingml/2006/main">
            <a:r>
              <a:t>TRANSITION</a:t>
            </a:r>
          </a:p>
          <a:p xmlns:a="http://schemas.openxmlformats.org/drawingml/2006/main">
            <a:r>
              <a:t>End the formal session.</a:t>
            </a:r>
          </a:p>
          <a:p xmlns:a="http://schemas.openxmlformats.org/drawingml/2006/main">
            <a:r>
              <a:t/>
            </a:r>
          </a:p>
          <a:p xmlns:a="http://schemas.openxmlformats.org/drawingml/2006/main">
            <a:r>
              <a:t>SOURCES / CONTEXT</a:t>
            </a:r>
          </a:p>
          <a:p xmlns:a="http://schemas.openxmlformats.org/drawingml/2006/main">
            <a:r>
              <a:t>Walkthrough Assets/00-course-map/START-HERE.md</a:t>
            </a:r>
          </a:p>
          <a:p xmlns:a="http://schemas.openxmlformats.org/drawingml/2006/main">
            <a:r>
              <a:t/>
            </a:r>
          </a:p>
          <a:p xmlns:a="http://schemas.openxmlformats.org/drawingml/2006/main">
            <a:r>
              <a:t>The screenshots show the actual navy reference build with fictional practice records. Visible dates are capture examples and vary with the workspace. The classroom follows sample imports; live provider reads are an optional separately verified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3398eebfd74d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f6a7a2ebfa4b3e" /><Relationship Type="http://schemas.openxmlformats.org/officeDocument/2006/relationships/slideLayout" Target="/ppt/slideLayouts/slideLayout1.xml" Id="R02f746270e414c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f746270e414c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be4427f8194a26" /><Relationship Type="http://schemas.openxmlformats.org/officeDocument/2006/relationships/image" Target="/ppt/media/image.png" Id="R62389e83b67745d8" /><Relationship Type="http://schemas.openxmlformats.org/officeDocument/2006/relationships/notesSlide" Target="/ppt/notesSlides/notesSlide1.xml" Id="Rbed0d04c114a47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b31611db464c2b" /><Relationship Type="http://schemas.openxmlformats.org/officeDocument/2006/relationships/notesSlide" Target="/ppt/notesSlides/notesSlide2.xml" Id="R520ceae4c75e4d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3e244aea2f4cdb" /><Relationship Type="http://schemas.openxmlformats.org/officeDocument/2006/relationships/notesSlide" Target="/ppt/notesSlides/notesSlide3.xml" Id="Ra1e8648669e841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bd69f719234a16" /><Relationship Type="http://schemas.openxmlformats.org/officeDocument/2006/relationships/notesSlide" Target="/ppt/notesSlides/notesSlide4.xml" Id="Rc00041e8de2649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d02355f8014902" /><Relationship Type="http://schemas.openxmlformats.org/officeDocument/2006/relationships/notesSlide" Target="/ppt/notesSlides/notesSlide5.xml" Id="R2998b05516c347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4f7d1d71044064" /><Relationship Type="http://schemas.openxmlformats.org/officeDocument/2006/relationships/notesSlide" Target="/ppt/notesSlides/notesSlide6.xml" Id="R9fd66ad75b7041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c9aa49c36b4174" /><Relationship Type="http://schemas.openxmlformats.org/officeDocument/2006/relationships/notesSlide" Target="/ppt/notesSlides/notesSlide7.xml" Id="Rf7ba38b0efc548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ff05633942453a" /><Relationship Type="http://schemas.openxmlformats.org/officeDocument/2006/relationships/notesSlide" Target="/ppt/notesSlides/notesSlide8.xml" Id="R6cc75fa3c8944f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a48cc4e8a945ba" /><Relationship Type="http://schemas.openxmlformats.org/officeDocument/2006/relationships/image" Target="/ppt/media/image.jpeg" Id="R1f370c720fe444c3" /><Relationship Type="http://schemas.openxmlformats.org/officeDocument/2006/relationships/notesSlide" Target="/ppt/notesSlides/notesSlide9.xml" Id="R2f4426c5fde84f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dbaa14ef44942e2" /><Relationship Type="http://schemas.openxmlformats.org/officeDocument/2006/relationships/notesSlide" Target="/ppt/notesSlides/notesSlide10.xml" Id="R5742f81824194d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253dbd08ee4efe" /><Relationship Type="http://schemas.openxmlformats.org/officeDocument/2006/relationships/notesSlide" Target="/ppt/notesSlides/notesSlide11.xml" Id="Rc5b62925fc5b47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e6616e0453434f" /><Relationship Type="http://schemas.openxmlformats.org/officeDocument/2006/relationships/image" Target="/ppt/media/image2.png" Id="Rd5a4c777538e4bed" /><Relationship Type="http://schemas.openxmlformats.org/officeDocument/2006/relationships/notesSlide" Target="/ppt/notesSlides/notesSlide12.xml" Id="Rd2d8d01e68cc40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bec0417f884a04" /><Relationship Type="http://schemas.openxmlformats.org/officeDocument/2006/relationships/notesSlide" Target="/ppt/notesSlides/notesSlide13.xml" Id="Ra82377c65b334e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c65f93fd074f5a" /><Relationship Type="http://schemas.openxmlformats.org/officeDocument/2006/relationships/notesSlide" Target="/ppt/notesSlides/notesSlide14.xml" Id="R88ed4d80235748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e8eac683b34726" /><Relationship Type="http://schemas.openxmlformats.org/officeDocument/2006/relationships/notesSlide" Target="/ppt/notesSlides/notesSlide15.xml" Id="Re0107df5e39043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d8c6e7f123445e" /><Relationship Type="http://schemas.openxmlformats.org/officeDocument/2006/relationships/notesSlide" Target="/ppt/notesSlides/notesSlide16.xml" Id="Rcbae8b9276cc48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7c6ce3bd15c4271" /><Relationship Type="http://schemas.openxmlformats.org/officeDocument/2006/relationships/notesSlide" Target="/ppt/notesSlides/notesSlide17.xml" Id="R2faccba8f2e84f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079d53747294f41" /><Relationship Type="http://schemas.openxmlformats.org/officeDocument/2006/relationships/notesSlide" Target="/ppt/notesSlides/notesSlide18.xml" Id="Rbe438d5d448f43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c70b97d39464708" /><Relationship Type="http://schemas.openxmlformats.org/officeDocument/2006/relationships/notesSlide" Target="/ppt/notesSlides/notesSlide19.xml" Id="R42f9b2c2db2f41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8a59549537749a9" /><Relationship Type="http://schemas.openxmlformats.org/officeDocument/2006/relationships/image" Target="/ppt/media/image3.png" Id="Rdacd48c49bd44aba" /><Relationship Type="http://schemas.openxmlformats.org/officeDocument/2006/relationships/image" Target="/ppt/media/image4.png" Id="R2639a1b93e4a4c02" /><Relationship Type="http://schemas.openxmlformats.org/officeDocument/2006/relationships/image" Target="/ppt/media/image5.png" Id="Rdca62bbf44a54120" /><Relationship Type="http://schemas.openxmlformats.org/officeDocument/2006/relationships/image" Target="/ppt/media/image6.png" Id="R20c49d2821c24a21" /><Relationship Type="http://schemas.openxmlformats.org/officeDocument/2006/relationships/notesSlide" Target="/ppt/notesSlides/notesSlide20.xml" Id="R8d7160f8c25344e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bb979d640924912" /><Relationship Type="http://schemas.openxmlformats.org/officeDocument/2006/relationships/notesSlide" Target="/ppt/notesSlides/notesSlide21.xml" Id="Rdd4a19973b9d45e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06a1d4a24fb4005" /><Relationship Type="http://schemas.openxmlformats.org/officeDocument/2006/relationships/notesSlide" Target="/ppt/notesSlides/notesSlide22.xml" Id="R3dc2a25a56de423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2dd231c49c7401f" /><Relationship Type="http://schemas.openxmlformats.org/officeDocument/2006/relationships/notesSlide" Target="/ppt/notesSlides/notesSlide23.xml" Id="Rf4204bf491c248c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9c3cb5cd834eca" /><Relationship Type="http://schemas.openxmlformats.org/officeDocument/2006/relationships/notesSlide" Target="/ppt/notesSlides/notesSlide24.xml" Id="R2d22fad8ed9f4b5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e39962cbeb34119" /><Relationship Type="http://schemas.openxmlformats.org/officeDocument/2006/relationships/notesSlide" Target="/ppt/notesSlides/notesSlide25.xml" Id="R43fe9d93fd2d47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508cab2eeaf4a89" /><Relationship Type="http://schemas.openxmlformats.org/officeDocument/2006/relationships/notesSlide" Target="/ppt/notesSlides/notesSlide26.xml" Id="R8d1f1298963240d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03b5b1a3fc94d03" /><Relationship Type="http://schemas.openxmlformats.org/officeDocument/2006/relationships/notesSlide" Target="/ppt/notesSlides/notesSlide27.xml" Id="Rfc55cf5bbe4d420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ed1bf1f6e974077" /><Relationship Type="http://schemas.openxmlformats.org/officeDocument/2006/relationships/notesSlide" Target="/ppt/notesSlides/notesSlide28.xml" Id="R26c07dce74314c2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c419940be564da8" /><Relationship Type="http://schemas.openxmlformats.org/officeDocument/2006/relationships/notesSlide" Target="/ppt/notesSlides/notesSlide29.xml" Id="Rc9925f2be8c448d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77f7fe7a60743fb" /><Relationship Type="http://schemas.openxmlformats.org/officeDocument/2006/relationships/notesSlide" Target="/ppt/notesSlides/notesSlide30.xml" Id="Rc440ae3b0ba4496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4a94d02cb5d446a" /><Relationship Type="http://schemas.openxmlformats.org/officeDocument/2006/relationships/notesSlide" Target="/ppt/notesSlides/notesSlide31.xml" Id="Rcf170a706a97424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c19d54d53894231" /><Relationship Type="http://schemas.openxmlformats.org/officeDocument/2006/relationships/notesSlide" Target="/ppt/notesSlides/notesSlide32.xml" Id="R7b0d7f8d11ff48c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5cab86b6994498f" /><Relationship Type="http://schemas.openxmlformats.org/officeDocument/2006/relationships/notesSlide" Target="/ppt/notesSlides/notesSlide33.xml" Id="Re0055e1dfb06486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ebdf873da624596" /><Relationship Type="http://schemas.openxmlformats.org/officeDocument/2006/relationships/notesSlide" Target="/ppt/notesSlides/notesSlide34.xml" Id="Ra19267c8a3e843c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833d85a64a34117" /><Relationship Type="http://schemas.openxmlformats.org/officeDocument/2006/relationships/notesSlide" Target="/ppt/notesSlides/notesSlide35.xml" Id="Rfb35cd7d7a3d4dd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070d6ca8bed495b" /><Relationship Type="http://schemas.openxmlformats.org/officeDocument/2006/relationships/notesSlide" Target="/ppt/notesSlides/notesSlide36.xml" Id="R4d53955524da4cd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6d963f260e34039" /><Relationship Type="http://schemas.openxmlformats.org/officeDocument/2006/relationships/notesSlide" Target="/ppt/notesSlides/notesSlide37.xml" Id="Rec29dd00e10541e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8acdd910b8646ad" /><Relationship Type="http://schemas.openxmlformats.org/officeDocument/2006/relationships/notesSlide" Target="/ppt/notesSlides/notesSlide38.xml" Id="R7f64f85198dd40b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fa37634f8ae44d9" /><Relationship Type="http://schemas.openxmlformats.org/officeDocument/2006/relationships/notesSlide" Target="/ppt/notesSlides/notesSlide39.xml" Id="R6caba0485a6b485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f9d380aa0904ab1" /><Relationship Type="http://schemas.openxmlformats.org/officeDocument/2006/relationships/notesSlide" Target="/ppt/notesSlides/notesSlide40.xml" Id="Rc77e2f03ced84f0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8bc4a84bc234cbc" /><Relationship Type="http://schemas.openxmlformats.org/officeDocument/2006/relationships/notesSlide" Target="/ppt/notesSlides/notesSlide41.xml" Id="R7a515b81d3a34d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4796e453c554a2b" /><Relationship Type="http://schemas.openxmlformats.org/officeDocument/2006/relationships/notesSlide" Target="/ppt/notesSlides/notesSlide42.xml" Id="R532457f058ae4ef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370ce482ebb4291" /><Relationship Type="http://schemas.openxmlformats.org/officeDocument/2006/relationships/notesSlide" Target="/ppt/notesSlides/notesSlide43.xml" Id="R3e9fd62fe7664e9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c202d613af2498e" /><Relationship Type="http://schemas.openxmlformats.org/officeDocument/2006/relationships/notesSlide" Target="/ppt/notesSlides/notesSlide44.xml" Id="R52d4c27382cb480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bc43e637d4d442b" /><Relationship Type="http://schemas.openxmlformats.org/officeDocument/2006/relationships/notesSlide" Target="/ppt/notesSlides/notesSlide45.xml" Id="R4d52948283dd4d9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9841aba54ed4093" /><Relationship Type="http://schemas.openxmlformats.org/officeDocument/2006/relationships/notesSlide" Target="/ppt/notesSlides/notesSlide46.xml" Id="Rf590bac59df448b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fc15148e89643fc" /><Relationship Type="http://schemas.openxmlformats.org/officeDocument/2006/relationships/notesSlide" Target="/ppt/notesSlides/notesSlide47.xml" Id="R08686a378f72431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bddd87fc0224b1b" /><Relationship Type="http://schemas.openxmlformats.org/officeDocument/2006/relationships/notesSlide" Target="/ppt/notesSlides/notesSlide48.xml" Id="Rc23295e828834e7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47debee56ea4e4e" /><Relationship Type="http://schemas.openxmlformats.org/officeDocument/2006/relationships/image" Target="/ppt/media/image7.png" Id="R0d9a805f4aa44614" /><Relationship Type="http://schemas.openxmlformats.org/officeDocument/2006/relationships/notesSlide" Target="/ppt/notesSlides/notesSlide49.xml" Id="R5a63b319938d4c4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0d628f50e5b4c16" /><Relationship Type="http://schemas.openxmlformats.org/officeDocument/2006/relationships/notesSlide" Target="/ppt/notesSlides/notesSlide50.xml" Id="Rfc4c101ed4c047a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9ddc568d7f6348d5" /><Relationship Type="http://schemas.openxmlformats.org/officeDocument/2006/relationships/notesSlide" Target="/ppt/notesSlides/notesSlide51.xml" Id="R7fc3f3d743d8418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5bf8008b5dc4140" /><Relationship Type="http://schemas.openxmlformats.org/officeDocument/2006/relationships/notesSlide" Target="/ppt/notesSlides/notesSlide52.xml" Id="R003892b5538f41f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0ebb5fd93b24822" /><Relationship Type="http://schemas.openxmlformats.org/officeDocument/2006/relationships/notesSlide" Target="/ppt/notesSlides/notesSlide53.xml" Id="R4610673625204b5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d33b033c04d4d1a" /><Relationship Type="http://schemas.openxmlformats.org/officeDocument/2006/relationships/image" Target="/ppt/media/image8.png" Id="R518fd269e63d47c7" /><Relationship Type="http://schemas.openxmlformats.org/officeDocument/2006/relationships/notesSlide" Target="/ppt/notesSlides/notesSlide54.xml" Id="R3e73db4ee3704b2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0528795734641ff" /><Relationship Type="http://schemas.openxmlformats.org/officeDocument/2006/relationships/image" Target="/ppt/media/image9.png" Id="R3a74381f2fe84ec2" /><Relationship Type="http://schemas.openxmlformats.org/officeDocument/2006/relationships/notesSlide" Target="/ppt/notesSlides/notesSlide55.xml" Id="R4a8b946484fe4cf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d8d1ac2edbb4751" /><Relationship Type="http://schemas.openxmlformats.org/officeDocument/2006/relationships/image" Target="/ppt/media/image10.png" Id="Rf4b2aa2f945f46aa" /><Relationship Type="http://schemas.openxmlformats.org/officeDocument/2006/relationships/notesSlide" Target="/ppt/notesSlides/notesSlide56.xml" Id="R68ee4fbb05c545b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a34d1afe121f405d" /><Relationship Type="http://schemas.openxmlformats.org/officeDocument/2006/relationships/notesSlide" Target="/ppt/notesSlides/notesSlide57.xml" Id="R371333ec25a14b4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5f408c1c2dee4a21" /><Relationship Type="http://schemas.openxmlformats.org/officeDocument/2006/relationships/notesSlide" Target="/ppt/notesSlides/notesSlide58.xml" Id="Rb0769fff168c4b1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2d63b31bffa4069" /><Relationship Type="http://schemas.openxmlformats.org/officeDocument/2006/relationships/notesSlide" Target="/ppt/notesSlides/notesSlide59.xml" Id="R1ba62059b3314ea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3d3da751e834721" /><Relationship Type="http://schemas.openxmlformats.org/officeDocument/2006/relationships/notesSlide" Target="/ppt/notesSlides/notesSlide60.xml" Id="R741f1edf564843a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702c6eadc304f07" /><Relationship Type="http://schemas.openxmlformats.org/officeDocument/2006/relationships/image" Target="/ppt/media/image2.jpeg" Id="Rd21d18e974194d68" /><Relationship Type="http://schemas.openxmlformats.org/officeDocument/2006/relationships/notesSlide" Target="/ppt/notesSlides/notesSlide61.xml" Id="R4343aa95162a425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9258845eef04cc2" /><Relationship Type="http://schemas.openxmlformats.org/officeDocument/2006/relationships/notesSlide" Target="/ppt/notesSlides/notesSlide62.xml" Id="R3cd90d986793448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0caf93ba0b2457f" /><Relationship Type="http://schemas.openxmlformats.org/officeDocument/2006/relationships/notesSlide" Target="/ppt/notesSlides/notesSlide63.xml" Id="R49519237f51e49b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7760bad9f42e4db7" /><Relationship Type="http://schemas.openxmlformats.org/officeDocument/2006/relationships/notesSlide" Target="/ppt/notesSlides/notesSlide64.xml" Id="R8731546d9bd94a8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f4ff7e63827249b7" /><Relationship Type="http://schemas.openxmlformats.org/officeDocument/2006/relationships/image" Target="/ppt/media/image3.jpeg" Id="Rd0be13ab4bc741a2" /><Relationship Type="http://schemas.openxmlformats.org/officeDocument/2006/relationships/notesSlide" Target="/ppt/notesSlides/notesSlide65.xml" Id="R0e8553b21a1541a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bba474ccdce04fca" /><Relationship Type="http://schemas.openxmlformats.org/officeDocument/2006/relationships/notesSlide" Target="/ppt/notesSlides/notesSlide66.xml" Id="Rca14da58227b482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1c6dc775c7d49a5" /><Relationship Type="http://schemas.openxmlformats.org/officeDocument/2006/relationships/image" Target="/ppt/media/image11.png" Id="R3a974108547c4cc1" /><Relationship Type="http://schemas.openxmlformats.org/officeDocument/2006/relationships/notesSlide" Target="/ppt/notesSlides/notesSlide67.xml" Id="R958ab3c2b41b475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8d623b37215f415b" /><Relationship Type="http://schemas.openxmlformats.org/officeDocument/2006/relationships/image" Target="/ppt/media/image4.jpeg" Id="Rffd37cdd2f064b8b" /><Relationship Type="http://schemas.openxmlformats.org/officeDocument/2006/relationships/notesSlide" Target="/ppt/notesSlides/notesSlide68.xml" Id="R6ba78fa30dcc476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408e9fa8a9d944b4" /><Relationship Type="http://schemas.openxmlformats.org/officeDocument/2006/relationships/image" Target="/ppt/media/image12.png" Id="Ra4dfd8c157cf40a6" /><Relationship Type="http://schemas.openxmlformats.org/officeDocument/2006/relationships/notesSlide" Target="/ppt/notesSlides/notesSlide69.xml" Id="R411cd26136314d3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d7366699975d4c3c" /><Relationship Type="http://schemas.openxmlformats.org/officeDocument/2006/relationships/notesSlide" Target="/ppt/notesSlides/notesSlide70.xml" Id="R1cc50d485815476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e78b24e1dd96489f" /><Relationship Type="http://schemas.openxmlformats.org/officeDocument/2006/relationships/image" Target="/ppt/media/image13.png" Id="R8b8e8dd9128e4f51" /><Relationship Type="http://schemas.openxmlformats.org/officeDocument/2006/relationships/notesSlide" Target="/ppt/notesSlides/notesSlide71.xml" Id="Rc415009cbda446ab"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2b7a166f8d7f4dd7" /><Relationship Type="http://schemas.openxmlformats.org/officeDocument/2006/relationships/notesSlide" Target="/ppt/notesSlides/notesSlide72.xml" Id="Ra11df1bbeee84b7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6ea2a0be33c14cb9" /><Relationship Type="http://schemas.openxmlformats.org/officeDocument/2006/relationships/notesSlide" Target="/ppt/notesSlides/notesSlide73.xml" Id="R6b866c063be44db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cb1678c49b4a4a38" /><Relationship Type="http://schemas.openxmlformats.org/officeDocument/2006/relationships/notesSlide" Target="/ppt/notesSlides/notesSlide74.xml" Id="Rce6e0a8cc01d488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cd116586d46e4240" /><Relationship Type="http://schemas.openxmlformats.org/officeDocument/2006/relationships/notesSlide" Target="/ppt/notesSlides/notesSlide75.xml" Id="R3cf24bff3156431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51c8ecc167be49ad" /><Relationship Type="http://schemas.openxmlformats.org/officeDocument/2006/relationships/notesSlide" Target="/ppt/notesSlides/notesSlide76.xml" Id="R3ac3bea8c8f4496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86ffbd96923b43a6" /><Relationship Type="http://schemas.openxmlformats.org/officeDocument/2006/relationships/notesSlide" Target="/ppt/notesSlides/notesSlide77.xml" Id="R67dab73fc3ee4839"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2939a5ec41e44551" /><Relationship Type="http://schemas.openxmlformats.org/officeDocument/2006/relationships/notesSlide" Target="/ppt/notesSlides/notesSlide78.xml" Id="R98cbdb93192341f7"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24f840e4e7d346cb" /><Relationship Type="http://schemas.openxmlformats.org/officeDocument/2006/relationships/notesSlide" Target="/ppt/notesSlides/notesSlide79.xml" Id="R50b4e8e2f4af490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172fd5535a1f4050" /><Relationship Type="http://schemas.openxmlformats.org/officeDocument/2006/relationships/notesSlide" Target="/ppt/notesSlides/notesSlide80.xml" Id="R148ec9bf6e2b4088"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914f0e913eff4a61" /><Relationship Type="http://schemas.openxmlformats.org/officeDocument/2006/relationships/notesSlide" Target="/ppt/notesSlides/notesSlide81.xml" Id="R86e1c23ef65d4e1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42de923cceab4b15" /><Relationship Type="http://schemas.openxmlformats.org/officeDocument/2006/relationships/image" Target="/ppt/media/image5.jpeg" Id="Rc81afb44d5fe41df" /><Relationship Type="http://schemas.openxmlformats.org/officeDocument/2006/relationships/notesSlide" Target="/ppt/notesSlides/notesSlide82.xml" Id="R625c4c5ee92845c5"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940e319f269e4e02" /><Relationship Type="http://schemas.openxmlformats.org/officeDocument/2006/relationships/image" Target="/ppt/media/image6.jpeg" Id="R85ed23e08b454d6a" /><Relationship Type="http://schemas.openxmlformats.org/officeDocument/2006/relationships/notesSlide" Target="/ppt/notesSlides/notesSlide83.xml" Id="R16a28bf4bd6a487e"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187629ff42784fb6" /><Relationship Type="http://schemas.openxmlformats.org/officeDocument/2006/relationships/notesSlide" Target="/ppt/notesSlides/notesSlide84.xml" Id="R1b2a0c3865894fc2"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0a90d2ef1e8e4c58" /><Relationship Type="http://schemas.openxmlformats.org/officeDocument/2006/relationships/image" Target="/ppt/media/image14.png" Id="Rad2dc40563b64f0d" /><Relationship Type="http://schemas.openxmlformats.org/officeDocument/2006/relationships/notesSlide" Target="/ppt/notesSlides/notesSlide85.xml" Id="Rfbb05aa0455d44b1"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ea88a0a9ca5b401a" /><Relationship Type="http://schemas.openxmlformats.org/officeDocument/2006/relationships/notesSlide" Target="/ppt/notesSlides/notesSlide86.xml" Id="R337142f660ec4bbd"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6ff44dd0e6ff4503" /><Relationship Type="http://schemas.openxmlformats.org/officeDocument/2006/relationships/notesSlide" Target="/ppt/notesSlides/notesSlide87.xml" Id="Rb9518429dd384eb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16d5a38626fa4319" /><Relationship Type="http://schemas.openxmlformats.org/officeDocument/2006/relationships/notesSlide" Target="/ppt/notesSlides/notesSlide88.xml" Id="R6518aaaa6bd7425f"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d4c34df2fcc3423f" /><Relationship Type="http://schemas.openxmlformats.org/officeDocument/2006/relationships/notesSlide" Target="/ppt/notesSlides/notesSlide89.xml" Id="Rc5c4d27e776a463d"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8095465f2e454937" /><Relationship Type="http://schemas.openxmlformats.org/officeDocument/2006/relationships/notesSlide" Target="/ppt/notesSlides/notesSlide90.xml" Id="Ra463732f1bbc46db"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4e6254f41bb84050" /><Relationship Type="http://schemas.openxmlformats.org/officeDocument/2006/relationships/notesSlide" Target="/ppt/notesSlides/notesSlide91.xml" Id="R67ad423ec5b94092"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7f4fb3674e034974" /><Relationship Type="http://schemas.openxmlformats.org/officeDocument/2006/relationships/notesSlide" Target="/ppt/notesSlides/notesSlide92.xml" Id="R247dc8ff93fc434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fdd7be6a258f46f2" /><Relationship Type="http://schemas.openxmlformats.org/officeDocument/2006/relationships/notesSlide" Target="/ppt/notesSlides/notesSlide93.xml" Id="Rfd3e7b8b0b8d4be3"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09a36d42881b4bad" /><Relationship Type="http://schemas.openxmlformats.org/officeDocument/2006/relationships/notesSlide" Target="/ppt/notesSlides/notesSlide94.xml" Id="R5be02c2f29b44d12"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9df1f96a9cf7427f" /><Relationship Type="http://schemas.openxmlformats.org/officeDocument/2006/relationships/notesSlide" Target="/ppt/notesSlides/notesSlide95.xml" Id="R16a3ccb1d28b4e24"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4372ae02902d4381" /><Relationship Type="http://schemas.openxmlformats.org/officeDocument/2006/relationships/notesSlide" Target="/ppt/notesSlides/notesSlide96.xml" Id="R597daff900e14b26"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9b95c7bafed444a4" /><Relationship Type="http://schemas.openxmlformats.org/officeDocument/2006/relationships/notesSlide" Target="/ppt/notesSlides/notesSlide97.xml" Id="R33ca0bb00a894d4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b67d3c554bbb4fb4" /><Relationship Type="http://schemas.openxmlformats.org/officeDocument/2006/relationships/notesSlide" Target="/ppt/notesSlides/notesSlide98.xml" Id="R9452435debd84022"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6e68c7c9e1074954" /><Relationship Type="http://schemas.openxmlformats.org/officeDocument/2006/relationships/notesSlide" Target="/ppt/notesSlides/notesSlide99.xml" Id="R102fc783401d4df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b85b1a5a9bf34672" /><Relationship Type="http://schemas.openxmlformats.org/officeDocument/2006/relationships/notesSlide" Target="/ppt/notesSlides/notesSlide100.xml" Id="R3f53c3e3a17f4258"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2ef2d297fac14342" /><Relationship Type="http://schemas.openxmlformats.org/officeDocument/2006/relationships/image" Target="/ppt/media/image15.png" Id="R9363ea13ef0e4041" /><Relationship Type="http://schemas.openxmlformats.org/officeDocument/2006/relationships/notesSlide" Target="/ppt/notesSlides/notesSlide101.xml" Id="Rb93cb9f009c64787"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3a5a7f5796714bd9" /><Relationship Type="http://schemas.openxmlformats.org/officeDocument/2006/relationships/image" Target="/ppt/media/image7.jpeg" Id="R9ca01feea3004096" /><Relationship Type="http://schemas.openxmlformats.org/officeDocument/2006/relationships/notesSlide" Target="/ppt/notesSlides/notesSlide102.xml" Id="Rd387e4bb113d4170"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1f6caea9899349fc" /><Relationship Type="http://schemas.openxmlformats.org/officeDocument/2006/relationships/image" Target="/ppt/media/image8.jpeg" Id="R726b94daea1442bf" /><Relationship Type="http://schemas.openxmlformats.org/officeDocument/2006/relationships/notesSlide" Target="/ppt/notesSlides/notesSlide103.xml" Id="Ra8af05603baf4f6b"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79ce806a69534fb6" /><Relationship Type="http://schemas.openxmlformats.org/officeDocument/2006/relationships/notesSlide" Target="/ppt/notesSlides/notesSlide104.xml" Id="R75032a1439924a39"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aea03233a9e84fe1" /><Relationship Type="http://schemas.openxmlformats.org/officeDocument/2006/relationships/notesSlide" Target="/ppt/notesSlides/notesSlide105.xml" Id="R142ed3c52b0f4cce"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5e89eea35c764883" /><Relationship Type="http://schemas.openxmlformats.org/officeDocument/2006/relationships/notesSlide" Target="/ppt/notesSlides/notesSlide106.xml" Id="Raaa71f1fdaeb4779"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1967b8cb427241b2" /><Relationship Type="http://schemas.openxmlformats.org/officeDocument/2006/relationships/notesSlide" Target="/ppt/notesSlides/notesSlide107.xml" Id="R6680c099413343c8"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b018ccd6e80d4b5f" /><Relationship Type="http://schemas.openxmlformats.org/officeDocument/2006/relationships/notesSlide" Target="/ppt/notesSlides/notesSlide108.xml" Id="Rce03eb93551a441c"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1e62e039b9754762" /><Relationship Type="http://schemas.openxmlformats.org/officeDocument/2006/relationships/notesSlide" Target="/ppt/notesSlides/notesSlide109.xml" Id="Rc3b27278f537473d"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bd7d730ae1c34983" /><Relationship Type="http://schemas.openxmlformats.org/officeDocument/2006/relationships/notesSlide" Target="/ppt/notesSlides/notesSlide110.xml" Id="Rdea2536c95f34cd4"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61b4e23be78e4c88" /><Relationship Type="http://schemas.openxmlformats.org/officeDocument/2006/relationships/notesSlide" Target="/ppt/notesSlides/notesSlide111.xml" Id="R56d6a1e8fe894e1d"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457360cbb1734787" /><Relationship Type="http://schemas.openxmlformats.org/officeDocument/2006/relationships/notesSlide" Target="/ppt/notesSlides/notesSlide112.xml" Id="R0bef6a0794a543e1"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3dfe12a470ea4afb" /><Relationship Type="http://schemas.openxmlformats.org/officeDocument/2006/relationships/notesSlide" Target="/ppt/notesSlides/notesSlide113.xml" Id="Re345b619ef1a4b53"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ff079fe19a2a4990" /><Relationship Type="http://schemas.openxmlformats.org/officeDocument/2006/relationships/notesSlide" Target="/ppt/notesSlides/notesSlide114.xml" Id="R8cdc20af1a284ef1"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5cf9caed2b704081" /><Relationship Type="http://schemas.openxmlformats.org/officeDocument/2006/relationships/notesSlide" Target="/ppt/notesSlides/notesSlide115.xml" Id="Re6592ffc38a34673"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dd60dd23a06044c0" /><Relationship Type="http://schemas.openxmlformats.org/officeDocument/2006/relationships/notesSlide" Target="/ppt/notesSlides/notesSlide116.xml" Id="Rec006ddb63f24c40"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842bad0978784d63" /><Relationship Type="http://schemas.openxmlformats.org/officeDocument/2006/relationships/notesSlide" Target="/ppt/notesSlides/notesSlide117.xml" Id="Rba5be3b61c594f9d"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34283149c19f4b38" /><Relationship Type="http://schemas.openxmlformats.org/officeDocument/2006/relationships/notesSlide" Target="/ppt/notesSlides/notesSlide118.xml" Id="Rb83a35af874c4cde"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148c1cdf1127413f" /><Relationship Type="http://schemas.openxmlformats.org/officeDocument/2006/relationships/notesSlide" Target="/ppt/notesSlides/notesSlide119.xml" Id="R7913df502801426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2832507131f445d1" /><Relationship Type="http://schemas.openxmlformats.org/officeDocument/2006/relationships/image" Target="/ppt/media/image16.png" Id="R818b4e5806d9489f" /><Relationship Type="http://schemas.openxmlformats.org/officeDocument/2006/relationships/notesSlide" Target="/ppt/notesSlides/notesSlide120.xml" Id="R8079273d68a44012"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d5ab2c9bc84845f3" /><Relationship Type="http://schemas.openxmlformats.org/officeDocument/2006/relationships/notesSlide" Target="/ppt/notesSlides/notesSlide121.xml" Id="R4b2fe480d30644a7"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df048ec894134113" /><Relationship Type="http://schemas.openxmlformats.org/officeDocument/2006/relationships/notesSlide" Target="/ppt/notesSlides/notesSlide122.xml" Id="R422e10ea23b440dc"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d45170e235e04c3d" /><Relationship Type="http://schemas.openxmlformats.org/officeDocument/2006/relationships/notesSlide" Target="/ppt/notesSlides/notesSlide123.xml" Id="Rf0463899a8f04b97"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c5de09a71fe246f1" /><Relationship Type="http://schemas.openxmlformats.org/officeDocument/2006/relationships/notesSlide" Target="/ppt/notesSlides/notesSlide124.xml" Id="Ra504b3a75d4e4ee8"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17e7b9623f4640ea" /><Relationship Type="http://schemas.openxmlformats.org/officeDocument/2006/relationships/notesSlide" Target="/ppt/notesSlides/notesSlide125.xml" Id="Re6ab6347daf8439c"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e6cc8fed1e214b46" /><Relationship Type="http://schemas.openxmlformats.org/officeDocument/2006/relationships/notesSlide" Target="/ppt/notesSlides/notesSlide126.xml" Id="Rae5477cbc6134694"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aac2e893d3a44e72" /><Relationship Type="http://schemas.openxmlformats.org/officeDocument/2006/relationships/notesSlide" Target="/ppt/notesSlides/notesSlide127.xml" Id="R140f75bb8fa64448"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6b8658ce73dc48d7" /><Relationship Type="http://schemas.openxmlformats.org/officeDocument/2006/relationships/notesSlide" Target="/ppt/notesSlides/notesSlide128.xml" Id="Rda46684524d74d37"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f48cc85579e24ff0" /><Relationship Type="http://schemas.openxmlformats.org/officeDocument/2006/relationships/notesSlide" Target="/ppt/notesSlides/notesSlide129.xml" Id="Rba93eea2d4cc49c6"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9483c97cde3d4139" /><Relationship Type="http://schemas.openxmlformats.org/officeDocument/2006/relationships/notesSlide" Target="/ppt/notesSlides/notesSlide130.xml" Id="R6026ba1a53384724"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ae79149f06884abb" /><Relationship Type="http://schemas.openxmlformats.org/officeDocument/2006/relationships/notesSlide" Target="/ppt/notesSlides/notesSlide131.xml" Id="Rb4cd080d7cc3406f"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fe94cc8bbdee458a" /><Relationship Type="http://schemas.openxmlformats.org/officeDocument/2006/relationships/notesSlide" Target="/ppt/notesSlides/notesSlide132.xml" Id="R97365874c06b454b"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95cc02640f8b4bd8" /><Relationship Type="http://schemas.openxmlformats.org/officeDocument/2006/relationships/notesSlide" Target="/ppt/notesSlides/notesSlide133.xml" Id="Rcee563761b504669"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46a8802571b64909" /><Relationship Type="http://schemas.openxmlformats.org/officeDocument/2006/relationships/notesSlide" Target="/ppt/notesSlides/notesSlide134.xml" Id="Reb76de8587a541fa"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882b356a6df44463" /><Relationship Type="http://schemas.openxmlformats.org/officeDocument/2006/relationships/notesSlide" Target="/ppt/notesSlides/notesSlide135.xml" Id="Ra81ec622c02640ce"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ea47f30d5b474d86" /><Relationship Type="http://schemas.openxmlformats.org/officeDocument/2006/relationships/notesSlide" Target="/ppt/notesSlides/notesSlide136.xml" Id="Rb973652723024cfc"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bdd6653ec4974afa" /><Relationship Type="http://schemas.openxmlformats.org/officeDocument/2006/relationships/notesSlide" Target="/ppt/notesSlides/notesSlide137.xml" Id="R4e58093e7a4d4c16"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c37a81c6f8b24a6a" /><Relationship Type="http://schemas.openxmlformats.org/officeDocument/2006/relationships/notesSlide" Target="/ppt/notesSlides/notesSlide138.xml" Id="Re633a164d54e4ffb"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82f6d6724d6e4513" /><Relationship Type="http://schemas.openxmlformats.org/officeDocument/2006/relationships/notesSlide" Target="/ppt/notesSlides/notesSlide139.xml" Id="R1c8fe3c397ce4830"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1c6cb337ccf0431e" /><Relationship Type="http://schemas.openxmlformats.org/officeDocument/2006/relationships/notesSlide" Target="/ppt/notesSlides/notesSlide140.xml" Id="R9c1eab4eadea4011"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b6de82c5dde544ac" /><Relationship Type="http://schemas.openxmlformats.org/officeDocument/2006/relationships/notesSlide" Target="/ppt/notesSlides/notesSlide141.xml" Id="R22507f9ff6fe4e6a"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66081512db6c4994" /><Relationship Type="http://schemas.openxmlformats.org/officeDocument/2006/relationships/notesSlide" Target="/ppt/notesSlides/notesSlide142.xml" Id="R4904b692c66d436f"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7ac4ca326c314b50" /><Relationship Type="http://schemas.openxmlformats.org/officeDocument/2006/relationships/notesSlide" Target="/ppt/notesSlides/notesSlide143.xml" Id="Rfb97a123ee134d58"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2122a0ff46684878" /><Relationship Type="http://schemas.openxmlformats.org/officeDocument/2006/relationships/image" Target="/ppt/media/image17.png" Id="Rd89d774960f44582" /><Relationship Type="http://schemas.openxmlformats.org/officeDocument/2006/relationships/notesSlide" Target="/ppt/notesSlides/notesSlide144.xml" Id="R21815c4a453c46f7"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9bdc6c90cff84d1b" /><Relationship Type="http://schemas.openxmlformats.org/officeDocument/2006/relationships/image" Target="/ppt/media/image18.png" Id="R6c916b55d8384f7e" /><Relationship Type="http://schemas.openxmlformats.org/officeDocument/2006/relationships/notesSlide" Target="/ppt/notesSlides/notesSlide145.xml" Id="R453079579b584147"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3746bc0a5c0c4eb7" /><Relationship Type="http://schemas.openxmlformats.org/officeDocument/2006/relationships/notesSlide" Target="/ppt/notesSlides/notesSlide146.xml" Id="Rd6e3fe632db2466f"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87974c3c25b04561" /><Relationship Type="http://schemas.openxmlformats.org/officeDocument/2006/relationships/notesSlide" Target="/ppt/notesSlides/notesSlide147.xml" Id="Rc69b371fd35c489a"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70bd66a0ea7d429a" /><Relationship Type="http://schemas.openxmlformats.org/officeDocument/2006/relationships/notesSlide" Target="/ppt/notesSlides/notesSlide148.xml" Id="R35677efb06864aed"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9508d700f2a84a72" /><Relationship Type="http://schemas.openxmlformats.org/officeDocument/2006/relationships/notesSlide" Target="/ppt/notesSlides/notesSlide149.xml" Id="R0955473fd52e4fd3"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533803ced60f43dc" /><Relationship Type="http://schemas.openxmlformats.org/officeDocument/2006/relationships/notesSlide" Target="/ppt/notesSlides/notesSlide150.xml" Id="Rddfe23200ac542dc"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6f820633984448a0" /><Relationship Type="http://schemas.openxmlformats.org/officeDocument/2006/relationships/notesSlide" Target="/ppt/notesSlides/notesSlide151.xml" Id="Rfe7700b449814819"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xml" Id="Rda60a5c170e943e6" /><Relationship Type="http://schemas.openxmlformats.org/officeDocument/2006/relationships/notesSlide" Target="/ppt/notesSlides/notesSlide152.xml" Id="R3961f7f96fe24845"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xml" Id="Rb4f6153b09d74fb2" /><Relationship Type="http://schemas.openxmlformats.org/officeDocument/2006/relationships/notesSlide" Target="/ppt/notesSlides/notesSlide153.xml" Id="Rfcbcc1c453154226"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xml" Id="Rabf4b1d27a9948cf" /><Relationship Type="http://schemas.openxmlformats.org/officeDocument/2006/relationships/notesSlide" Target="/ppt/notesSlides/notesSlide154.xml" Id="R6a947799ec72495b"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xml" Id="Rb50bf14bf1c6416f" /><Relationship Type="http://schemas.openxmlformats.org/officeDocument/2006/relationships/notesSlide" Target="/ppt/notesSlides/notesSlide155.xml" Id="Rb4790ec68fab4db4"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xml" Id="R723c59447b014b2f" /><Relationship Type="http://schemas.openxmlformats.org/officeDocument/2006/relationships/notesSlide" Target="/ppt/notesSlides/notesSlide156.xml" Id="R6b1c5beaff9944d2"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xml" Id="R4d912f3eca8a4673" /><Relationship Type="http://schemas.openxmlformats.org/officeDocument/2006/relationships/notesSlide" Target="/ppt/notesSlides/notesSlide157.xml" Id="Ra7e4bb7735434098" /></Relationships>
</file>

<file path=ppt/slides/slide1.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2389e83b67745d8"/>
          <a:srcRect xmlns:a="http://schemas.openxmlformats.org/drawingml/2006/main" l="4877" t="0" r="487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F48AFFE1-8645-49E8-9EB1-68C91877C178}"/>
              </a:ext>
            </a:extLst>
          </p:cNvPr>
          <p:cNvSpPr>
            <a:spLocks xmlns:a="http://schemas.openxmlformats.org/drawingml/2006/main" noGrp="1"/>
          </p:cNvSpPr>
          <p:nvPr/>
        </p:nvSpPr>
        <p:spPr>
          <a:xfrm xmlns:a="http://schemas.openxmlformats.org/drawingml/2006/main">
            <a:off x="609600" y="4953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i="0">
                <a:solidFill>
                  <a:srgbClr val="EEEAE3"/>
                </a:solidFill>
                <a:latin typeface="Helvetica Neue"/>
                <a:ea typeface="Helvetica Neue"/>
                <a:cs typeface="Helvetica Neue"/>
              </a:defRPr>
            </a:pPr>
            <a:r>
              <a:rPr sz="1650" b="1" i="0">
                <a:solidFill>
                  <a:srgbClr val="EEEAE3"/>
                </a:solidFill>
                <a:latin typeface="Helvetica Neue"/>
                <a:ea typeface="Helvetica Neue"/>
                <a:cs typeface="Helvetica Neue"/>
              </a:rPr>
              <a:t>O’REILLY LIVE</a:t>
            </a:r>
          </a:p>
        </p:txBody>
      </p:sp>
      <p:sp>
        <p:nvSpPr>
          <p:cNvPr id="3" name="text-1">
            <a:extLst xmlns:a="http://schemas.openxmlformats.org/drawingml/2006/main">
              <a:ext uri="{FF2B5EF4-FFF2-40B4-BE49-F238E27FC236}">
                <a16:creationId xmlns:a16="http://schemas.microsoft.com/office/drawing/2014/main" id="{1F3DA4F2-C152-4166-914A-74441810133C}"/>
              </a:ext>
            </a:extLst>
          </p:cNvPr>
          <p:cNvSpPr>
            <a:spLocks xmlns:a="http://schemas.openxmlformats.org/drawingml/2006/main" noGrp="1"/>
          </p:cNvSpPr>
          <p:nvPr/>
        </p:nvSpPr>
        <p:spPr>
          <a:xfrm xmlns:a="http://schemas.openxmlformats.org/drawingml/2006/main">
            <a:off x="609600" y="1524000"/>
            <a:ext cx="6477000" cy="327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i="0">
                <a:solidFill>
                  <a:srgbClr val="FFFFFF"/>
                </a:solidFill>
                <a:latin typeface="Avenir Next"/>
                <a:ea typeface="Avenir Next"/>
                <a:cs typeface="Avenir Next"/>
              </a:defRPr>
            </a:pPr>
            <a:r>
              <a:rPr sz="6300" b="1" i="0">
                <a:solidFill>
                  <a:srgbClr val="FFFFFF"/>
                </a:solidFill>
                <a:latin typeface="Avenir Next"/>
                <a:ea typeface="Avenir Next"/>
                <a:cs typeface="Avenir Next"/>
              </a:rPr>
              <a:t>Claude Code</a:t>
            </a:r>
          </a:p>
          <a:p xmlns:a="http://schemas.openxmlformats.org/drawingml/2006/main">
            <a:pPr>
              <a:defRPr sz="6300" b="1" i="0">
                <a:solidFill>
                  <a:srgbClr val="FFFFFF"/>
                </a:solidFill>
                <a:latin typeface="Avenir Next"/>
                <a:ea typeface="Avenir Next"/>
                <a:cs typeface="Avenir Next"/>
              </a:defRPr>
            </a:pPr>
            <a:r>
              <a:rPr sz="6300" b="1" i="0">
                <a:solidFill>
                  <a:srgbClr val="FFFFFF"/>
                </a:solidFill>
                <a:latin typeface="Avenir Next"/>
                <a:ea typeface="Avenir Next"/>
                <a:cs typeface="Avenir Next"/>
              </a:rPr>
              <a:t>for Everyone:</a:t>
            </a:r>
          </a:p>
          <a:p xmlns:a="http://schemas.openxmlformats.org/drawingml/2006/main">
            <a:pPr>
              <a:defRPr sz="6300" b="1" i="0">
                <a:solidFill>
                  <a:srgbClr val="FFFFFF"/>
                </a:solidFill>
                <a:latin typeface="Avenir Next"/>
                <a:ea typeface="Avenir Next"/>
                <a:cs typeface="Avenir Next"/>
              </a:defRPr>
            </a:pPr>
            <a:r>
              <a:rPr sz="6300" b="1" i="0">
                <a:solidFill>
                  <a:srgbClr val="FFFFFF"/>
                </a:solidFill>
                <a:latin typeface="Avenir Next"/>
                <a:ea typeface="Avenir Next"/>
                <a:cs typeface="Avenir Next"/>
              </a:rPr>
              <a:t>Next Steps</a:t>
            </a:r>
          </a:p>
        </p:txBody>
      </p:sp>
      <p:sp>
        <p:nvSpPr>
          <p:cNvPr id="4" name="text-2">
            <a:extLst xmlns:a="http://schemas.openxmlformats.org/drawingml/2006/main">
              <a:ext uri="{FF2B5EF4-FFF2-40B4-BE49-F238E27FC236}">
                <a16:creationId xmlns:a16="http://schemas.microsoft.com/office/drawing/2014/main" id="{722BED23-CA48-4B72-AA83-E43F28359E47}"/>
              </a:ext>
            </a:extLst>
          </p:cNvPr>
          <p:cNvSpPr>
            <a:spLocks xmlns:a="http://schemas.openxmlformats.org/drawingml/2006/main" noGrp="1"/>
          </p:cNvSpPr>
          <p:nvPr/>
        </p:nvSpPr>
        <p:spPr>
          <a:xfrm xmlns:a="http://schemas.openxmlformats.org/drawingml/2006/main">
            <a:off x="609600" y="53721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FFFFFF"/>
                </a:solidFill>
                <a:latin typeface="Helvetica Neue"/>
                <a:ea typeface="Helvetica Neue"/>
                <a:cs typeface="Helvetica Neue"/>
              </a:defRPr>
            </a:pPr>
            <a:r>
              <a:rPr sz="2400" b="0" i="0">
                <a:solidFill>
                  <a:srgbClr val="FFFFFF"/>
                </a:solidFill>
                <a:latin typeface="Helvetica Neue"/>
                <a:ea typeface="Helvetica Neue"/>
                <a:cs typeface="Helvetica Neue"/>
              </a:rPr>
              <a:t>Mark Kashef</a:t>
            </a:r>
          </a:p>
        </p:txBody>
      </p:sp>
      <p:sp>
        <p:nvSpPr>
          <p:cNvPr id="5" name="text-3">
            <a:extLst xmlns:a="http://schemas.openxmlformats.org/drawingml/2006/main">
              <a:ext uri="{FF2B5EF4-FFF2-40B4-BE49-F238E27FC236}">
                <a16:creationId xmlns:a16="http://schemas.microsoft.com/office/drawing/2014/main" id="{98B69C47-1050-4EB1-9D6A-A7FC8CA9929F}"/>
              </a:ext>
            </a:extLst>
          </p:cNvPr>
          <p:cNvSpPr>
            <a:spLocks xmlns:a="http://schemas.openxmlformats.org/drawingml/2006/main" noGrp="1"/>
          </p:cNvSpPr>
          <p:nvPr/>
        </p:nvSpPr>
        <p:spPr>
          <a:xfrm xmlns:a="http://schemas.openxmlformats.org/drawingml/2006/main">
            <a:off x="609600" y="59340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EEEAE3"/>
                </a:solidFill>
                <a:latin typeface="Helvetica Neue"/>
                <a:ea typeface="Helvetica Neue"/>
                <a:cs typeface="Helvetica Neue"/>
              </a:defRPr>
            </a:pPr>
            <a:r>
              <a:rPr sz="1725" b="0" i="0">
                <a:solidFill>
                  <a:srgbClr val="EEEAE3"/>
                </a:solidFill>
                <a:latin typeface="Helvetica Neue"/>
                <a:ea typeface="Helvetica Neue"/>
                <a:cs typeface="Helvetica Neue"/>
              </a:rPr>
              <a:t>Level 2 · Plan, build, and share a real tool</a:t>
            </a:r>
          </a:p>
        </p:txBody>
      </p:sp>
    </p:spTree>
    <p:extLst>
      <p:ext uri="{BB962C8B-B14F-4D97-AF65-F5344CB8AC3E}">
        <p14:creationId xmlns:p14="http://schemas.microsoft.com/office/powerpoint/2010/main" val="512984285"/>
      </p:ext>
    </p:extLst>
  </p:cSld>
</p:sld>
</file>

<file path=ppt/slides/slide2.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14" name="text-4">
            <a:extLst xmlns:a="http://schemas.openxmlformats.org/drawingml/2006/main">
              <a:ext uri="{FF2B5EF4-FFF2-40B4-BE49-F238E27FC236}">
                <a16:creationId xmlns:a16="http://schemas.microsoft.com/office/drawing/2014/main" id="{F98E6BD8-1CFD-4FFF-B203-E351BF85BB34}"/>
              </a:ext>
            </a:extLst>
          </p:cNvPr>
          <p:cNvSpPr>
            <a:spLocks xmlns:a="http://schemas.openxmlformats.org/drawingml/2006/main" noGrp="1"/>
          </p:cNvSpPr>
          <p:nvPr/>
        </p:nvSpPr>
        <p:spPr>
          <a:xfrm xmlns:a="http://schemas.openxmlformats.org/drawingml/2006/main">
            <a:off x="609600" y="53340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i="0">
                <a:solidFill>
                  <a:srgbClr val="1C1C1C"/>
                </a:solidFill>
                <a:latin typeface="Helvetica Neue"/>
                <a:ea typeface="Helvetica Neue"/>
                <a:cs typeface="Helvetica Neue"/>
              </a:defRPr>
            </a:pPr>
            <a:r>
              <a:rPr sz="1650" b="1" i="0">
                <a:solidFill>
                  <a:srgbClr val="1C1C1C"/>
                </a:solidFill>
                <a:latin typeface="Helvetica Neue"/>
                <a:ea typeface="Helvetica Neue"/>
                <a:cs typeface="Helvetica Neue"/>
              </a:rPr>
              <a:t>YOUR INSTRUCTOR</a:t>
            </a:r>
          </a:p>
        </p:txBody>
      </p:sp>
      <p:sp>
        <p:nvSpPr>
          <p:cNvPr id="2" name="text-5">
            <a:extLst xmlns:a="http://schemas.openxmlformats.org/drawingml/2006/main">
              <a:ext uri="{FF2B5EF4-FFF2-40B4-BE49-F238E27FC236}">
                <a16:creationId xmlns:a16="http://schemas.microsoft.com/office/drawing/2014/main" id="{2C77792A-34EC-4632-A9A2-5E96628D0BD0}"/>
              </a:ext>
            </a:extLst>
          </p:cNvPr>
          <p:cNvSpPr>
            <a:spLocks xmlns:a="http://schemas.openxmlformats.org/drawingml/2006/main" noGrp="1"/>
          </p:cNvSpPr>
          <p:nvPr/>
        </p:nvSpPr>
        <p:spPr>
          <a:xfrm xmlns:a="http://schemas.openxmlformats.org/drawingml/2006/main">
            <a:off x="609600" y="1485900"/>
            <a:ext cx="4905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050" b="1" i="0">
                <a:solidFill>
                  <a:srgbClr val="1C1C1C"/>
                </a:solidFill>
                <a:latin typeface="Avenir Next"/>
                <a:ea typeface="Avenir Next"/>
                <a:cs typeface="Avenir Next"/>
              </a:defRPr>
            </a:pPr>
            <a:r>
              <a:rPr sz="7050" b="1" i="0">
                <a:solidFill>
                  <a:srgbClr val="1C1C1C"/>
                </a:solidFill>
                <a:latin typeface="Avenir Next"/>
                <a:ea typeface="Avenir Next"/>
                <a:cs typeface="Avenir Next"/>
              </a:rPr>
              <a:t>Mark</a:t>
            </a:r>
          </a:p>
          <a:p xmlns:a="http://schemas.openxmlformats.org/drawingml/2006/main">
            <a:pPr>
              <a:defRPr sz="7050" b="1" i="0">
                <a:solidFill>
                  <a:srgbClr val="1C1C1C"/>
                </a:solidFill>
                <a:latin typeface="Avenir Next"/>
                <a:ea typeface="Avenir Next"/>
                <a:cs typeface="Avenir Next"/>
              </a:defRPr>
            </a:pPr>
            <a:r>
              <a:rPr sz="7050" b="1" i="0">
                <a:solidFill>
                  <a:srgbClr val="1C1C1C"/>
                </a:solidFill>
                <a:latin typeface="Avenir Next"/>
                <a:ea typeface="Avenir Next"/>
                <a:cs typeface="Avenir Next"/>
              </a:rPr>
              <a:t>Kashef</a:t>
            </a:r>
          </a:p>
        </p:txBody>
      </p:sp>
      <p:sp>
        <p:nvSpPr>
          <p:cNvPr id="3" name="text-6">
            <a:extLst xmlns:a="http://schemas.openxmlformats.org/drawingml/2006/main">
              <a:ext uri="{FF2B5EF4-FFF2-40B4-BE49-F238E27FC236}">
                <a16:creationId xmlns:a16="http://schemas.microsoft.com/office/drawing/2014/main" id="{E84843EF-B807-4E03-9141-B02AD7260623}"/>
              </a:ext>
            </a:extLst>
          </p:cNvPr>
          <p:cNvSpPr>
            <a:spLocks xmlns:a="http://schemas.openxmlformats.org/drawingml/2006/main" noGrp="1"/>
          </p:cNvSpPr>
          <p:nvPr/>
        </p:nvSpPr>
        <p:spPr>
          <a:xfrm xmlns:a="http://schemas.openxmlformats.org/drawingml/2006/main">
            <a:off x="609600" y="50863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Prompt Advisers</a:t>
            </a:r>
          </a:p>
        </p:txBody>
      </p:sp>
      <p:sp>
        <p:nvSpPr>
          <p:cNvPr id="4" name="panel-7">
            <a:extLst xmlns:a="http://schemas.openxmlformats.org/drawingml/2006/main">
              <a:ext uri="{FF2B5EF4-FFF2-40B4-BE49-F238E27FC236}">
                <a16:creationId xmlns:a16="http://schemas.microsoft.com/office/drawing/2014/main" id="{83CFE233-CF1F-4A78-80CA-65C077387148}"/>
              </a:ext>
            </a:extLst>
          </p:cNvPr>
          <p:cNvSpPr>
            <a:spLocks xmlns:a="http://schemas.openxmlformats.org/drawingml/2006/main" noGrp="1"/>
          </p:cNvSpPr>
          <p:nvPr/>
        </p:nvSpPr>
        <p:spPr>
          <a:xfrm xmlns:a="http://schemas.openxmlformats.org/drawingml/2006/main">
            <a:off x="6191250" y="1428750"/>
            <a:ext cx="52387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5" name="text-8">
            <a:extLst xmlns:a="http://schemas.openxmlformats.org/drawingml/2006/main">
              <a:ext uri="{FF2B5EF4-FFF2-40B4-BE49-F238E27FC236}">
                <a16:creationId xmlns:a16="http://schemas.microsoft.com/office/drawing/2014/main" id="{A52D4074-1084-4590-995C-46C9CF491615}"/>
              </a:ext>
            </a:extLst>
          </p:cNvPr>
          <p:cNvSpPr>
            <a:spLocks xmlns:a="http://schemas.openxmlformats.org/drawingml/2006/main" noGrp="1"/>
          </p:cNvSpPr>
          <p:nvPr/>
        </p:nvSpPr>
        <p:spPr>
          <a:xfrm xmlns:a="http://schemas.openxmlformats.org/drawingml/2006/main">
            <a:off x="6191250" y="16192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i="0">
                <a:solidFill>
                  <a:srgbClr val="1C1C1C"/>
                </a:solidFill>
                <a:latin typeface="Avenir Next"/>
                <a:ea typeface="Avenir Next"/>
                <a:cs typeface="Avenir Next"/>
              </a:defRPr>
            </a:pPr>
            <a:r>
              <a:rPr sz="2400" b="1" i="0">
                <a:solidFill>
                  <a:srgbClr val="1C1C1C"/>
                </a:solidFill>
                <a:latin typeface="Avenir Next"/>
                <a:ea typeface="Avenir Next"/>
                <a:cs typeface="Avenir Next"/>
              </a:rPr>
              <a:t>Builder</a:t>
            </a:r>
          </a:p>
        </p:txBody>
      </p:sp>
      <p:sp>
        <p:nvSpPr>
          <p:cNvPr id="6" name="text-9">
            <a:extLst xmlns:a="http://schemas.openxmlformats.org/drawingml/2006/main">
              <a:ext uri="{FF2B5EF4-FFF2-40B4-BE49-F238E27FC236}">
                <a16:creationId xmlns:a16="http://schemas.microsoft.com/office/drawing/2014/main" id="{04581118-D58A-421A-9511-80F57B7818A4}"/>
              </a:ext>
            </a:extLst>
          </p:cNvPr>
          <p:cNvSpPr>
            <a:spLocks xmlns:a="http://schemas.openxmlformats.org/drawingml/2006/main" noGrp="1"/>
          </p:cNvSpPr>
          <p:nvPr/>
        </p:nvSpPr>
        <p:spPr>
          <a:xfrm xmlns:a="http://schemas.openxmlformats.org/drawingml/2006/main">
            <a:off x="6191250" y="210502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AI strategy and custom development</a:t>
            </a:r>
          </a:p>
        </p:txBody>
      </p:sp>
      <p:sp>
        <p:nvSpPr>
          <p:cNvPr id="7" name="panel-10">
            <a:extLst xmlns:a="http://schemas.openxmlformats.org/drawingml/2006/main">
              <a:ext uri="{FF2B5EF4-FFF2-40B4-BE49-F238E27FC236}">
                <a16:creationId xmlns:a16="http://schemas.microsoft.com/office/drawing/2014/main" id="{8047FF21-5AF6-4E95-B5C2-812938FAB509}"/>
              </a:ext>
            </a:extLst>
          </p:cNvPr>
          <p:cNvSpPr>
            <a:spLocks xmlns:a="http://schemas.openxmlformats.org/drawingml/2006/main" noGrp="1"/>
          </p:cNvSpPr>
          <p:nvPr/>
        </p:nvSpPr>
        <p:spPr>
          <a:xfrm xmlns:a="http://schemas.openxmlformats.org/drawingml/2006/main">
            <a:off x="6191250" y="2838450"/>
            <a:ext cx="52387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8" name="text-11">
            <a:extLst xmlns:a="http://schemas.openxmlformats.org/drawingml/2006/main">
              <a:ext uri="{FF2B5EF4-FFF2-40B4-BE49-F238E27FC236}">
                <a16:creationId xmlns:a16="http://schemas.microsoft.com/office/drawing/2014/main" id="{122ECF83-6F21-45FA-AE65-3C6137698358}"/>
              </a:ext>
            </a:extLst>
          </p:cNvPr>
          <p:cNvSpPr>
            <a:spLocks xmlns:a="http://schemas.openxmlformats.org/drawingml/2006/main" noGrp="1"/>
          </p:cNvSpPr>
          <p:nvPr/>
        </p:nvSpPr>
        <p:spPr>
          <a:xfrm xmlns:a="http://schemas.openxmlformats.org/drawingml/2006/main">
            <a:off x="6191250" y="30289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i="0">
                <a:solidFill>
                  <a:srgbClr val="1C1C1C"/>
                </a:solidFill>
                <a:latin typeface="Avenir Next"/>
                <a:ea typeface="Avenir Next"/>
                <a:cs typeface="Avenir Next"/>
              </a:defRPr>
            </a:pPr>
            <a:r>
              <a:rPr sz="2400" b="1" i="0">
                <a:solidFill>
                  <a:srgbClr val="1C1C1C"/>
                </a:solidFill>
                <a:latin typeface="Avenir Next"/>
                <a:ea typeface="Avenir Next"/>
                <a:cs typeface="Avenir Next"/>
              </a:rPr>
              <a:t>Background</a:t>
            </a:r>
          </a:p>
        </p:txBody>
      </p:sp>
      <p:sp>
        <p:nvSpPr>
          <p:cNvPr id="9" name="text-12">
            <a:extLst xmlns:a="http://schemas.openxmlformats.org/drawingml/2006/main">
              <a:ext uri="{FF2B5EF4-FFF2-40B4-BE49-F238E27FC236}">
                <a16:creationId xmlns:a16="http://schemas.microsoft.com/office/drawing/2014/main" id="{AFD484A3-6119-426B-942B-68AC9451482B}"/>
              </a:ext>
            </a:extLst>
          </p:cNvPr>
          <p:cNvSpPr>
            <a:spLocks xmlns:a="http://schemas.openxmlformats.org/drawingml/2006/main" noGrp="1"/>
          </p:cNvSpPr>
          <p:nvPr/>
        </p:nvSpPr>
        <p:spPr>
          <a:xfrm xmlns:a="http://schemas.openxmlformats.org/drawingml/2006/main">
            <a:off x="6191250" y="351472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Data science and AI engineering</a:t>
            </a:r>
          </a:p>
        </p:txBody>
      </p:sp>
      <p:sp>
        <p:nvSpPr>
          <p:cNvPr id="10" name="panel-13">
            <a:extLst xmlns:a="http://schemas.openxmlformats.org/drawingml/2006/main">
              <a:ext uri="{FF2B5EF4-FFF2-40B4-BE49-F238E27FC236}">
                <a16:creationId xmlns:a16="http://schemas.microsoft.com/office/drawing/2014/main" id="{1C61F842-0C39-4A29-922D-149A6FD7F276}"/>
              </a:ext>
            </a:extLst>
          </p:cNvPr>
          <p:cNvSpPr>
            <a:spLocks xmlns:a="http://schemas.openxmlformats.org/drawingml/2006/main" noGrp="1"/>
          </p:cNvSpPr>
          <p:nvPr/>
        </p:nvSpPr>
        <p:spPr>
          <a:xfrm xmlns:a="http://schemas.openxmlformats.org/drawingml/2006/main">
            <a:off x="6191250" y="4248150"/>
            <a:ext cx="52387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14">
            <a:extLst xmlns:a="http://schemas.openxmlformats.org/drawingml/2006/main">
              <a:ext uri="{FF2B5EF4-FFF2-40B4-BE49-F238E27FC236}">
                <a16:creationId xmlns:a16="http://schemas.microsoft.com/office/drawing/2014/main" id="{517C807C-08F5-4E5F-B3FC-E68E1E884549}"/>
              </a:ext>
            </a:extLst>
          </p:cNvPr>
          <p:cNvSpPr>
            <a:spLocks xmlns:a="http://schemas.openxmlformats.org/drawingml/2006/main" noGrp="1"/>
          </p:cNvSpPr>
          <p:nvPr/>
        </p:nvSpPr>
        <p:spPr>
          <a:xfrm xmlns:a="http://schemas.openxmlformats.org/drawingml/2006/main">
            <a:off x="6191250" y="44386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i="0">
                <a:solidFill>
                  <a:srgbClr val="1C1C1C"/>
                </a:solidFill>
                <a:latin typeface="Avenir Next"/>
                <a:ea typeface="Avenir Next"/>
                <a:cs typeface="Avenir Next"/>
              </a:defRPr>
            </a:pPr>
            <a:r>
              <a:rPr sz="2400" b="1" i="0">
                <a:solidFill>
                  <a:srgbClr val="1C1C1C"/>
                </a:solidFill>
                <a:latin typeface="Avenir Next"/>
                <a:ea typeface="Avenir Next"/>
                <a:cs typeface="Avenir Next"/>
              </a:rPr>
              <a:t>Your guide today</a:t>
            </a:r>
          </a:p>
        </p:txBody>
      </p:sp>
      <p:sp>
        <p:nvSpPr>
          <p:cNvPr id="12" name="text-15">
            <a:extLst xmlns:a="http://schemas.openxmlformats.org/drawingml/2006/main">
              <a:ext uri="{FF2B5EF4-FFF2-40B4-BE49-F238E27FC236}">
                <a16:creationId xmlns:a16="http://schemas.microsoft.com/office/drawing/2014/main" id="{15C263F5-6967-4279-95FE-E8143B96D2EB}"/>
              </a:ext>
            </a:extLst>
          </p:cNvPr>
          <p:cNvSpPr>
            <a:spLocks xmlns:a="http://schemas.openxmlformats.org/drawingml/2006/main" noGrp="1"/>
          </p:cNvSpPr>
          <p:nvPr/>
        </p:nvSpPr>
        <p:spPr>
          <a:xfrm xmlns:a="http://schemas.openxmlformats.org/drawingml/2006/main">
            <a:off x="6191250" y="492442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Instructor, Claude Code for Everyone</a:t>
            </a:r>
          </a:p>
        </p:txBody>
      </p:sp>
      <p:sp>
        <p:nvSpPr>
          <p:cNvPr id="13" name="text-16">
            <a:extLst xmlns:a="http://schemas.openxmlformats.org/drawingml/2006/main">
              <a:ext uri="{FF2B5EF4-FFF2-40B4-BE49-F238E27FC236}">
                <a16:creationId xmlns:a16="http://schemas.microsoft.com/office/drawing/2014/main" id="{E6AD3B9C-482D-4B9B-B295-B37F3035795E}"/>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02</a:t>
            </a:r>
          </a:p>
        </p:txBody>
      </p:sp>
    </p:spTree>
    <p:extLst>
      <p:ext uri="{BB962C8B-B14F-4D97-AF65-F5344CB8AC3E}">
        <p14:creationId xmlns:p14="http://schemas.microsoft.com/office/powerpoint/2010/main" val="1532629588"/>
      </p:ext>
    </p:extLst>
  </p:cSld>
</p:sld>
</file>

<file path=ppt/slides/slide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7">
            <a:extLst xmlns:a="http://schemas.openxmlformats.org/drawingml/2006/main">
              <a:ext uri="{FF2B5EF4-FFF2-40B4-BE49-F238E27FC236}">
                <a16:creationId xmlns:a16="http://schemas.microsoft.com/office/drawing/2014/main" id="{082EF17F-B7D5-436A-BD4B-86A45B96CF22}"/>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Different backgrounds. One clear path.</a:t>
            </a:r>
          </a:p>
        </p:txBody>
      </p:sp>
      <p:sp>
        <p:nvSpPr>
          <p:cNvPr id="2" name="panel-18">
            <a:extLst xmlns:a="http://schemas.openxmlformats.org/drawingml/2006/main">
              <a:ext uri="{FF2B5EF4-FFF2-40B4-BE49-F238E27FC236}">
                <a16:creationId xmlns:a16="http://schemas.microsoft.com/office/drawing/2014/main" id="{230BDAEE-B08E-4363-8C9A-DCC5727DB9DC}"/>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9">
            <a:extLst xmlns:a="http://schemas.openxmlformats.org/drawingml/2006/main">
              <a:ext uri="{FF2B5EF4-FFF2-40B4-BE49-F238E27FC236}">
                <a16:creationId xmlns:a16="http://schemas.microsoft.com/office/drawing/2014/main" id="{1EB7DB20-0C3B-4EA2-921F-3D2B9635F8E3}"/>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20">
            <a:extLst xmlns:a="http://schemas.openxmlformats.org/drawingml/2006/main">
              <a:ext uri="{FF2B5EF4-FFF2-40B4-BE49-F238E27FC236}">
                <a16:creationId xmlns:a16="http://schemas.microsoft.com/office/drawing/2014/main" id="{80BD8053-2EAB-4FD1-B8D1-41D06E37B6FB}"/>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Bring the basics</a:t>
            </a:r>
          </a:p>
        </p:txBody>
      </p:sp>
      <p:sp>
        <p:nvSpPr>
          <p:cNvPr id="5" name="text-21">
            <a:extLst xmlns:a="http://schemas.openxmlformats.org/drawingml/2006/main">
              <a:ext uri="{FF2B5EF4-FFF2-40B4-BE49-F238E27FC236}">
                <a16:creationId xmlns:a16="http://schemas.microsoft.com/office/drawing/2014/main" id="{A96CF277-CC59-4CA4-9F11-7D9D8EA19099}"/>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Start Claude Code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Open a project folder</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Review a proposed file change</a:t>
            </a:r>
          </a:p>
        </p:txBody>
      </p:sp>
      <p:sp>
        <p:nvSpPr>
          <p:cNvPr id="6" name="text-22">
            <a:extLst xmlns:a="http://schemas.openxmlformats.org/drawingml/2006/main">
              <a:ext uri="{FF2B5EF4-FFF2-40B4-BE49-F238E27FC236}">
                <a16:creationId xmlns:a16="http://schemas.microsoft.com/office/drawing/2014/main" id="{B895C08F-FA9F-4EFC-BA11-156C5AD71507}"/>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We will explain</a:t>
            </a:r>
          </a:p>
        </p:txBody>
      </p:sp>
      <p:sp>
        <p:nvSpPr>
          <p:cNvPr id="7" name="text-23">
            <a:extLst xmlns:a="http://schemas.openxmlformats.org/drawingml/2006/main">
              <a:ext uri="{FF2B5EF4-FFF2-40B4-BE49-F238E27FC236}">
                <a16:creationId xmlns:a16="http://schemas.microsoft.com/office/drawing/2014/main" id="{17B78FB0-5325-4FBA-90DD-7BEE2D484606}"/>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The tools as we use them</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The exact prompts and decisions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How to check each result</a:t>
            </a:r>
          </a:p>
        </p:txBody>
      </p:sp>
      <p:sp>
        <p:nvSpPr>
          <p:cNvPr id="8" name="text-24">
            <a:extLst xmlns:a="http://schemas.openxmlformats.org/drawingml/2006/main">
              <a:ext uri="{FF2B5EF4-FFF2-40B4-BE49-F238E27FC236}">
                <a16:creationId xmlns:a16="http://schemas.microsoft.com/office/drawing/2014/main" id="{7F178860-F1AA-4856-BE14-57980F6A553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03</a:t>
            </a:r>
          </a:p>
        </p:txBody>
      </p:sp>
    </p:spTree>
    <p:extLst>
      <p:ext uri="{BB962C8B-B14F-4D97-AF65-F5344CB8AC3E}">
        <p14:creationId xmlns:p14="http://schemas.microsoft.com/office/powerpoint/2010/main" val="550854345"/>
      </p:ext>
    </p:extLst>
  </p:cSld>
</p:sld>
</file>

<file path=ppt/slides/slide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25">
            <a:extLst xmlns:a="http://schemas.openxmlformats.org/drawingml/2006/main">
              <a:ext uri="{FF2B5EF4-FFF2-40B4-BE49-F238E27FC236}">
                <a16:creationId xmlns:a16="http://schemas.microsoft.com/office/drawing/2014/main" id="{9401D07C-2CB3-4C8A-BE99-0D688555D16D}"/>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reference to inspect. A build to own.</a:t>
            </a:r>
          </a:p>
        </p:txBody>
      </p:sp>
      <p:sp>
        <p:nvSpPr>
          <p:cNvPr id="2" name="panel-26">
            <a:extLst xmlns:a="http://schemas.openxmlformats.org/drawingml/2006/main">
              <a:ext uri="{FF2B5EF4-FFF2-40B4-BE49-F238E27FC236}">
                <a16:creationId xmlns:a16="http://schemas.microsoft.com/office/drawing/2014/main" id="{FB62FC58-F5AC-4F9B-A14E-D8BC39C4BAFA}"/>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27">
            <a:extLst xmlns:a="http://schemas.openxmlformats.org/drawingml/2006/main">
              <a:ext uri="{FF2B5EF4-FFF2-40B4-BE49-F238E27FC236}">
                <a16:creationId xmlns:a16="http://schemas.microsoft.com/office/drawing/2014/main" id="{76B03A5C-B654-4454-A918-F0DC25066C11}"/>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28">
            <a:extLst xmlns:a="http://schemas.openxmlformats.org/drawingml/2006/main">
              <a:ext uri="{FF2B5EF4-FFF2-40B4-BE49-F238E27FC236}">
                <a16:creationId xmlns:a16="http://schemas.microsoft.com/office/drawing/2014/main" id="{50031BE5-C17C-440C-BBEC-0253610DE0DC}"/>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Completed reference</a:t>
            </a:r>
          </a:p>
        </p:txBody>
      </p:sp>
      <p:sp>
        <p:nvSpPr>
          <p:cNvPr id="5" name="text-29">
            <a:extLst xmlns:a="http://schemas.openxmlformats.org/drawingml/2006/main">
              <a:ext uri="{FF2B5EF4-FFF2-40B4-BE49-F238E27FC236}">
                <a16:creationId xmlns:a16="http://schemas.microsoft.com/office/drawing/2014/main" id="{B23C375E-B6AF-43BA-8CB9-F08B5D9E04DF}"/>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Unzip the course kit.</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Open Walkthrough Assets.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Run and inspect the app.</a:t>
            </a:r>
          </a:p>
        </p:txBody>
      </p:sp>
      <p:sp>
        <p:nvSpPr>
          <p:cNvPr id="6" name="text-30">
            <a:extLst xmlns:a="http://schemas.openxmlformats.org/drawingml/2006/main">
              <a:ext uri="{FF2B5EF4-FFF2-40B4-BE49-F238E27FC236}">
                <a16:creationId xmlns:a16="http://schemas.microsoft.com/office/drawing/2014/main" id="{051A2C91-6BC0-4152-839A-B16E528DD138}"/>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Your rebuild</a:t>
            </a:r>
          </a:p>
        </p:txBody>
      </p:sp>
      <p:sp>
        <p:nvSpPr>
          <p:cNvPr id="7" name="text-31">
            <a:extLst xmlns:a="http://schemas.openxmlformats.org/drawingml/2006/main">
              <a:ext uri="{FF2B5EF4-FFF2-40B4-BE49-F238E27FC236}">
                <a16:creationId xmlns:a16="http://schemas.microsoft.com/office/drawing/2014/main" id="{82F36CE8-4711-4E8E-AE94-4BBB7D9AB9BC}"/>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Create a separate empty folder.</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Bring the brief, design and samples.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Build one checked step at a time.</a:t>
            </a:r>
          </a:p>
        </p:txBody>
      </p:sp>
      <p:sp>
        <p:nvSpPr>
          <p:cNvPr id="8" name="text-32">
            <a:extLst xmlns:a="http://schemas.openxmlformats.org/drawingml/2006/main">
              <a:ext uri="{FF2B5EF4-FFF2-40B4-BE49-F238E27FC236}">
                <a16:creationId xmlns:a16="http://schemas.microsoft.com/office/drawing/2014/main" id="{B1959EBC-9F41-4F86-B1F3-0281F388EDE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04</a:t>
            </a:r>
          </a:p>
        </p:txBody>
      </p:sp>
    </p:spTree>
    <p:extLst>
      <p:ext uri="{BB962C8B-B14F-4D97-AF65-F5344CB8AC3E}">
        <p14:creationId xmlns:p14="http://schemas.microsoft.com/office/powerpoint/2010/main" val="788652456"/>
      </p:ext>
    </p:extLst>
  </p:cSld>
</p:sld>
</file>

<file path=ppt/slides/slide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33">
            <a:extLst xmlns:a="http://schemas.openxmlformats.org/drawingml/2006/main">
              <a:ext uri="{FF2B5EF4-FFF2-40B4-BE49-F238E27FC236}">
                <a16:creationId xmlns:a16="http://schemas.microsoft.com/office/drawing/2014/main" id="{3F68C807-AEFC-4AD2-8B54-3C5CC9A9BDA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Four words we will use throughout</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872490">
                <a:tc>
                  <a:txBody>
                    <a:bodyPr>
                      <a:noAutofit/>
                    </a:bodyPr>
                    <a:lstStyle/>
                    <a:p>
                      <a:r>
                        <a:rPr sz="1875" b="1" i="0">
                          <a:solidFill>
                            <a:srgbClr val="FFFFFF"/>
                          </a:solidFill>
                          <a:latin typeface="Helvetica Neue"/>
                          <a:ea typeface="Helvetica Neue"/>
                          <a:cs typeface="Helvetica Neue"/>
                        </a:rPr>
                        <a:t>Word</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In this course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872490">
                <a:tc>
                  <a:txBody>
                    <a:bodyPr>
                      <a:noAutofit/>
                    </a:bodyPr>
                    <a:lstStyle/>
                    <a:p>
                      <a:r>
                        <a:rPr sz="1875" b="1" i="0">
                          <a:solidFill>
                            <a:srgbClr val="1C1C1C"/>
                          </a:solidFill>
                          <a:latin typeface="Helvetica Neue"/>
                          <a:ea typeface="Helvetica Neue"/>
                          <a:cs typeface="Helvetica Neue"/>
                        </a:rPr>
                        <a:t>CRM</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app that organizes clients, meetings and follow-ups</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Project root</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The main folder Claude starts in; paths begin here</a:t>
                      </a:r>
                    </a:p>
                  </a:txBody>
                  <a:tcPr marL="171450" marR="171450" marT="114300" marB="114300" anchor="ctr">
                    <a:lnR w="19050">
                      <a:solidFill>
                        <a:srgbClr val="F8F5F0"/>
                      </a:solidFill>
                    </a:lnR>
                    <a:lnB w="19050">
                      <a:solidFill>
                        <a:srgbClr val="F8F5F0"/>
                      </a:solidFill>
                    </a:lnB>
                    <a:solidFill>
                      <a:srgbClr val="F8F5F0"/>
                    </a:solidFill>
                  </a:tcPr>
                </a:tc>
              </a:tr>
              <a:tr h="872490">
                <a:tc>
                  <a:txBody>
                    <a:bodyPr>
                      <a:noAutofit/>
                    </a:bodyPr>
                    <a:lstStyle/>
                    <a:p>
                      <a:r>
                        <a:rPr sz="1875" b="1" i="0">
                          <a:solidFill>
                            <a:srgbClr val="1C1C1C"/>
                          </a:solidFill>
                          <a:latin typeface="Helvetica Neue"/>
                          <a:ea typeface="Helvetica Neue"/>
                          <a:cs typeface="Helvetica Neue"/>
                        </a:rPr>
                        <a:t>Markdown · .md</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 readable text document with simple headings and lists</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Sample record · fixture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Invented meeting or client data for repeatable practice</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34">
            <a:extLst xmlns:a="http://schemas.openxmlformats.org/drawingml/2006/main">
              <a:ext uri="{FF2B5EF4-FFF2-40B4-BE49-F238E27FC236}">
                <a16:creationId xmlns:a16="http://schemas.microsoft.com/office/drawing/2014/main" id="{D42C80EC-910C-4606-9418-13DED2FE5A3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05</a:t>
            </a:r>
          </a:p>
        </p:txBody>
      </p:sp>
    </p:spTree>
    <p:extLst>
      <p:ext uri="{BB962C8B-B14F-4D97-AF65-F5344CB8AC3E}">
        <p14:creationId xmlns:p14="http://schemas.microsoft.com/office/powerpoint/2010/main" val="662707792"/>
      </p:ext>
    </p:extLst>
  </p:cSld>
</p:sld>
</file>

<file path=ppt/slides/slide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35">
            <a:extLst xmlns:a="http://schemas.openxmlformats.org/drawingml/2006/main">
              <a:ext uri="{FF2B5EF4-FFF2-40B4-BE49-F238E27FC236}">
                <a16:creationId xmlns:a16="http://schemas.microsoft.com/office/drawing/2014/main" id="{C68DAE0A-11DC-4C21-833E-B8F00E8158D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How to follow the demonstration</a:t>
            </a:r>
          </a:p>
        </p:txBody>
      </p:sp>
      <p:sp>
        <p:nvSpPr>
          <p:cNvPr id="2" name="panel-36">
            <a:extLst xmlns:a="http://schemas.openxmlformats.org/drawingml/2006/main">
              <a:ext uri="{FF2B5EF4-FFF2-40B4-BE49-F238E27FC236}">
                <a16:creationId xmlns:a16="http://schemas.microsoft.com/office/drawing/2014/main" id="{89276E21-28D5-4AE2-8CE8-4C485D739B98}"/>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37">
            <a:extLst xmlns:a="http://schemas.openxmlformats.org/drawingml/2006/main">
              <a:ext uri="{FF2B5EF4-FFF2-40B4-BE49-F238E27FC236}">
                <a16:creationId xmlns:a16="http://schemas.microsoft.com/office/drawing/2014/main" id="{31D8299D-D7DE-426D-9BA3-C691E6E7AE0B}"/>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38">
            <a:extLst xmlns:a="http://schemas.openxmlformats.org/drawingml/2006/main">
              <a:ext uri="{FF2B5EF4-FFF2-40B4-BE49-F238E27FC236}">
                <a16:creationId xmlns:a16="http://schemas.microsoft.com/office/drawing/2014/main" id="{D7040C68-5F4F-42D7-B2AC-47D356D01C5B}"/>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Open Walkthrough Assets as the project root. Read its README, the brief and the start guide. Explain each folder and how to start the app. Do not change files yet.</a:t>
            </a:r>
          </a:p>
        </p:txBody>
      </p:sp>
      <p:sp>
        <p:nvSpPr>
          <p:cNvPr id="5" name="panel-39">
            <a:extLst xmlns:a="http://schemas.openxmlformats.org/drawingml/2006/main">
              <a:ext uri="{FF2B5EF4-FFF2-40B4-BE49-F238E27FC236}">
                <a16:creationId xmlns:a16="http://schemas.microsoft.com/office/drawing/2014/main" id="{C2391718-DC0E-4D59-A78E-1D80DE925D6D}"/>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40">
            <a:extLst xmlns:a="http://schemas.openxmlformats.org/drawingml/2006/main">
              <a:ext uri="{FF2B5EF4-FFF2-40B4-BE49-F238E27FC236}">
                <a16:creationId xmlns:a16="http://schemas.microsoft.com/office/drawing/2014/main" id="{00E8D4AA-D8C9-4BFF-ACA6-72A107B9FEA9}"/>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The folder you will use</a:t>
            </a:r>
          </a:p>
        </p:txBody>
      </p:sp>
      <p:sp>
        <p:nvSpPr>
          <p:cNvPr id="7" name="text-41">
            <a:extLst xmlns:a="http://schemas.openxmlformats.org/drawingml/2006/main">
              <a:ext uri="{FF2B5EF4-FFF2-40B4-BE49-F238E27FC236}">
                <a16:creationId xmlns:a16="http://schemas.microsoft.com/office/drawing/2014/main" id="{514166C3-6C92-4B67-97FD-6CDA714CF8A7}"/>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Walkthrough Assets/</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  00-course-map/     Lessons + six labs</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  01-planning/       Brief + spec</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  02-design/         Fonts + colors</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  03-build/clientdesk/  Working app</a:t>
            </a:r>
          </a:p>
        </p:txBody>
      </p:sp>
      <p:sp>
        <p:nvSpPr>
          <p:cNvPr id="8" name="text-42">
            <a:extLst xmlns:a="http://schemas.openxmlformats.org/drawingml/2006/main">
              <a:ext uri="{FF2B5EF4-FFF2-40B4-BE49-F238E27FC236}">
                <a16:creationId xmlns:a16="http://schemas.microsoft.com/office/drawing/2014/main" id="{B7F43C79-E191-4FC9-9FFE-03DBC9344755}"/>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All paths in the course start here.</a:t>
            </a:r>
          </a:p>
        </p:txBody>
      </p:sp>
      <p:sp>
        <p:nvSpPr>
          <p:cNvPr id="9" name="text-43">
            <a:extLst xmlns:a="http://schemas.openxmlformats.org/drawingml/2006/main">
              <a:ext uri="{FF2B5EF4-FFF2-40B4-BE49-F238E27FC236}">
                <a16:creationId xmlns:a16="http://schemas.microsoft.com/office/drawing/2014/main" id="{AAEFAFA9-09E5-4BE4-A490-6C4761451CD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06</a:t>
            </a:r>
          </a:p>
        </p:txBody>
      </p:sp>
    </p:spTree>
    <p:extLst>
      <p:ext uri="{BB962C8B-B14F-4D97-AF65-F5344CB8AC3E}">
        <p14:creationId xmlns:p14="http://schemas.microsoft.com/office/powerpoint/2010/main" val="889930362"/>
      </p:ext>
    </p:extLst>
  </p:cSld>
</p:sld>
</file>

<file path=ppt/slides/slide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44">
            <a:extLst xmlns:a="http://schemas.openxmlformats.org/drawingml/2006/main">
              <a:ext uri="{FF2B5EF4-FFF2-40B4-BE49-F238E27FC236}">
                <a16:creationId xmlns:a16="http://schemas.microsoft.com/office/drawing/2014/main" id="{B658A8AE-A35F-45C1-A234-06DC3686369B}"/>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1">
                <a:solidFill>
                  <a:srgbClr val="1C1C1C"/>
                </a:solidFill>
                <a:latin typeface="Avenir Next"/>
                <a:ea typeface="Avenir Next"/>
                <a:cs typeface="Avenir Next"/>
              </a:defRPr>
            </a:pPr>
            <a:r>
              <a:rPr sz="3600" b="1" i="1">
                <a:solidFill>
                  <a:srgbClr val="1C1C1C"/>
                </a:solidFill>
                <a:latin typeface="Avenir Next"/>
                <a:ea typeface="Avenir Next"/>
                <a:cs typeface="Avenir Next"/>
              </a:rPr>
              <a:t>Where do I type this?</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1090613">
                <a:tc>
                  <a:txBody>
                    <a:bodyPr>
                      <a:noAutofit/>
                    </a:bodyPr>
                    <a:lstStyle/>
                    <a:p>
                      <a:r>
                        <a:rPr sz="1875" b="1" i="0">
                          <a:solidFill>
                            <a:srgbClr val="FFFFFF"/>
                          </a:solidFill>
                          <a:latin typeface="Helvetica Neue"/>
                          <a:ea typeface="Helvetica Neue"/>
                          <a:cs typeface="Helvetica Neue"/>
                        </a:rPr>
                        <a:t>Surface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What belongs there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Example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Claude Code conversation</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Plain-English requests and slash commands</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Help me connect this project to GitHub.</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Terminal prompt</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Commands that start programs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npm run dev</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Browser</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app you inspect and use</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http://127.0.0.1:4310</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45">
            <a:extLst xmlns:a="http://schemas.openxmlformats.org/drawingml/2006/main">
              <a:ext uri="{FF2B5EF4-FFF2-40B4-BE49-F238E27FC236}">
                <a16:creationId xmlns:a16="http://schemas.microsoft.com/office/drawing/2014/main" id="{137133AB-612F-4A9C-A472-6AFFED0498A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07</a:t>
            </a:r>
          </a:p>
        </p:txBody>
      </p:sp>
    </p:spTree>
    <p:extLst>
      <p:ext uri="{BB962C8B-B14F-4D97-AF65-F5344CB8AC3E}">
        <p14:creationId xmlns:p14="http://schemas.microsoft.com/office/powerpoint/2010/main" val="1657633503"/>
      </p:ext>
    </p:extLst>
  </p:cSld>
</p:sld>
</file>

<file path=ppt/slides/slide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3" name="text-46">
            <a:extLst xmlns:a="http://schemas.openxmlformats.org/drawingml/2006/main">
              <a:ext uri="{FF2B5EF4-FFF2-40B4-BE49-F238E27FC236}">
                <a16:creationId xmlns:a16="http://schemas.microsoft.com/office/drawing/2014/main" id="{BB1B0710-009C-4859-A893-3DACAB91D0C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What you will leave with</a:t>
            </a:r>
          </a:p>
        </p:txBody>
      </p:sp>
      <p:sp>
        <p:nvSpPr>
          <p:cNvPr id="2" name="text-47">
            <a:extLst xmlns:a="http://schemas.openxmlformats.org/drawingml/2006/main">
              <a:ext uri="{FF2B5EF4-FFF2-40B4-BE49-F238E27FC236}">
                <a16:creationId xmlns:a16="http://schemas.microsoft.com/office/drawing/2014/main" id="{AA6A2ABD-5EC7-4FE7-B69E-11E7389B614D}"/>
              </a:ext>
            </a:extLst>
          </p:cNvPr>
          <p:cNvSpPr>
            <a:spLocks xmlns:a="http://schemas.openxmlformats.org/drawingml/2006/main" noGrp="1"/>
          </p:cNvSpPr>
          <p:nvPr/>
        </p:nvSpPr>
        <p:spPr>
          <a:xfrm xmlns:a="http://schemas.openxmlformats.org/drawingml/2006/main">
            <a:off x="609600" y="18573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3" name="text-48">
            <a:extLst xmlns:a="http://schemas.openxmlformats.org/drawingml/2006/main">
              <a:ext uri="{FF2B5EF4-FFF2-40B4-BE49-F238E27FC236}">
                <a16:creationId xmlns:a16="http://schemas.microsoft.com/office/drawing/2014/main" id="{9FC6B8B5-1EFA-4F0C-8FA1-32062ABFB44C}"/>
              </a:ext>
            </a:extLst>
          </p:cNvPr>
          <p:cNvSpPr>
            <a:spLocks xmlns:a="http://schemas.openxmlformats.org/drawingml/2006/main" noGrp="1"/>
          </p:cNvSpPr>
          <p:nvPr/>
        </p:nvSpPr>
        <p:spPr>
          <a:xfrm xmlns:a="http://schemas.openxmlformats.org/drawingml/2006/main">
            <a:off x="1514475" y="1857375"/>
            <a:ext cx="10067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A specification Claude can execute</a:t>
            </a:r>
          </a:p>
        </p:txBody>
      </p:sp>
      <p:sp>
        <p:nvSpPr>
          <p:cNvPr id="4" name="text-49">
            <a:extLst xmlns:a="http://schemas.openxmlformats.org/drawingml/2006/main">
              <a:ext uri="{FF2B5EF4-FFF2-40B4-BE49-F238E27FC236}">
                <a16:creationId xmlns:a16="http://schemas.microsoft.com/office/drawing/2014/main" id="{382D4C92-DF21-4187-AA1A-ABD9B21D56AD}"/>
              </a:ext>
            </a:extLst>
          </p:cNvPr>
          <p:cNvSpPr>
            <a:spLocks xmlns:a="http://schemas.openxmlformats.org/drawingml/2006/main" noGrp="1"/>
          </p:cNvSpPr>
          <p:nvPr/>
        </p:nvSpPr>
        <p:spPr>
          <a:xfrm xmlns:a="http://schemas.openxmlformats.org/drawingml/2006/main">
            <a:off x="609600" y="26670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5" name="text-50">
            <a:extLst xmlns:a="http://schemas.openxmlformats.org/drawingml/2006/main">
              <a:ext uri="{FF2B5EF4-FFF2-40B4-BE49-F238E27FC236}">
                <a16:creationId xmlns:a16="http://schemas.microsoft.com/office/drawing/2014/main" id="{BD5EB7B4-2D3E-4394-9439-7B6EAE0B0D3C}"/>
              </a:ext>
            </a:extLst>
          </p:cNvPr>
          <p:cNvSpPr>
            <a:spLocks xmlns:a="http://schemas.openxmlformats.org/drawingml/2006/main" noGrp="1"/>
          </p:cNvSpPr>
          <p:nvPr/>
        </p:nvSpPr>
        <p:spPr>
          <a:xfrm xmlns:a="http://schemas.openxmlformats.org/drawingml/2006/main">
            <a:off x="1514475" y="2667000"/>
            <a:ext cx="10067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A CRM connected through CLIs and MCP</a:t>
            </a:r>
          </a:p>
        </p:txBody>
      </p:sp>
      <p:sp>
        <p:nvSpPr>
          <p:cNvPr id="6" name="text-51">
            <a:extLst xmlns:a="http://schemas.openxmlformats.org/drawingml/2006/main">
              <a:ext uri="{FF2B5EF4-FFF2-40B4-BE49-F238E27FC236}">
                <a16:creationId xmlns:a16="http://schemas.microsoft.com/office/drawing/2014/main" id="{A7983E36-A498-4A70-A641-BDD5E4A29FB6}"/>
              </a:ext>
            </a:extLst>
          </p:cNvPr>
          <p:cNvSpPr>
            <a:spLocks xmlns:a="http://schemas.openxmlformats.org/drawingml/2006/main" noGrp="1"/>
          </p:cNvSpPr>
          <p:nvPr/>
        </p:nvSpPr>
        <p:spPr>
          <a:xfrm xmlns:a="http://schemas.openxmlformats.org/drawingml/2006/main">
            <a:off x="609600" y="34766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7" name="text-52">
            <a:extLst xmlns:a="http://schemas.openxmlformats.org/drawingml/2006/main">
              <a:ext uri="{FF2B5EF4-FFF2-40B4-BE49-F238E27FC236}">
                <a16:creationId xmlns:a16="http://schemas.microsoft.com/office/drawing/2014/main" id="{C7B0FFDF-238D-4310-B003-F5A099B1937D}"/>
              </a:ext>
            </a:extLst>
          </p:cNvPr>
          <p:cNvSpPr>
            <a:spLocks xmlns:a="http://schemas.openxmlformats.org/drawingml/2006/main" noGrp="1"/>
          </p:cNvSpPr>
          <p:nvPr/>
        </p:nvSpPr>
        <p:spPr>
          <a:xfrm xmlns:a="http://schemas.openxmlformats.org/drawingml/2006/main">
            <a:off x="1514475" y="3476625"/>
            <a:ext cx="10067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An interface tested in Chrome, plus computer use</a:t>
            </a:r>
          </a:p>
        </p:txBody>
      </p:sp>
      <p:sp>
        <p:nvSpPr>
          <p:cNvPr id="8" name="text-53">
            <a:extLst xmlns:a="http://schemas.openxmlformats.org/drawingml/2006/main">
              <a:ext uri="{FF2B5EF4-FFF2-40B4-BE49-F238E27FC236}">
                <a16:creationId xmlns:a16="http://schemas.microsoft.com/office/drawing/2014/main" id="{BB374FDC-1EF5-4FA3-AA5A-327D46A250F4}"/>
              </a:ext>
            </a:extLst>
          </p:cNvPr>
          <p:cNvSpPr>
            <a:spLocks xmlns:a="http://schemas.openxmlformats.org/drawingml/2006/main" noGrp="1"/>
          </p:cNvSpPr>
          <p:nvPr/>
        </p:nvSpPr>
        <p:spPr>
          <a:xfrm xmlns:a="http://schemas.openxmlformats.org/drawingml/2006/main">
            <a:off x="609600" y="42862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04</a:t>
            </a:r>
          </a:p>
        </p:txBody>
      </p:sp>
      <p:sp>
        <p:nvSpPr>
          <p:cNvPr id="9" name="text-54">
            <a:extLst xmlns:a="http://schemas.openxmlformats.org/drawingml/2006/main">
              <a:ext uri="{FF2B5EF4-FFF2-40B4-BE49-F238E27FC236}">
                <a16:creationId xmlns:a16="http://schemas.microsoft.com/office/drawing/2014/main" id="{02A0F0A4-E6D6-4001-AB69-DDD7F03916FA}"/>
              </a:ext>
            </a:extLst>
          </p:cNvPr>
          <p:cNvSpPr>
            <a:spLocks xmlns:a="http://schemas.openxmlformats.org/drawingml/2006/main" noGrp="1"/>
          </p:cNvSpPr>
          <p:nvPr/>
        </p:nvSpPr>
        <p:spPr>
          <a:xfrm xmlns:a="http://schemas.openxmlformats.org/drawingml/2006/main">
            <a:off x="1514475" y="4286250"/>
            <a:ext cx="10067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A named skill with clear arguments</a:t>
            </a:r>
          </a:p>
        </p:txBody>
      </p:sp>
      <p:sp>
        <p:nvSpPr>
          <p:cNvPr id="10" name="text-55">
            <a:extLst xmlns:a="http://schemas.openxmlformats.org/drawingml/2006/main">
              <a:ext uri="{FF2B5EF4-FFF2-40B4-BE49-F238E27FC236}">
                <a16:creationId xmlns:a16="http://schemas.microsoft.com/office/drawing/2014/main" id="{C1B94066-F351-4F69-8BCE-872CEF97A252}"/>
              </a:ext>
            </a:extLst>
          </p:cNvPr>
          <p:cNvSpPr>
            <a:spLocks xmlns:a="http://schemas.openxmlformats.org/drawingml/2006/main" noGrp="1"/>
          </p:cNvSpPr>
          <p:nvPr/>
        </p:nvSpPr>
        <p:spPr>
          <a:xfrm xmlns:a="http://schemas.openxmlformats.org/drawingml/2006/main">
            <a:off x="609600" y="5095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05</a:t>
            </a:r>
          </a:p>
        </p:txBody>
      </p:sp>
      <p:sp>
        <p:nvSpPr>
          <p:cNvPr id="11" name="text-56">
            <a:extLst xmlns:a="http://schemas.openxmlformats.org/drawingml/2006/main">
              <a:ext uri="{FF2B5EF4-FFF2-40B4-BE49-F238E27FC236}">
                <a16:creationId xmlns:a16="http://schemas.microsoft.com/office/drawing/2014/main" id="{171FF2DC-94FA-4AB6-AEDE-B1A06433E49D}"/>
              </a:ext>
            </a:extLst>
          </p:cNvPr>
          <p:cNvSpPr>
            <a:spLocks xmlns:a="http://schemas.openxmlformats.org/drawingml/2006/main" noGrp="1"/>
          </p:cNvSpPr>
          <p:nvPr/>
        </p:nvSpPr>
        <p:spPr>
          <a:xfrm xmlns:a="http://schemas.openxmlformats.org/drawingml/2006/main">
            <a:off x="1514475" y="5095875"/>
            <a:ext cx="10067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A versioned skill your team can run</a:t>
            </a:r>
          </a:p>
        </p:txBody>
      </p:sp>
      <p:sp>
        <p:nvSpPr>
          <p:cNvPr id="12" name="text-57">
            <a:extLst xmlns:a="http://schemas.openxmlformats.org/drawingml/2006/main">
              <a:ext uri="{FF2B5EF4-FFF2-40B4-BE49-F238E27FC236}">
                <a16:creationId xmlns:a16="http://schemas.microsoft.com/office/drawing/2014/main" id="{96D17D02-8059-4BDF-90D1-58CC8E3E52E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08</a:t>
            </a:r>
          </a:p>
        </p:txBody>
      </p:sp>
    </p:spTree>
    <p:extLst>
      <p:ext uri="{BB962C8B-B14F-4D97-AF65-F5344CB8AC3E}">
        <p14:creationId xmlns:p14="http://schemas.microsoft.com/office/powerpoint/2010/main" val="1771377275"/>
      </p:ext>
    </p:extLst>
  </p:cSld>
</p:sld>
</file>

<file path=ppt/slides/slide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5" name="text-58">
            <a:extLst xmlns:a="http://schemas.openxmlformats.org/drawingml/2006/main">
              <a:ext uri="{FF2B5EF4-FFF2-40B4-BE49-F238E27FC236}">
                <a16:creationId xmlns:a16="http://schemas.microsoft.com/office/drawing/2014/main" id="{FA5986AD-F677-45BE-A394-F62D6035C554}"/>
              </a:ext>
            </a:extLst>
          </p:cNvPr>
          <p:cNvSpPr>
            <a:spLocks xmlns:a="http://schemas.openxmlformats.org/drawingml/2006/main" noGrp="1"/>
          </p:cNvSpPr>
          <p:nvPr/>
        </p:nvSpPr>
        <p:spPr>
          <a:xfrm xmlns:a="http://schemas.openxmlformats.org/drawingml/2006/main">
            <a:off x="457200" y="2286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i="0">
                <a:solidFill>
                  <a:srgbClr val="1C1C1C"/>
                </a:solidFill>
                <a:latin typeface="Avenir Next"/>
                <a:ea typeface="Avenir Next"/>
                <a:cs typeface="Avenir Next"/>
              </a:defRPr>
            </a:pPr>
            <a:r>
              <a:rPr sz="3225" b="1" i="0">
                <a:solidFill>
                  <a:srgbClr val="1C1C1C"/>
                </a:solidFill>
                <a:latin typeface="Avenir Next"/>
                <a:ea typeface="Avenir Next"/>
                <a:cs typeface="Avenir Next"/>
              </a:rPr>
              <a:t>The CRM we are building</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f370c720fe444c3"/>
          <a:stretch xmlns:a="http://schemas.openxmlformats.org/drawingml/2006/main"/>
        </p:blipFill>
        <p:spPr>
          <a:xfrm xmlns:a="http://schemas.openxmlformats.org/drawingml/2006/main">
            <a:off x="1337733" y="1009650"/>
            <a:ext cx="9516533" cy="5353050"/>
          </a:xfrm>
          <a:prstGeom xmlns:a="http://schemas.openxmlformats.org/drawingml/2006/main" prst="rect">
            <a:avLst/>
          </a:prstGeom>
        </p:spPr>
      </p:pic>
      <p:sp>
        <p:nvSpPr>
          <p:cNvPr id="3" name="text-59">
            <a:extLst xmlns:a="http://schemas.openxmlformats.org/drawingml/2006/main">
              <a:ext uri="{FF2B5EF4-FFF2-40B4-BE49-F238E27FC236}">
                <a16:creationId xmlns:a16="http://schemas.microsoft.com/office/drawing/2014/main" id="{ACB3A40E-8D9F-48EF-B34E-8AC140A92A90}"/>
              </a:ext>
            </a:extLst>
          </p:cNvPr>
          <p:cNvSpPr>
            <a:spLocks xmlns:a="http://schemas.openxmlformats.org/drawingml/2006/main" noGrp="1"/>
          </p:cNvSpPr>
          <p:nvPr/>
        </p:nvSpPr>
        <p:spPr>
          <a:xfrm xmlns:a="http://schemas.openxmlformats.org/drawingml/2006/main">
            <a:off x="457200" y="64579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Actual reference build · fictional practice data · dates vary with the workspace</a:t>
            </a:r>
          </a:p>
        </p:txBody>
      </p:sp>
      <p:sp>
        <p:nvSpPr>
          <p:cNvPr id="4" name="text-60">
            <a:extLst xmlns:a="http://schemas.openxmlformats.org/drawingml/2006/main">
              <a:ext uri="{FF2B5EF4-FFF2-40B4-BE49-F238E27FC236}">
                <a16:creationId xmlns:a16="http://schemas.microsoft.com/office/drawing/2014/main" id="{BB389082-575A-46F7-AAE0-9644C70837F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09</a:t>
            </a:r>
          </a:p>
        </p:txBody>
      </p:sp>
    </p:spTree>
    <p:extLst>
      <p:ext uri="{BB962C8B-B14F-4D97-AF65-F5344CB8AC3E}">
        <p14:creationId xmlns:p14="http://schemas.microsoft.com/office/powerpoint/2010/main" val="959556452"/>
      </p:ext>
    </p:extLst>
  </p:cSld>
</p:sld>
</file>

<file path=ppt/slides/slide1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61">
            <a:extLst xmlns:a="http://schemas.openxmlformats.org/drawingml/2006/main">
              <a:ext uri="{FF2B5EF4-FFF2-40B4-BE49-F238E27FC236}">
                <a16:creationId xmlns:a16="http://schemas.microsoft.com/office/drawing/2014/main" id="{B8E479F1-B15F-43B3-B3D6-D992262344F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From meeting evidence to a reviewed task</a:t>
            </a:r>
          </a:p>
        </p:txBody>
      </p:sp>
      <p:sp>
        <p:nvSpPr>
          <p:cNvPr id="2" name="panel-62">
            <a:extLst xmlns:a="http://schemas.openxmlformats.org/drawingml/2006/main">
              <a:ext uri="{FF2B5EF4-FFF2-40B4-BE49-F238E27FC236}">
                <a16:creationId xmlns:a16="http://schemas.microsoft.com/office/drawing/2014/main" id="{BE2D2086-20A7-46D1-B04F-0252AA0A733B}"/>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63">
            <a:extLst xmlns:a="http://schemas.openxmlformats.org/drawingml/2006/main">
              <a:ext uri="{FF2B5EF4-FFF2-40B4-BE49-F238E27FC236}">
                <a16:creationId xmlns:a16="http://schemas.microsoft.com/office/drawing/2014/main" id="{13777F9D-B078-4369-93D0-CE05534DF8D0}"/>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The source meeting</a:t>
            </a:r>
          </a:p>
        </p:txBody>
      </p:sp>
      <p:sp>
        <p:nvSpPr>
          <p:cNvPr id="4" name="text-64">
            <a:extLst xmlns:a="http://schemas.openxmlformats.org/drawingml/2006/main">
              <a:ext uri="{FF2B5EF4-FFF2-40B4-BE49-F238E27FC236}">
                <a16:creationId xmlns:a16="http://schemas.microsoft.com/office/drawing/2014/main" id="{E28BD20D-C4F9-4321-BA32-C5BB607F48AD}"/>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“Maya requested an onboarding checklist before the next working session. No delivery date was agreed.”</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demo-transcript-001</a:t>
            </a:r>
          </a:p>
        </p:txBody>
      </p:sp>
      <p:sp>
        <p:nvSpPr>
          <p:cNvPr id="5" name="panel-65">
            <a:extLst xmlns:a="http://schemas.openxmlformats.org/drawingml/2006/main">
              <a:ext uri="{FF2B5EF4-FFF2-40B4-BE49-F238E27FC236}">
                <a16:creationId xmlns:a16="http://schemas.microsoft.com/office/drawing/2014/main" id="{063FED0E-F12C-4525-969F-3188471EEA80}"/>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66">
            <a:extLst xmlns:a="http://schemas.openxmlformats.org/drawingml/2006/main">
              <a:ext uri="{FF2B5EF4-FFF2-40B4-BE49-F238E27FC236}">
                <a16:creationId xmlns:a16="http://schemas.microsoft.com/office/drawing/2014/main" id="{3B25054B-4994-471B-8CF2-973F9C363F99}"/>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The proposal</a:t>
            </a:r>
          </a:p>
        </p:txBody>
      </p:sp>
      <p:sp>
        <p:nvSpPr>
          <p:cNvPr id="7" name="text-67">
            <a:extLst xmlns:a="http://schemas.openxmlformats.org/drawingml/2006/main">
              <a:ext uri="{FF2B5EF4-FFF2-40B4-BE49-F238E27FC236}">
                <a16:creationId xmlns:a16="http://schemas.microsoft.com/office/drawing/2014/main" id="{73FFEBF9-1034-4D12-8E08-C6EE97DD441F}"/>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1" i="0">
                <a:solidFill>
                  <a:srgbClr val="1C1C1C"/>
                </a:solidFill>
                <a:latin typeface="Helvetica Neue"/>
                <a:ea typeface="Helvetica Neue"/>
                <a:cs typeface="Helvetica Neue"/>
              </a:rPr>
              <a:t>Task:</a:t>
            </a:r>
            <a:r>
              <a:rPr sz="2100" b="0" i="0">
                <a:solidFill>
                  <a:srgbClr val="1C1C1C"/>
                </a:solidFill>
                <a:latin typeface="Helvetica Neue"/>
                <a:ea typeface="Helvetica Neue"/>
                <a:cs typeface="Helvetica Neue"/>
              </a:rPr>
              <a:t> prepare the checklist</a:t>
            </a:r>
          </a:p>
          <a:p xmlns:a="http://schemas.openxmlformats.org/drawingml/2006/main">
            <a:pPr>
              <a:defRPr sz="2100" b="0" i="0">
                <a:solidFill>
                  <a:srgbClr val="1C1C1C"/>
                </a:solidFill>
                <a:latin typeface="Helvetica Neue"/>
                <a:ea typeface="Helvetica Neue"/>
                <a:cs typeface="Helvetica Neue"/>
              </a:defRPr>
            </a:pPr>
            <a:r>
              <a:rPr sz="2100" b="1" i="0">
                <a:solidFill>
                  <a:srgbClr val="1C1C1C"/>
                </a:solidFill>
                <a:latin typeface="Helvetica Neue"/>
                <a:ea typeface="Helvetica Neue"/>
                <a:cs typeface="Helvetica Neue"/>
              </a:rPr>
              <a:t>Owner:</a:t>
            </a:r>
            <a:r>
              <a:rPr sz="2100" b="0" i="0">
                <a:solidFill>
                  <a:srgbClr val="1C1C1C"/>
                </a:solidFill>
                <a:latin typeface="Helvetica Neue"/>
                <a:ea typeface="Helvetica Neue"/>
                <a:cs typeface="Helvetica Neue"/>
              </a:rPr>
              <a:t> chosen by Alex</a:t>
            </a:r>
          </a:p>
          <a:p xmlns:a="http://schemas.openxmlformats.org/drawingml/2006/main">
            <a:pPr>
              <a:defRPr sz="2100" b="0" i="0">
                <a:solidFill>
                  <a:srgbClr val="1C1C1C"/>
                </a:solidFill>
                <a:latin typeface="Helvetica Neue"/>
                <a:ea typeface="Helvetica Neue"/>
                <a:cs typeface="Helvetica Neue"/>
              </a:defRPr>
            </a:pPr>
            <a:r>
              <a:rPr sz="2100" b="1" i="0">
                <a:solidFill>
                  <a:srgbClr val="1C1C1C"/>
                </a:solidFill>
                <a:latin typeface="Helvetica Neue"/>
                <a:ea typeface="Helvetica Neue"/>
                <a:cs typeface="Helvetica Neue"/>
              </a:rPr>
              <a:t>Due date:</a:t>
            </a:r>
            <a:r>
              <a:rPr sz="2100" b="0" i="0">
                <a:solidFill>
                  <a:srgbClr val="1C1C1C"/>
                </a:solidFill>
                <a:latin typeface="Helvetica Neue"/>
                <a:ea typeface="Helvetica Neue"/>
                <a:cs typeface="Helvetica Neue"/>
              </a:rPr>
              <a:t> reviewed by Alex</a:t>
            </a:r>
          </a:p>
          <a:p xmlns:a="http://schemas.openxmlformats.org/drawingml/2006/main">
            <a:r>
              <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Save only after confirming these details.</a:t>
            </a:r>
          </a:p>
        </p:txBody>
      </p:sp>
      <p:sp>
        <p:nvSpPr>
          <p:cNvPr id="8" name="text-68">
            <a:extLst xmlns:a="http://schemas.openxmlformats.org/drawingml/2006/main">
              <a:ext uri="{FF2B5EF4-FFF2-40B4-BE49-F238E27FC236}">
                <a16:creationId xmlns:a16="http://schemas.microsoft.com/office/drawing/2014/main" id="{D6BE384A-4745-4AAB-8777-E6D2C1F1A99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a:t>
            </a:r>
          </a:p>
        </p:txBody>
      </p:sp>
    </p:spTree>
    <p:extLst>
      <p:ext uri="{BB962C8B-B14F-4D97-AF65-F5344CB8AC3E}">
        <p14:creationId xmlns:p14="http://schemas.microsoft.com/office/powerpoint/2010/main" val="1676554853"/>
      </p:ext>
    </p:extLst>
  </p:cSld>
</p:sld>
</file>

<file path=ppt/slides/slide1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5" name="text-69">
            <a:extLst xmlns:a="http://schemas.openxmlformats.org/drawingml/2006/main">
              <a:ext uri="{FF2B5EF4-FFF2-40B4-BE49-F238E27FC236}">
                <a16:creationId xmlns:a16="http://schemas.microsoft.com/office/drawing/2014/main" id="{8D18F4A5-FF4C-4C75-A3E1-B0AE724D214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One client. One useful loop.</a:t>
            </a:r>
          </a:p>
        </p:txBody>
      </p:sp>
      <p:sp>
        <p:nvSpPr>
          <p:cNvPr id="2" name="text-70">
            <a:extLst xmlns:a="http://schemas.openxmlformats.org/drawingml/2006/main">
              <a:ext uri="{FF2B5EF4-FFF2-40B4-BE49-F238E27FC236}">
                <a16:creationId xmlns:a16="http://schemas.microsoft.com/office/drawing/2014/main" id="{288E8305-C496-4A41-9913-8F987EBF28AF}"/>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71">
            <a:extLst xmlns:a="http://schemas.openxmlformats.org/drawingml/2006/main">
              <a:ext uri="{FF2B5EF4-FFF2-40B4-BE49-F238E27FC236}">
                <a16:creationId xmlns:a16="http://schemas.microsoft.com/office/drawing/2014/main" id="{78F77DE0-7D8A-4A98-A7F6-4C0346DCE340}"/>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72">
            <a:extLst xmlns:a="http://schemas.openxmlformats.org/drawingml/2006/main">
              <a:ext uri="{FF2B5EF4-FFF2-40B4-BE49-F238E27FC236}">
                <a16:creationId xmlns:a16="http://schemas.microsoft.com/office/drawing/2014/main" id="{A4A4D4FA-825E-4057-BFA3-F94DBE6DC15B}"/>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Open a client</a:t>
            </a:r>
          </a:p>
        </p:txBody>
      </p:sp>
      <p:sp>
        <p:nvSpPr>
          <p:cNvPr id="5" name="panel-73">
            <a:extLst xmlns:a="http://schemas.openxmlformats.org/drawingml/2006/main">
              <a:ext uri="{FF2B5EF4-FFF2-40B4-BE49-F238E27FC236}">
                <a16:creationId xmlns:a16="http://schemas.microsoft.com/office/drawing/2014/main" id="{F3D7D250-35B8-442D-B525-34459AC656CA}"/>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74">
            <a:extLst xmlns:a="http://schemas.openxmlformats.org/drawingml/2006/main">
              <a:ext uri="{FF2B5EF4-FFF2-40B4-BE49-F238E27FC236}">
                <a16:creationId xmlns:a16="http://schemas.microsoft.com/office/drawing/2014/main" id="{E89C8285-5356-4DAB-8764-60686826995C}"/>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75">
            <a:extLst xmlns:a="http://schemas.openxmlformats.org/drawingml/2006/main">
              <a:ext uri="{FF2B5EF4-FFF2-40B4-BE49-F238E27FC236}">
                <a16:creationId xmlns:a16="http://schemas.microsoft.com/office/drawing/2014/main" id="{6F219E52-0716-4829-8BDB-C59104D87123}"/>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76">
            <a:extLst xmlns:a="http://schemas.openxmlformats.org/drawingml/2006/main">
              <a:ext uri="{FF2B5EF4-FFF2-40B4-BE49-F238E27FC236}">
                <a16:creationId xmlns:a16="http://schemas.microsoft.com/office/drawing/2014/main" id="{F17562C8-03DB-4337-89F2-10D31D2B9D33}"/>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77">
            <a:extLst xmlns:a="http://schemas.openxmlformats.org/drawingml/2006/main">
              <a:ext uri="{FF2B5EF4-FFF2-40B4-BE49-F238E27FC236}">
                <a16:creationId xmlns:a16="http://schemas.microsoft.com/office/drawing/2014/main" id="{A8FED1EE-B029-4C5D-822B-4D0AE1FBDA6A}"/>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Read the meeting</a:t>
            </a:r>
          </a:p>
        </p:txBody>
      </p:sp>
      <p:sp>
        <p:nvSpPr>
          <p:cNvPr id="11" name="panel-78">
            <a:extLst xmlns:a="http://schemas.openxmlformats.org/drawingml/2006/main">
              <a:ext uri="{FF2B5EF4-FFF2-40B4-BE49-F238E27FC236}">
                <a16:creationId xmlns:a16="http://schemas.microsoft.com/office/drawing/2014/main" id="{7B183D96-E01A-4C32-9558-34D26BB677FC}"/>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79">
            <a:extLst xmlns:a="http://schemas.openxmlformats.org/drawingml/2006/main">
              <a:ext uri="{FF2B5EF4-FFF2-40B4-BE49-F238E27FC236}">
                <a16:creationId xmlns:a16="http://schemas.microsoft.com/office/drawing/2014/main" id="{5B76A89F-2458-4951-8E4C-8D6DFF5BF780}"/>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80">
            <a:extLst xmlns:a="http://schemas.openxmlformats.org/drawingml/2006/main">
              <a:ext uri="{FF2B5EF4-FFF2-40B4-BE49-F238E27FC236}">
                <a16:creationId xmlns:a16="http://schemas.microsoft.com/office/drawing/2014/main" id="{1E96173C-C7D8-4E67-9D1E-A6DA6A445842}"/>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81">
            <a:extLst xmlns:a="http://schemas.openxmlformats.org/drawingml/2006/main">
              <a:ext uri="{FF2B5EF4-FFF2-40B4-BE49-F238E27FC236}">
                <a16:creationId xmlns:a16="http://schemas.microsoft.com/office/drawing/2014/main" id="{4918F607-73CF-471A-95F2-B7AD0A35577E}"/>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82">
            <a:extLst xmlns:a="http://schemas.openxmlformats.org/drawingml/2006/main">
              <a:ext uri="{FF2B5EF4-FFF2-40B4-BE49-F238E27FC236}">
                <a16:creationId xmlns:a16="http://schemas.microsoft.com/office/drawing/2014/main" id="{CEAAF206-9060-4266-B0CA-88823ECB35BA}"/>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Review a follow-up</a:t>
            </a:r>
          </a:p>
        </p:txBody>
      </p:sp>
      <p:sp>
        <p:nvSpPr>
          <p:cNvPr id="17" name="panel-83">
            <a:extLst xmlns:a="http://schemas.openxmlformats.org/drawingml/2006/main">
              <a:ext uri="{FF2B5EF4-FFF2-40B4-BE49-F238E27FC236}">
                <a16:creationId xmlns:a16="http://schemas.microsoft.com/office/drawing/2014/main" id="{C1BEC157-997D-4100-9E4E-8128AB95DB89}"/>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84">
            <a:extLst xmlns:a="http://schemas.openxmlformats.org/drawingml/2006/main">
              <a:ext uri="{FF2B5EF4-FFF2-40B4-BE49-F238E27FC236}">
                <a16:creationId xmlns:a16="http://schemas.microsoft.com/office/drawing/2014/main" id="{1F6C1F1D-7B6E-4CE6-ACF7-FC4E6D897264}"/>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85">
            <a:extLst xmlns:a="http://schemas.openxmlformats.org/drawingml/2006/main">
              <a:ext uri="{FF2B5EF4-FFF2-40B4-BE49-F238E27FC236}">
                <a16:creationId xmlns:a16="http://schemas.microsoft.com/office/drawing/2014/main" id="{4CC9BC6B-604E-4E1A-803D-89DADB47C813}"/>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86">
            <a:extLst xmlns:a="http://schemas.openxmlformats.org/drawingml/2006/main">
              <a:ext uri="{FF2B5EF4-FFF2-40B4-BE49-F238E27FC236}">
                <a16:creationId xmlns:a16="http://schemas.microsoft.com/office/drawing/2014/main" id="{D430D8BE-7C0D-4A75-9573-01F06D2E3A6A}"/>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87">
            <a:extLst xmlns:a="http://schemas.openxmlformats.org/drawingml/2006/main">
              <a:ext uri="{FF2B5EF4-FFF2-40B4-BE49-F238E27FC236}">
                <a16:creationId xmlns:a16="http://schemas.microsoft.com/office/drawing/2014/main" id="{EF937E82-49A3-4E2B-9D5C-D8CDA62368F5}"/>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Save the task</a:t>
            </a:r>
          </a:p>
        </p:txBody>
      </p:sp>
      <p:sp>
        <p:nvSpPr>
          <p:cNvPr id="23" name="text-88">
            <a:extLst xmlns:a="http://schemas.openxmlformats.org/drawingml/2006/main">
              <a:ext uri="{FF2B5EF4-FFF2-40B4-BE49-F238E27FC236}">
                <a16:creationId xmlns:a16="http://schemas.microsoft.com/office/drawing/2014/main" id="{EB98465D-B41E-4C9A-9F37-D6B26FB03F56}"/>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1" i="0">
                <a:solidFill>
                  <a:srgbClr val="1C1C1C"/>
                </a:solidFill>
                <a:latin typeface="Helvetica Neue"/>
                <a:ea typeface="Helvetica Neue"/>
                <a:cs typeface="Helvetica Neue"/>
              </a:rPr>
              <a:t>Northstar:</a:t>
            </a:r>
            <a:r>
              <a:rPr sz="2250" b="0" i="0">
                <a:solidFill>
                  <a:srgbClr val="1C1C1C"/>
                </a:solidFill>
                <a:latin typeface="Helvetica Neue"/>
                <a:ea typeface="Helvetica Neue"/>
                <a:cs typeface="Helvetica Neue"/>
              </a:rPr>
              <a:t> Maya requests a checklist. Alex reviews the proposed date, then saves one task.</a:t>
            </a:r>
          </a:p>
        </p:txBody>
      </p:sp>
      <p:sp>
        <p:nvSpPr>
          <p:cNvPr id="24" name="text-89">
            <a:extLst xmlns:a="http://schemas.openxmlformats.org/drawingml/2006/main">
              <a:ext uri="{FF2B5EF4-FFF2-40B4-BE49-F238E27FC236}">
                <a16:creationId xmlns:a16="http://schemas.microsoft.com/office/drawing/2014/main" id="{F08CE54F-1C3A-4078-8C8C-BD2914F3E94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a:t>
            </a:r>
          </a:p>
        </p:txBody>
      </p:sp>
    </p:spTree>
    <p:extLst>
      <p:ext uri="{BB962C8B-B14F-4D97-AF65-F5344CB8AC3E}">
        <p14:creationId xmlns:p14="http://schemas.microsoft.com/office/powerpoint/2010/main" val="1556990475"/>
      </p:ext>
    </p:extLst>
  </p:cSld>
</p:sld>
</file>

<file path=ppt/slides/slide12.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5a4c777538e4bed"/>
          <a:srcRect xmlns:a="http://schemas.openxmlformats.org/drawingml/2006/main" l="0" t="10440" r="0" b="1044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90">
            <a:extLst xmlns:a="http://schemas.openxmlformats.org/drawingml/2006/main">
              <a:ext uri="{FF2B5EF4-FFF2-40B4-BE49-F238E27FC236}">
                <a16:creationId xmlns:a16="http://schemas.microsoft.com/office/drawing/2014/main" id="{88D697A0-C298-4312-9633-EA1DB0AD8C0B}"/>
              </a:ext>
            </a:extLst>
          </p:cNvPr>
          <p:cNvSpPr>
            <a:spLocks xmlns:a="http://schemas.openxmlformats.org/drawingml/2006/main" noGrp="1"/>
          </p:cNvSpPr>
          <p:nvPr/>
        </p:nvSpPr>
        <p:spPr>
          <a:xfrm xmlns:a="http://schemas.openxmlformats.org/drawingml/2006/main">
            <a:off x="609600" y="51435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200" b="1" i="0">
                <a:solidFill>
                  <a:srgbClr val="FFFFFF"/>
                </a:solidFill>
                <a:latin typeface="Avenir Next"/>
                <a:ea typeface="Avenir Next"/>
                <a:cs typeface="Avenir Next"/>
              </a:defRPr>
            </a:pPr>
            <a:r>
              <a:rPr sz="7200" b="1" i="0">
                <a:solidFill>
                  <a:srgbClr val="FFFFFF"/>
                </a:solidFill>
                <a:latin typeface="Avenir Next"/>
                <a:ea typeface="Avenir Next"/>
                <a:cs typeface="Avenir Next"/>
              </a:rPr>
              <a:t>01</a:t>
            </a:r>
          </a:p>
        </p:txBody>
      </p:sp>
      <p:sp>
        <p:nvSpPr>
          <p:cNvPr id="3" name="text-91">
            <a:extLst xmlns:a="http://schemas.openxmlformats.org/drawingml/2006/main">
              <a:ext uri="{FF2B5EF4-FFF2-40B4-BE49-F238E27FC236}">
                <a16:creationId xmlns:a16="http://schemas.microsoft.com/office/drawing/2014/main" id="{39F4F22D-F8D5-4A63-A087-CC97C097C152}"/>
              </a:ext>
            </a:extLst>
          </p:cNvPr>
          <p:cNvSpPr>
            <a:spLocks xmlns:a="http://schemas.openxmlformats.org/drawingml/2006/main" noGrp="1"/>
          </p:cNvSpPr>
          <p:nvPr/>
        </p:nvSpPr>
        <p:spPr>
          <a:xfrm xmlns:a="http://schemas.openxmlformats.org/drawingml/2006/main">
            <a:off x="609600" y="2152650"/>
            <a:ext cx="65246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525" b="1" i="0">
                <a:solidFill>
                  <a:srgbClr val="FFFFFF"/>
                </a:solidFill>
                <a:latin typeface="Avenir Next"/>
                <a:ea typeface="Avenir Next"/>
                <a:cs typeface="Avenir Next"/>
              </a:defRPr>
            </a:pPr>
            <a:r>
              <a:rPr sz="6525" b="1" i="0">
                <a:solidFill>
                  <a:srgbClr val="FFFFFF"/>
                </a:solidFill>
                <a:latin typeface="Avenir Next"/>
                <a:ea typeface="Avenir Next"/>
                <a:cs typeface="Avenir Next"/>
              </a:rPr>
              <a:t>The plan</a:t>
            </a:r>
          </a:p>
          <a:p xmlns:a="http://schemas.openxmlformats.org/drawingml/2006/main">
            <a:pPr>
              <a:defRPr sz="6525" b="1" i="0">
                <a:solidFill>
                  <a:srgbClr val="FFFFFF"/>
                </a:solidFill>
                <a:latin typeface="Avenir Next"/>
                <a:ea typeface="Avenir Next"/>
                <a:cs typeface="Avenir Next"/>
              </a:defRPr>
            </a:pPr>
            <a:r>
              <a:rPr sz="6525" b="1" i="0">
                <a:solidFill>
                  <a:srgbClr val="FFFFFF"/>
                </a:solidFill>
                <a:latin typeface="Avenir Next"/>
                <a:ea typeface="Avenir Next"/>
                <a:cs typeface="Avenir Next"/>
              </a:rPr>
              <a:t>is the product</a:t>
            </a:r>
          </a:p>
        </p:txBody>
      </p:sp>
      <p:sp>
        <p:nvSpPr>
          <p:cNvPr id="4" name="text-92">
            <a:extLst xmlns:a="http://schemas.openxmlformats.org/drawingml/2006/main">
              <a:ext uri="{FF2B5EF4-FFF2-40B4-BE49-F238E27FC236}">
                <a16:creationId xmlns:a16="http://schemas.microsoft.com/office/drawing/2014/main" id="{24E56129-4A3F-4C4B-9AD7-71783B335B49}"/>
              </a:ext>
            </a:extLst>
          </p:cNvPr>
          <p:cNvSpPr>
            <a:spLocks xmlns:a="http://schemas.openxmlformats.org/drawingml/2006/main" noGrp="1"/>
          </p:cNvSpPr>
          <p:nvPr/>
        </p:nvSpPr>
        <p:spPr>
          <a:xfrm xmlns:a="http://schemas.openxmlformats.org/drawingml/2006/main">
            <a:off x="609600" y="5448300"/>
            <a:ext cx="600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FFFFFF"/>
                </a:solidFill>
                <a:latin typeface="Helvetica Neue"/>
                <a:ea typeface="Helvetica Neue"/>
                <a:cs typeface="Helvetica Neue"/>
              </a:defRPr>
            </a:pPr>
            <a:r>
              <a:rPr sz="2175" b="0" i="0">
                <a:solidFill>
                  <a:srgbClr val="FFFFFF"/>
                </a:solidFill>
                <a:latin typeface="Helvetica Neue"/>
                <a:ea typeface="Helvetica Neue"/>
                <a:cs typeface="Helvetica Neue"/>
              </a:rPr>
              <a:t>A buildable specification</a:t>
            </a:r>
          </a:p>
        </p:txBody>
      </p:sp>
      <p:sp>
        <p:nvSpPr>
          <p:cNvPr id="5" name="text-93">
            <a:extLst xmlns:a="http://schemas.openxmlformats.org/drawingml/2006/main">
              <a:ext uri="{FF2B5EF4-FFF2-40B4-BE49-F238E27FC236}">
                <a16:creationId xmlns:a16="http://schemas.microsoft.com/office/drawing/2014/main" id="{6B776F95-CD93-4E59-B26D-E4CD789BA91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EEEAE3"/>
                </a:solidFill>
                <a:latin typeface="Helvetica Neue"/>
                <a:ea typeface="Helvetica Neue"/>
                <a:cs typeface="Helvetica Neue"/>
              </a:defRPr>
            </a:pPr>
            <a:r>
              <a:rPr sz="1200" b="0" i="0">
                <a:solidFill>
                  <a:srgbClr val="EEEAE3"/>
                </a:solidFill>
                <a:latin typeface="Helvetica Neue"/>
                <a:ea typeface="Helvetica Neue"/>
                <a:cs typeface="Helvetica Neue"/>
              </a:rPr>
              <a:t>12</a:t>
            </a:r>
          </a:p>
        </p:txBody>
      </p:sp>
    </p:spTree>
    <p:extLst>
      <p:ext uri="{BB962C8B-B14F-4D97-AF65-F5344CB8AC3E}">
        <p14:creationId xmlns:p14="http://schemas.microsoft.com/office/powerpoint/2010/main" val="1244477673"/>
      </p:ext>
    </p:extLst>
  </p:cSld>
</p:sld>
</file>

<file path=ppt/slides/slide13.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4" name="text-94">
            <a:extLst xmlns:a="http://schemas.openxmlformats.org/drawingml/2006/main">
              <a:ext uri="{FF2B5EF4-FFF2-40B4-BE49-F238E27FC236}">
                <a16:creationId xmlns:a16="http://schemas.microsoft.com/office/drawing/2014/main" id="{BDA354D1-E360-43F4-ADC6-F8D5847262B1}"/>
              </a:ext>
            </a:extLst>
          </p:cNvPr>
          <p:cNvSpPr>
            <a:spLocks xmlns:a="http://schemas.openxmlformats.org/drawingml/2006/main" noGrp="1"/>
          </p:cNvSpPr>
          <p:nvPr/>
        </p:nvSpPr>
        <p:spPr>
          <a:xfrm xmlns:a="http://schemas.openxmlformats.org/drawingml/2006/main">
            <a:off x="609600" y="60960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i="1">
                <a:solidFill>
                  <a:srgbClr val="1C1C1C"/>
                </a:solidFill>
                <a:latin typeface="Avenir Next"/>
                <a:ea typeface="Avenir Next"/>
                <a:cs typeface="Avenir Next"/>
              </a:defRPr>
            </a:pPr>
            <a:r>
              <a:rPr sz="4350" b="1" i="1">
                <a:solidFill>
                  <a:srgbClr val="1C1C1C"/>
                </a:solidFill>
                <a:latin typeface="Avenir Next"/>
                <a:ea typeface="Avenir Next"/>
                <a:cs typeface="Avenir Next"/>
              </a:rPr>
              <a:t>What is worth building?</a:t>
            </a:r>
          </a:p>
        </p:txBody>
      </p:sp>
      <p:sp>
        <p:nvSpPr>
          <p:cNvPr id="2" name="text-95">
            <a:extLst xmlns:a="http://schemas.openxmlformats.org/drawingml/2006/main">
              <a:ext uri="{FF2B5EF4-FFF2-40B4-BE49-F238E27FC236}">
                <a16:creationId xmlns:a16="http://schemas.microsoft.com/office/drawing/2014/main" id="{C4D3D31F-F1DB-4006-895E-DCAC871FA3AA}"/>
              </a:ext>
            </a:extLst>
          </p:cNvPr>
          <p:cNvSpPr>
            <a:spLocks xmlns:a="http://schemas.openxmlformats.org/drawingml/2006/main" noGrp="1"/>
          </p:cNvSpPr>
          <p:nvPr/>
        </p:nvSpPr>
        <p:spPr>
          <a:xfrm xmlns:a="http://schemas.openxmlformats.org/drawingml/2006/main">
            <a:off x="609600" y="2714625"/>
            <a:ext cx="1076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Prepare for Northstar’s next call.</a:t>
            </a:r>
          </a:p>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Alex owns the follow-up.</a:t>
            </a:r>
          </a:p>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The result is one reviewed task.</a:t>
            </a:r>
          </a:p>
        </p:txBody>
      </p:sp>
      <p:sp>
        <p:nvSpPr>
          <p:cNvPr id="3" name="text-96">
            <a:extLst xmlns:a="http://schemas.openxmlformats.org/drawingml/2006/main">
              <a:ext uri="{FF2B5EF4-FFF2-40B4-BE49-F238E27FC236}">
                <a16:creationId xmlns:a16="http://schemas.microsoft.com/office/drawing/2014/main" id="{C5094DEA-4F1B-435F-9023-4C58F82A105E}"/>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a:t>
            </a:r>
          </a:p>
        </p:txBody>
      </p:sp>
    </p:spTree>
    <p:extLst>
      <p:ext uri="{BB962C8B-B14F-4D97-AF65-F5344CB8AC3E}">
        <p14:creationId xmlns:p14="http://schemas.microsoft.com/office/powerpoint/2010/main" val="2087198420"/>
      </p:ext>
    </p:extLst>
  </p:cSld>
</p:sld>
</file>

<file path=ppt/slides/slide1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97">
            <a:extLst xmlns:a="http://schemas.openxmlformats.org/drawingml/2006/main">
              <a:ext uri="{FF2B5EF4-FFF2-40B4-BE49-F238E27FC236}">
                <a16:creationId xmlns:a16="http://schemas.microsoft.com/office/drawing/2014/main" id="{42ECA461-CF1C-4CB1-8BDF-D939CA6F1BE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first planning prompt</a:t>
            </a:r>
          </a:p>
        </p:txBody>
      </p:sp>
      <p:sp>
        <p:nvSpPr>
          <p:cNvPr id="2" name="panel-98">
            <a:extLst xmlns:a="http://schemas.openxmlformats.org/drawingml/2006/main">
              <a:ext uri="{FF2B5EF4-FFF2-40B4-BE49-F238E27FC236}">
                <a16:creationId xmlns:a16="http://schemas.microsoft.com/office/drawing/2014/main" id="{4413787E-1DB9-4BBC-86D6-06C980CCF227}"/>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99">
            <a:extLst xmlns:a="http://schemas.openxmlformats.org/drawingml/2006/main">
              <a:ext uri="{FF2B5EF4-FFF2-40B4-BE49-F238E27FC236}">
                <a16:creationId xmlns:a16="http://schemas.microsoft.com/office/drawing/2014/main" id="{05F631DA-3C2E-49EA-A4E2-713FD56152AD}"/>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100">
            <a:extLst xmlns:a="http://schemas.openxmlformats.org/drawingml/2006/main">
              <a:ext uri="{FF2B5EF4-FFF2-40B4-BE49-F238E27FC236}">
                <a16:creationId xmlns:a16="http://schemas.microsoft.com/office/drawing/2014/main" id="{460EC2AD-197C-4301-A726-17E44E771686}"/>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Help me turn this recurring job into a short build brief: after a client call, I lose track of the agreed next action. Ask who uses the tool, what information they need, and what outcome would make it useful. Ask one question at a time.</a:t>
            </a:r>
          </a:p>
        </p:txBody>
      </p:sp>
      <p:sp>
        <p:nvSpPr>
          <p:cNvPr id="5" name="panel-101">
            <a:extLst xmlns:a="http://schemas.openxmlformats.org/drawingml/2006/main">
              <a:ext uri="{FF2B5EF4-FFF2-40B4-BE49-F238E27FC236}">
                <a16:creationId xmlns:a16="http://schemas.microsoft.com/office/drawing/2014/main" id="{FCA55161-3918-4DC8-869D-271A9B257679}"/>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102">
            <a:extLst xmlns:a="http://schemas.openxmlformats.org/drawingml/2006/main">
              <a:ext uri="{FF2B5EF4-FFF2-40B4-BE49-F238E27FC236}">
                <a16:creationId xmlns:a16="http://schemas.microsoft.com/office/drawing/2014/main" id="{DD524D6C-1C84-4184-BA4A-9650ECB911E3}"/>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The decision we need</a:t>
            </a:r>
          </a:p>
        </p:txBody>
      </p:sp>
      <p:sp>
        <p:nvSpPr>
          <p:cNvPr id="7" name="text-103">
            <a:extLst xmlns:a="http://schemas.openxmlformats.org/drawingml/2006/main">
              <a:ext uri="{FF2B5EF4-FFF2-40B4-BE49-F238E27FC236}">
                <a16:creationId xmlns:a16="http://schemas.microsoft.com/office/drawing/2014/main" id="{ED52CAA8-AD33-40D4-9012-33C7DAFC14EE}"/>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Person:</a:t>
            </a:r>
            <a:r>
              <a:rPr sz="2025" b="0" i="0">
                <a:solidFill>
                  <a:srgbClr val="1C1C1C"/>
                </a:solidFill>
                <a:latin typeface="Helvetica Neue"/>
                <a:ea typeface="Helvetica Neue"/>
                <a:cs typeface="Helvetica Neue"/>
              </a:rPr>
              <a:t> Alex, a solo consultant</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Problem:</a:t>
            </a:r>
            <a:r>
              <a:rPr sz="2025" b="0" i="0">
                <a:solidFill>
                  <a:srgbClr val="1C1C1C"/>
                </a:solidFill>
                <a:latin typeface="Helvetica Neue"/>
                <a:ea typeface="Helvetica Neue"/>
                <a:cs typeface="Helvetica Neue"/>
              </a:rPr>
              <a:t> follow-ups lose their context</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Useful result:</a:t>
            </a:r>
            <a:r>
              <a:rPr sz="2025" b="0" i="0">
                <a:solidFill>
                  <a:srgbClr val="1C1C1C"/>
                </a:solidFill>
                <a:latin typeface="Helvetica Neue"/>
                <a:ea typeface="Helvetica Neue"/>
                <a:cs typeface="Helvetica Neue"/>
              </a:rPr>
              <a:t> one reviewed next action</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First client:</a:t>
            </a:r>
            <a:r>
              <a:rPr sz="2025" b="0" i="0">
                <a:solidFill>
                  <a:srgbClr val="1C1C1C"/>
                </a:solidFill>
                <a:latin typeface="Helvetica Neue"/>
                <a:ea typeface="Helvetica Neue"/>
                <a:cs typeface="Helvetica Neue"/>
              </a:rPr>
              <a:t> Northstar Studio</a:t>
            </a:r>
          </a:p>
        </p:txBody>
      </p:sp>
      <p:sp>
        <p:nvSpPr>
          <p:cNvPr id="8" name="text-104">
            <a:extLst xmlns:a="http://schemas.openxmlformats.org/drawingml/2006/main">
              <a:ext uri="{FF2B5EF4-FFF2-40B4-BE49-F238E27FC236}">
                <a16:creationId xmlns:a16="http://schemas.microsoft.com/office/drawing/2014/main" id="{D76D0A79-63E6-4C20-AC2D-6F33D59888F7}"/>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A named person and an observable result make the next prompt specific.</a:t>
            </a:r>
          </a:p>
        </p:txBody>
      </p:sp>
      <p:sp>
        <p:nvSpPr>
          <p:cNvPr id="9" name="text-105">
            <a:extLst xmlns:a="http://schemas.openxmlformats.org/drawingml/2006/main">
              <a:ext uri="{FF2B5EF4-FFF2-40B4-BE49-F238E27FC236}">
                <a16:creationId xmlns:a16="http://schemas.microsoft.com/office/drawing/2014/main" id="{201C90F2-DA0A-44B5-A062-BC18643AE91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a:t>
            </a:r>
          </a:p>
        </p:txBody>
      </p:sp>
    </p:spTree>
    <p:extLst>
      <p:ext uri="{BB962C8B-B14F-4D97-AF65-F5344CB8AC3E}">
        <p14:creationId xmlns:p14="http://schemas.microsoft.com/office/powerpoint/2010/main" val="546784813"/>
      </p:ext>
    </p:extLst>
  </p:cSld>
</p:sld>
</file>

<file path=ppt/slides/slide1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06">
            <a:extLst xmlns:a="http://schemas.openxmlformats.org/drawingml/2006/main">
              <a:ext uri="{FF2B5EF4-FFF2-40B4-BE49-F238E27FC236}">
                <a16:creationId xmlns:a16="http://schemas.microsoft.com/office/drawing/2014/main" id="{5204D207-3890-4343-AA84-95D5D1F1C753}"/>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1">
                <a:solidFill>
                  <a:srgbClr val="1C1C1C"/>
                </a:solidFill>
                <a:latin typeface="Avenir Next"/>
                <a:ea typeface="Avenir Next"/>
                <a:cs typeface="Avenir Next"/>
              </a:defRPr>
            </a:pPr>
            <a:r>
              <a:rPr sz="3600" b="1" i="1">
                <a:solidFill>
                  <a:srgbClr val="1C1C1C"/>
                </a:solidFill>
                <a:latin typeface="Avenir Next"/>
                <a:ea typeface="Avenir Next"/>
                <a:cs typeface="Avenir Next"/>
              </a:rPr>
              <a:t>Configure, connect, or build?</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1090613">
                <a:tc>
                  <a:txBody>
                    <a:bodyPr>
                      <a:noAutofit/>
                    </a:bodyPr>
                    <a:lstStyle/>
                    <a:p>
                      <a:r>
                        <a:rPr sz="1875" b="1" i="0">
                          <a:solidFill>
                            <a:srgbClr val="FFFFFF"/>
                          </a:solidFill>
                          <a:latin typeface="Helvetica Neue"/>
                          <a:ea typeface="Helvetica Neue"/>
                          <a:cs typeface="Helvetica Neue"/>
                        </a:rPr>
                        <a:t>Choice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When it fits</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CRM example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Configure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An existing tool already fits</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Add a field or saved view</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Connect</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The work crosses services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Meetings next to client tasks</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Build</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missing workflow is specific</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 source-backed client brief</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107">
            <a:extLst xmlns:a="http://schemas.openxmlformats.org/drawingml/2006/main">
              <a:ext uri="{FF2B5EF4-FFF2-40B4-BE49-F238E27FC236}">
                <a16:creationId xmlns:a16="http://schemas.microsoft.com/office/drawing/2014/main" id="{262E8E33-48F8-4853-9E4B-8236D40CF77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15</a:t>
            </a:r>
          </a:p>
        </p:txBody>
      </p:sp>
    </p:spTree>
    <p:extLst>
      <p:ext uri="{BB962C8B-B14F-4D97-AF65-F5344CB8AC3E}">
        <p14:creationId xmlns:p14="http://schemas.microsoft.com/office/powerpoint/2010/main" val="599564798"/>
      </p:ext>
    </p:extLst>
  </p:cSld>
</p:sld>
</file>

<file path=ppt/slides/slide1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08">
            <a:extLst xmlns:a="http://schemas.openxmlformats.org/drawingml/2006/main">
              <a:ext uri="{FF2B5EF4-FFF2-40B4-BE49-F238E27FC236}">
                <a16:creationId xmlns:a16="http://schemas.microsoft.com/office/drawing/2014/main" id="{27953932-DDF5-49D8-9BF3-68ED251217B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vague request and the useful brief</a:t>
            </a:r>
          </a:p>
        </p:txBody>
      </p:sp>
      <p:sp>
        <p:nvSpPr>
          <p:cNvPr id="2" name="panel-109">
            <a:extLst xmlns:a="http://schemas.openxmlformats.org/drawingml/2006/main">
              <a:ext uri="{FF2B5EF4-FFF2-40B4-BE49-F238E27FC236}">
                <a16:creationId xmlns:a16="http://schemas.microsoft.com/office/drawing/2014/main" id="{6DCF409B-3C58-4521-B413-19F2F7220459}"/>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10">
            <a:extLst xmlns:a="http://schemas.openxmlformats.org/drawingml/2006/main">
              <a:ext uri="{FF2B5EF4-FFF2-40B4-BE49-F238E27FC236}">
                <a16:creationId xmlns:a16="http://schemas.microsoft.com/office/drawing/2014/main" id="{FD759461-F7C5-4494-BC40-7B8825B033C6}"/>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11">
            <a:extLst xmlns:a="http://schemas.openxmlformats.org/drawingml/2006/main">
              <a:ext uri="{FF2B5EF4-FFF2-40B4-BE49-F238E27FC236}">
                <a16:creationId xmlns:a16="http://schemas.microsoft.com/office/drawing/2014/main" id="{EF0E36A6-88F3-4EC3-ACB4-3C02874A5154}"/>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“Build me a CRM.”</a:t>
            </a:r>
          </a:p>
        </p:txBody>
      </p:sp>
      <p:sp>
        <p:nvSpPr>
          <p:cNvPr id="5" name="text-112">
            <a:extLst xmlns:a="http://schemas.openxmlformats.org/drawingml/2006/main">
              <a:ext uri="{FF2B5EF4-FFF2-40B4-BE49-F238E27FC236}">
                <a16:creationId xmlns:a16="http://schemas.microsoft.com/office/drawing/2014/main" id="{37E86920-2A9E-4C9D-A109-5150D78D6ADD}"/>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1">
                <a:solidFill>
                  <a:srgbClr val="1C1C1C"/>
                </a:solidFill>
                <a:latin typeface="Helvetica Neue"/>
                <a:ea typeface="Helvetica Neue"/>
                <a:cs typeface="Helvetica Neue"/>
              </a:defRPr>
            </a:pPr>
            <a:r>
              <a:rPr sz="2325" b="0" i="1">
                <a:solidFill>
                  <a:srgbClr val="1C1C1C"/>
                </a:solidFill>
                <a:latin typeface="Helvetica Neue"/>
                <a:ea typeface="Helvetica Neue"/>
                <a:cs typeface="Helvetica Neue"/>
              </a:rPr>
              <a:t>Who is it for?</a:t>
            </a:r>
          </a:p>
          <a:p xmlns:a="http://schemas.openxmlformats.org/drawingml/2006/main">
            <a:pPr>
              <a:defRPr sz="2325" b="0" i="1">
                <a:solidFill>
                  <a:srgbClr val="1C1C1C"/>
                </a:solidFill>
                <a:latin typeface="Helvetica Neue"/>
                <a:ea typeface="Helvetica Neue"/>
                <a:cs typeface="Helvetica Neue"/>
              </a:defRPr>
            </a:pPr>
            <a:r>
              <a:rPr sz="2325" b="0" i="1">
                <a:solidFill>
                  <a:srgbClr val="1C1C1C"/>
                </a:solidFill>
                <a:latin typeface="Helvetica Neue"/>
                <a:ea typeface="Helvetica Neue"/>
                <a:cs typeface="Helvetica Neue"/>
              </a:rPr>
              <a:t>What will it do first?</a:t>
            </a:r>
          </a:p>
          <a:p xmlns:a="http://schemas.openxmlformats.org/drawingml/2006/main">
            <a:pPr>
              <a:defRPr sz="2325" b="0" i="1">
                <a:solidFill>
                  <a:srgbClr val="1C1C1C"/>
                </a:solidFill>
                <a:latin typeface="Helvetica Neue"/>
                <a:ea typeface="Helvetica Neue"/>
                <a:cs typeface="Helvetica Neue"/>
              </a:defRPr>
            </a:pPr>
            <a:r>
              <a:rPr sz="2325" b="0" i="1">
                <a:solidFill>
                  <a:srgbClr val="1C1C1C"/>
                </a:solidFill>
                <a:latin typeface="Helvetica Neue"/>
                <a:ea typeface="Helvetica Neue"/>
                <a:cs typeface="Helvetica Neue"/>
              </a:rPr>
              <a:t>How will we judge it?</a:t>
            </a:r>
          </a:p>
        </p:txBody>
      </p:sp>
      <p:sp>
        <p:nvSpPr>
          <p:cNvPr id="6" name="text-113">
            <a:extLst xmlns:a="http://schemas.openxmlformats.org/drawingml/2006/main">
              <a:ext uri="{FF2B5EF4-FFF2-40B4-BE49-F238E27FC236}">
                <a16:creationId xmlns:a16="http://schemas.microsoft.com/office/drawing/2014/main" id="{44325CCA-EEC4-48CF-B71B-E189CE37A941}"/>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“Help me follow up after a call.”</a:t>
            </a:r>
          </a:p>
        </p:txBody>
      </p:sp>
      <p:sp>
        <p:nvSpPr>
          <p:cNvPr id="7" name="text-114">
            <a:extLst xmlns:a="http://schemas.openxmlformats.org/drawingml/2006/main">
              <a:ext uri="{FF2B5EF4-FFF2-40B4-BE49-F238E27FC236}">
                <a16:creationId xmlns:a16="http://schemas.microsoft.com/office/drawing/2014/main" id="{EB128A47-3D9E-4847-8057-C8180F131162}"/>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For a solo consultant</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Meeting evidence beside tasks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No automatic outreach</a:t>
            </a:r>
          </a:p>
        </p:txBody>
      </p:sp>
      <p:sp>
        <p:nvSpPr>
          <p:cNvPr id="8" name="text-115">
            <a:extLst xmlns:a="http://schemas.openxmlformats.org/drawingml/2006/main">
              <a:ext uri="{FF2B5EF4-FFF2-40B4-BE49-F238E27FC236}">
                <a16:creationId xmlns:a16="http://schemas.microsoft.com/office/drawing/2014/main" id="{29CCD01C-77A4-4E0F-9200-AC1BA0F6C16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16</a:t>
            </a:r>
          </a:p>
        </p:txBody>
      </p:sp>
    </p:spTree>
    <p:extLst>
      <p:ext uri="{BB962C8B-B14F-4D97-AF65-F5344CB8AC3E}">
        <p14:creationId xmlns:p14="http://schemas.microsoft.com/office/powerpoint/2010/main" val="1567877288"/>
      </p:ext>
    </p:extLst>
  </p:cSld>
</p:sld>
</file>

<file path=ppt/slides/slide1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116">
            <a:extLst xmlns:a="http://schemas.openxmlformats.org/drawingml/2006/main">
              <a:ext uri="{FF2B5EF4-FFF2-40B4-BE49-F238E27FC236}">
                <a16:creationId xmlns:a16="http://schemas.microsoft.com/office/drawing/2014/main" id="{3F03B8B1-2FDB-4D5F-92A8-E1C32313721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answer that becomes the brief</a:t>
            </a:r>
          </a:p>
        </p:txBody>
      </p:sp>
      <p:sp>
        <p:nvSpPr>
          <p:cNvPr id="2" name="panel-117">
            <a:extLst xmlns:a="http://schemas.openxmlformats.org/drawingml/2006/main">
              <a:ext uri="{FF2B5EF4-FFF2-40B4-BE49-F238E27FC236}">
                <a16:creationId xmlns:a16="http://schemas.microsoft.com/office/drawing/2014/main" id="{D4A73639-5D65-42DB-A5D7-5C532FAE66E5}"/>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118">
            <a:extLst xmlns:a="http://schemas.openxmlformats.org/drawingml/2006/main">
              <a:ext uri="{FF2B5EF4-FFF2-40B4-BE49-F238E27FC236}">
                <a16:creationId xmlns:a16="http://schemas.microsoft.com/office/drawing/2014/main" id="{1A4A119F-B14E-4603-B68B-63EEA64DE5E9}"/>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119">
            <a:extLst xmlns:a="http://schemas.openxmlformats.org/drawingml/2006/main">
              <a:ext uri="{FF2B5EF4-FFF2-40B4-BE49-F238E27FC236}">
                <a16:creationId xmlns:a16="http://schemas.microsoft.com/office/drawing/2014/main" id="{615AF068-FC9B-4D39-AA67-BC36F1F7C1B5}"/>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Use these decisions:</a:t>
            </a:r>
            <a:r>
              <a:rPr sz="2025" b="0" i="0">
                <a:solidFill>
                  <a:srgbClr val="1C1C1C"/>
                </a:solidFill>
                <a:latin typeface="Helvetica Neue"/>
                <a:ea typeface="Helvetica Neue"/>
                <a:cs typeface="Helvetica Neue"/>
              </a:rPr>
              <a:t> Alex is a solo consultant. The first job is preparing a reviewed follow-up after Northstar’s call. Show the meeting evidence beside the proposed task. Exclude billing, campaigns, and automatic outreach. Draft 01-planning/BRIEF.md for my review.</a:t>
            </a:r>
          </a:p>
        </p:txBody>
      </p:sp>
      <p:sp>
        <p:nvSpPr>
          <p:cNvPr id="5" name="panel-120">
            <a:extLst xmlns:a="http://schemas.openxmlformats.org/drawingml/2006/main">
              <a:ext uri="{FF2B5EF4-FFF2-40B4-BE49-F238E27FC236}">
                <a16:creationId xmlns:a16="http://schemas.microsoft.com/office/drawing/2014/main" id="{AFF34003-9E67-4EB4-AAE4-D96905E5DB7A}"/>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121">
            <a:extLst xmlns:a="http://schemas.openxmlformats.org/drawingml/2006/main">
              <a:ext uri="{FF2B5EF4-FFF2-40B4-BE49-F238E27FC236}">
                <a16:creationId xmlns:a16="http://schemas.microsoft.com/office/drawing/2014/main" id="{C9ED52F3-2893-4A09-AEFE-9A940064C436}"/>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BRIEF.md · actual excerpt</a:t>
            </a:r>
          </a:p>
        </p:txBody>
      </p:sp>
      <p:sp>
        <p:nvSpPr>
          <p:cNvPr id="7" name="text-122">
            <a:extLst xmlns:a="http://schemas.openxmlformats.org/drawingml/2006/main">
              <a:ext uri="{FF2B5EF4-FFF2-40B4-BE49-F238E27FC236}">
                <a16:creationId xmlns:a16="http://schemas.microsoft.com/office/drawing/2014/main" id="{FEF7A7C3-2D74-49A0-BF7A-C9796152E46C}"/>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Alex, a solo consultant, needs to prepare and track the next client follow-up without losing the supporting meeting evidence.</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No billing, campaigns, automatic email or unattended task creation.</a:t>
            </a:r>
          </a:p>
        </p:txBody>
      </p:sp>
      <p:sp>
        <p:nvSpPr>
          <p:cNvPr id="8" name="text-123">
            <a:extLst xmlns:a="http://schemas.openxmlformats.org/drawingml/2006/main">
              <a:ext uri="{FF2B5EF4-FFF2-40B4-BE49-F238E27FC236}">
                <a16:creationId xmlns:a16="http://schemas.microsoft.com/office/drawing/2014/main" id="{A609FEB8-3035-49C2-8A94-73D4BF47D704}"/>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The brief preserves the decision after the conversation ends.</a:t>
            </a:r>
          </a:p>
        </p:txBody>
      </p:sp>
      <p:sp>
        <p:nvSpPr>
          <p:cNvPr id="9" name="text-124">
            <a:extLst xmlns:a="http://schemas.openxmlformats.org/drawingml/2006/main">
              <a:ext uri="{FF2B5EF4-FFF2-40B4-BE49-F238E27FC236}">
                <a16:creationId xmlns:a16="http://schemas.microsoft.com/office/drawing/2014/main" id="{39054042-CFC4-43C1-86F1-03C746450AC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17</a:t>
            </a:r>
          </a:p>
        </p:txBody>
      </p:sp>
    </p:spTree>
    <p:extLst>
      <p:ext uri="{BB962C8B-B14F-4D97-AF65-F5344CB8AC3E}">
        <p14:creationId xmlns:p14="http://schemas.microsoft.com/office/powerpoint/2010/main" val="747665435"/>
      </p:ext>
    </p:extLst>
  </p:cSld>
</p:sld>
</file>

<file path=ppt/slides/slide1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125">
            <a:extLst xmlns:a="http://schemas.openxmlformats.org/drawingml/2006/main">
              <a:ext uri="{FF2B5EF4-FFF2-40B4-BE49-F238E27FC236}">
                <a16:creationId xmlns:a16="http://schemas.microsoft.com/office/drawing/2014/main" id="{CC381A50-2FD5-448D-B217-50A546EB07F1}"/>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Our first release</a:t>
            </a:r>
          </a:p>
        </p:txBody>
      </p:sp>
      <p:sp>
        <p:nvSpPr>
          <p:cNvPr id="2" name="panel-126">
            <a:extLst xmlns:a="http://schemas.openxmlformats.org/drawingml/2006/main">
              <a:ext uri="{FF2B5EF4-FFF2-40B4-BE49-F238E27FC236}">
                <a16:creationId xmlns:a16="http://schemas.microsoft.com/office/drawing/2014/main" id="{DCD6A170-470C-4B61-BD8F-0BF0866601F4}"/>
              </a:ext>
            </a:extLst>
          </p:cNvPr>
          <p:cNvSpPr>
            <a:spLocks xmlns:a="http://schemas.openxmlformats.org/drawingml/2006/main" noGrp="1"/>
          </p:cNvSpPr>
          <p:nvPr/>
        </p:nvSpPr>
        <p:spPr>
          <a:xfrm xmlns:a="http://schemas.openxmlformats.org/drawingml/2006/main">
            <a:off x="609600" y="2000250"/>
            <a:ext cx="35052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127">
            <a:extLst xmlns:a="http://schemas.openxmlformats.org/drawingml/2006/main">
              <a:ext uri="{FF2B5EF4-FFF2-40B4-BE49-F238E27FC236}">
                <a16:creationId xmlns:a16="http://schemas.microsoft.com/office/drawing/2014/main" id="{0EC7568D-8468-4F91-8D8E-38E0F3F12816}"/>
              </a:ext>
            </a:extLst>
          </p:cNvPr>
          <p:cNvSpPr>
            <a:spLocks xmlns:a="http://schemas.openxmlformats.org/drawingml/2006/main" noGrp="1"/>
          </p:cNvSpPr>
          <p:nvPr/>
        </p:nvSpPr>
        <p:spPr>
          <a:xfrm xmlns:a="http://schemas.openxmlformats.org/drawingml/2006/main">
            <a:off x="876300" y="2305050"/>
            <a:ext cx="2971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i="0">
                <a:solidFill>
                  <a:srgbClr val="1C1C1C"/>
                </a:solidFill>
                <a:latin typeface="Avenir Next"/>
                <a:ea typeface="Avenir Next"/>
                <a:cs typeface="Avenir Next"/>
              </a:defRPr>
            </a:pPr>
            <a:r>
              <a:rPr sz="3000" b="1" i="0">
                <a:solidFill>
                  <a:srgbClr val="1C1C1C"/>
                </a:solidFill>
                <a:latin typeface="Avenir Next"/>
                <a:ea typeface="Avenir Next"/>
                <a:cs typeface="Avenir Next"/>
              </a:rPr>
              <a:t>First loop</a:t>
            </a:r>
          </a:p>
        </p:txBody>
      </p:sp>
      <p:sp>
        <p:nvSpPr>
          <p:cNvPr id="4" name="text-128">
            <a:extLst xmlns:a="http://schemas.openxmlformats.org/drawingml/2006/main">
              <a:ext uri="{FF2B5EF4-FFF2-40B4-BE49-F238E27FC236}">
                <a16:creationId xmlns:a16="http://schemas.microsoft.com/office/drawing/2014/main" id="{158FD0FF-FDCF-49AD-974A-E5FCE5EAF3FC}"/>
              </a:ext>
            </a:extLst>
          </p:cNvPr>
          <p:cNvSpPr>
            <a:spLocks xmlns:a="http://schemas.openxmlformats.org/drawingml/2006/main" noGrp="1"/>
          </p:cNvSpPr>
          <p:nvPr/>
        </p:nvSpPr>
        <p:spPr>
          <a:xfrm xmlns:a="http://schemas.openxmlformats.org/drawingml/2006/main">
            <a:off x="876300" y="3371850"/>
            <a:ext cx="2971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Client page</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Meeting source</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Review and save</a:t>
            </a:r>
          </a:p>
        </p:txBody>
      </p:sp>
      <p:sp>
        <p:nvSpPr>
          <p:cNvPr id="5" name="panel-129">
            <a:extLst xmlns:a="http://schemas.openxmlformats.org/drawingml/2006/main">
              <a:ext uri="{FF2B5EF4-FFF2-40B4-BE49-F238E27FC236}">
                <a16:creationId xmlns:a16="http://schemas.microsoft.com/office/drawing/2014/main" id="{443C4504-D2A6-40F5-8BBE-54CAA0778607}"/>
              </a:ext>
            </a:extLst>
          </p:cNvPr>
          <p:cNvSpPr>
            <a:spLocks xmlns:a="http://schemas.openxmlformats.org/drawingml/2006/main" noGrp="1"/>
          </p:cNvSpPr>
          <p:nvPr/>
        </p:nvSpPr>
        <p:spPr>
          <a:xfrm xmlns:a="http://schemas.openxmlformats.org/drawingml/2006/main">
            <a:off x="4343400" y="2000250"/>
            <a:ext cx="35052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130">
            <a:extLst xmlns:a="http://schemas.openxmlformats.org/drawingml/2006/main">
              <a:ext uri="{FF2B5EF4-FFF2-40B4-BE49-F238E27FC236}">
                <a16:creationId xmlns:a16="http://schemas.microsoft.com/office/drawing/2014/main" id="{8D65B58F-D824-4E91-A17F-F2A5F5C5F397}"/>
              </a:ext>
            </a:extLst>
          </p:cNvPr>
          <p:cNvSpPr>
            <a:spLocks xmlns:a="http://schemas.openxmlformats.org/drawingml/2006/main" noGrp="1"/>
          </p:cNvSpPr>
          <p:nvPr/>
        </p:nvSpPr>
        <p:spPr>
          <a:xfrm xmlns:a="http://schemas.openxmlformats.org/drawingml/2006/main">
            <a:off x="4610100" y="2305050"/>
            <a:ext cx="2971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i="0">
                <a:solidFill>
                  <a:srgbClr val="1C1C1C"/>
                </a:solidFill>
                <a:latin typeface="Avenir Next"/>
                <a:ea typeface="Avenir Next"/>
                <a:cs typeface="Avenir Next"/>
              </a:defRPr>
            </a:pPr>
            <a:r>
              <a:rPr sz="3000" b="1" i="0">
                <a:solidFill>
                  <a:srgbClr val="1C1C1C"/>
                </a:solidFill>
                <a:latin typeface="Avenir Next"/>
                <a:ea typeface="Avenir Next"/>
                <a:cs typeface="Avenir Next"/>
              </a:rPr>
              <a:t>Finished reference</a:t>
            </a:r>
          </a:p>
        </p:txBody>
      </p:sp>
      <p:sp>
        <p:nvSpPr>
          <p:cNvPr id="7" name="text-131">
            <a:extLst xmlns:a="http://schemas.openxmlformats.org/drawingml/2006/main">
              <a:ext uri="{FF2B5EF4-FFF2-40B4-BE49-F238E27FC236}">
                <a16:creationId xmlns:a16="http://schemas.microsoft.com/office/drawing/2014/main" id="{22A124E2-8795-4A34-9752-7A9FAD1B15D9}"/>
              </a:ext>
            </a:extLst>
          </p:cNvPr>
          <p:cNvSpPr>
            <a:spLocks xmlns:a="http://schemas.openxmlformats.org/drawingml/2006/main" noGrp="1"/>
          </p:cNvSpPr>
          <p:nvPr/>
        </p:nvSpPr>
        <p:spPr>
          <a:xfrm xmlns:a="http://schemas.openxmlformats.org/drawingml/2006/main">
            <a:off x="4610100" y="3371850"/>
            <a:ext cx="2971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Search and clients</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Brief export</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Source imports</a:t>
            </a:r>
          </a:p>
        </p:txBody>
      </p:sp>
      <p:sp>
        <p:nvSpPr>
          <p:cNvPr id="8" name="panel-132">
            <a:extLst xmlns:a="http://schemas.openxmlformats.org/drawingml/2006/main">
              <a:ext uri="{FF2B5EF4-FFF2-40B4-BE49-F238E27FC236}">
                <a16:creationId xmlns:a16="http://schemas.microsoft.com/office/drawing/2014/main" id="{F4AE3C24-FF39-4D31-A69F-AC238C4BEF26}"/>
              </a:ext>
            </a:extLst>
          </p:cNvPr>
          <p:cNvSpPr>
            <a:spLocks xmlns:a="http://schemas.openxmlformats.org/drawingml/2006/main" noGrp="1"/>
          </p:cNvSpPr>
          <p:nvPr/>
        </p:nvSpPr>
        <p:spPr>
          <a:xfrm xmlns:a="http://schemas.openxmlformats.org/drawingml/2006/main">
            <a:off x="8077200" y="2000250"/>
            <a:ext cx="35052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33">
            <a:extLst xmlns:a="http://schemas.openxmlformats.org/drawingml/2006/main">
              <a:ext uri="{FF2B5EF4-FFF2-40B4-BE49-F238E27FC236}">
                <a16:creationId xmlns:a16="http://schemas.microsoft.com/office/drawing/2014/main" id="{0F9FDD1F-807C-4651-8050-AB9C26CF3350}"/>
              </a:ext>
            </a:extLst>
          </p:cNvPr>
          <p:cNvSpPr>
            <a:spLocks xmlns:a="http://schemas.openxmlformats.org/drawingml/2006/main" noGrp="1"/>
          </p:cNvSpPr>
          <p:nvPr/>
        </p:nvSpPr>
        <p:spPr>
          <a:xfrm xmlns:a="http://schemas.openxmlformats.org/drawingml/2006/main">
            <a:off x="8343900" y="2305050"/>
            <a:ext cx="2971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i="0">
                <a:solidFill>
                  <a:srgbClr val="1C1C1C"/>
                </a:solidFill>
                <a:latin typeface="Avenir Next"/>
                <a:ea typeface="Avenir Next"/>
                <a:cs typeface="Avenir Next"/>
              </a:defRPr>
            </a:pPr>
            <a:r>
              <a:rPr sz="3000" b="1" i="0">
                <a:solidFill>
                  <a:srgbClr val="1C1C1C"/>
                </a:solidFill>
                <a:latin typeface="Avenir Next"/>
                <a:ea typeface="Avenir Next"/>
                <a:cs typeface="Avenir Next"/>
              </a:rPr>
              <a:t>Later work</a:t>
            </a:r>
          </a:p>
        </p:txBody>
      </p:sp>
      <p:sp>
        <p:nvSpPr>
          <p:cNvPr id="10" name="text-134">
            <a:extLst xmlns:a="http://schemas.openxmlformats.org/drawingml/2006/main">
              <a:ext uri="{FF2B5EF4-FFF2-40B4-BE49-F238E27FC236}">
                <a16:creationId xmlns:a16="http://schemas.microsoft.com/office/drawing/2014/main" id="{BA4BB8B8-C274-4822-B306-24B69673649F}"/>
              </a:ext>
            </a:extLst>
          </p:cNvPr>
          <p:cNvSpPr>
            <a:spLocks xmlns:a="http://schemas.openxmlformats.org/drawingml/2006/main" noGrp="1"/>
          </p:cNvSpPr>
          <p:nvPr/>
        </p:nvSpPr>
        <p:spPr>
          <a:xfrm xmlns:a="http://schemas.openxmlformats.org/drawingml/2006/main">
            <a:off x="8343900" y="3371850"/>
            <a:ext cx="2971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Named login</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Account recovery</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Shared team access</a:t>
            </a:r>
          </a:p>
        </p:txBody>
      </p:sp>
      <p:sp>
        <p:nvSpPr>
          <p:cNvPr id="11" name="text-135">
            <a:extLst xmlns:a="http://schemas.openxmlformats.org/drawingml/2006/main">
              <a:ext uri="{FF2B5EF4-FFF2-40B4-BE49-F238E27FC236}">
                <a16:creationId xmlns:a16="http://schemas.microsoft.com/office/drawing/2014/main" id="{5CEDD8E0-5469-4A16-9D34-CA53FD43771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18</a:t>
            </a:r>
          </a:p>
        </p:txBody>
      </p:sp>
    </p:spTree>
    <p:extLst>
      <p:ext uri="{BB962C8B-B14F-4D97-AF65-F5344CB8AC3E}">
        <p14:creationId xmlns:p14="http://schemas.microsoft.com/office/powerpoint/2010/main" val="1619213090"/>
      </p:ext>
    </p:extLst>
  </p:cSld>
</p:sld>
</file>

<file path=ppt/slides/slide1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5" name="text-136">
            <a:extLst xmlns:a="http://schemas.openxmlformats.org/drawingml/2006/main">
              <a:ext uri="{FF2B5EF4-FFF2-40B4-BE49-F238E27FC236}">
                <a16:creationId xmlns:a16="http://schemas.microsoft.com/office/drawing/2014/main" id="{DC51384A-68CF-4206-8BB6-58AA4895B6DA}"/>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user journey becomes the test</a:t>
            </a:r>
          </a:p>
        </p:txBody>
      </p:sp>
      <p:sp>
        <p:nvSpPr>
          <p:cNvPr id="2" name="text-137">
            <a:extLst xmlns:a="http://schemas.openxmlformats.org/drawingml/2006/main">
              <a:ext uri="{FF2B5EF4-FFF2-40B4-BE49-F238E27FC236}">
                <a16:creationId xmlns:a16="http://schemas.microsoft.com/office/drawing/2014/main" id="{06F615EE-2097-4675-AE42-6D37FAC26611}"/>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138">
            <a:extLst xmlns:a="http://schemas.openxmlformats.org/drawingml/2006/main">
              <a:ext uri="{FF2B5EF4-FFF2-40B4-BE49-F238E27FC236}">
                <a16:creationId xmlns:a16="http://schemas.microsoft.com/office/drawing/2014/main" id="{E3E33D74-6E26-4C18-B638-DF332EB358C4}"/>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39">
            <a:extLst xmlns:a="http://schemas.openxmlformats.org/drawingml/2006/main">
              <a:ext uri="{FF2B5EF4-FFF2-40B4-BE49-F238E27FC236}">
                <a16:creationId xmlns:a16="http://schemas.microsoft.com/office/drawing/2014/main" id="{FC944562-61C2-479B-8060-9E9625A6C6E5}"/>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Find Northstar</a:t>
            </a:r>
          </a:p>
        </p:txBody>
      </p:sp>
      <p:sp>
        <p:nvSpPr>
          <p:cNvPr id="5" name="panel-140">
            <a:extLst xmlns:a="http://schemas.openxmlformats.org/drawingml/2006/main">
              <a:ext uri="{FF2B5EF4-FFF2-40B4-BE49-F238E27FC236}">
                <a16:creationId xmlns:a16="http://schemas.microsoft.com/office/drawing/2014/main" id="{1E59C4C4-2ACD-4440-8FFE-ED2DEE22FEDA}"/>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141">
            <a:extLst xmlns:a="http://schemas.openxmlformats.org/drawingml/2006/main">
              <a:ext uri="{FF2B5EF4-FFF2-40B4-BE49-F238E27FC236}">
                <a16:creationId xmlns:a16="http://schemas.microsoft.com/office/drawing/2014/main" id="{9687B4A0-9A24-4592-8194-E676AB39B5C9}"/>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142">
            <a:extLst xmlns:a="http://schemas.openxmlformats.org/drawingml/2006/main">
              <a:ext uri="{FF2B5EF4-FFF2-40B4-BE49-F238E27FC236}">
                <a16:creationId xmlns:a16="http://schemas.microsoft.com/office/drawing/2014/main" id="{2D578E36-75B9-40D2-8A05-95AFEA59A3BD}"/>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143">
            <a:extLst xmlns:a="http://schemas.openxmlformats.org/drawingml/2006/main">
              <a:ext uri="{FF2B5EF4-FFF2-40B4-BE49-F238E27FC236}">
                <a16:creationId xmlns:a16="http://schemas.microsoft.com/office/drawing/2014/main" id="{70A93B69-E93F-48C7-BB66-8E330C25E9DA}"/>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144">
            <a:extLst xmlns:a="http://schemas.openxmlformats.org/drawingml/2006/main">
              <a:ext uri="{FF2B5EF4-FFF2-40B4-BE49-F238E27FC236}">
                <a16:creationId xmlns:a16="http://schemas.microsoft.com/office/drawing/2014/main" id="{00EA357C-874C-4D11-B8A5-83202E4548A0}"/>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Open the latest call</a:t>
            </a:r>
          </a:p>
        </p:txBody>
      </p:sp>
      <p:sp>
        <p:nvSpPr>
          <p:cNvPr id="11" name="panel-145">
            <a:extLst xmlns:a="http://schemas.openxmlformats.org/drawingml/2006/main">
              <a:ext uri="{FF2B5EF4-FFF2-40B4-BE49-F238E27FC236}">
                <a16:creationId xmlns:a16="http://schemas.microsoft.com/office/drawing/2014/main" id="{DE8B17F4-F49D-4190-8167-48E38E49AC41}"/>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146">
            <a:extLst xmlns:a="http://schemas.openxmlformats.org/drawingml/2006/main">
              <a:ext uri="{FF2B5EF4-FFF2-40B4-BE49-F238E27FC236}">
                <a16:creationId xmlns:a16="http://schemas.microsoft.com/office/drawing/2014/main" id="{7CAEE4DD-E3D2-4E06-8D9B-AA2E87210813}"/>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147">
            <a:extLst xmlns:a="http://schemas.openxmlformats.org/drawingml/2006/main">
              <a:ext uri="{FF2B5EF4-FFF2-40B4-BE49-F238E27FC236}">
                <a16:creationId xmlns:a16="http://schemas.microsoft.com/office/drawing/2014/main" id="{6617086D-C3D6-421F-9F37-32C90EEF2849}"/>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148">
            <a:extLst xmlns:a="http://schemas.openxmlformats.org/drawingml/2006/main">
              <a:ext uri="{FF2B5EF4-FFF2-40B4-BE49-F238E27FC236}">
                <a16:creationId xmlns:a16="http://schemas.microsoft.com/office/drawing/2014/main" id="{20F55600-037E-4C67-B1CE-0240EEBA28D9}"/>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149">
            <a:extLst xmlns:a="http://schemas.openxmlformats.org/drawingml/2006/main">
              <a:ext uri="{FF2B5EF4-FFF2-40B4-BE49-F238E27FC236}">
                <a16:creationId xmlns:a16="http://schemas.microsoft.com/office/drawing/2014/main" id="{B27B92FE-68FE-445B-AB22-88449BC95423}"/>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Check the source</a:t>
            </a:r>
          </a:p>
        </p:txBody>
      </p:sp>
      <p:sp>
        <p:nvSpPr>
          <p:cNvPr id="17" name="panel-150">
            <a:extLst xmlns:a="http://schemas.openxmlformats.org/drawingml/2006/main">
              <a:ext uri="{FF2B5EF4-FFF2-40B4-BE49-F238E27FC236}">
                <a16:creationId xmlns:a16="http://schemas.microsoft.com/office/drawing/2014/main" id="{A28D0F0C-6736-43DD-A5BB-74E1E940D993}"/>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151">
            <a:extLst xmlns:a="http://schemas.openxmlformats.org/drawingml/2006/main">
              <a:ext uri="{FF2B5EF4-FFF2-40B4-BE49-F238E27FC236}">
                <a16:creationId xmlns:a16="http://schemas.microsoft.com/office/drawing/2014/main" id="{C7E5570F-94D1-423D-99F7-14DFBC01FEEA}"/>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152">
            <a:extLst xmlns:a="http://schemas.openxmlformats.org/drawingml/2006/main">
              <a:ext uri="{FF2B5EF4-FFF2-40B4-BE49-F238E27FC236}">
                <a16:creationId xmlns:a16="http://schemas.microsoft.com/office/drawing/2014/main" id="{E07C0AB4-F746-419A-B6BF-92A78CA7E6D6}"/>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153">
            <a:extLst xmlns:a="http://schemas.openxmlformats.org/drawingml/2006/main">
              <a:ext uri="{FF2B5EF4-FFF2-40B4-BE49-F238E27FC236}">
                <a16:creationId xmlns:a16="http://schemas.microsoft.com/office/drawing/2014/main" id="{787C09AD-66CD-41D7-8262-55B7CFF15A89}"/>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154">
            <a:extLst xmlns:a="http://schemas.openxmlformats.org/drawingml/2006/main">
              <a:ext uri="{FF2B5EF4-FFF2-40B4-BE49-F238E27FC236}">
                <a16:creationId xmlns:a16="http://schemas.microsoft.com/office/drawing/2014/main" id="{E80AF47E-FBE1-4033-8DB1-910565DB4FF2}"/>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Save one task</a:t>
            </a:r>
          </a:p>
        </p:txBody>
      </p:sp>
      <p:sp>
        <p:nvSpPr>
          <p:cNvPr id="23" name="text-155">
            <a:extLst xmlns:a="http://schemas.openxmlformats.org/drawingml/2006/main">
              <a:ext uri="{FF2B5EF4-FFF2-40B4-BE49-F238E27FC236}">
                <a16:creationId xmlns:a16="http://schemas.microsoft.com/office/drawing/2014/main" id="{E1BCCDE5-8679-4D04-96BD-7060E88E329E}"/>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A second import must not create a second copy.</a:t>
            </a:r>
          </a:p>
        </p:txBody>
      </p:sp>
      <p:sp>
        <p:nvSpPr>
          <p:cNvPr id="24" name="text-156">
            <a:extLst xmlns:a="http://schemas.openxmlformats.org/drawingml/2006/main">
              <a:ext uri="{FF2B5EF4-FFF2-40B4-BE49-F238E27FC236}">
                <a16:creationId xmlns:a16="http://schemas.microsoft.com/office/drawing/2014/main" id="{CCD03274-7613-48B8-8D5B-CBC713961AB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19</a:t>
            </a:r>
          </a:p>
        </p:txBody>
      </p:sp>
    </p:spTree>
    <p:extLst>
      <p:ext uri="{BB962C8B-B14F-4D97-AF65-F5344CB8AC3E}">
        <p14:creationId xmlns:p14="http://schemas.microsoft.com/office/powerpoint/2010/main" val="2070690158"/>
      </p:ext>
    </p:extLst>
  </p:cSld>
</p:sld>
</file>

<file path=ppt/slides/slide2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7" name="text-157">
            <a:extLst xmlns:a="http://schemas.openxmlformats.org/drawingml/2006/main">
              <a:ext uri="{FF2B5EF4-FFF2-40B4-BE49-F238E27FC236}">
                <a16:creationId xmlns:a16="http://schemas.microsoft.com/office/drawing/2014/main" id="{14F7B0A3-1737-4947-951D-1270BD16DD7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Bring evidence into the CRM</a:t>
            </a:r>
          </a:p>
        </p:txBody>
      </p:sp>
      <p:sp>
        <p:nvSpPr>
          <p:cNvPr id="2" name="panel-158">
            <a:extLst xmlns:a="http://schemas.openxmlformats.org/drawingml/2006/main">
              <a:ext uri="{FF2B5EF4-FFF2-40B4-BE49-F238E27FC236}">
                <a16:creationId xmlns:a16="http://schemas.microsoft.com/office/drawing/2014/main" id="{CF9A4198-EE83-49D7-B60D-0FFA52BE14B4}"/>
              </a:ext>
            </a:extLst>
          </p:cNvPr>
          <p:cNvSpPr>
            <a:spLocks xmlns:a="http://schemas.openxmlformats.org/drawingml/2006/main" noGrp="1"/>
          </p:cNvSpPr>
          <p:nvPr/>
        </p:nvSpPr>
        <p:spPr>
          <a:xfrm xmlns:a="http://schemas.openxmlformats.org/drawingml/2006/main">
            <a:off x="609600" y="2028825"/>
            <a:ext cx="2857500" cy="1162050"/>
          </a:xfrm>
          <a:prstGeom xmlns:a="http://schemas.openxmlformats.org/drawingml/2006/main" prst="rect">
            <a:avLst/>
          </a:prstGeom>
          <a:solidFill xmlns:a="http://schemas.openxmlformats.org/drawingml/2006/main">
            <a:srgbClr val="EEEAE3"/>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acd48c49bd44aba"/>
          <a:stretch xmlns:a="http://schemas.openxmlformats.org/drawingml/2006/main"/>
        </p:blipFill>
        <p:spPr>
          <a:xfrm xmlns:a="http://schemas.openxmlformats.org/drawingml/2006/main">
            <a:off x="828675" y="2219410"/>
            <a:ext cx="1676400" cy="342731"/>
          </a:xfrm>
          <a:prstGeom xmlns:a="http://schemas.openxmlformats.org/drawingml/2006/main" prst="rect">
            <a:avLst/>
          </a:prstGeom>
        </p:spPr>
      </p:pic>
      <p:sp>
        <p:nvSpPr>
          <p:cNvPr id="4" name="text-159">
            <a:extLst xmlns:a="http://schemas.openxmlformats.org/drawingml/2006/main">
              <a:ext uri="{FF2B5EF4-FFF2-40B4-BE49-F238E27FC236}">
                <a16:creationId xmlns:a16="http://schemas.microsoft.com/office/drawing/2014/main" id="{D866282E-E8E8-41F8-990F-13BA81950BD2}"/>
              </a:ext>
            </a:extLst>
          </p:cNvPr>
          <p:cNvSpPr>
            <a:spLocks xmlns:a="http://schemas.openxmlformats.org/drawingml/2006/main" noGrp="1"/>
          </p:cNvSpPr>
          <p:nvPr/>
        </p:nvSpPr>
        <p:spPr>
          <a:xfrm xmlns:a="http://schemas.openxmlformats.org/drawingml/2006/main">
            <a:off x="828675" y="2714625"/>
            <a:ext cx="241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1C1C1C"/>
                </a:solidFill>
                <a:latin typeface="Helvetica Neue"/>
                <a:ea typeface="Helvetica Neue"/>
                <a:cs typeface="Helvetica Neue"/>
              </a:defRPr>
            </a:pPr>
            <a:r>
              <a:rPr sz="1725" b="0" i="0">
                <a:solidFill>
                  <a:srgbClr val="1C1C1C"/>
                </a:solidFill>
                <a:latin typeface="Helvetica Neue"/>
                <a:ea typeface="Helvetica Neue"/>
                <a:cs typeface="Helvetica Neue"/>
              </a:rPr>
              <a:t>Meeting evidence</a:t>
            </a:r>
          </a:p>
        </p:txBody>
      </p:sp>
      <p:sp>
        <p:nvSpPr>
          <p:cNvPr id="5" name="panel-160">
            <a:extLst xmlns:a="http://schemas.openxmlformats.org/drawingml/2006/main">
              <a:ext uri="{FF2B5EF4-FFF2-40B4-BE49-F238E27FC236}">
                <a16:creationId xmlns:a16="http://schemas.microsoft.com/office/drawing/2014/main" id="{AA4E1101-4CDB-4EC7-970D-830A5DF465BF}"/>
              </a:ext>
            </a:extLst>
          </p:cNvPr>
          <p:cNvSpPr>
            <a:spLocks xmlns:a="http://schemas.openxmlformats.org/drawingml/2006/main" noGrp="1"/>
          </p:cNvSpPr>
          <p:nvPr/>
        </p:nvSpPr>
        <p:spPr>
          <a:xfrm xmlns:a="http://schemas.openxmlformats.org/drawingml/2006/main">
            <a:off x="609600" y="3762375"/>
            <a:ext cx="2857500" cy="1162050"/>
          </a:xfrm>
          <a:prstGeom xmlns:a="http://schemas.openxmlformats.org/drawingml/2006/main" prst="rect">
            <a:avLst/>
          </a:prstGeom>
          <a:solidFill xmlns:a="http://schemas.openxmlformats.org/drawingml/2006/main">
            <a:srgbClr val="EEEAE3"/>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639a1b93e4a4c02"/>
          <a:stretch xmlns:a="http://schemas.openxmlformats.org/drawingml/2006/main"/>
        </p:blipFill>
        <p:spPr>
          <a:xfrm xmlns:a="http://schemas.openxmlformats.org/drawingml/2006/main">
            <a:off x="828675" y="3924300"/>
            <a:ext cx="361950" cy="361950"/>
          </a:xfrm>
          <a:prstGeom xmlns:a="http://schemas.openxmlformats.org/drawingml/2006/main" prst="rect">
            <a:avLst/>
          </a:prstGeom>
        </p:spPr>
      </p:pic>
      <p:sp>
        <p:nvSpPr>
          <p:cNvPr id="7" name="text-161">
            <a:extLst xmlns:a="http://schemas.openxmlformats.org/drawingml/2006/main">
              <a:ext uri="{FF2B5EF4-FFF2-40B4-BE49-F238E27FC236}">
                <a16:creationId xmlns:a16="http://schemas.microsoft.com/office/drawing/2014/main" id="{749A6FDB-FAA4-4DEC-A131-2E4182F238A0}"/>
              </a:ext>
            </a:extLst>
          </p:cNvPr>
          <p:cNvSpPr>
            <a:spLocks xmlns:a="http://schemas.openxmlformats.org/drawingml/2006/main" noGrp="1"/>
          </p:cNvSpPr>
          <p:nvPr/>
        </p:nvSpPr>
        <p:spPr>
          <a:xfrm xmlns:a="http://schemas.openxmlformats.org/drawingml/2006/main">
            <a:off x="1333500" y="3943350"/>
            <a:ext cx="1962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1C1C1C"/>
                </a:solidFill>
                <a:latin typeface="Avenir Next"/>
                <a:ea typeface="Avenir Next"/>
                <a:cs typeface="Avenir Next"/>
              </a:defRPr>
            </a:pPr>
            <a:r>
              <a:rPr sz="2100" b="1" i="0">
                <a:solidFill>
                  <a:srgbClr val="1C1C1C"/>
                </a:solidFill>
                <a:latin typeface="Avenir Next"/>
                <a:ea typeface="Avenir Next"/>
                <a:cs typeface="Avenir Next"/>
              </a:rPr>
              <a:t>Calendly</a:t>
            </a:r>
          </a:p>
        </p:txBody>
      </p:sp>
      <p:sp>
        <p:nvSpPr>
          <p:cNvPr id="8" name="text-162">
            <a:extLst xmlns:a="http://schemas.openxmlformats.org/drawingml/2006/main">
              <a:ext uri="{FF2B5EF4-FFF2-40B4-BE49-F238E27FC236}">
                <a16:creationId xmlns:a16="http://schemas.microsoft.com/office/drawing/2014/main" id="{B248E514-A6A0-430F-A827-E1A5D541A663}"/>
              </a:ext>
            </a:extLst>
          </p:cNvPr>
          <p:cNvSpPr>
            <a:spLocks xmlns:a="http://schemas.openxmlformats.org/drawingml/2006/main" noGrp="1"/>
          </p:cNvSpPr>
          <p:nvPr/>
        </p:nvSpPr>
        <p:spPr>
          <a:xfrm xmlns:a="http://schemas.openxmlformats.org/drawingml/2006/main">
            <a:off x="828675" y="4448175"/>
            <a:ext cx="241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1C1C1C"/>
                </a:solidFill>
                <a:latin typeface="Helvetica Neue"/>
                <a:ea typeface="Helvetica Neue"/>
                <a:cs typeface="Helvetica Neue"/>
              </a:defRPr>
            </a:pPr>
            <a:r>
              <a:rPr sz="1725" b="0" i="0">
                <a:solidFill>
                  <a:srgbClr val="1C1C1C"/>
                </a:solidFill>
                <a:latin typeface="Helvetica Neue"/>
                <a:ea typeface="Helvetica Neue"/>
                <a:cs typeface="Helvetica Neue"/>
              </a:rPr>
              <a:t>Upcoming calls</a:t>
            </a:r>
          </a:p>
        </p:txBody>
      </p:sp>
      <p:sp>
        <p:nvSpPr>
          <p:cNvPr id="9" name="panel-163">
            <a:extLst xmlns:a="http://schemas.openxmlformats.org/drawingml/2006/main">
              <a:ext uri="{FF2B5EF4-FFF2-40B4-BE49-F238E27FC236}">
                <a16:creationId xmlns:a16="http://schemas.microsoft.com/office/drawing/2014/main" id="{AA358CE6-28FE-42D9-AF6E-912942654844}"/>
              </a:ext>
            </a:extLst>
          </p:cNvPr>
          <p:cNvSpPr>
            <a:spLocks xmlns:a="http://schemas.openxmlformats.org/drawingml/2006/main" noGrp="1"/>
          </p:cNvSpPr>
          <p:nvPr/>
        </p:nvSpPr>
        <p:spPr>
          <a:xfrm xmlns:a="http://schemas.openxmlformats.org/drawingml/2006/main">
            <a:off x="4610100" y="2714625"/>
            <a:ext cx="3105150" cy="1390650"/>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10" name="text-164">
            <a:extLst xmlns:a="http://schemas.openxmlformats.org/drawingml/2006/main">
              <a:ext uri="{FF2B5EF4-FFF2-40B4-BE49-F238E27FC236}">
                <a16:creationId xmlns:a16="http://schemas.microsoft.com/office/drawing/2014/main" id="{FA11EECD-4AF9-43A8-A90D-59E02F600E3E}"/>
              </a:ext>
            </a:extLst>
          </p:cNvPr>
          <p:cNvSpPr>
            <a:spLocks xmlns:a="http://schemas.openxmlformats.org/drawingml/2006/main" noGrp="1"/>
          </p:cNvSpPr>
          <p:nvPr/>
        </p:nvSpPr>
        <p:spPr>
          <a:xfrm xmlns:a="http://schemas.openxmlformats.org/drawingml/2006/main">
            <a:off x="4819650" y="2914650"/>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FFFFFF"/>
                </a:solidFill>
                <a:latin typeface="Avenir Next"/>
                <a:ea typeface="Avenir Next"/>
                <a:cs typeface="Avenir Next"/>
              </a:defRPr>
            </a:pPr>
            <a:r>
              <a:rPr sz="2175" b="1" i="0">
                <a:solidFill>
                  <a:srgbClr val="FFFFFF"/>
                </a:solidFill>
                <a:latin typeface="Avenir Next"/>
                <a:ea typeface="Avenir Next"/>
                <a:cs typeface="Avenir Next"/>
              </a:rPr>
              <a:t>App server</a:t>
            </a:r>
          </a:p>
        </p:txBody>
      </p:sp>
      <p:sp>
        <p:nvSpPr>
          <p:cNvPr id="11" name="text-165">
            <a:extLst xmlns:a="http://schemas.openxmlformats.org/drawingml/2006/main">
              <a:ext uri="{FF2B5EF4-FFF2-40B4-BE49-F238E27FC236}">
                <a16:creationId xmlns:a16="http://schemas.microsoft.com/office/drawing/2014/main" id="{F40DD3A2-2DAD-4B20-B3D2-6501D831A0D3}"/>
              </a:ext>
            </a:extLst>
          </p:cNvPr>
          <p:cNvSpPr>
            <a:spLocks xmlns:a="http://schemas.openxmlformats.org/drawingml/2006/main" noGrp="1"/>
          </p:cNvSpPr>
          <p:nvPr/>
        </p:nvSpPr>
        <p:spPr>
          <a:xfrm xmlns:a="http://schemas.openxmlformats.org/drawingml/2006/main">
            <a:off x="4819650" y="3486150"/>
            <a:ext cx="2686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FFFFFF"/>
                </a:solidFill>
                <a:latin typeface="Helvetica Neue"/>
                <a:ea typeface="Helvetica Neue"/>
                <a:cs typeface="Helvetica Neue"/>
              </a:defRPr>
            </a:pPr>
            <a:r>
              <a:rPr sz="1725" b="0" i="0">
                <a:solidFill>
                  <a:srgbClr val="FFFFFF"/>
                </a:solidFill>
                <a:latin typeface="Helvetica Neue"/>
                <a:ea typeface="Helvetica Neue"/>
                <a:cs typeface="Helvetica Neue"/>
              </a:rPr>
              <a:t>Check + organize data</a:t>
            </a:r>
          </a:p>
        </p:txBody>
      </p:sp>
      <p:sp>
        <p:nvSpPr>
          <p:cNvPr id="12" name="panel-166">
            <a:extLst xmlns:a="http://schemas.openxmlformats.org/drawingml/2006/main">
              <a:ext uri="{FF2B5EF4-FFF2-40B4-BE49-F238E27FC236}">
                <a16:creationId xmlns:a16="http://schemas.microsoft.com/office/drawing/2014/main" id="{E17F18E7-3857-4C00-83D3-D73E0D4D8400}"/>
              </a:ext>
            </a:extLst>
          </p:cNvPr>
          <p:cNvSpPr>
            <a:spLocks xmlns:a="http://schemas.openxmlformats.org/drawingml/2006/main" noGrp="1"/>
          </p:cNvSpPr>
          <p:nvPr/>
        </p:nvSpPr>
        <p:spPr>
          <a:xfrm xmlns:a="http://schemas.openxmlformats.org/drawingml/2006/main">
            <a:off x="8791575" y="2028825"/>
            <a:ext cx="2790825" cy="1162050"/>
          </a:xfrm>
          <a:prstGeom xmlns:a="http://schemas.openxmlformats.org/drawingml/2006/main" prst="rect">
            <a:avLst/>
          </a:prstGeom>
          <a:solidFill xmlns:a="http://schemas.openxmlformats.org/drawingml/2006/main">
            <a:srgbClr val="EEEAE3"/>
          </a:solidFill>
          <a:ln xmlns:a="http://schemas.openxmlformats.org/drawingml/2006/main" w="0">
            <a:no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ca62bbf44a54120"/>
          <a:stretch xmlns:a="http://schemas.openxmlformats.org/drawingml/2006/main"/>
        </p:blipFill>
        <p:spPr>
          <a:xfrm xmlns:a="http://schemas.openxmlformats.org/drawingml/2006/main">
            <a:off x="9017051" y="2190750"/>
            <a:ext cx="349148" cy="361950"/>
          </a:xfrm>
          <a:prstGeom xmlns:a="http://schemas.openxmlformats.org/drawingml/2006/main" prst="rect">
            <a:avLst/>
          </a:prstGeom>
        </p:spPr>
      </p:pic>
      <p:sp>
        <p:nvSpPr>
          <p:cNvPr id="14" name="text-167">
            <a:extLst xmlns:a="http://schemas.openxmlformats.org/drawingml/2006/main">
              <a:ext uri="{FF2B5EF4-FFF2-40B4-BE49-F238E27FC236}">
                <a16:creationId xmlns:a16="http://schemas.microsoft.com/office/drawing/2014/main" id="{9E06EF02-AF50-4174-8B0A-078E338F99BE}"/>
              </a:ext>
            </a:extLst>
          </p:cNvPr>
          <p:cNvSpPr>
            <a:spLocks xmlns:a="http://schemas.openxmlformats.org/drawingml/2006/main" noGrp="1"/>
          </p:cNvSpPr>
          <p:nvPr/>
        </p:nvSpPr>
        <p:spPr>
          <a:xfrm xmlns:a="http://schemas.openxmlformats.org/drawingml/2006/main">
            <a:off x="9515475" y="2209800"/>
            <a:ext cx="1895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1C1C1C"/>
                </a:solidFill>
                <a:latin typeface="Avenir Next"/>
                <a:ea typeface="Avenir Next"/>
                <a:cs typeface="Avenir Next"/>
              </a:defRPr>
            </a:pPr>
            <a:r>
              <a:rPr sz="2100" b="1" i="0">
                <a:solidFill>
                  <a:srgbClr val="1C1C1C"/>
                </a:solidFill>
                <a:latin typeface="Avenir Next"/>
                <a:ea typeface="Avenir Next"/>
                <a:cs typeface="Avenir Next"/>
              </a:rPr>
              <a:t>Supabase</a:t>
            </a:r>
          </a:p>
        </p:txBody>
      </p:sp>
      <p:sp>
        <p:nvSpPr>
          <p:cNvPr id="15" name="text-168">
            <a:extLst xmlns:a="http://schemas.openxmlformats.org/drawingml/2006/main">
              <a:ext uri="{FF2B5EF4-FFF2-40B4-BE49-F238E27FC236}">
                <a16:creationId xmlns:a16="http://schemas.microsoft.com/office/drawing/2014/main" id="{6F7BF556-07F8-4633-BE09-489849618745}"/>
              </a:ext>
            </a:extLst>
          </p:cNvPr>
          <p:cNvSpPr>
            <a:spLocks xmlns:a="http://schemas.openxmlformats.org/drawingml/2006/main" noGrp="1"/>
          </p:cNvSpPr>
          <p:nvPr/>
        </p:nvSpPr>
        <p:spPr>
          <a:xfrm xmlns:a="http://schemas.openxmlformats.org/drawingml/2006/main">
            <a:off x="9010650" y="271462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1C1C1C"/>
                </a:solidFill>
                <a:latin typeface="Helvetica Neue"/>
                <a:ea typeface="Helvetica Neue"/>
                <a:cs typeface="Helvetica Neue"/>
              </a:defRPr>
            </a:pPr>
            <a:r>
              <a:rPr sz="1725" b="0" i="0">
                <a:solidFill>
                  <a:srgbClr val="1C1C1C"/>
                </a:solidFill>
                <a:latin typeface="Helvetica Neue"/>
                <a:ea typeface="Helvetica Neue"/>
                <a:cs typeface="Helvetica Neue"/>
              </a:rPr>
              <a:t>Records + identity</a:t>
            </a:r>
          </a:p>
        </p:txBody>
      </p:sp>
      <p:sp>
        <p:nvSpPr>
          <p:cNvPr id="16" name="panel-169">
            <a:extLst xmlns:a="http://schemas.openxmlformats.org/drawingml/2006/main">
              <a:ext uri="{FF2B5EF4-FFF2-40B4-BE49-F238E27FC236}">
                <a16:creationId xmlns:a16="http://schemas.microsoft.com/office/drawing/2014/main" id="{99F032C6-2BE2-4F63-8F34-F6E34862F7C3}"/>
              </a:ext>
            </a:extLst>
          </p:cNvPr>
          <p:cNvSpPr>
            <a:spLocks xmlns:a="http://schemas.openxmlformats.org/drawingml/2006/main" noGrp="1"/>
          </p:cNvSpPr>
          <p:nvPr/>
        </p:nvSpPr>
        <p:spPr>
          <a:xfrm xmlns:a="http://schemas.openxmlformats.org/drawingml/2006/main">
            <a:off x="8791575" y="3762375"/>
            <a:ext cx="2790825" cy="1162050"/>
          </a:xfrm>
          <a:prstGeom xmlns:a="http://schemas.openxmlformats.org/drawingml/2006/main" prst="rect">
            <a:avLst/>
          </a:prstGeom>
          <a:solidFill xmlns:a="http://schemas.openxmlformats.org/drawingml/2006/main">
            <a:srgbClr val="EEEAE3"/>
          </a:solidFill>
          <a:ln xmlns:a="http://schemas.openxmlformats.org/drawingml/2006/main" w="0">
            <a:noFill/>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0c49d2821c24a21"/>
          <a:stretch xmlns:a="http://schemas.openxmlformats.org/drawingml/2006/main"/>
        </p:blipFill>
        <p:spPr>
          <a:xfrm xmlns:a="http://schemas.openxmlformats.org/drawingml/2006/main">
            <a:off x="9010650" y="3924300"/>
            <a:ext cx="361950" cy="361950"/>
          </a:xfrm>
          <a:prstGeom xmlns:a="http://schemas.openxmlformats.org/drawingml/2006/main" prst="rect">
            <a:avLst/>
          </a:prstGeom>
        </p:spPr>
      </p:pic>
      <p:sp>
        <p:nvSpPr>
          <p:cNvPr id="18" name="text-170">
            <a:extLst xmlns:a="http://schemas.openxmlformats.org/drawingml/2006/main">
              <a:ext uri="{FF2B5EF4-FFF2-40B4-BE49-F238E27FC236}">
                <a16:creationId xmlns:a16="http://schemas.microsoft.com/office/drawing/2014/main" id="{BF81DFBD-CD58-4032-9238-69A0EFF0C292}"/>
              </a:ext>
            </a:extLst>
          </p:cNvPr>
          <p:cNvSpPr>
            <a:spLocks xmlns:a="http://schemas.openxmlformats.org/drawingml/2006/main" noGrp="1"/>
          </p:cNvSpPr>
          <p:nvPr/>
        </p:nvSpPr>
        <p:spPr>
          <a:xfrm xmlns:a="http://schemas.openxmlformats.org/drawingml/2006/main">
            <a:off x="9515475" y="3943350"/>
            <a:ext cx="1895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1C1C1C"/>
                </a:solidFill>
                <a:latin typeface="Avenir Next"/>
                <a:ea typeface="Avenir Next"/>
                <a:cs typeface="Avenir Next"/>
              </a:defRPr>
            </a:pPr>
            <a:r>
              <a:rPr sz="2100" b="1" i="0">
                <a:solidFill>
                  <a:srgbClr val="1C1C1C"/>
                </a:solidFill>
                <a:latin typeface="Avenir Next"/>
                <a:ea typeface="Avenir Next"/>
                <a:cs typeface="Avenir Next"/>
              </a:rPr>
              <a:t>Vercel app</a:t>
            </a:r>
          </a:p>
        </p:txBody>
      </p:sp>
      <p:sp>
        <p:nvSpPr>
          <p:cNvPr id="19" name="text-171">
            <a:extLst xmlns:a="http://schemas.openxmlformats.org/drawingml/2006/main">
              <a:ext uri="{FF2B5EF4-FFF2-40B4-BE49-F238E27FC236}">
                <a16:creationId xmlns:a16="http://schemas.microsoft.com/office/drawing/2014/main" id="{1AF68EAF-C256-42CE-8A10-374BEB4EB7D0}"/>
              </a:ext>
            </a:extLst>
          </p:cNvPr>
          <p:cNvSpPr>
            <a:spLocks xmlns:a="http://schemas.openxmlformats.org/drawingml/2006/main" noGrp="1"/>
          </p:cNvSpPr>
          <p:nvPr/>
        </p:nvSpPr>
        <p:spPr>
          <a:xfrm xmlns:a="http://schemas.openxmlformats.org/drawingml/2006/main">
            <a:off x="9010650" y="44481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1C1C1C"/>
                </a:solidFill>
                <a:latin typeface="Helvetica Neue"/>
                <a:ea typeface="Helvetica Neue"/>
                <a:cs typeface="Helvetica Neue"/>
              </a:defRPr>
            </a:pPr>
            <a:r>
              <a:rPr sz="1725" b="0" i="0">
                <a:solidFill>
                  <a:srgbClr val="1C1C1C"/>
                </a:solidFill>
                <a:latin typeface="Helvetica Neue"/>
                <a:ea typeface="Helvetica Neue"/>
                <a:cs typeface="Helvetica Neue"/>
              </a:rPr>
              <a:t>Review + save</a:t>
            </a:r>
          </a:p>
        </p:txBody>
      </p:sp>
      <p:cxnSp>
        <p:nvCxnSpPr>
          <p:cNvPr id="46" name=""/>
          <p:cNvCxnSpPr>
            <a:stCxn xmlns:a="http://schemas.openxmlformats.org/drawingml/2006/main" id="9" idx="1"/>
            <a:endCxn xmlns:a="http://schemas.openxmlformats.org/drawingml/2006/main" id="2" idx="3"/>
          </p:cNvCxnSpPr>
          <p:nvPr/>
        </p:nvCxnSpPr>
        <p:spPr>
          <a:xfrm xmlns:a="http://schemas.openxmlformats.org/drawingml/2006/main" flipH="1" flipV="1">
            <a:off x="3467100" y="2609850"/>
            <a:ext cx="1143000" cy="800100"/>
          </a:xfrm>
          <a:prstGeom xmlns:a="http://schemas.openxmlformats.org/drawingml/2006/main" prst="bentConnector3">
            <a:avLst>
              <a:gd name="adj1" fmla="val 50000"/>
            </a:avLst>
          </a:prstGeom>
          <a:ln xmlns:a="http://schemas.openxmlformats.org/drawingml/2006/main" w="19050">
            <a:solidFill>
              <a:srgbClr val="D1372D"/>
            </a:solidFill>
            <a:headEnd type="arrow" w="med" len="med"/>
          </a:ln>
        </p:spPr>
      </p:cxnSp>
      <p:cxnSp>
        <p:nvCxnSpPr>
          <p:cNvPr id="47" name=""/>
          <p:cNvCxnSpPr>
            <a:stCxn xmlns:a="http://schemas.openxmlformats.org/drawingml/2006/main" id="9" idx="1"/>
            <a:endCxn xmlns:a="http://schemas.openxmlformats.org/drawingml/2006/main" id="5" idx="3"/>
          </p:cNvCxnSpPr>
          <p:nvPr/>
        </p:nvCxnSpPr>
        <p:spPr>
          <a:xfrm xmlns:a="http://schemas.openxmlformats.org/drawingml/2006/main" flipH="1">
            <a:off x="3467100" y="3409950"/>
            <a:ext cx="1143000" cy="933450"/>
          </a:xfrm>
          <a:prstGeom xmlns:a="http://schemas.openxmlformats.org/drawingml/2006/main" prst="bentConnector3">
            <a:avLst>
              <a:gd name="adj1" fmla="val 50000"/>
            </a:avLst>
          </a:prstGeom>
          <a:ln xmlns:a="http://schemas.openxmlformats.org/drawingml/2006/main" w="19050">
            <a:solidFill>
              <a:srgbClr val="D1372D"/>
            </a:solidFill>
            <a:headEnd type="arrow" w="med" len="med"/>
          </a:ln>
        </p:spPr>
      </p:cxnSp>
      <p:cxnSp>
        <p:nvCxnSpPr>
          <p:cNvPr id="48" name=""/>
          <p:cNvCxnSpPr>
            <a:stCxn xmlns:a="http://schemas.openxmlformats.org/drawingml/2006/main" id="12" idx="1"/>
            <a:endCxn xmlns:a="http://schemas.openxmlformats.org/drawingml/2006/main" id="9" idx="3"/>
          </p:cNvCxnSpPr>
          <p:nvPr/>
        </p:nvCxnSpPr>
        <p:spPr>
          <a:xfrm xmlns:a="http://schemas.openxmlformats.org/drawingml/2006/main" flipH="1">
            <a:off x="7715250" y="2609850"/>
            <a:ext cx="1076325" cy="800100"/>
          </a:xfrm>
          <a:prstGeom xmlns:a="http://schemas.openxmlformats.org/drawingml/2006/main" prst="bentConnector3">
            <a:avLst>
              <a:gd name="adj1" fmla="val 50000"/>
            </a:avLst>
          </a:prstGeom>
          <a:ln xmlns:a="http://schemas.openxmlformats.org/drawingml/2006/main" w="19050">
            <a:solidFill>
              <a:srgbClr val="D1372D"/>
            </a:solidFill>
            <a:headEnd type="arrow" w="med" len="med"/>
          </a:ln>
        </p:spPr>
      </p:cxnSp>
      <p:cxnSp>
        <p:nvCxnSpPr>
          <p:cNvPr id="49" name=""/>
          <p:cNvCxnSpPr>
            <a:stCxn xmlns:a="http://schemas.openxmlformats.org/drawingml/2006/main" id="16" idx="1"/>
            <a:endCxn xmlns:a="http://schemas.openxmlformats.org/drawingml/2006/main" id="9" idx="3"/>
          </p:cNvCxnSpPr>
          <p:nvPr/>
        </p:nvCxnSpPr>
        <p:spPr>
          <a:xfrm xmlns:a="http://schemas.openxmlformats.org/drawingml/2006/main" flipH="1" flipV="1">
            <a:off x="7715250" y="3409950"/>
            <a:ext cx="1076325" cy="933450"/>
          </a:xfrm>
          <a:prstGeom xmlns:a="http://schemas.openxmlformats.org/drawingml/2006/main" prst="bentConnector3">
            <a:avLst>
              <a:gd name="adj1" fmla="val 50000"/>
            </a:avLst>
          </a:prstGeom>
          <a:ln xmlns:a="http://schemas.openxmlformats.org/drawingml/2006/main" w="19050">
            <a:solidFill>
              <a:srgbClr val="D1372D"/>
            </a:solidFill>
            <a:headEnd type="arrow" w="med" len="med"/>
          </a:ln>
        </p:spPr>
      </p:cxnSp>
      <p:sp>
        <p:nvSpPr>
          <p:cNvPr id="24" name="text-172">
            <a:extLst xmlns:a="http://schemas.openxmlformats.org/drawingml/2006/main">
              <a:ext uri="{FF2B5EF4-FFF2-40B4-BE49-F238E27FC236}">
                <a16:creationId xmlns:a16="http://schemas.microsoft.com/office/drawing/2014/main" id="{C2BEBC25-00AF-4929-98A8-8CE666AE8DED}"/>
              </a:ext>
            </a:extLst>
          </p:cNvPr>
          <p:cNvSpPr>
            <a:spLocks xmlns:a="http://schemas.openxmlformats.org/drawingml/2006/main" noGrp="1"/>
          </p:cNvSpPr>
          <p:nvPr/>
        </p:nvSpPr>
        <p:spPr>
          <a:xfrm xmlns:a="http://schemas.openxmlformats.org/drawingml/2006/main">
            <a:off x="609600" y="5467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GitHub stores the code, specification, and shared instructions.</a:t>
            </a:r>
          </a:p>
        </p:txBody>
      </p:sp>
      <p:sp>
        <p:nvSpPr>
          <p:cNvPr id="25" name="text-173">
            <a:extLst xmlns:a="http://schemas.openxmlformats.org/drawingml/2006/main">
              <a:ext uri="{FF2B5EF4-FFF2-40B4-BE49-F238E27FC236}">
                <a16:creationId xmlns:a16="http://schemas.microsoft.com/office/drawing/2014/main" id="{E73DFA50-C375-4D63-B081-2216B47C534A}"/>
              </a:ext>
            </a:extLst>
          </p:cNvPr>
          <p:cNvSpPr>
            <a:spLocks xmlns:a="http://schemas.openxmlformats.org/drawingml/2006/main" noGrp="1"/>
          </p:cNvSpPr>
          <p:nvPr/>
        </p:nvSpPr>
        <p:spPr>
          <a:xfrm xmlns:a="http://schemas.openxmlformats.org/drawingml/2006/main">
            <a:off x="609600" y="6048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686868"/>
                </a:solidFill>
                <a:latin typeface="Helvetica Neue"/>
                <a:ea typeface="Helvetica Neue"/>
                <a:cs typeface="Helvetica Neue"/>
              </a:defRPr>
            </a:pPr>
            <a:r>
              <a:rPr sz="1500" b="0" i="0">
                <a:solidFill>
                  <a:srgbClr val="686868"/>
                </a:solidFill>
                <a:latin typeface="Helvetica Neue"/>
                <a:ea typeface="Helvetica Neue"/>
                <a:cs typeface="Helvetica Neue"/>
              </a:rPr>
              <a:t>Start with supplied samples. Live Fireflies and Calendly reads are optional.</a:t>
            </a:r>
          </a:p>
        </p:txBody>
      </p:sp>
      <p:sp>
        <p:nvSpPr>
          <p:cNvPr id="26" name="text-174">
            <a:extLst xmlns:a="http://schemas.openxmlformats.org/drawingml/2006/main">
              <a:ext uri="{FF2B5EF4-FFF2-40B4-BE49-F238E27FC236}">
                <a16:creationId xmlns:a16="http://schemas.microsoft.com/office/drawing/2014/main" id="{28CA4371-796B-4669-A220-ABC560CE1EC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20</a:t>
            </a:r>
          </a:p>
        </p:txBody>
      </p:sp>
    </p:spTree>
    <p:extLst>
      <p:ext uri="{BB962C8B-B14F-4D97-AF65-F5344CB8AC3E}">
        <p14:creationId xmlns:p14="http://schemas.microsoft.com/office/powerpoint/2010/main" val="1705037563"/>
      </p:ext>
    </p:extLst>
  </p:cSld>
</p:sld>
</file>

<file path=ppt/slides/slide2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1" name="text-175">
            <a:extLst xmlns:a="http://schemas.openxmlformats.org/drawingml/2006/main">
              <a:ext uri="{FF2B5EF4-FFF2-40B4-BE49-F238E27FC236}">
                <a16:creationId xmlns:a16="http://schemas.microsoft.com/office/drawing/2014/main" id="{1D84E320-C9D2-4731-A427-92CF8DA432A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ClientDesk, from screen to services</a:t>
            </a:r>
          </a:p>
        </p:txBody>
      </p:sp>
      <p:sp>
        <p:nvSpPr>
          <p:cNvPr id="2" name="text-176">
            <a:extLst xmlns:a="http://schemas.openxmlformats.org/drawingml/2006/main">
              <a:ext uri="{FF2B5EF4-FFF2-40B4-BE49-F238E27FC236}">
                <a16:creationId xmlns:a16="http://schemas.microsoft.com/office/drawing/2014/main" id="{9EF0E5B4-5F50-4F57-A26F-74BEFF0BE993}"/>
              </a:ext>
            </a:extLst>
          </p:cNvPr>
          <p:cNvSpPr>
            <a:spLocks xmlns:a="http://schemas.openxmlformats.org/drawingml/2006/main" noGrp="1"/>
          </p:cNvSpPr>
          <p:nvPr/>
        </p:nvSpPr>
        <p:spPr>
          <a:xfrm xmlns:a="http://schemas.openxmlformats.org/drawingml/2006/main">
            <a:off x="609600" y="16383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i="0">
                <a:solidFill>
                  <a:srgbClr val="686868"/>
                </a:solidFill>
                <a:latin typeface="Helvetica Neue"/>
                <a:ea typeface="Helvetica Neue"/>
                <a:cs typeface="Helvetica Neue"/>
              </a:defRPr>
            </a:pPr>
            <a:r>
              <a:rPr sz="1500" b="1" i="0">
                <a:solidFill>
                  <a:srgbClr val="686868"/>
                </a:solidFill>
                <a:latin typeface="Helvetica Neue"/>
                <a:ea typeface="Helvetica Neue"/>
                <a:cs typeface="Helvetica Neue"/>
              </a:rPr>
              <a:t>WHAT THE VISITOR DOES</a:t>
            </a:r>
          </a:p>
        </p:txBody>
      </p:sp>
      <p:sp>
        <p:nvSpPr>
          <p:cNvPr id="3" name="text-177">
            <a:extLst xmlns:a="http://schemas.openxmlformats.org/drawingml/2006/main">
              <a:ext uri="{FF2B5EF4-FFF2-40B4-BE49-F238E27FC236}">
                <a16:creationId xmlns:a16="http://schemas.microsoft.com/office/drawing/2014/main" id="{CF72EE2D-3094-4241-9D81-3A0748DED18E}"/>
              </a:ext>
            </a:extLst>
          </p:cNvPr>
          <p:cNvSpPr>
            <a:spLocks xmlns:a="http://schemas.openxmlformats.org/drawingml/2006/main" noGrp="1"/>
          </p:cNvSpPr>
          <p:nvPr/>
        </p:nvSpPr>
        <p:spPr>
          <a:xfrm xmlns:a="http://schemas.openxmlformats.org/drawingml/2006/main">
            <a:off x="609600" y="2076450"/>
            <a:ext cx="306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i="0">
                <a:solidFill>
                  <a:srgbClr val="1C1C1C"/>
                </a:solidFill>
                <a:latin typeface="Avenir Next"/>
                <a:ea typeface="Avenir Next"/>
                <a:cs typeface="Avenir Next"/>
              </a:defRPr>
            </a:pPr>
            <a:r>
              <a:rPr sz="2325" b="1" i="0">
                <a:solidFill>
                  <a:srgbClr val="1C1C1C"/>
                </a:solidFill>
                <a:latin typeface="Avenir Next"/>
                <a:ea typeface="Avenir Next"/>
                <a:cs typeface="Avenir Next"/>
              </a:rPr>
              <a:t>Open a client</a:t>
            </a:r>
          </a:p>
        </p:txBody>
      </p:sp>
      <p:sp>
        <p:nvSpPr>
          <p:cNvPr id="4" name="panel-178">
            <a:extLst xmlns:a="http://schemas.openxmlformats.org/drawingml/2006/main">
              <a:ext uri="{FF2B5EF4-FFF2-40B4-BE49-F238E27FC236}">
                <a16:creationId xmlns:a16="http://schemas.microsoft.com/office/drawing/2014/main" id="{408076DB-05E8-4442-90D6-CEF0CC7F9723}"/>
              </a:ext>
            </a:extLst>
          </p:cNvPr>
          <p:cNvSpPr>
            <a:spLocks xmlns:a="http://schemas.openxmlformats.org/drawingml/2006/main" noGrp="1"/>
          </p:cNvSpPr>
          <p:nvPr/>
        </p:nvSpPr>
        <p:spPr>
          <a:xfrm xmlns:a="http://schemas.openxmlformats.org/drawingml/2006/main">
            <a:off x="3843338" y="2243138"/>
            <a:ext cx="9525" cy="9525"/>
          </a:xfrm>
          <a:prstGeom xmlns:a="http://schemas.openxmlformats.org/drawingml/2006/main" prst="rect">
            <a:avLst/>
          </a:prstGeom>
          <a:noFill xmlns:a="http://schemas.openxmlformats.org/drawingml/2006/main"/>
          <a:ln xmlns:a="http://schemas.openxmlformats.org/drawingml/2006/main" w="0">
            <a:noFill/>
          </a:ln>
        </p:spPr>
      </p:sp>
      <p:sp>
        <p:nvSpPr>
          <p:cNvPr id="5" name="panel-179">
            <a:extLst xmlns:a="http://schemas.openxmlformats.org/drawingml/2006/main">
              <a:ext uri="{FF2B5EF4-FFF2-40B4-BE49-F238E27FC236}">
                <a16:creationId xmlns:a16="http://schemas.microsoft.com/office/drawing/2014/main" id="{7198B625-3C72-4D4D-98CD-4EBCF53F0D67}"/>
              </a:ext>
            </a:extLst>
          </p:cNvPr>
          <p:cNvSpPr>
            <a:spLocks xmlns:a="http://schemas.openxmlformats.org/drawingml/2006/main" noGrp="1"/>
          </p:cNvSpPr>
          <p:nvPr/>
        </p:nvSpPr>
        <p:spPr>
          <a:xfrm xmlns:a="http://schemas.openxmlformats.org/drawingml/2006/main">
            <a:off x="4186238" y="22431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6" name=""/>
          <p:cNvCxnSpPr>
            <a:stCxn xmlns:a="http://schemas.openxmlformats.org/drawingml/2006/main" id="4" idx="3"/>
            <a:endCxn xmlns:a="http://schemas.openxmlformats.org/drawingml/2006/main" id="5" idx="1"/>
          </p:cNvCxnSpPr>
          <p:nvPr/>
        </p:nvCxnSpPr>
        <p:spPr>
          <a:xfrm xmlns:a="http://schemas.openxmlformats.org/drawingml/2006/main">
            <a:off x="3852863" y="2247901"/>
            <a:ext cx="33337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7" name="text-180">
            <a:extLst xmlns:a="http://schemas.openxmlformats.org/drawingml/2006/main">
              <a:ext uri="{FF2B5EF4-FFF2-40B4-BE49-F238E27FC236}">
                <a16:creationId xmlns:a16="http://schemas.microsoft.com/office/drawing/2014/main" id="{53D9A726-DD45-4B62-8F3F-5B787B7F5035}"/>
              </a:ext>
            </a:extLst>
          </p:cNvPr>
          <p:cNvSpPr>
            <a:spLocks xmlns:a="http://schemas.openxmlformats.org/drawingml/2006/main" noGrp="1"/>
          </p:cNvSpPr>
          <p:nvPr/>
        </p:nvSpPr>
        <p:spPr>
          <a:xfrm xmlns:a="http://schemas.openxmlformats.org/drawingml/2006/main">
            <a:off x="4400550" y="2076450"/>
            <a:ext cx="306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i="0">
                <a:solidFill>
                  <a:srgbClr val="1C1C1C"/>
                </a:solidFill>
                <a:latin typeface="Avenir Next"/>
                <a:ea typeface="Avenir Next"/>
                <a:cs typeface="Avenir Next"/>
              </a:defRPr>
            </a:pPr>
            <a:r>
              <a:rPr sz="2325" b="1" i="0">
                <a:solidFill>
                  <a:srgbClr val="1C1C1C"/>
                </a:solidFill>
                <a:latin typeface="Avenir Next"/>
                <a:ea typeface="Avenir Next"/>
                <a:cs typeface="Avenir Next"/>
              </a:rPr>
              <a:t>Review evidence</a:t>
            </a:r>
          </a:p>
        </p:txBody>
      </p:sp>
      <p:sp>
        <p:nvSpPr>
          <p:cNvPr id="8" name="panel-181">
            <a:extLst xmlns:a="http://schemas.openxmlformats.org/drawingml/2006/main">
              <a:ext uri="{FF2B5EF4-FFF2-40B4-BE49-F238E27FC236}">
                <a16:creationId xmlns:a16="http://schemas.microsoft.com/office/drawing/2014/main" id="{93E24C86-960D-422E-8912-89B62509D533}"/>
              </a:ext>
            </a:extLst>
          </p:cNvPr>
          <p:cNvSpPr>
            <a:spLocks xmlns:a="http://schemas.openxmlformats.org/drawingml/2006/main" noGrp="1"/>
          </p:cNvSpPr>
          <p:nvPr/>
        </p:nvSpPr>
        <p:spPr>
          <a:xfrm xmlns:a="http://schemas.openxmlformats.org/drawingml/2006/main">
            <a:off x="7634288" y="2243138"/>
            <a:ext cx="9525" cy="9525"/>
          </a:xfrm>
          <a:prstGeom xmlns:a="http://schemas.openxmlformats.org/drawingml/2006/main" prst="rect">
            <a:avLst/>
          </a:prstGeom>
          <a:noFill xmlns:a="http://schemas.openxmlformats.org/drawingml/2006/main"/>
          <a:ln xmlns:a="http://schemas.openxmlformats.org/drawingml/2006/main" w="0">
            <a:noFill/>
          </a:ln>
        </p:spPr>
      </p:sp>
      <p:sp>
        <p:nvSpPr>
          <p:cNvPr id="9" name="panel-182">
            <a:extLst xmlns:a="http://schemas.openxmlformats.org/drawingml/2006/main">
              <a:ext uri="{FF2B5EF4-FFF2-40B4-BE49-F238E27FC236}">
                <a16:creationId xmlns:a16="http://schemas.microsoft.com/office/drawing/2014/main" id="{0161D6C1-FD99-417C-A1CB-F5C45E187695}"/>
              </a:ext>
            </a:extLst>
          </p:cNvPr>
          <p:cNvSpPr>
            <a:spLocks xmlns:a="http://schemas.openxmlformats.org/drawingml/2006/main" noGrp="1"/>
          </p:cNvSpPr>
          <p:nvPr/>
        </p:nvSpPr>
        <p:spPr>
          <a:xfrm xmlns:a="http://schemas.openxmlformats.org/drawingml/2006/main">
            <a:off x="7977188" y="22431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0" name=""/>
          <p:cNvCxnSpPr>
            <a:stCxn xmlns:a="http://schemas.openxmlformats.org/drawingml/2006/main" id="8" idx="3"/>
            <a:endCxn xmlns:a="http://schemas.openxmlformats.org/drawingml/2006/main" id="9" idx="1"/>
          </p:cNvCxnSpPr>
          <p:nvPr/>
        </p:nvCxnSpPr>
        <p:spPr>
          <a:xfrm xmlns:a="http://schemas.openxmlformats.org/drawingml/2006/main">
            <a:off x="7643813" y="2247901"/>
            <a:ext cx="33337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1" name="text-183">
            <a:extLst xmlns:a="http://schemas.openxmlformats.org/drawingml/2006/main">
              <a:ext uri="{FF2B5EF4-FFF2-40B4-BE49-F238E27FC236}">
                <a16:creationId xmlns:a16="http://schemas.microsoft.com/office/drawing/2014/main" id="{074FB88E-2744-4D93-8A32-AE796D2A3BA8}"/>
              </a:ext>
            </a:extLst>
          </p:cNvPr>
          <p:cNvSpPr>
            <a:spLocks xmlns:a="http://schemas.openxmlformats.org/drawingml/2006/main" noGrp="1"/>
          </p:cNvSpPr>
          <p:nvPr/>
        </p:nvSpPr>
        <p:spPr>
          <a:xfrm xmlns:a="http://schemas.openxmlformats.org/drawingml/2006/main">
            <a:off x="8191500" y="2076450"/>
            <a:ext cx="306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i="0">
                <a:solidFill>
                  <a:srgbClr val="1C1C1C"/>
                </a:solidFill>
                <a:latin typeface="Avenir Next"/>
                <a:ea typeface="Avenir Next"/>
                <a:cs typeface="Avenir Next"/>
              </a:defRPr>
            </a:pPr>
            <a:r>
              <a:rPr sz="2325" b="1" i="0">
                <a:solidFill>
                  <a:srgbClr val="1C1C1C"/>
                </a:solidFill>
                <a:latin typeface="Avenir Next"/>
                <a:ea typeface="Avenir Next"/>
                <a:cs typeface="Avenir Next"/>
              </a:rPr>
              <a:t>Save or ask Claude</a:t>
            </a:r>
          </a:p>
        </p:txBody>
      </p:sp>
      <p:sp>
        <p:nvSpPr>
          <p:cNvPr id="12" name="panel-184">
            <a:extLst xmlns:a="http://schemas.openxmlformats.org/drawingml/2006/main">
              <a:ext uri="{FF2B5EF4-FFF2-40B4-BE49-F238E27FC236}">
                <a16:creationId xmlns:a16="http://schemas.microsoft.com/office/drawing/2014/main" id="{2EAA733B-5C4A-43E1-B50D-D4FE8C2AA76A}"/>
              </a:ext>
            </a:extLst>
          </p:cNvPr>
          <p:cNvSpPr>
            <a:spLocks xmlns:a="http://schemas.openxmlformats.org/drawingml/2006/main" noGrp="1"/>
          </p:cNvSpPr>
          <p:nvPr/>
        </p:nvSpPr>
        <p:spPr>
          <a:xfrm xmlns:a="http://schemas.openxmlformats.org/drawingml/2006/main">
            <a:off x="609600" y="268605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3" name="text-185">
            <a:extLst xmlns:a="http://schemas.openxmlformats.org/drawingml/2006/main">
              <a:ext uri="{FF2B5EF4-FFF2-40B4-BE49-F238E27FC236}">
                <a16:creationId xmlns:a16="http://schemas.microsoft.com/office/drawing/2014/main" id="{97396B27-2F81-4399-8811-13BF24DD80EB}"/>
              </a:ext>
            </a:extLst>
          </p:cNvPr>
          <p:cNvSpPr>
            <a:spLocks xmlns:a="http://schemas.openxmlformats.org/drawingml/2006/main" noGrp="1"/>
          </p:cNvSpPr>
          <p:nvPr/>
        </p:nvSpPr>
        <p:spPr>
          <a:xfrm xmlns:a="http://schemas.openxmlformats.org/drawingml/2006/main">
            <a:off x="609600" y="28860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i="0">
                <a:solidFill>
                  <a:srgbClr val="686868"/>
                </a:solidFill>
                <a:latin typeface="Helvetica Neue"/>
                <a:ea typeface="Helvetica Neue"/>
                <a:cs typeface="Helvetica Neue"/>
              </a:defRPr>
            </a:pPr>
            <a:r>
              <a:rPr sz="1500" b="1" i="0">
                <a:solidFill>
                  <a:srgbClr val="686868"/>
                </a:solidFill>
                <a:latin typeface="Helvetica Neue"/>
                <a:ea typeface="Helvetica Neue"/>
                <a:cs typeface="Helvetica Neue"/>
              </a:rPr>
              <a:t>WHAT RUNS UNDERNEATH</a:t>
            </a:r>
          </a:p>
        </p:txBody>
      </p:sp>
      <p:sp>
        <p:nvSpPr>
          <p:cNvPr id="14" name="panel-186">
            <a:extLst xmlns:a="http://schemas.openxmlformats.org/drawingml/2006/main">
              <a:ext uri="{FF2B5EF4-FFF2-40B4-BE49-F238E27FC236}">
                <a16:creationId xmlns:a16="http://schemas.microsoft.com/office/drawing/2014/main" id="{B5005DEA-5C18-43B9-8021-B557937978C3}"/>
              </a:ext>
            </a:extLst>
          </p:cNvPr>
          <p:cNvSpPr>
            <a:spLocks xmlns:a="http://schemas.openxmlformats.org/drawingml/2006/main" noGrp="1"/>
          </p:cNvSpPr>
          <p:nvPr/>
        </p:nvSpPr>
        <p:spPr>
          <a:xfrm xmlns:a="http://schemas.openxmlformats.org/drawingml/2006/main">
            <a:off x="609600" y="3438525"/>
            <a:ext cx="2305050" cy="16859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15" name="text-187">
            <a:extLst xmlns:a="http://schemas.openxmlformats.org/drawingml/2006/main">
              <a:ext uri="{FF2B5EF4-FFF2-40B4-BE49-F238E27FC236}">
                <a16:creationId xmlns:a16="http://schemas.microsoft.com/office/drawing/2014/main" id="{948BD2E6-9F50-4C48-AD05-318CD385D9CC}"/>
              </a:ext>
            </a:extLst>
          </p:cNvPr>
          <p:cNvSpPr>
            <a:spLocks xmlns:a="http://schemas.openxmlformats.org/drawingml/2006/main" noGrp="1"/>
          </p:cNvSpPr>
          <p:nvPr/>
        </p:nvSpPr>
        <p:spPr>
          <a:xfrm xmlns:a="http://schemas.openxmlformats.org/drawingml/2006/main">
            <a:off x="800100" y="3581400"/>
            <a:ext cx="1924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Browser</a:t>
            </a:r>
          </a:p>
        </p:txBody>
      </p:sp>
      <p:sp>
        <p:nvSpPr>
          <p:cNvPr id="16" name="text-188">
            <a:extLst xmlns:a="http://schemas.openxmlformats.org/drawingml/2006/main">
              <a:ext uri="{FF2B5EF4-FFF2-40B4-BE49-F238E27FC236}">
                <a16:creationId xmlns:a16="http://schemas.microsoft.com/office/drawing/2014/main" id="{D3D6BD4C-BA1A-4C5C-A86B-F53CB39648B6}"/>
              </a:ext>
            </a:extLst>
          </p:cNvPr>
          <p:cNvSpPr>
            <a:spLocks xmlns:a="http://schemas.openxmlformats.org/drawingml/2006/main" noGrp="1"/>
          </p:cNvSpPr>
          <p:nvPr/>
        </p:nvSpPr>
        <p:spPr>
          <a:xfrm xmlns:a="http://schemas.openxmlformats.org/drawingml/2006/main">
            <a:off x="800100" y="4076700"/>
            <a:ext cx="19240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1C1C1C"/>
                </a:solidFill>
                <a:latin typeface="Helvetica Neue"/>
                <a:ea typeface="Helvetica Neue"/>
                <a:cs typeface="Helvetica Neue"/>
              </a:defRPr>
            </a:pPr>
            <a:r>
              <a:rPr sz="1800" b="0" i="0">
                <a:solidFill>
                  <a:srgbClr val="1C1C1C"/>
                </a:solidFill>
                <a:latin typeface="Helvetica Neue"/>
                <a:ea typeface="Helvetica Neue"/>
                <a:cs typeface="Helvetica Neue"/>
              </a:rPr>
              <a:t>Your screen and chat panel</a:t>
            </a:r>
          </a:p>
        </p:txBody>
      </p:sp>
      <p:sp>
        <p:nvSpPr>
          <p:cNvPr id="17" name="panel-189">
            <a:extLst xmlns:a="http://schemas.openxmlformats.org/drawingml/2006/main">
              <a:ext uri="{FF2B5EF4-FFF2-40B4-BE49-F238E27FC236}">
                <a16:creationId xmlns:a16="http://schemas.microsoft.com/office/drawing/2014/main" id="{2C734368-8070-4846-A04E-F48E69B38CC2}"/>
              </a:ext>
            </a:extLst>
          </p:cNvPr>
          <p:cNvSpPr>
            <a:spLocks xmlns:a="http://schemas.openxmlformats.org/drawingml/2006/main" noGrp="1"/>
          </p:cNvSpPr>
          <p:nvPr/>
        </p:nvSpPr>
        <p:spPr>
          <a:xfrm xmlns:a="http://schemas.openxmlformats.org/drawingml/2006/main">
            <a:off x="3524250" y="3438525"/>
            <a:ext cx="2419350" cy="1685925"/>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18" name="text-190">
            <a:extLst xmlns:a="http://schemas.openxmlformats.org/drawingml/2006/main">
              <a:ext uri="{FF2B5EF4-FFF2-40B4-BE49-F238E27FC236}">
                <a16:creationId xmlns:a16="http://schemas.microsoft.com/office/drawing/2014/main" id="{9FB66192-CA95-47B9-A1C1-822F026EAFC1}"/>
              </a:ext>
            </a:extLst>
          </p:cNvPr>
          <p:cNvSpPr>
            <a:spLocks xmlns:a="http://schemas.openxmlformats.org/drawingml/2006/main" noGrp="1"/>
          </p:cNvSpPr>
          <p:nvPr/>
        </p:nvSpPr>
        <p:spPr>
          <a:xfrm xmlns:a="http://schemas.openxmlformats.org/drawingml/2006/main">
            <a:off x="3714750" y="35814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FFFFFF"/>
                </a:solidFill>
                <a:latin typeface="Avenir Next"/>
                <a:ea typeface="Avenir Next"/>
                <a:cs typeface="Avenir Next"/>
              </a:defRPr>
            </a:pPr>
            <a:r>
              <a:rPr sz="2175" b="1" i="0">
                <a:solidFill>
                  <a:srgbClr val="FFFFFF"/>
                </a:solidFill>
                <a:latin typeface="Avenir Next"/>
                <a:ea typeface="Avenir Next"/>
                <a:cs typeface="Avenir Next"/>
              </a:rPr>
              <a:t>Vercel</a:t>
            </a:r>
          </a:p>
        </p:txBody>
      </p:sp>
      <p:sp>
        <p:nvSpPr>
          <p:cNvPr id="19" name="text-191">
            <a:extLst xmlns:a="http://schemas.openxmlformats.org/drawingml/2006/main">
              <a:ext uri="{FF2B5EF4-FFF2-40B4-BE49-F238E27FC236}">
                <a16:creationId xmlns:a16="http://schemas.microsoft.com/office/drawing/2014/main" id="{39C5EBC5-AA14-4083-8147-3057CED973AD}"/>
              </a:ext>
            </a:extLst>
          </p:cNvPr>
          <p:cNvSpPr>
            <a:spLocks xmlns:a="http://schemas.openxmlformats.org/drawingml/2006/main" noGrp="1"/>
          </p:cNvSpPr>
          <p:nvPr/>
        </p:nvSpPr>
        <p:spPr>
          <a:xfrm xmlns:a="http://schemas.openxmlformats.org/drawingml/2006/main">
            <a:off x="3714750" y="4076700"/>
            <a:ext cx="20383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FFFFFF"/>
                </a:solidFill>
                <a:latin typeface="Helvetica Neue"/>
                <a:ea typeface="Helvetica Neue"/>
                <a:cs typeface="Helvetica Neue"/>
              </a:defRPr>
            </a:pPr>
            <a:r>
              <a:rPr sz="1800" b="0" i="0">
                <a:solidFill>
                  <a:srgbClr val="FFFFFF"/>
                </a:solidFill>
                <a:latin typeface="Helvetica Neue"/>
                <a:ea typeface="Helvetica Neue"/>
                <a:cs typeface="Helvetica Neue"/>
              </a:rPr>
              <a:t>App server checks each request</a:t>
            </a:r>
          </a:p>
        </p:txBody>
      </p:sp>
      <p:sp>
        <p:nvSpPr>
          <p:cNvPr id="20" name="panel-192">
            <a:extLst xmlns:a="http://schemas.openxmlformats.org/drawingml/2006/main">
              <a:ext uri="{FF2B5EF4-FFF2-40B4-BE49-F238E27FC236}">
                <a16:creationId xmlns:a16="http://schemas.microsoft.com/office/drawing/2014/main" id="{BE9D7CB8-CE03-42C8-8C7E-D3B19DCA6A8F}"/>
              </a:ext>
            </a:extLst>
          </p:cNvPr>
          <p:cNvSpPr>
            <a:spLocks xmlns:a="http://schemas.openxmlformats.org/drawingml/2006/main" noGrp="1"/>
          </p:cNvSpPr>
          <p:nvPr/>
        </p:nvSpPr>
        <p:spPr>
          <a:xfrm xmlns:a="http://schemas.openxmlformats.org/drawingml/2006/main">
            <a:off x="6572250" y="3295650"/>
            <a:ext cx="2238375" cy="18288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21" name="text-193">
            <a:extLst xmlns:a="http://schemas.openxmlformats.org/drawingml/2006/main">
              <a:ext uri="{FF2B5EF4-FFF2-40B4-BE49-F238E27FC236}">
                <a16:creationId xmlns:a16="http://schemas.microsoft.com/office/drawing/2014/main" id="{6BE2C37B-7630-4489-A4F3-C3F6D53FBF4C}"/>
              </a:ext>
            </a:extLst>
          </p:cNvPr>
          <p:cNvSpPr>
            <a:spLocks xmlns:a="http://schemas.openxmlformats.org/drawingml/2006/main" noGrp="1"/>
          </p:cNvSpPr>
          <p:nvPr/>
        </p:nvSpPr>
        <p:spPr>
          <a:xfrm xmlns:a="http://schemas.openxmlformats.org/drawingml/2006/main">
            <a:off x="6762750" y="3438525"/>
            <a:ext cx="185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Supabase</a:t>
            </a:r>
          </a:p>
        </p:txBody>
      </p:sp>
      <p:sp>
        <p:nvSpPr>
          <p:cNvPr id="22" name="text-194">
            <a:extLst xmlns:a="http://schemas.openxmlformats.org/drawingml/2006/main">
              <a:ext uri="{FF2B5EF4-FFF2-40B4-BE49-F238E27FC236}">
                <a16:creationId xmlns:a16="http://schemas.microsoft.com/office/drawing/2014/main" id="{712078B3-8494-4C5B-A48E-63F885A69915}"/>
              </a:ext>
            </a:extLst>
          </p:cNvPr>
          <p:cNvSpPr>
            <a:spLocks xmlns:a="http://schemas.openxmlformats.org/drawingml/2006/main" noGrp="1"/>
          </p:cNvSpPr>
          <p:nvPr/>
        </p:nvSpPr>
        <p:spPr>
          <a:xfrm xmlns:a="http://schemas.openxmlformats.org/drawingml/2006/main">
            <a:off x="6762750" y="3933825"/>
            <a:ext cx="1857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1C1C1C"/>
                </a:solidFill>
                <a:latin typeface="Helvetica Neue"/>
                <a:ea typeface="Helvetica Neue"/>
                <a:cs typeface="Helvetica Neue"/>
              </a:defRPr>
            </a:pPr>
            <a:r>
              <a:rPr sz="1800" b="0" i="0">
                <a:solidFill>
                  <a:srgbClr val="1C1C1C"/>
                </a:solidFill>
                <a:latin typeface="Helvetica Neue"/>
                <a:ea typeface="Helvetica Neue"/>
                <a:cs typeface="Helvetica Neue"/>
              </a:rPr>
              <a:t>Saved clients, meetings and tasks</a:t>
            </a:r>
          </a:p>
        </p:txBody>
      </p:sp>
      <p:sp>
        <p:nvSpPr>
          <p:cNvPr id="23" name="panel-195">
            <a:extLst xmlns:a="http://schemas.openxmlformats.org/drawingml/2006/main">
              <a:ext uri="{FF2B5EF4-FFF2-40B4-BE49-F238E27FC236}">
                <a16:creationId xmlns:a16="http://schemas.microsoft.com/office/drawing/2014/main" id="{FBE01CEF-F11E-4C0B-B80C-D729D368A5DF}"/>
              </a:ext>
            </a:extLst>
          </p:cNvPr>
          <p:cNvSpPr>
            <a:spLocks xmlns:a="http://schemas.openxmlformats.org/drawingml/2006/main" noGrp="1"/>
          </p:cNvSpPr>
          <p:nvPr/>
        </p:nvSpPr>
        <p:spPr>
          <a:xfrm xmlns:a="http://schemas.openxmlformats.org/drawingml/2006/main">
            <a:off x="9382125" y="3295650"/>
            <a:ext cx="2200275" cy="18288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24" name="text-196">
            <a:extLst xmlns:a="http://schemas.openxmlformats.org/drawingml/2006/main">
              <a:ext uri="{FF2B5EF4-FFF2-40B4-BE49-F238E27FC236}">
                <a16:creationId xmlns:a16="http://schemas.microsoft.com/office/drawing/2014/main" id="{660D1485-D31D-4C5B-BBE3-199621E1BA3F}"/>
              </a:ext>
            </a:extLst>
          </p:cNvPr>
          <p:cNvSpPr>
            <a:spLocks xmlns:a="http://schemas.openxmlformats.org/drawingml/2006/main" noGrp="1"/>
          </p:cNvSpPr>
          <p:nvPr/>
        </p:nvSpPr>
        <p:spPr>
          <a:xfrm xmlns:a="http://schemas.openxmlformats.org/drawingml/2006/main">
            <a:off x="9572625" y="3438525"/>
            <a:ext cx="1819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Railway</a:t>
            </a:r>
          </a:p>
        </p:txBody>
      </p:sp>
      <p:sp>
        <p:nvSpPr>
          <p:cNvPr id="25" name="text-197">
            <a:extLst xmlns:a="http://schemas.openxmlformats.org/drawingml/2006/main">
              <a:ext uri="{FF2B5EF4-FFF2-40B4-BE49-F238E27FC236}">
                <a16:creationId xmlns:a16="http://schemas.microsoft.com/office/drawing/2014/main" id="{2AE7C19D-E8A3-4419-A585-55EE2714AEA2}"/>
              </a:ext>
            </a:extLst>
          </p:cNvPr>
          <p:cNvSpPr>
            <a:spLocks xmlns:a="http://schemas.openxmlformats.org/drawingml/2006/main" noGrp="1"/>
          </p:cNvSpPr>
          <p:nvPr/>
        </p:nvSpPr>
        <p:spPr>
          <a:xfrm xmlns:a="http://schemas.openxmlformats.org/drawingml/2006/main">
            <a:off x="9572625" y="3933825"/>
            <a:ext cx="18192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1C1C1C"/>
                </a:solidFill>
                <a:latin typeface="Helvetica Neue"/>
                <a:ea typeface="Helvetica Neue"/>
                <a:cs typeface="Helvetica Neue"/>
              </a:defRPr>
            </a:pPr>
            <a:r>
              <a:rPr sz="1800" b="0" i="0">
                <a:solidFill>
                  <a:srgbClr val="1C1C1C"/>
                </a:solidFill>
                <a:latin typeface="Helvetica Neue"/>
                <a:ea typeface="Helvetica Neue"/>
                <a:cs typeface="Helvetica Neue"/>
              </a:rPr>
              <a:t>Runs Claude -p and returns an answer</a:t>
            </a:r>
          </a:p>
        </p:txBody>
      </p:sp>
      <p:sp>
        <p:nvSpPr>
          <p:cNvPr id="26" name="panel-198">
            <a:extLst xmlns:a="http://schemas.openxmlformats.org/drawingml/2006/main">
              <a:ext uri="{FF2B5EF4-FFF2-40B4-BE49-F238E27FC236}">
                <a16:creationId xmlns:a16="http://schemas.microsoft.com/office/drawing/2014/main" id="{E16A673B-B3AD-4410-9E8B-94E47328E320}"/>
              </a:ext>
            </a:extLst>
          </p:cNvPr>
          <p:cNvSpPr>
            <a:spLocks xmlns:a="http://schemas.openxmlformats.org/drawingml/2006/main" noGrp="1"/>
          </p:cNvSpPr>
          <p:nvPr/>
        </p:nvSpPr>
        <p:spPr>
          <a:xfrm xmlns:a="http://schemas.openxmlformats.org/drawingml/2006/main">
            <a:off x="3024188" y="3871913"/>
            <a:ext cx="9525" cy="9525"/>
          </a:xfrm>
          <a:prstGeom xmlns:a="http://schemas.openxmlformats.org/drawingml/2006/main" prst="rect">
            <a:avLst/>
          </a:prstGeom>
          <a:noFill xmlns:a="http://schemas.openxmlformats.org/drawingml/2006/main"/>
          <a:ln xmlns:a="http://schemas.openxmlformats.org/drawingml/2006/main" w="0">
            <a:noFill/>
          </a:ln>
        </p:spPr>
      </p:sp>
      <p:sp>
        <p:nvSpPr>
          <p:cNvPr id="27" name="panel-199">
            <a:extLst xmlns:a="http://schemas.openxmlformats.org/drawingml/2006/main">
              <a:ext uri="{FF2B5EF4-FFF2-40B4-BE49-F238E27FC236}">
                <a16:creationId xmlns:a16="http://schemas.microsoft.com/office/drawing/2014/main" id="{E136EB56-3A66-4D22-87AA-C55849EF387F}"/>
              </a:ext>
            </a:extLst>
          </p:cNvPr>
          <p:cNvSpPr>
            <a:spLocks xmlns:a="http://schemas.openxmlformats.org/drawingml/2006/main" noGrp="1"/>
          </p:cNvSpPr>
          <p:nvPr/>
        </p:nvSpPr>
        <p:spPr>
          <a:xfrm xmlns:a="http://schemas.openxmlformats.org/drawingml/2006/main">
            <a:off x="3405188" y="38719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26" idx="3"/>
            <a:endCxn xmlns:a="http://schemas.openxmlformats.org/drawingml/2006/main" id="27" idx="1"/>
          </p:cNvCxnSpPr>
          <p:nvPr/>
        </p:nvCxnSpPr>
        <p:spPr>
          <a:xfrm xmlns:a="http://schemas.openxmlformats.org/drawingml/2006/main">
            <a:off x="3033713" y="3876676"/>
            <a:ext cx="37147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9" name="panel-200">
            <a:extLst xmlns:a="http://schemas.openxmlformats.org/drawingml/2006/main">
              <a:ext uri="{FF2B5EF4-FFF2-40B4-BE49-F238E27FC236}">
                <a16:creationId xmlns:a16="http://schemas.microsoft.com/office/drawing/2014/main" id="{6DB9BBFC-D6BD-4317-8F8D-E13E413264AE}"/>
              </a:ext>
            </a:extLst>
          </p:cNvPr>
          <p:cNvSpPr>
            <a:spLocks xmlns:a="http://schemas.openxmlformats.org/drawingml/2006/main" noGrp="1"/>
          </p:cNvSpPr>
          <p:nvPr/>
        </p:nvSpPr>
        <p:spPr>
          <a:xfrm xmlns:a="http://schemas.openxmlformats.org/drawingml/2006/main">
            <a:off x="6053138" y="3871913"/>
            <a:ext cx="9525" cy="9525"/>
          </a:xfrm>
          <a:prstGeom xmlns:a="http://schemas.openxmlformats.org/drawingml/2006/main" prst="rect">
            <a:avLst/>
          </a:prstGeom>
          <a:noFill xmlns:a="http://schemas.openxmlformats.org/drawingml/2006/main"/>
          <a:ln xmlns:a="http://schemas.openxmlformats.org/drawingml/2006/main" w="0">
            <a:noFill/>
          </a:ln>
        </p:spPr>
      </p:sp>
      <p:sp>
        <p:nvSpPr>
          <p:cNvPr id="30" name="panel-201">
            <a:extLst xmlns:a="http://schemas.openxmlformats.org/drawingml/2006/main">
              <a:ext uri="{FF2B5EF4-FFF2-40B4-BE49-F238E27FC236}">
                <a16:creationId xmlns:a16="http://schemas.microsoft.com/office/drawing/2014/main" id="{10A2A50D-09DF-4E6D-B3B1-745824040E63}"/>
              </a:ext>
            </a:extLst>
          </p:cNvPr>
          <p:cNvSpPr>
            <a:spLocks xmlns:a="http://schemas.openxmlformats.org/drawingml/2006/main" noGrp="1"/>
          </p:cNvSpPr>
          <p:nvPr/>
        </p:nvSpPr>
        <p:spPr>
          <a:xfrm xmlns:a="http://schemas.openxmlformats.org/drawingml/2006/main">
            <a:off x="6453188" y="387191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9" idx="3"/>
            <a:endCxn xmlns:a="http://schemas.openxmlformats.org/drawingml/2006/main" id="30" idx="1"/>
          </p:cNvCxnSpPr>
          <p:nvPr/>
        </p:nvCxnSpPr>
        <p:spPr>
          <a:xfrm xmlns:a="http://schemas.openxmlformats.org/drawingml/2006/main">
            <a:off x="6062663" y="3876676"/>
            <a:ext cx="3905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32" name="panel-202">
            <a:extLst xmlns:a="http://schemas.openxmlformats.org/drawingml/2006/main">
              <a:ext uri="{FF2B5EF4-FFF2-40B4-BE49-F238E27FC236}">
                <a16:creationId xmlns:a16="http://schemas.microsoft.com/office/drawing/2014/main" id="{26D5FE71-4DCA-4AA4-BA8D-DC8C8A2024F8}"/>
              </a:ext>
            </a:extLst>
          </p:cNvPr>
          <p:cNvSpPr>
            <a:spLocks xmlns:a="http://schemas.openxmlformats.org/drawingml/2006/main" noGrp="1"/>
          </p:cNvSpPr>
          <p:nvPr/>
        </p:nvSpPr>
        <p:spPr>
          <a:xfrm xmlns:a="http://schemas.openxmlformats.org/drawingml/2006/main">
            <a:off x="4724400" y="5124450"/>
            <a:ext cx="19050" cy="26670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3" name="panel-203">
            <a:extLst xmlns:a="http://schemas.openxmlformats.org/drawingml/2006/main">
              <a:ext uri="{FF2B5EF4-FFF2-40B4-BE49-F238E27FC236}">
                <a16:creationId xmlns:a16="http://schemas.microsoft.com/office/drawing/2014/main" id="{27675B15-2F7A-447E-9841-37A1E2E844A6}"/>
              </a:ext>
            </a:extLst>
          </p:cNvPr>
          <p:cNvSpPr>
            <a:spLocks xmlns:a="http://schemas.openxmlformats.org/drawingml/2006/main" noGrp="1"/>
          </p:cNvSpPr>
          <p:nvPr/>
        </p:nvSpPr>
        <p:spPr>
          <a:xfrm xmlns:a="http://schemas.openxmlformats.org/drawingml/2006/main">
            <a:off x="4724400" y="5381625"/>
            <a:ext cx="5762625" cy="1905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4" name="panel-204">
            <a:extLst xmlns:a="http://schemas.openxmlformats.org/drawingml/2006/main">
              <a:ext uri="{FF2B5EF4-FFF2-40B4-BE49-F238E27FC236}">
                <a16:creationId xmlns:a16="http://schemas.microsoft.com/office/drawing/2014/main" id="{58C03F85-A96A-4061-8687-053E7E973DD0}"/>
              </a:ext>
            </a:extLst>
          </p:cNvPr>
          <p:cNvSpPr>
            <a:spLocks xmlns:a="http://schemas.openxmlformats.org/drawingml/2006/main" noGrp="1"/>
          </p:cNvSpPr>
          <p:nvPr/>
        </p:nvSpPr>
        <p:spPr>
          <a:xfrm xmlns:a="http://schemas.openxmlformats.org/drawingml/2006/main">
            <a:off x="10467975" y="5381625"/>
            <a:ext cx="9525" cy="9525"/>
          </a:xfrm>
          <a:prstGeom xmlns:a="http://schemas.openxmlformats.org/drawingml/2006/main" prst="rect">
            <a:avLst/>
          </a:prstGeom>
          <a:noFill xmlns:a="http://schemas.openxmlformats.org/drawingml/2006/main"/>
          <a:ln xmlns:a="http://schemas.openxmlformats.org/drawingml/2006/main" w="0">
            <a:noFill/>
          </a:ln>
        </p:spPr>
      </p:sp>
      <p:sp>
        <p:nvSpPr>
          <p:cNvPr id="35" name="panel-205">
            <a:extLst xmlns:a="http://schemas.openxmlformats.org/drawingml/2006/main">
              <a:ext uri="{FF2B5EF4-FFF2-40B4-BE49-F238E27FC236}">
                <a16:creationId xmlns:a16="http://schemas.microsoft.com/office/drawing/2014/main" id="{3EB20AFE-2DA3-4C7B-A58A-BB6FE628AC41}"/>
              </a:ext>
            </a:extLst>
          </p:cNvPr>
          <p:cNvSpPr>
            <a:spLocks xmlns:a="http://schemas.openxmlformats.org/drawingml/2006/main" noGrp="1"/>
          </p:cNvSpPr>
          <p:nvPr/>
        </p:nvSpPr>
        <p:spPr>
          <a:xfrm xmlns:a="http://schemas.openxmlformats.org/drawingml/2006/main">
            <a:off x="10467975" y="51244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4" idx="0"/>
            <a:endCxn xmlns:a="http://schemas.openxmlformats.org/drawingml/2006/main" id="35" idx="2"/>
          </p:cNvCxnSpPr>
          <p:nvPr/>
        </p:nvCxnSpPr>
        <p:spPr>
          <a:xfrm xmlns:a="http://schemas.openxmlformats.org/drawingml/2006/main" flipV="1">
            <a:off x="10472738" y="5133975"/>
            <a:ext cx="0" cy="24765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37" name="text-206">
            <a:extLst xmlns:a="http://schemas.openxmlformats.org/drawingml/2006/main">
              <a:ext uri="{FF2B5EF4-FFF2-40B4-BE49-F238E27FC236}">
                <a16:creationId xmlns:a16="http://schemas.microsoft.com/office/drawing/2014/main" id="{28D211A9-E158-4FFE-9A93-FCAADE3F0761}"/>
              </a:ext>
            </a:extLst>
          </p:cNvPr>
          <p:cNvSpPr>
            <a:spLocks xmlns:a="http://schemas.openxmlformats.org/drawingml/2006/main" noGrp="1"/>
          </p:cNvSpPr>
          <p:nvPr/>
        </p:nvSpPr>
        <p:spPr>
          <a:xfrm xmlns:a="http://schemas.openxmlformats.org/drawingml/2006/main">
            <a:off x="6105525" y="5476875"/>
            <a:ext cx="321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Selected client evidence</a:t>
            </a:r>
          </a:p>
        </p:txBody>
      </p:sp>
      <p:sp>
        <p:nvSpPr>
          <p:cNvPr id="38" name="text-207">
            <a:extLst xmlns:a="http://schemas.openxmlformats.org/drawingml/2006/main">
              <a:ext uri="{FF2B5EF4-FFF2-40B4-BE49-F238E27FC236}">
                <a16:creationId xmlns:a16="http://schemas.microsoft.com/office/drawing/2014/main" id="{AC423135-62D8-4C5B-8A85-D7B09BE807E4}"/>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Railway contacts Claude’s online service. Answers return to the app.</a:t>
            </a:r>
          </a:p>
        </p:txBody>
      </p:sp>
      <p:sp>
        <p:nvSpPr>
          <p:cNvPr id="39" name="text-208">
            <a:extLst xmlns:a="http://schemas.openxmlformats.org/drawingml/2006/main">
              <a:ext uri="{FF2B5EF4-FFF2-40B4-BE49-F238E27FC236}">
                <a16:creationId xmlns:a16="http://schemas.microsoft.com/office/drawing/2014/main" id="{9964DE58-2077-40D4-81AA-206802293672}"/>
              </a:ext>
            </a:extLst>
          </p:cNvPr>
          <p:cNvSpPr>
            <a:spLocks xmlns:a="http://schemas.openxmlformats.org/drawingml/2006/main" noGrp="1"/>
          </p:cNvSpPr>
          <p:nvPr/>
        </p:nvSpPr>
        <p:spPr>
          <a:xfrm xmlns:a="http://schemas.openxmlformats.org/drawingml/2006/main">
            <a:off x="609600" y="6191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686868"/>
                </a:solidFill>
                <a:latin typeface="Helvetica Neue"/>
                <a:ea typeface="Helvetica Neue"/>
                <a:cs typeface="Helvetica Neue"/>
              </a:defRPr>
            </a:pPr>
            <a:r>
              <a:rPr sz="1500" b="0" i="0">
                <a:solidFill>
                  <a:srgbClr val="686868"/>
                </a:solidFill>
                <a:latin typeface="Helvetica Neue"/>
                <a:ea typeface="Helvetica Neue"/>
                <a:cs typeface="Helvetica Neue"/>
              </a:rPr>
              <a:t>GitHub stores the source. Sample imports come first; live providers are optional.</a:t>
            </a:r>
          </a:p>
        </p:txBody>
      </p:sp>
      <p:sp>
        <p:nvSpPr>
          <p:cNvPr id="40" name="text-209">
            <a:extLst xmlns:a="http://schemas.openxmlformats.org/drawingml/2006/main">
              <a:ext uri="{FF2B5EF4-FFF2-40B4-BE49-F238E27FC236}">
                <a16:creationId xmlns:a16="http://schemas.microsoft.com/office/drawing/2014/main" id="{ADDC8A2C-5389-44DB-8B26-FB3281CEAF6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21</a:t>
            </a:r>
          </a:p>
        </p:txBody>
      </p:sp>
    </p:spTree>
    <p:extLst>
      <p:ext uri="{BB962C8B-B14F-4D97-AF65-F5344CB8AC3E}">
        <p14:creationId xmlns:p14="http://schemas.microsoft.com/office/powerpoint/2010/main" val="624527223"/>
      </p:ext>
    </p:extLst>
  </p:cSld>
</p:sld>
</file>

<file path=ppt/slides/slide2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210">
            <a:extLst xmlns:a="http://schemas.openxmlformats.org/drawingml/2006/main">
              <a:ext uri="{FF2B5EF4-FFF2-40B4-BE49-F238E27FC236}">
                <a16:creationId xmlns:a16="http://schemas.microsoft.com/office/drawing/2014/main" id="{16ED8AEA-EE25-4B2F-B0ED-008FBF4A2EE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API, CLI, and MCP</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1090613">
                <a:tc>
                  <a:txBody>
                    <a:bodyPr>
                      <a:noAutofit/>
                    </a:bodyPr>
                    <a:lstStyle/>
                    <a:p>
                      <a:r>
                        <a:rPr sz="1875" b="1" i="0">
                          <a:solidFill>
                            <a:srgbClr val="FFFFFF"/>
                          </a:solidFill>
                          <a:latin typeface="Helvetica Neue"/>
                          <a:ea typeface="Helvetica Neue"/>
                          <a:cs typeface="Helvetica Neue"/>
                        </a:rPr>
                        <a:t>Interface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Plain-English meaning</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Example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API</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 defined way for software to request data or actions</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ClientDesk reads workspace records</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CLI</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 program you control with text commands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Claude runs the ClientDesk brief command</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MCP</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 standard for connecting AI applications to tools and context</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Claude discovers client_evidence</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211">
            <a:extLst xmlns:a="http://schemas.openxmlformats.org/drawingml/2006/main">
              <a:ext uri="{FF2B5EF4-FFF2-40B4-BE49-F238E27FC236}">
                <a16:creationId xmlns:a16="http://schemas.microsoft.com/office/drawing/2014/main" id="{0E9A5AEC-D781-4923-AADE-FA93CC81E9D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22</a:t>
            </a:r>
          </a:p>
        </p:txBody>
      </p:sp>
    </p:spTree>
    <p:extLst>
      <p:ext uri="{BB962C8B-B14F-4D97-AF65-F5344CB8AC3E}">
        <p14:creationId xmlns:p14="http://schemas.microsoft.com/office/powerpoint/2010/main" val="1626272832"/>
      </p:ext>
    </p:extLst>
  </p:cSld>
</p:sld>
</file>

<file path=ppt/slides/slide2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0" name="text-212">
            <a:extLst xmlns:a="http://schemas.openxmlformats.org/drawingml/2006/main">
              <a:ext uri="{FF2B5EF4-FFF2-40B4-BE49-F238E27FC236}">
                <a16:creationId xmlns:a16="http://schemas.microsoft.com/office/drawing/2014/main" id="{2965F64B-B2A3-41D1-85C1-A6497D2E411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How the interfaces connect</a:t>
            </a:r>
          </a:p>
        </p:txBody>
      </p:sp>
      <p:sp>
        <p:nvSpPr>
          <p:cNvPr id="2" name="panel-213">
            <a:extLst xmlns:a="http://schemas.openxmlformats.org/drawingml/2006/main">
              <a:ext uri="{FF2B5EF4-FFF2-40B4-BE49-F238E27FC236}">
                <a16:creationId xmlns:a16="http://schemas.microsoft.com/office/drawing/2014/main" id="{78655075-2F51-49F0-9D98-1AEC27AF562E}"/>
              </a:ext>
            </a:extLst>
          </p:cNvPr>
          <p:cNvSpPr>
            <a:spLocks xmlns:a="http://schemas.openxmlformats.org/drawingml/2006/main" noGrp="1"/>
          </p:cNvSpPr>
          <p:nvPr/>
        </p:nvSpPr>
        <p:spPr>
          <a:xfrm xmlns:a="http://schemas.openxmlformats.org/drawingml/2006/main">
            <a:off x="609600" y="2809875"/>
            <a:ext cx="2571750" cy="1866900"/>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214">
            <a:extLst xmlns:a="http://schemas.openxmlformats.org/drawingml/2006/main">
              <a:ext uri="{FF2B5EF4-FFF2-40B4-BE49-F238E27FC236}">
                <a16:creationId xmlns:a16="http://schemas.microsoft.com/office/drawing/2014/main" id="{9E8D2764-A5CD-4226-A14A-66A92235B7A2}"/>
              </a:ext>
            </a:extLst>
          </p:cNvPr>
          <p:cNvSpPr>
            <a:spLocks xmlns:a="http://schemas.openxmlformats.org/drawingml/2006/main" noGrp="1"/>
          </p:cNvSpPr>
          <p:nvPr/>
        </p:nvSpPr>
        <p:spPr>
          <a:xfrm xmlns:a="http://schemas.openxmlformats.org/drawingml/2006/main">
            <a:off x="819150" y="3028950"/>
            <a:ext cx="21526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i="0">
                <a:solidFill>
                  <a:srgbClr val="FFFFFF"/>
                </a:solidFill>
                <a:latin typeface="Avenir Next"/>
                <a:ea typeface="Avenir Next"/>
                <a:cs typeface="Avenir Next"/>
              </a:defRPr>
            </a:pPr>
            <a:r>
              <a:rPr sz="2475" b="1" i="0">
                <a:solidFill>
                  <a:srgbClr val="FFFFFF"/>
                </a:solidFill>
                <a:latin typeface="Avenir Next"/>
                <a:ea typeface="Avenir Next"/>
                <a:cs typeface="Avenir Next"/>
              </a:rPr>
              <a:t>Claude Code</a:t>
            </a:r>
          </a:p>
        </p:txBody>
      </p:sp>
      <p:sp>
        <p:nvSpPr>
          <p:cNvPr id="4" name="text-215">
            <a:extLst xmlns:a="http://schemas.openxmlformats.org/drawingml/2006/main">
              <a:ext uri="{FF2B5EF4-FFF2-40B4-BE49-F238E27FC236}">
                <a16:creationId xmlns:a16="http://schemas.microsoft.com/office/drawing/2014/main" id="{B3C14CEB-E1E4-43FF-8DE9-5BBF5D5285B9}"/>
              </a:ext>
            </a:extLst>
          </p:cNvPr>
          <p:cNvSpPr>
            <a:spLocks xmlns:a="http://schemas.openxmlformats.org/drawingml/2006/main" noGrp="1"/>
          </p:cNvSpPr>
          <p:nvPr/>
        </p:nvSpPr>
        <p:spPr>
          <a:xfrm xmlns:a="http://schemas.openxmlformats.org/drawingml/2006/main">
            <a:off x="819150" y="3676650"/>
            <a:ext cx="21526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FFFFFF"/>
                </a:solidFill>
                <a:latin typeface="Helvetica Neue"/>
                <a:ea typeface="Helvetica Neue"/>
                <a:cs typeface="Helvetica Neue"/>
              </a:defRPr>
            </a:pPr>
            <a:r>
              <a:rPr sz="1875" b="0" i="0">
                <a:solidFill>
                  <a:srgbClr val="FFFFFF"/>
                </a:solidFill>
                <a:latin typeface="Helvetica Neue"/>
                <a:ea typeface="Helvetica Neue"/>
                <a:cs typeface="Helvetica Neue"/>
              </a:rPr>
              <a:t>Runs commands or calls tools</a:t>
            </a:r>
          </a:p>
        </p:txBody>
      </p:sp>
      <p:sp>
        <p:nvSpPr>
          <p:cNvPr id="5" name="panel-216">
            <a:extLst xmlns:a="http://schemas.openxmlformats.org/drawingml/2006/main">
              <a:ext uri="{FF2B5EF4-FFF2-40B4-BE49-F238E27FC236}">
                <a16:creationId xmlns:a16="http://schemas.microsoft.com/office/drawing/2014/main" id="{55672962-DF96-490C-9D81-B9ADC73F8649}"/>
              </a:ext>
            </a:extLst>
          </p:cNvPr>
          <p:cNvSpPr>
            <a:spLocks xmlns:a="http://schemas.openxmlformats.org/drawingml/2006/main" noGrp="1"/>
          </p:cNvSpPr>
          <p:nvPr/>
        </p:nvSpPr>
        <p:spPr>
          <a:xfrm xmlns:a="http://schemas.openxmlformats.org/drawingml/2006/main">
            <a:off x="4352925" y="1762125"/>
            <a:ext cx="2781300" cy="16002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217">
            <a:extLst xmlns:a="http://schemas.openxmlformats.org/drawingml/2006/main">
              <a:ext uri="{FF2B5EF4-FFF2-40B4-BE49-F238E27FC236}">
                <a16:creationId xmlns:a16="http://schemas.microsoft.com/office/drawing/2014/main" id="{05A01C97-615F-4908-A7C7-722D3AE2C1AF}"/>
              </a:ext>
            </a:extLst>
          </p:cNvPr>
          <p:cNvSpPr>
            <a:spLocks xmlns:a="http://schemas.openxmlformats.org/drawingml/2006/main" noGrp="1"/>
          </p:cNvSpPr>
          <p:nvPr/>
        </p:nvSpPr>
        <p:spPr>
          <a:xfrm xmlns:a="http://schemas.openxmlformats.org/drawingml/2006/main">
            <a:off x="4562475" y="1981200"/>
            <a:ext cx="2362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i="0">
                <a:solidFill>
                  <a:srgbClr val="1C1C1C"/>
                </a:solidFill>
                <a:latin typeface="Avenir Next"/>
                <a:ea typeface="Avenir Next"/>
                <a:cs typeface="Avenir Next"/>
              </a:defRPr>
            </a:pPr>
            <a:r>
              <a:rPr sz="2475" b="1" i="0">
                <a:solidFill>
                  <a:srgbClr val="1C1C1C"/>
                </a:solidFill>
                <a:latin typeface="Avenir Next"/>
                <a:ea typeface="Avenir Next"/>
                <a:cs typeface="Avenir Next"/>
              </a:rPr>
              <a:t>CLI</a:t>
            </a:r>
          </a:p>
        </p:txBody>
      </p:sp>
      <p:sp>
        <p:nvSpPr>
          <p:cNvPr id="7" name="text-218">
            <a:extLst xmlns:a="http://schemas.openxmlformats.org/drawingml/2006/main">
              <a:ext uri="{FF2B5EF4-FFF2-40B4-BE49-F238E27FC236}">
                <a16:creationId xmlns:a16="http://schemas.microsoft.com/office/drawing/2014/main" id="{A3F1C324-3A67-4969-AEF3-30A3BE0B40D0}"/>
              </a:ext>
            </a:extLst>
          </p:cNvPr>
          <p:cNvSpPr>
            <a:spLocks xmlns:a="http://schemas.openxmlformats.org/drawingml/2006/main" noGrp="1"/>
          </p:cNvSpPr>
          <p:nvPr/>
        </p:nvSpPr>
        <p:spPr>
          <a:xfrm xmlns:a="http://schemas.openxmlformats.org/drawingml/2006/main">
            <a:off x="4562475" y="2628900"/>
            <a:ext cx="2362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Text commands</a:t>
            </a:r>
          </a:p>
        </p:txBody>
      </p:sp>
      <p:sp>
        <p:nvSpPr>
          <p:cNvPr id="8" name="panel-219">
            <a:extLst xmlns:a="http://schemas.openxmlformats.org/drawingml/2006/main">
              <a:ext uri="{FF2B5EF4-FFF2-40B4-BE49-F238E27FC236}">
                <a16:creationId xmlns:a16="http://schemas.microsoft.com/office/drawing/2014/main" id="{323199F1-1DF7-4C1C-9D49-12D8226E1763}"/>
              </a:ext>
            </a:extLst>
          </p:cNvPr>
          <p:cNvSpPr>
            <a:spLocks xmlns:a="http://schemas.openxmlformats.org/drawingml/2006/main" noGrp="1"/>
          </p:cNvSpPr>
          <p:nvPr/>
        </p:nvSpPr>
        <p:spPr>
          <a:xfrm xmlns:a="http://schemas.openxmlformats.org/drawingml/2006/main">
            <a:off x="4352925" y="3905250"/>
            <a:ext cx="2781300" cy="16002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9" name="text-220">
            <a:extLst xmlns:a="http://schemas.openxmlformats.org/drawingml/2006/main">
              <a:ext uri="{FF2B5EF4-FFF2-40B4-BE49-F238E27FC236}">
                <a16:creationId xmlns:a16="http://schemas.microsoft.com/office/drawing/2014/main" id="{12405076-ED26-4624-81D6-A0A0CE741B38}"/>
              </a:ext>
            </a:extLst>
          </p:cNvPr>
          <p:cNvSpPr>
            <a:spLocks xmlns:a="http://schemas.openxmlformats.org/drawingml/2006/main" noGrp="1"/>
          </p:cNvSpPr>
          <p:nvPr/>
        </p:nvSpPr>
        <p:spPr>
          <a:xfrm xmlns:a="http://schemas.openxmlformats.org/drawingml/2006/main">
            <a:off x="4562475" y="4124325"/>
            <a:ext cx="2362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i="0">
                <a:solidFill>
                  <a:srgbClr val="1C1C1C"/>
                </a:solidFill>
                <a:latin typeface="Avenir Next"/>
                <a:ea typeface="Avenir Next"/>
                <a:cs typeface="Avenir Next"/>
              </a:defRPr>
            </a:pPr>
            <a:r>
              <a:rPr sz="2475" b="1" i="0">
                <a:solidFill>
                  <a:srgbClr val="1C1C1C"/>
                </a:solidFill>
                <a:latin typeface="Avenir Next"/>
                <a:ea typeface="Avenir Next"/>
                <a:cs typeface="Avenir Next"/>
              </a:rPr>
              <a:t>MCP server</a:t>
            </a:r>
          </a:p>
        </p:txBody>
      </p:sp>
      <p:sp>
        <p:nvSpPr>
          <p:cNvPr id="10" name="text-221">
            <a:extLst xmlns:a="http://schemas.openxmlformats.org/drawingml/2006/main">
              <a:ext uri="{FF2B5EF4-FFF2-40B4-BE49-F238E27FC236}">
                <a16:creationId xmlns:a16="http://schemas.microsoft.com/office/drawing/2014/main" id="{C42DB501-8D9B-4063-8713-6F83135C6F9C}"/>
              </a:ext>
            </a:extLst>
          </p:cNvPr>
          <p:cNvSpPr>
            <a:spLocks xmlns:a="http://schemas.openxmlformats.org/drawingml/2006/main" noGrp="1"/>
          </p:cNvSpPr>
          <p:nvPr/>
        </p:nvSpPr>
        <p:spPr>
          <a:xfrm xmlns:a="http://schemas.openxmlformats.org/drawingml/2006/main">
            <a:off x="4562475" y="4772025"/>
            <a:ext cx="2362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Discoverable tools</a:t>
            </a:r>
          </a:p>
        </p:txBody>
      </p:sp>
      <p:sp>
        <p:nvSpPr>
          <p:cNvPr id="11" name="panel-222">
            <a:extLst xmlns:a="http://schemas.openxmlformats.org/drawingml/2006/main">
              <a:ext uri="{FF2B5EF4-FFF2-40B4-BE49-F238E27FC236}">
                <a16:creationId xmlns:a16="http://schemas.microsoft.com/office/drawing/2014/main" id="{A14306F6-3780-42BC-9065-A1FA72D8BB39}"/>
              </a:ext>
            </a:extLst>
          </p:cNvPr>
          <p:cNvSpPr>
            <a:spLocks xmlns:a="http://schemas.openxmlformats.org/drawingml/2006/main" noGrp="1"/>
          </p:cNvSpPr>
          <p:nvPr/>
        </p:nvSpPr>
        <p:spPr>
          <a:xfrm xmlns:a="http://schemas.openxmlformats.org/drawingml/2006/main">
            <a:off x="8667750" y="2809875"/>
            <a:ext cx="2914650" cy="18669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12" name="text-223">
            <a:extLst xmlns:a="http://schemas.openxmlformats.org/drawingml/2006/main">
              <a:ext uri="{FF2B5EF4-FFF2-40B4-BE49-F238E27FC236}">
                <a16:creationId xmlns:a16="http://schemas.microsoft.com/office/drawing/2014/main" id="{88E4499E-99BC-4E0E-8007-9EAF9893BABA}"/>
              </a:ext>
            </a:extLst>
          </p:cNvPr>
          <p:cNvSpPr>
            <a:spLocks xmlns:a="http://schemas.openxmlformats.org/drawingml/2006/main" noGrp="1"/>
          </p:cNvSpPr>
          <p:nvPr/>
        </p:nvSpPr>
        <p:spPr>
          <a:xfrm xmlns:a="http://schemas.openxmlformats.org/drawingml/2006/main">
            <a:off x="8877300" y="3028950"/>
            <a:ext cx="2495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i="0">
                <a:solidFill>
                  <a:srgbClr val="1C1C1C"/>
                </a:solidFill>
                <a:latin typeface="Avenir Next"/>
                <a:ea typeface="Avenir Next"/>
                <a:cs typeface="Avenir Next"/>
              </a:defRPr>
            </a:pPr>
            <a:r>
              <a:rPr sz="2475" b="1" i="0">
                <a:solidFill>
                  <a:srgbClr val="1C1C1C"/>
                </a:solidFill>
                <a:latin typeface="Avenir Next"/>
                <a:ea typeface="Avenir Next"/>
                <a:cs typeface="Avenir Next"/>
              </a:rPr>
              <a:t>Service API</a:t>
            </a:r>
          </a:p>
        </p:txBody>
      </p:sp>
      <p:sp>
        <p:nvSpPr>
          <p:cNvPr id="13" name="text-224">
            <a:extLst xmlns:a="http://schemas.openxmlformats.org/drawingml/2006/main">
              <a:ext uri="{FF2B5EF4-FFF2-40B4-BE49-F238E27FC236}">
                <a16:creationId xmlns:a16="http://schemas.microsoft.com/office/drawing/2014/main" id="{02C63258-E589-4675-AEEA-85E40E28E99E}"/>
              </a:ext>
            </a:extLst>
          </p:cNvPr>
          <p:cNvSpPr>
            <a:spLocks xmlns:a="http://schemas.openxmlformats.org/drawingml/2006/main" noGrp="1"/>
          </p:cNvSpPr>
          <p:nvPr/>
        </p:nvSpPr>
        <p:spPr>
          <a:xfrm xmlns:a="http://schemas.openxmlformats.org/drawingml/2006/main">
            <a:off x="8877300" y="3676650"/>
            <a:ext cx="2495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Data and actions</a:t>
            </a:r>
          </a:p>
        </p:txBody>
      </p:sp>
      <p:cxnSp>
        <p:nvCxnSpPr>
          <p:cNvPr id="33" name=""/>
          <p:cNvCxnSpPr>
            <a:stCxn xmlns:a="http://schemas.openxmlformats.org/drawingml/2006/main" id="2" idx="3"/>
            <a:endCxn xmlns:a="http://schemas.openxmlformats.org/drawingml/2006/main" id="5" idx="1"/>
          </p:cNvCxnSpPr>
          <p:nvPr/>
        </p:nvCxnSpPr>
        <p:spPr>
          <a:xfrm xmlns:a="http://schemas.openxmlformats.org/drawingml/2006/main" flipV="1">
            <a:off x="3181350" y="2562225"/>
            <a:ext cx="1171575" cy="1181100"/>
          </a:xfrm>
          <a:prstGeom xmlns:a="http://schemas.openxmlformats.org/drawingml/2006/main" prst="bentConnector3">
            <a:avLst>
              <a:gd name="adj1" fmla="val 50000"/>
            </a:avLst>
          </a:prstGeom>
          <a:ln xmlns:a="http://schemas.openxmlformats.org/drawingml/2006/main" w="23813">
            <a:solidFill>
              <a:srgbClr val="D1372D"/>
            </a:solidFill>
            <a:tailEnd type="triangle" w="med" len="med"/>
          </a:ln>
        </p:spPr>
      </p:cxnSp>
      <p:cxnSp>
        <p:nvCxnSpPr>
          <p:cNvPr id="34" name=""/>
          <p:cNvCxnSpPr>
            <a:stCxn xmlns:a="http://schemas.openxmlformats.org/drawingml/2006/main" id="2" idx="3"/>
            <a:endCxn xmlns:a="http://schemas.openxmlformats.org/drawingml/2006/main" id="8" idx="1"/>
          </p:cNvCxnSpPr>
          <p:nvPr/>
        </p:nvCxnSpPr>
        <p:spPr>
          <a:xfrm xmlns:a="http://schemas.openxmlformats.org/drawingml/2006/main">
            <a:off x="3181350" y="3743325"/>
            <a:ext cx="1171575" cy="962025"/>
          </a:xfrm>
          <a:prstGeom xmlns:a="http://schemas.openxmlformats.org/drawingml/2006/main" prst="bentConnector3">
            <a:avLst>
              <a:gd name="adj1" fmla="val 50000"/>
            </a:avLst>
          </a:prstGeom>
          <a:ln xmlns:a="http://schemas.openxmlformats.org/drawingml/2006/main" w="23813">
            <a:solidFill>
              <a:srgbClr val="D1372D"/>
            </a:solidFill>
            <a:tailEnd type="triangle" w="med" len="med"/>
          </a:ln>
        </p:spPr>
      </p:cxnSp>
      <p:cxnSp>
        <p:nvCxnSpPr>
          <p:cNvPr id="35" name=""/>
          <p:cNvCxnSpPr>
            <a:stCxn xmlns:a="http://schemas.openxmlformats.org/drawingml/2006/main" id="5" idx="3"/>
            <a:endCxn xmlns:a="http://schemas.openxmlformats.org/drawingml/2006/main" id="11" idx="1"/>
          </p:cNvCxnSpPr>
          <p:nvPr/>
        </p:nvCxnSpPr>
        <p:spPr>
          <a:xfrm xmlns:a="http://schemas.openxmlformats.org/drawingml/2006/main">
            <a:off x="7134225" y="2562225"/>
            <a:ext cx="1533525" cy="1181100"/>
          </a:xfrm>
          <a:prstGeom xmlns:a="http://schemas.openxmlformats.org/drawingml/2006/main" prst="bentConnector3">
            <a:avLst>
              <a:gd name="adj1" fmla="val 50000"/>
            </a:avLst>
          </a:prstGeom>
          <a:ln xmlns:a="http://schemas.openxmlformats.org/drawingml/2006/main" w="23813">
            <a:solidFill>
              <a:srgbClr val="D1372D"/>
            </a:solidFill>
            <a:tailEnd type="triangle" w="med" len="med"/>
          </a:ln>
        </p:spPr>
      </p:cxnSp>
      <p:cxnSp>
        <p:nvCxnSpPr>
          <p:cNvPr id="36" name=""/>
          <p:cNvCxnSpPr>
            <a:stCxn xmlns:a="http://schemas.openxmlformats.org/drawingml/2006/main" id="8" idx="3"/>
            <a:endCxn xmlns:a="http://schemas.openxmlformats.org/drawingml/2006/main" id="11" idx="1"/>
          </p:cNvCxnSpPr>
          <p:nvPr/>
        </p:nvCxnSpPr>
        <p:spPr>
          <a:xfrm xmlns:a="http://schemas.openxmlformats.org/drawingml/2006/main" flipV="1">
            <a:off x="7134225" y="3743325"/>
            <a:ext cx="1533525" cy="962025"/>
          </a:xfrm>
          <a:prstGeom xmlns:a="http://schemas.openxmlformats.org/drawingml/2006/main" prst="bentConnector3">
            <a:avLst>
              <a:gd name="adj1" fmla="val 50000"/>
            </a:avLst>
          </a:prstGeom>
          <a:ln xmlns:a="http://schemas.openxmlformats.org/drawingml/2006/main" w="23813">
            <a:solidFill>
              <a:srgbClr val="D1372D"/>
            </a:solidFill>
            <a:tailEnd type="triangle" w="med" len="med"/>
          </a:ln>
        </p:spPr>
      </p:cxnSp>
      <p:sp>
        <p:nvSpPr>
          <p:cNvPr id="18" name="text-225">
            <a:extLst xmlns:a="http://schemas.openxmlformats.org/drawingml/2006/main">
              <a:ext uri="{FF2B5EF4-FFF2-40B4-BE49-F238E27FC236}">
                <a16:creationId xmlns:a16="http://schemas.microsoft.com/office/drawing/2014/main" id="{AD021856-8433-4A6A-9C00-80EA1A980B5C}"/>
              </a:ext>
            </a:extLst>
          </p:cNvPr>
          <p:cNvSpPr>
            <a:spLocks xmlns:a="http://schemas.openxmlformats.org/drawingml/2006/main" noGrp="1"/>
          </p:cNvSpPr>
          <p:nvPr/>
        </p:nvSpPr>
        <p:spPr>
          <a:xfrm xmlns:a="http://schemas.openxmlformats.org/drawingml/2006/main">
            <a:off x="609600" y="599122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MCP can also wrap a CLI. Some tools use local files or a database.</a:t>
            </a:r>
          </a:p>
        </p:txBody>
      </p:sp>
      <p:sp>
        <p:nvSpPr>
          <p:cNvPr id="19" name="text-226">
            <a:extLst xmlns:a="http://schemas.openxmlformats.org/drawingml/2006/main">
              <a:ext uri="{FF2B5EF4-FFF2-40B4-BE49-F238E27FC236}">
                <a16:creationId xmlns:a16="http://schemas.microsoft.com/office/drawing/2014/main" id="{D7F36B70-30E5-44FF-A071-A862C70F955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23</a:t>
            </a:r>
          </a:p>
        </p:txBody>
      </p:sp>
    </p:spTree>
    <p:extLst>
      <p:ext uri="{BB962C8B-B14F-4D97-AF65-F5344CB8AC3E}">
        <p14:creationId xmlns:p14="http://schemas.microsoft.com/office/powerpoint/2010/main" val="2067676284"/>
      </p:ext>
    </p:extLst>
  </p:cSld>
</p:sld>
</file>

<file path=ppt/slides/slide2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8" name="text-227">
            <a:extLst xmlns:a="http://schemas.openxmlformats.org/drawingml/2006/main">
              <a:ext uri="{FF2B5EF4-FFF2-40B4-BE49-F238E27FC236}">
                <a16:creationId xmlns:a16="http://schemas.microsoft.com/office/drawing/2014/main" id="{15F5EB19-C33A-4F5F-A0EA-B17F9717467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One request through ClientDesk</a:t>
            </a:r>
          </a:p>
        </p:txBody>
      </p:sp>
      <p:sp>
        <p:nvSpPr>
          <p:cNvPr id="2" name="text-228">
            <a:extLst xmlns:a="http://schemas.openxmlformats.org/drawingml/2006/main">
              <a:ext uri="{FF2B5EF4-FFF2-40B4-BE49-F238E27FC236}">
                <a16:creationId xmlns:a16="http://schemas.microsoft.com/office/drawing/2014/main" id="{D69E532E-18C5-46DB-8153-366D613E821A}"/>
              </a:ext>
            </a:extLst>
          </p:cNvPr>
          <p:cNvSpPr>
            <a:spLocks xmlns:a="http://schemas.openxmlformats.org/drawingml/2006/main" noGrp="1"/>
          </p:cNvSpPr>
          <p:nvPr/>
        </p:nvSpPr>
        <p:spPr>
          <a:xfrm xmlns:a="http://schemas.openxmlformats.org/drawingml/2006/main">
            <a:off x="609600" y="1695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Find Northstar’s latest meeting. Cite the source ID and tell me what is still undecided.</a:t>
            </a:r>
          </a:p>
        </p:txBody>
      </p:sp>
      <p:sp>
        <p:nvSpPr>
          <p:cNvPr id="3" name="panel-229">
            <a:extLst xmlns:a="http://schemas.openxmlformats.org/drawingml/2006/main">
              <a:ext uri="{FF2B5EF4-FFF2-40B4-BE49-F238E27FC236}">
                <a16:creationId xmlns:a16="http://schemas.microsoft.com/office/drawing/2014/main" id="{F0A25912-3BF3-43E3-9A89-BE8421E09E70}"/>
              </a:ext>
            </a:extLst>
          </p:cNvPr>
          <p:cNvSpPr>
            <a:spLocks xmlns:a="http://schemas.openxmlformats.org/drawingml/2006/main" noGrp="1"/>
          </p:cNvSpPr>
          <p:nvPr/>
        </p:nvSpPr>
        <p:spPr>
          <a:xfrm xmlns:a="http://schemas.openxmlformats.org/drawingml/2006/main">
            <a:off x="609600" y="29337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230">
            <a:extLst xmlns:a="http://schemas.openxmlformats.org/drawingml/2006/main">
              <a:ext uri="{FF2B5EF4-FFF2-40B4-BE49-F238E27FC236}">
                <a16:creationId xmlns:a16="http://schemas.microsoft.com/office/drawing/2014/main" id="{E0C6B515-4619-4D98-ACCA-1FB4872591DA}"/>
              </a:ext>
            </a:extLst>
          </p:cNvPr>
          <p:cNvSpPr>
            <a:spLocks xmlns:a="http://schemas.openxmlformats.org/drawingml/2006/main" noGrp="1"/>
          </p:cNvSpPr>
          <p:nvPr/>
        </p:nvSpPr>
        <p:spPr>
          <a:xfrm xmlns:a="http://schemas.openxmlformats.org/drawingml/2006/main">
            <a:off x="609600" y="31718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Claude</a:t>
            </a:r>
          </a:p>
        </p:txBody>
      </p:sp>
      <p:sp>
        <p:nvSpPr>
          <p:cNvPr id="5" name="text-231">
            <a:extLst xmlns:a="http://schemas.openxmlformats.org/drawingml/2006/main">
              <a:ext uri="{FF2B5EF4-FFF2-40B4-BE49-F238E27FC236}">
                <a16:creationId xmlns:a16="http://schemas.microsoft.com/office/drawing/2014/main" id="{168FE0E1-72AF-4E0D-80CF-8821C023F7A9}"/>
              </a:ext>
            </a:extLst>
          </p:cNvPr>
          <p:cNvSpPr>
            <a:spLocks xmlns:a="http://schemas.openxmlformats.org/drawingml/2006/main" noGrp="1"/>
          </p:cNvSpPr>
          <p:nvPr/>
        </p:nvSpPr>
        <p:spPr>
          <a:xfrm xmlns:a="http://schemas.openxmlformats.org/drawingml/2006/main">
            <a:off x="609600" y="3933825"/>
            <a:ext cx="2381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Chooses the tool</a:t>
            </a:r>
          </a:p>
        </p:txBody>
      </p:sp>
      <p:sp>
        <p:nvSpPr>
          <p:cNvPr id="6" name="panel-232">
            <a:extLst xmlns:a="http://schemas.openxmlformats.org/drawingml/2006/main">
              <a:ext uri="{FF2B5EF4-FFF2-40B4-BE49-F238E27FC236}">
                <a16:creationId xmlns:a16="http://schemas.microsoft.com/office/drawing/2014/main" id="{0EE567CF-A4D2-49E8-B36C-5C06F6BB2A1E}"/>
              </a:ext>
            </a:extLst>
          </p:cNvPr>
          <p:cNvSpPr>
            <a:spLocks xmlns:a="http://schemas.openxmlformats.org/drawingml/2006/main" noGrp="1"/>
          </p:cNvSpPr>
          <p:nvPr/>
        </p:nvSpPr>
        <p:spPr>
          <a:xfrm xmlns:a="http://schemas.openxmlformats.org/drawingml/2006/main">
            <a:off x="3109913" y="3424238"/>
            <a:ext cx="9525" cy="9525"/>
          </a:xfrm>
          <a:prstGeom xmlns:a="http://schemas.openxmlformats.org/drawingml/2006/main" prst="rect">
            <a:avLst/>
          </a:prstGeom>
          <a:noFill xmlns:a="http://schemas.openxmlformats.org/drawingml/2006/main"/>
          <a:ln xmlns:a="http://schemas.openxmlformats.org/drawingml/2006/main" w="0">
            <a:noFill/>
          </a:ln>
        </p:spPr>
      </p:sp>
      <p:sp>
        <p:nvSpPr>
          <p:cNvPr id="7" name="panel-233">
            <a:extLst xmlns:a="http://schemas.openxmlformats.org/drawingml/2006/main">
              <a:ext uri="{FF2B5EF4-FFF2-40B4-BE49-F238E27FC236}">
                <a16:creationId xmlns:a16="http://schemas.microsoft.com/office/drawing/2014/main" id="{D65B6BFA-3DB3-41A3-8BD3-6D312A801292}"/>
              </a:ext>
            </a:extLst>
          </p:cNvPr>
          <p:cNvSpPr>
            <a:spLocks xmlns:a="http://schemas.openxmlformats.org/drawingml/2006/main" noGrp="1"/>
          </p:cNvSpPr>
          <p:nvPr/>
        </p:nvSpPr>
        <p:spPr>
          <a:xfrm xmlns:a="http://schemas.openxmlformats.org/drawingml/2006/main">
            <a:off x="3328988" y="34242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5" name=""/>
          <p:cNvCxnSpPr>
            <a:stCxn xmlns:a="http://schemas.openxmlformats.org/drawingml/2006/main" id="6" idx="3"/>
            <a:endCxn xmlns:a="http://schemas.openxmlformats.org/drawingml/2006/main" id="7" idx="1"/>
          </p:cNvCxnSpPr>
          <p:nvPr/>
        </p:nvCxnSpPr>
        <p:spPr>
          <a:xfrm xmlns:a="http://schemas.openxmlformats.org/drawingml/2006/main">
            <a:off x="3119438" y="3429001"/>
            <a:ext cx="209550"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9" name="panel-234">
            <a:extLst xmlns:a="http://schemas.openxmlformats.org/drawingml/2006/main">
              <a:ext uri="{FF2B5EF4-FFF2-40B4-BE49-F238E27FC236}">
                <a16:creationId xmlns:a16="http://schemas.microsoft.com/office/drawing/2014/main" id="{CA23D57E-1C79-4660-8DF5-9BE31B7FE8C5}"/>
              </a:ext>
            </a:extLst>
          </p:cNvPr>
          <p:cNvSpPr>
            <a:spLocks xmlns:a="http://schemas.openxmlformats.org/drawingml/2006/main" noGrp="1"/>
          </p:cNvSpPr>
          <p:nvPr/>
        </p:nvSpPr>
        <p:spPr>
          <a:xfrm xmlns:a="http://schemas.openxmlformats.org/drawingml/2006/main">
            <a:off x="3467100" y="29337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235">
            <a:extLst xmlns:a="http://schemas.openxmlformats.org/drawingml/2006/main">
              <a:ext uri="{FF2B5EF4-FFF2-40B4-BE49-F238E27FC236}">
                <a16:creationId xmlns:a16="http://schemas.microsoft.com/office/drawing/2014/main" id="{46C35BC6-4450-4A2C-A535-7716DBF445DC}"/>
              </a:ext>
            </a:extLst>
          </p:cNvPr>
          <p:cNvSpPr>
            <a:spLocks xmlns:a="http://schemas.openxmlformats.org/drawingml/2006/main" noGrp="1"/>
          </p:cNvSpPr>
          <p:nvPr/>
        </p:nvSpPr>
        <p:spPr>
          <a:xfrm xmlns:a="http://schemas.openxmlformats.org/drawingml/2006/main">
            <a:off x="3467100" y="31718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MCP server</a:t>
            </a:r>
          </a:p>
        </p:txBody>
      </p:sp>
      <p:sp>
        <p:nvSpPr>
          <p:cNvPr id="11" name="text-236">
            <a:extLst xmlns:a="http://schemas.openxmlformats.org/drawingml/2006/main">
              <a:ext uri="{FF2B5EF4-FFF2-40B4-BE49-F238E27FC236}">
                <a16:creationId xmlns:a16="http://schemas.microsoft.com/office/drawing/2014/main" id="{C0664220-8EB4-4833-9D24-5A43451F49E5}"/>
              </a:ext>
            </a:extLst>
          </p:cNvPr>
          <p:cNvSpPr>
            <a:spLocks xmlns:a="http://schemas.openxmlformats.org/drawingml/2006/main" noGrp="1"/>
          </p:cNvSpPr>
          <p:nvPr/>
        </p:nvSpPr>
        <p:spPr>
          <a:xfrm xmlns:a="http://schemas.openxmlformats.org/drawingml/2006/main">
            <a:off x="3467100" y="3933825"/>
            <a:ext cx="2381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client_evidence</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client:</a:t>
            </a:r>
            <a:r>
              <a:rPr sz="1875" b="0" i="0">
                <a:solidFill>
                  <a:srgbClr val="1C1C1C"/>
                </a:solidFill>
                <a:latin typeface="Helvetica Neue"/>
                <a:ea typeface="Helvetica Neue"/>
                <a:cs typeface="Helvetica Neue"/>
              </a:rPr>
              <a:t> northstar</a:t>
            </a:r>
          </a:p>
        </p:txBody>
      </p:sp>
      <p:sp>
        <p:nvSpPr>
          <p:cNvPr id="12" name="panel-237">
            <a:extLst xmlns:a="http://schemas.openxmlformats.org/drawingml/2006/main">
              <a:ext uri="{FF2B5EF4-FFF2-40B4-BE49-F238E27FC236}">
                <a16:creationId xmlns:a16="http://schemas.microsoft.com/office/drawing/2014/main" id="{BB4961BE-46F0-4AB4-B4D9-BFA99622FD58}"/>
              </a:ext>
            </a:extLst>
          </p:cNvPr>
          <p:cNvSpPr>
            <a:spLocks xmlns:a="http://schemas.openxmlformats.org/drawingml/2006/main" noGrp="1"/>
          </p:cNvSpPr>
          <p:nvPr/>
        </p:nvSpPr>
        <p:spPr>
          <a:xfrm xmlns:a="http://schemas.openxmlformats.org/drawingml/2006/main">
            <a:off x="5967413" y="3424238"/>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panel-238">
            <a:extLst xmlns:a="http://schemas.openxmlformats.org/drawingml/2006/main">
              <a:ext uri="{FF2B5EF4-FFF2-40B4-BE49-F238E27FC236}">
                <a16:creationId xmlns:a16="http://schemas.microsoft.com/office/drawing/2014/main" id="{D2068B8C-F9F3-4D3E-8F34-7C3668D8F787}"/>
              </a:ext>
            </a:extLst>
          </p:cNvPr>
          <p:cNvSpPr>
            <a:spLocks xmlns:a="http://schemas.openxmlformats.org/drawingml/2006/main" noGrp="1"/>
          </p:cNvSpPr>
          <p:nvPr/>
        </p:nvSpPr>
        <p:spPr>
          <a:xfrm xmlns:a="http://schemas.openxmlformats.org/drawingml/2006/main">
            <a:off x="6186488" y="34242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1" name=""/>
          <p:cNvCxnSpPr>
            <a:stCxn xmlns:a="http://schemas.openxmlformats.org/drawingml/2006/main" id="12" idx="3"/>
            <a:endCxn xmlns:a="http://schemas.openxmlformats.org/drawingml/2006/main" id="13" idx="1"/>
          </p:cNvCxnSpPr>
          <p:nvPr/>
        </p:nvCxnSpPr>
        <p:spPr>
          <a:xfrm xmlns:a="http://schemas.openxmlformats.org/drawingml/2006/main">
            <a:off x="5976938" y="3429001"/>
            <a:ext cx="209550"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5" name="panel-239">
            <a:extLst xmlns:a="http://schemas.openxmlformats.org/drawingml/2006/main">
              <a:ext uri="{FF2B5EF4-FFF2-40B4-BE49-F238E27FC236}">
                <a16:creationId xmlns:a16="http://schemas.microsoft.com/office/drawing/2014/main" id="{C78CD49D-5313-40C4-9080-BE5504BF536D}"/>
              </a:ext>
            </a:extLst>
          </p:cNvPr>
          <p:cNvSpPr>
            <a:spLocks xmlns:a="http://schemas.openxmlformats.org/drawingml/2006/main" noGrp="1"/>
          </p:cNvSpPr>
          <p:nvPr/>
        </p:nvSpPr>
        <p:spPr>
          <a:xfrm xmlns:a="http://schemas.openxmlformats.org/drawingml/2006/main">
            <a:off x="6324600" y="29337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240">
            <a:extLst xmlns:a="http://schemas.openxmlformats.org/drawingml/2006/main">
              <a:ext uri="{FF2B5EF4-FFF2-40B4-BE49-F238E27FC236}">
                <a16:creationId xmlns:a16="http://schemas.microsoft.com/office/drawing/2014/main" id="{F91C88F0-89C1-4517-ABC4-814D74F9CC9D}"/>
              </a:ext>
            </a:extLst>
          </p:cNvPr>
          <p:cNvSpPr>
            <a:spLocks xmlns:a="http://schemas.openxmlformats.org/drawingml/2006/main" noGrp="1"/>
          </p:cNvSpPr>
          <p:nvPr/>
        </p:nvSpPr>
        <p:spPr>
          <a:xfrm xmlns:a="http://schemas.openxmlformats.org/drawingml/2006/main">
            <a:off x="6324600" y="31718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ClientDesk API</a:t>
            </a:r>
          </a:p>
        </p:txBody>
      </p:sp>
      <p:sp>
        <p:nvSpPr>
          <p:cNvPr id="17" name="text-241">
            <a:extLst xmlns:a="http://schemas.openxmlformats.org/drawingml/2006/main">
              <a:ext uri="{FF2B5EF4-FFF2-40B4-BE49-F238E27FC236}">
                <a16:creationId xmlns:a16="http://schemas.microsoft.com/office/drawing/2014/main" id="{BB96E829-0ABE-441A-B540-A34EFC131C9D}"/>
              </a:ext>
            </a:extLst>
          </p:cNvPr>
          <p:cNvSpPr>
            <a:spLocks xmlns:a="http://schemas.openxmlformats.org/drawingml/2006/main" noGrp="1"/>
          </p:cNvSpPr>
          <p:nvPr/>
        </p:nvSpPr>
        <p:spPr>
          <a:xfrm xmlns:a="http://schemas.openxmlformats.org/drawingml/2006/main">
            <a:off x="6324600" y="3933825"/>
            <a:ext cx="2381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Reads workspace</a:t>
            </a:r>
          </a:p>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records</a:t>
            </a:r>
          </a:p>
        </p:txBody>
      </p:sp>
      <p:sp>
        <p:nvSpPr>
          <p:cNvPr id="18" name="panel-242">
            <a:extLst xmlns:a="http://schemas.openxmlformats.org/drawingml/2006/main">
              <a:ext uri="{FF2B5EF4-FFF2-40B4-BE49-F238E27FC236}">
                <a16:creationId xmlns:a16="http://schemas.microsoft.com/office/drawing/2014/main" id="{A0F7662D-F97F-448C-A292-1E494600E65B}"/>
              </a:ext>
            </a:extLst>
          </p:cNvPr>
          <p:cNvSpPr>
            <a:spLocks xmlns:a="http://schemas.openxmlformats.org/drawingml/2006/main" noGrp="1"/>
          </p:cNvSpPr>
          <p:nvPr/>
        </p:nvSpPr>
        <p:spPr>
          <a:xfrm xmlns:a="http://schemas.openxmlformats.org/drawingml/2006/main">
            <a:off x="8824913" y="3424238"/>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panel-243">
            <a:extLst xmlns:a="http://schemas.openxmlformats.org/drawingml/2006/main">
              <a:ext uri="{FF2B5EF4-FFF2-40B4-BE49-F238E27FC236}">
                <a16:creationId xmlns:a16="http://schemas.microsoft.com/office/drawing/2014/main" id="{4B62C957-EC39-4890-89DA-943DF1D041A5}"/>
              </a:ext>
            </a:extLst>
          </p:cNvPr>
          <p:cNvSpPr>
            <a:spLocks xmlns:a="http://schemas.openxmlformats.org/drawingml/2006/main" noGrp="1"/>
          </p:cNvSpPr>
          <p:nvPr/>
        </p:nvSpPr>
        <p:spPr>
          <a:xfrm xmlns:a="http://schemas.openxmlformats.org/drawingml/2006/main">
            <a:off x="9043988" y="34242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7" name=""/>
          <p:cNvCxnSpPr>
            <a:stCxn xmlns:a="http://schemas.openxmlformats.org/drawingml/2006/main" id="18" idx="3"/>
            <a:endCxn xmlns:a="http://schemas.openxmlformats.org/drawingml/2006/main" id="19" idx="1"/>
          </p:cNvCxnSpPr>
          <p:nvPr/>
        </p:nvCxnSpPr>
        <p:spPr>
          <a:xfrm xmlns:a="http://schemas.openxmlformats.org/drawingml/2006/main">
            <a:off x="8834438" y="3429001"/>
            <a:ext cx="209550"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1" name="panel-244">
            <a:extLst xmlns:a="http://schemas.openxmlformats.org/drawingml/2006/main">
              <a:ext uri="{FF2B5EF4-FFF2-40B4-BE49-F238E27FC236}">
                <a16:creationId xmlns:a16="http://schemas.microsoft.com/office/drawing/2014/main" id="{2FA58B65-7DB8-4CDC-90DF-F68521B5FABF}"/>
              </a:ext>
            </a:extLst>
          </p:cNvPr>
          <p:cNvSpPr>
            <a:spLocks xmlns:a="http://schemas.openxmlformats.org/drawingml/2006/main" noGrp="1"/>
          </p:cNvSpPr>
          <p:nvPr/>
        </p:nvSpPr>
        <p:spPr>
          <a:xfrm xmlns:a="http://schemas.openxmlformats.org/drawingml/2006/main">
            <a:off x="9182100" y="29337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245">
            <a:extLst xmlns:a="http://schemas.openxmlformats.org/drawingml/2006/main">
              <a:ext uri="{FF2B5EF4-FFF2-40B4-BE49-F238E27FC236}">
                <a16:creationId xmlns:a16="http://schemas.microsoft.com/office/drawing/2014/main" id="{CD3A9142-65FB-4EE4-A40F-77BF7C83E2DC}"/>
              </a:ext>
            </a:extLst>
          </p:cNvPr>
          <p:cNvSpPr>
            <a:spLocks xmlns:a="http://schemas.openxmlformats.org/drawingml/2006/main" noGrp="1"/>
          </p:cNvSpPr>
          <p:nvPr/>
        </p:nvSpPr>
        <p:spPr>
          <a:xfrm xmlns:a="http://schemas.openxmlformats.org/drawingml/2006/main">
            <a:off x="9182100" y="31718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Source record</a:t>
            </a:r>
          </a:p>
        </p:txBody>
      </p:sp>
      <p:sp>
        <p:nvSpPr>
          <p:cNvPr id="23" name="text-246">
            <a:extLst xmlns:a="http://schemas.openxmlformats.org/drawingml/2006/main">
              <a:ext uri="{FF2B5EF4-FFF2-40B4-BE49-F238E27FC236}">
                <a16:creationId xmlns:a16="http://schemas.microsoft.com/office/drawing/2014/main" id="{F1ACC922-6150-4695-9520-19CC6BDCAA18}"/>
              </a:ext>
            </a:extLst>
          </p:cNvPr>
          <p:cNvSpPr>
            <a:spLocks xmlns:a="http://schemas.openxmlformats.org/drawingml/2006/main" noGrp="1"/>
          </p:cNvSpPr>
          <p:nvPr/>
        </p:nvSpPr>
        <p:spPr>
          <a:xfrm xmlns:a="http://schemas.openxmlformats.org/drawingml/2006/main">
            <a:off x="9182100" y="3933825"/>
            <a:ext cx="2381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Northstar meeting</a:t>
            </a:r>
          </a:p>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With its source ID</a:t>
            </a:r>
          </a:p>
        </p:txBody>
      </p:sp>
      <p:sp>
        <p:nvSpPr>
          <p:cNvPr id="24" name="panel-247">
            <a:extLst xmlns:a="http://schemas.openxmlformats.org/drawingml/2006/main">
              <a:ext uri="{FF2B5EF4-FFF2-40B4-BE49-F238E27FC236}">
                <a16:creationId xmlns:a16="http://schemas.microsoft.com/office/drawing/2014/main" id="{710E6DD3-E083-49AF-90D2-C6265008BB8E}"/>
              </a:ext>
            </a:extLst>
          </p:cNvPr>
          <p:cNvSpPr>
            <a:spLocks xmlns:a="http://schemas.openxmlformats.org/drawingml/2006/main" noGrp="1"/>
          </p:cNvSpPr>
          <p:nvPr/>
        </p:nvSpPr>
        <p:spPr>
          <a:xfrm xmlns:a="http://schemas.openxmlformats.org/drawingml/2006/main">
            <a:off x="609600" y="5276850"/>
            <a:ext cx="10972800" cy="101917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25" name="text-248">
            <a:extLst xmlns:a="http://schemas.openxmlformats.org/drawingml/2006/main">
              <a:ext uri="{FF2B5EF4-FFF2-40B4-BE49-F238E27FC236}">
                <a16:creationId xmlns:a16="http://schemas.microsoft.com/office/drawing/2014/main" id="{C605489D-466F-4504-B355-26A804580EF5}"/>
              </a:ext>
            </a:extLst>
          </p:cNvPr>
          <p:cNvSpPr>
            <a:spLocks xmlns:a="http://schemas.openxmlformats.org/drawingml/2006/main" noGrp="1"/>
          </p:cNvSpPr>
          <p:nvPr/>
        </p:nvSpPr>
        <p:spPr>
          <a:xfrm xmlns:a="http://schemas.openxmlformats.org/drawingml/2006/main">
            <a:off x="828675" y="5438775"/>
            <a:ext cx="2505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Expected answer</a:t>
            </a:r>
          </a:p>
        </p:txBody>
      </p:sp>
      <p:sp>
        <p:nvSpPr>
          <p:cNvPr id="26" name="text-249">
            <a:extLst xmlns:a="http://schemas.openxmlformats.org/drawingml/2006/main">
              <a:ext uri="{FF2B5EF4-FFF2-40B4-BE49-F238E27FC236}">
                <a16:creationId xmlns:a16="http://schemas.microsoft.com/office/drawing/2014/main" id="{B78175D5-111A-4DBC-B61F-C4E458FEA814}"/>
              </a:ext>
            </a:extLst>
          </p:cNvPr>
          <p:cNvSpPr>
            <a:spLocks xmlns:a="http://schemas.openxmlformats.org/drawingml/2006/main" noGrp="1"/>
          </p:cNvSpPr>
          <p:nvPr/>
        </p:nvSpPr>
        <p:spPr>
          <a:xfrm xmlns:a="http://schemas.openxmlformats.org/drawingml/2006/main">
            <a:off x="3486150" y="5448300"/>
            <a:ext cx="7848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Checklist requested. Owner and timing still undecided.</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demo-transcript-001</a:t>
            </a:r>
          </a:p>
        </p:txBody>
      </p:sp>
      <p:sp>
        <p:nvSpPr>
          <p:cNvPr id="27" name="text-250">
            <a:extLst xmlns:a="http://schemas.openxmlformats.org/drawingml/2006/main">
              <a:ext uri="{FF2B5EF4-FFF2-40B4-BE49-F238E27FC236}">
                <a16:creationId xmlns:a16="http://schemas.microsoft.com/office/drawing/2014/main" id="{F4BC4FD5-5A71-460D-8CF3-1E0A0B07CB8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24</a:t>
            </a:r>
          </a:p>
        </p:txBody>
      </p:sp>
    </p:spTree>
    <p:extLst>
      <p:ext uri="{BB962C8B-B14F-4D97-AF65-F5344CB8AC3E}">
        <p14:creationId xmlns:p14="http://schemas.microsoft.com/office/powerpoint/2010/main" val="1346805910"/>
      </p:ext>
    </p:extLst>
  </p:cSld>
</p:sld>
</file>

<file path=ppt/slides/slide2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251">
            <a:extLst xmlns:a="http://schemas.openxmlformats.org/drawingml/2006/main">
              <a:ext uri="{FF2B5EF4-FFF2-40B4-BE49-F238E27FC236}">
                <a16:creationId xmlns:a16="http://schemas.microsoft.com/office/drawing/2014/main" id="{FDEA5B14-9A62-4D86-97E4-CF235A48A74F}"/>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tools have a job before setup</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623207">
                <a:tc>
                  <a:txBody>
                    <a:bodyPr>
                      <a:noAutofit/>
                    </a:bodyPr>
                    <a:lstStyle/>
                    <a:p>
                      <a:r>
                        <a:rPr sz="1650" b="1" i="0">
                          <a:solidFill>
                            <a:srgbClr val="FFFFFF"/>
                          </a:solidFill>
                          <a:latin typeface="Helvetica Neue"/>
                          <a:ea typeface="Helvetica Neue"/>
                          <a:cs typeface="Helvetica Neue"/>
                        </a:rPr>
                        <a:t>Tool</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650" b="1" i="0">
                          <a:solidFill>
                            <a:srgbClr val="FFFFFF"/>
                          </a:solidFill>
                          <a:latin typeface="Helvetica Neue"/>
                          <a:ea typeface="Helvetica Neue"/>
                          <a:cs typeface="Helvetica Neue"/>
                        </a:rPr>
                        <a:t>Job</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650" b="1" i="0">
                          <a:solidFill>
                            <a:srgbClr val="FFFFFF"/>
                          </a:solidFill>
                          <a:latin typeface="Helvetica Neue"/>
                          <a:ea typeface="Helvetica Neue"/>
                          <a:cs typeface="Helvetica Neue"/>
                        </a:rPr>
                        <a:t>First proof</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623207">
                <a:tc>
                  <a:txBody>
                    <a:bodyPr>
                      <a:noAutofit/>
                    </a:bodyPr>
                    <a:lstStyle/>
                    <a:p>
                      <a:r>
                        <a:rPr sz="1650" b="1" i="0">
                          <a:solidFill>
                            <a:srgbClr val="1C1C1C"/>
                          </a:solidFill>
                          <a:latin typeface="Helvetica Neue"/>
                          <a:ea typeface="Helvetica Neue"/>
                          <a:cs typeface="Helvetica Neue"/>
                        </a:rPr>
                        <a:t>GitHub</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Code and shared instructions</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A clean commit</a:t>
                      </a:r>
                    </a:p>
                  </a:txBody>
                  <a:tcPr marL="171450" marR="171450" marT="114300" marB="114300" anchor="ctr">
                    <a:lnR w="19050">
                      <a:solidFill>
                        <a:srgbClr val="F8F5F0"/>
                      </a:solidFill>
                    </a:lnR>
                    <a:lnB w="19050">
                      <a:solidFill>
                        <a:srgbClr val="F8F5F0"/>
                      </a:solidFill>
                    </a:lnB>
                    <a:solidFill>
                      <a:srgbClr val="EEEAE3"/>
                    </a:solidFill>
                  </a:tcPr>
                </a:tc>
              </a:tr>
              <a:tr h="623207">
                <a:tc>
                  <a:txBody>
                    <a:bodyPr>
                      <a:noAutofit/>
                    </a:bodyPr>
                    <a:lstStyle/>
                    <a:p>
                      <a:r>
                        <a:rPr sz="1650" b="1" i="0">
                          <a:solidFill>
                            <a:srgbClr val="1C1C1C"/>
                          </a:solidFill>
                          <a:latin typeface="Helvetica Neue"/>
                          <a:ea typeface="Helvetica Neue"/>
                          <a:cs typeface="Helvetica Neue"/>
                        </a:rPr>
                        <a:t>Supabase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Database and user access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One owner can read one record</a:t>
                      </a:r>
                    </a:p>
                  </a:txBody>
                  <a:tcPr marL="171450" marR="171450" marT="114300" marB="114300" anchor="ctr">
                    <a:lnR w="19050">
                      <a:solidFill>
                        <a:srgbClr val="F8F5F0"/>
                      </a:solidFill>
                    </a:lnR>
                    <a:lnB w="19050">
                      <a:solidFill>
                        <a:srgbClr val="F8F5F0"/>
                      </a:solidFill>
                    </a:lnB>
                    <a:solidFill>
                      <a:srgbClr val="F8F5F0"/>
                    </a:solidFill>
                  </a:tcPr>
                </a:tc>
              </a:tr>
              <a:tr h="623207">
                <a:tc>
                  <a:txBody>
                    <a:bodyPr>
                      <a:noAutofit/>
                    </a:bodyPr>
                    <a:lstStyle/>
                    <a:p>
                      <a:r>
                        <a:rPr sz="1650" b="1" i="0">
                          <a:solidFill>
                            <a:srgbClr val="1C1C1C"/>
                          </a:solidFill>
                          <a:latin typeface="Helvetica Neue"/>
                          <a:ea typeface="Helvetica Neue"/>
                          <a:cs typeface="Helvetica Neue"/>
                        </a:rPr>
                        <a:t>Fireflies</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Meeting evidence</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One transcript ID</a:t>
                      </a:r>
                    </a:p>
                  </a:txBody>
                  <a:tcPr marL="171450" marR="171450" marT="114300" marB="114300" anchor="ctr">
                    <a:lnR w="19050">
                      <a:solidFill>
                        <a:srgbClr val="F8F5F0"/>
                      </a:solidFill>
                    </a:lnR>
                    <a:lnB w="19050">
                      <a:solidFill>
                        <a:srgbClr val="F8F5F0"/>
                      </a:solidFill>
                    </a:lnB>
                    <a:solidFill>
                      <a:srgbClr val="EEEAE3"/>
                    </a:solidFill>
                  </a:tcPr>
                </a:tc>
              </a:tr>
              <a:tr h="623207">
                <a:tc>
                  <a:txBody>
                    <a:bodyPr>
                      <a:noAutofit/>
                    </a:bodyPr>
                    <a:lstStyle/>
                    <a:p>
                      <a:r>
                        <a:rPr sz="1650" b="1" i="0">
                          <a:solidFill>
                            <a:srgbClr val="1C1C1C"/>
                          </a:solidFill>
                          <a:latin typeface="Helvetica Neue"/>
                          <a:ea typeface="Helvetica Neue"/>
                          <a:cs typeface="Helvetica Neue"/>
                        </a:rPr>
                        <a:t>Calendly</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Upcoming calls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One scheduled event</a:t>
                      </a:r>
                    </a:p>
                  </a:txBody>
                  <a:tcPr marL="171450" marR="171450" marT="114300" marB="114300" anchor="ctr">
                    <a:lnR w="19050">
                      <a:solidFill>
                        <a:srgbClr val="F8F5F0"/>
                      </a:solidFill>
                    </a:lnR>
                    <a:lnB w="19050">
                      <a:solidFill>
                        <a:srgbClr val="F8F5F0"/>
                      </a:solidFill>
                    </a:lnB>
                    <a:solidFill>
                      <a:srgbClr val="F8F5F0"/>
                    </a:solidFill>
                  </a:tcPr>
                </a:tc>
              </a:tr>
              <a:tr h="623207">
                <a:tc>
                  <a:txBody>
                    <a:bodyPr>
                      <a:noAutofit/>
                    </a:bodyPr>
                    <a:lstStyle/>
                    <a:p>
                      <a:r>
                        <a:rPr sz="1650" b="1" i="0">
                          <a:solidFill>
                            <a:srgbClr val="1C1C1C"/>
                          </a:solidFill>
                          <a:latin typeface="Helvetica Neue"/>
                          <a:ea typeface="Helvetica Neue"/>
                          <a:cs typeface="Helvetica Neue"/>
                        </a:rPr>
                        <a:t>Vercel</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Hosted app</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A known URL and code version</a:t>
                      </a:r>
                    </a:p>
                  </a:txBody>
                  <a:tcPr marL="171450" marR="171450" marT="114300" marB="114300" anchor="ctr">
                    <a:lnR w="19050">
                      <a:solidFill>
                        <a:srgbClr val="F8F5F0"/>
                      </a:solidFill>
                    </a:lnR>
                    <a:lnB w="19050">
                      <a:solidFill>
                        <a:srgbClr val="F8F5F0"/>
                      </a:solidFill>
                    </a:lnB>
                    <a:solidFill>
                      <a:srgbClr val="EEEAE3"/>
                    </a:solidFill>
                  </a:tcPr>
                </a:tc>
              </a:tr>
              <a:tr h="623207">
                <a:tc>
                  <a:txBody>
                    <a:bodyPr>
                      <a:noAutofit/>
                    </a:bodyPr>
                    <a:lstStyle/>
                    <a:p>
                      <a:r>
                        <a:rPr sz="1650" b="1" i="0">
                          <a:solidFill>
                            <a:srgbClr val="1C1C1C"/>
                          </a:solidFill>
                          <a:latin typeface="Helvetica Neue"/>
                          <a:ea typeface="Helvetica Neue"/>
                          <a:cs typeface="Helvetica Neue"/>
                        </a:rPr>
                        <a:t>Railway</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Runs the Claude worker</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A real sourced answer</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252">
            <a:extLst xmlns:a="http://schemas.openxmlformats.org/drawingml/2006/main">
              <a:ext uri="{FF2B5EF4-FFF2-40B4-BE49-F238E27FC236}">
                <a16:creationId xmlns:a16="http://schemas.microsoft.com/office/drawing/2014/main" id="{D3045A9B-68E1-4086-A583-C2743449248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25</a:t>
            </a:r>
          </a:p>
        </p:txBody>
      </p:sp>
    </p:spTree>
    <p:extLst>
      <p:ext uri="{BB962C8B-B14F-4D97-AF65-F5344CB8AC3E}">
        <p14:creationId xmlns:p14="http://schemas.microsoft.com/office/powerpoint/2010/main" val="616613151"/>
      </p:ext>
    </p:extLst>
  </p:cSld>
</p:sld>
</file>

<file path=ppt/slides/slide2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253">
            <a:extLst xmlns:a="http://schemas.openxmlformats.org/drawingml/2006/main">
              <a:ext uri="{FF2B5EF4-FFF2-40B4-BE49-F238E27FC236}">
                <a16:creationId xmlns:a16="http://schemas.microsoft.com/office/drawing/2014/main" id="{F3974988-D5AB-4988-A1C9-7EF6DE1B5F3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Ready before the first build</a:t>
            </a:r>
          </a:p>
        </p:txBody>
      </p:sp>
      <p:sp>
        <p:nvSpPr>
          <p:cNvPr id="2" name="text-254">
            <a:extLst xmlns:a="http://schemas.openxmlformats.org/drawingml/2006/main">
              <a:ext uri="{FF2B5EF4-FFF2-40B4-BE49-F238E27FC236}">
                <a16:creationId xmlns:a16="http://schemas.microsoft.com/office/drawing/2014/main" id="{6E642B02-9A6E-46E8-9527-A4E0D7A0E83A}"/>
              </a:ext>
            </a:extLst>
          </p:cNvPr>
          <p:cNvSpPr>
            <a:spLocks xmlns:a="http://schemas.openxmlformats.org/drawingml/2006/main" noGrp="1"/>
          </p:cNvSpPr>
          <p:nvPr/>
        </p:nvSpPr>
        <p:spPr>
          <a:xfrm xmlns:a="http://schemas.openxmlformats.org/drawingml/2006/main">
            <a:off x="609600" y="19335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3" name="text-255">
            <a:extLst xmlns:a="http://schemas.openxmlformats.org/drawingml/2006/main">
              <a:ext uri="{FF2B5EF4-FFF2-40B4-BE49-F238E27FC236}">
                <a16:creationId xmlns:a16="http://schemas.microsoft.com/office/drawing/2014/main" id="{284A196A-76BC-4F0A-A93D-605164E9FEF4}"/>
              </a:ext>
            </a:extLst>
          </p:cNvPr>
          <p:cNvSpPr>
            <a:spLocks xmlns:a="http://schemas.openxmlformats.org/drawingml/2006/main" noGrp="1"/>
          </p:cNvSpPr>
          <p:nvPr/>
        </p:nvSpPr>
        <p:spPr>
          <a:xfrm xmlns:a="http://schemas.openxmlformats.org/drawingml/2006/main">
            <a:off x="1514475" y="193357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Open the supplied Walkthrough Assets folder</a:t>
            </a:r>
          </a:p>
        </p:txBody>
      </p:sp>
      <p:sp>
        <p:nvSpPr>
          <p:cNvPr id="4" name="text-256">
            <a:extLst xmlns:a="http://schemas.openxmlformats.org/drawingml/2006/main">
              <a:ext uri="{FF2B5EF4-FFF2-40B4-BE49-F238E27FC236}">
                <a16:creationId xmlns:a16="http://schemas.microsoft.com/office/drawing/2014/main" id="{C1C9AB55-E907-455F-B5A8-289D77E40261}"/>
              </a:ext>
            </a:extLst>
          </p:cNvPr>
          <p:cNvSpPr>
            <a:spLocks xmlns:a="http://schemas.openxmlformats.org/drawingml/2006/main" noGrp="1"/>
          </p:cNvSpPr>
          <p:nvPr/>
        </p:nvSpPr>
        <p:spPr>
          <a:xfrm xmlns:a="http://schemas.openxmlformats.org/drawingml/2006/main">
            <a:off x="609600" y="28003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5" name="text-257">
            <a:extLst xmlns:a="http://schemas.openxmlformats.org/drawingml/2006/main">
              <a:ext uri="{FF2B5EF4-FFF2-40B4-BE49-F238E27FC236}">
                <a16:creationId xmlns:a16="http://schemas.microsoft.com/office/drawing/2014/main" id="{E7410541-0458-4A67-ABF3-BD2EC07546F7}"/>
              </a:ext>
            </a:extLst>
          </p:cNvPr>
          <p:cNvSpPr>
            <a:spLocks xmlns:a="http://schemas.openxmlformats.org/drawingml/2006/main" noGrp="1"/>
          </p:cNvSpPr>
          <p:nvPr/>
        </p:nvSpPr>
        <p:spPr>
          <a:xfrm xmlns:a="http://schemas.openxmlformats.org/drawingml/2006/main">
            <a:off x="1514475" y="2800350"/>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Use Node 24 and a signed-in Claude Code session</a:t>
            </a:r>
          </a:p>
        </p:txBody>
      </p:sp>
      <p:sp>
        <p:nvSpPr>
          <p:cNvPr id="6" name="text-258">
            <a:extLst xmlns:a="http://schemas.openxmlformats.org/drawingml/2006/main">
              <a:ext uri="{FF2B5EF4-FFF2-40B4-BE49-F238E27FC236}">
                <a16:creationId xmlns:a16="http://schemas.microsoft.com/office/drawing/2014/main" id="{83FE7FCB-0EA8-41FD-B703-CDE7C78C37ED}"/>
              </a:ext>
            </a:extLst>
          </p:cNvPr>
          <p:cNvSpPr>
            <a:spLocks xmlns:a="http://schemas.openxmlformats.org/drawingml/2006/main" noGrp="1"/>
          </p:cNvSpPr>
          <p:nvPr/>
        </p:nvSpPr>
        <p:spPr>
          <a:xfrm xmlns:a="http://schemas.openxmlformats.org/drawingml/2006/main">
            <a:off x="609600" y="36671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7" name="text-259">
            <a:extLst xmlns:a="http://schemas.openxmlformats.org/drawingml/2006/main">
              <a:ext uri="{FF2B5EF4-FFF2-40B4-BE49-F238E27FC236}">
                <a16:creationId xmlns:a16="http://schemas.microsoft.com/office/drawing/2014/main" id="{E7393ECB-654A-4C3B-A3BB-A8D9C12AA5E5}"/>
              </a:ext>
            </a:extLst>
          </p:cNvPr>
          <p:cNvSpPr>
            <a:spLocks xmlns:a="http://schemas.openxmlformats.org/drawingml/2006/main" noGrp="1"/>
          </p:cNvSpPr>
          <p:nvPr/>
        </p:nvSpPr>
        <p:spPr>
          <a:xfrm xmlns:a="http://schemas.openxmlformats.org/drawingml/2006/main">
            <a:off x="1514475" y="366712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Start the reference app and open Northstar</a:t>
            </a:r>
          </a:p>
        </p:txBody>
      </p:sp>
      <p:sp>
        <p:nvSpPr>
          <p:cNvPr id="8" name="text-260">
            <a:extLst xmlns:a="http://schemas.openxmlformats.org/drawingml/2006/main">
              <a:ext uri="{FF2B5EF4-FFF2-40B4-BE49-F238E27FC236}">
                <a16:creationId xmlns:a16="http://schemas.microsoft.com/office/drawing/2014/main" id="{2E624317-5A48-47CC-B135-3AB914D1C72F}"/>
              </a:ext>
            </a:extLst>
          </p:cNvPr>
          <p:cNvSpPr>
            <a:spLocks xmlns:a="http://schemas.openxmlformats.org/drawingml/2006/main" noGrp="1"/>
          </p:cNvSpPr>
          <p:nvPr/>
        </p:nvSpPr>
        <p:spPr>
          <a:xfrm xmlns:a="http://schemas.openxmlformats.org/drawingml/2006/main">
            <a:off x="609600" y="4533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04</a:t>
            </a:r>
          </a:p>
        </p:txBody>
      </p:sp>
      <p:sp>
        <p:nvSpPr>
          <p:cNvPr id="9" name="text-261">
            <a:extLst xmlns:a="http://schemas.openxmlformats.org/drawingml/2006/main">
              <a:ext uri="{FF2B5EF4-FFF2-40B4-BE49-F238E27FC236}">
                <a16:creationId xmlns:a16="http://schemas.microsoft.com/office/drawing/2014/main" id="{079A73AD-CD3D-4F08-A665-C9D9E4D912B1}"/>
              </a:ext>
            </a:extLst>
          </p:cNvPr>
          <p:cNvSpPr>
            <a:spLocks xmlns:a="http://schemas.openxmlformats.org/drawingml/2006/main" noGrp="1"/>
          </p:cNvSpPr>
          <p:nvPr/>
        </p:nvSpPr>
        <p:spPr>
          <a:xfrm xmlns:a="http://schemas.openxmlformats.org/drawingml/2006/main">
            <a:off x="1514475" y="4533900"/>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Keep the completed reference available</a:t>
            </a:r>
          </a:p>
        </p:txBody>
      </p:sp>
      <p:sp>
        <p:nvSpPr>
          <p:cNvPr id="10" name="text-262">
            <a:extLst xmlns:a="http://schemas.openxmlformats.org/drawingml/2006/main">
              <a:ext uri="{FF2B5EF4-FFF2-40B4-BE49-F238E27FC236}">
                <a16:creationId xmlns:a16="http://schemas.microsoft.com/office/drawing/2014/main" id="{89D0B9FF-6DFE-4942-870D-29F330287C4B}"/>
              </a:ext>
            </a:extLst>
          </p:cNvPr>
          <p:cNvSpPr>
            <a:spLocks xmlns:a="http://schemas.openxmlformats.org/drawingml/2006/main" noGrp="1"/>
          </p:cNvSpPr>
          <p:nvPr/>
        </p:nvSpPr>
        <p:spPr>
          <a:xfrm xmlns:a="http://schemas.openxmlformats.org/drawingml/2006/main">
            <a:off x="609600" y="572452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Fictional sample records are the course’s “fixtures.”</a:t>
            </a:r>
          </a:p>
        </p:txBody>
      </p:sp>
      <p:sp>
        <p:nvSpPr>
          <p:cNvPr id="11" name="text-263">
            <a:extLst xmlns:a="http://schemas.openxmlformats.org/drawingml/2006/main">
              <a:ext uri="{FF2B5EF4-FFF2-40B4-BE49-F238E27FC236}">
                <a16:creationId xmlns:a16="http://schemas.microsoft.com/office/drawing/2014/main" id="{5BEF2654-5230-455F-A4CD-37325F8946D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26</a:t>
            </a:r>
          </a:p>
        </p:txBody>
      </p:sp>
    </p:spTree>
    <p:extLst>
      <p:ext uri="{BB962C8B-B14F-4D97-AF65-F5344CB8AC3E}">
        <p14:creationId xmlns:p14="http://schemas.microsoft.com/office/powerpoint/2010/main" val="210976496"/>
      </p:ext>
    </p:extLst>
  </p:cSld>
</p:sld>
</file>

<file path=ppt/slides/slide2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264">
            <a:extLst xmlns:a="http://schemas.openxmlformats.org/drawingml/2006/main">
              <a:ext uri="{FF2B5EF4-FFF2-40B4-BE49-F238E27FC236}">
                <a16:creationId xmlns:a16="http://schemas.microsoft.com/office/drawing/2014/main" id="{ED10AAF7-8453-4005-9ED4-6116E0345C0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workspace check before building</a:t>
            </a:r>
          </a:p>
        </p:txBody>
      </p:sp>
      <p:sp>
        <p:nvSpPr>
          <p:cNvPr id="2" name="panel-265">
            <a:extLst xmlns:a="http://schemas.openxmlformats.org/drawingml/2006/main">
              <a:ext uri="{FF2B5EF4-FFF2-40B4-BE49-F238E27FC236}">
                <a16:creationId xmlns:a16="http://schemas.microsoft.com/office/drawing/2014/main" id="{FBF0EE01-6CCB-4645-96EE-B03B0476E98D}"/>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266">
            <a:extLst xmlns:a="http://schemas.openxmlformats.org/drawingml/2006/main">
              <a:ext uri="{FF2B5EF4-FFF2-40B4-BE49-F238E27FC236}">
                <a16:creationId xmlns:a16="http://schemas.microsoft.com/office/drawing/2014/main" id="{0FA4274F-3989-4FE5-B0A6-7AAEB96E4022}"/>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267">
            <a:extLst xmlns:a="http://schemas.openxmlformats.org/drawingml/2006/main">
              <a:ext uri="{FF2B5EF4-FFF2-40B4-BE49-F238E27FC236}">
                <a16:creationId xmlns:a16="http://schemas.microsoft.com/office/drawing/2014/main" id="{ACB68A80-9340-4184-AEF5-5CDAFC3AF9E0}"/>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Read 00-course-map/START-HERE.md. Check Node, install the locked dependencies in 03-build/clientdesk, prepare the demo context, and run the documented checks. Start the app on port 4310. Explain any blocker before continuing.</a:t>
            </a:r>
          </a:p>
        </p:txBody>
      </p:sp>
      <p:sp>
        <p:nvSpPr>
          <p:cNvPr id="5" name="panel-268">
            <a:extLst xmlns:a="http://schemas.openxmlformats.org/drawingml/2006/main">
              <a:ext uri="{FF2B5EF4-FFF2-40B4-BE49-F238E27FC236}">
                <a16:creationId xmlns:a16="http://schemas.microsoft.com/office/drawing/2014/main" id="{09307558-2929-4C50-A079-DDB759D461F1}"/>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269">
            <a:extLst xmlns:a="http://schemas.openxmlformats.org/drawingml/2006/main">
              <a:ext uri="{FF2B5EF4-FFF2-40B4-BE49-F238E27FC236}">
                <a16:creationId xmlns:a16="http://schemas.microsoft.com/office/drawing/2014/main" id="{542CD283-864A-4B7E-87A2-ADAEEDE18D13}"/>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The one startup path</a:t>
            </a:r>
          </a:p>
        </p:txBody>
      </p:sp>
      <p:sp>
        <p:nvSpPr>
          <p:cNvPr id="7" name="text-270">
            <a:extLst xmlns:a="http://schemas.openxmlformats.org/drawingml/2006/main">
              <a:ext uri="{FF2B5EF4-FFF2-40B4-BE49-F238E27FC236}">
                <a16:creationId xmlns:a16="http://schemas.microsoft.com/office/drawing/2014/main" id="{B47856FD-EDCA-4B83-B837-09DF4C10522A}"/>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From Walkthrough Assets:</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node 00-course-map/prepare-demo.mjs</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cd 03-build/clientdesk</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npm ci</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npm run dev</a:t>
            </a:r>
          </a:p>
        </p:txBody>
      </p:sp>
      <p:sp>
        <p:nvSpPr>
          <p:cNvPr id="8" name="text-271">
            <a:extLst xmlns:a="http://schemas.openxmlformats.org/drawingml/2006/main">
              <a:ext uri="{FF2B5EF4-FFF2-40B4-BE49-F238E27FC236}">
                <a16:creationId xmlns:a16="http://schemas.microsoft.com/office/drawing/2014/main" id="{22CE6051-554B-49FE-95B6-39478317B29F}"/>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Node runs the app’s JavaScript. npm installs and runs its recorded tools.</a:t>
            </a:r>
          </a:p>
        </p:txBody>
      </p:sp>
      <p:sp>
        <p:nvSpPr>
          <p:cNvPr id="9" name="text-272">
            <a:extLst xmlns:a="http://schemas.openxmlformats.org/drawingml/2006/main">
              <a:ext uri="{FF2B5EF4-FFF2-40B4-BE49-F238E27FC236}">
                <a16:creationId xmlns:a16="http://schemas.microsoft.com/office/drawing/2014/main" id="{522D0776-0270-42F6-8F1F-88934D6CA40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27</a:t>
            </a:r>
          </a:p>
        </p:txBody>
      </p:sp>
    </p:spTree>
    <p:extLst>
      <p:ext uri="{BB962C8B-B14F-4D97-AF65-F5344CB8AC3E}">
        <p14:creationId xmlns:p14="http://schemas.microsoft.com/office/powerpoint/2010/main" val="593654806"/>
      </p:ext>
    </p:extLst>
  </p:cSld>
</p:sld>
</file>

<file path=ppt/slides/slide2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273">
            <a:extLst xmlns:a="http://schemas.openxmlformats.org/drawingml/2006/main">
              <a:ext uri="{FF2B5EF4-FFF2-40B4-BE49-F238E27FC236}">
                <a16:creationId xmlns:a16="http://schemas.microsoft.com/office/drawing/2014/main" id="{8264D99D-F2EB-496D-9BA6-D06745FC5CD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Skills, rules, and hooks in this project</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1090613">
                <a:tc>
                  <a:txBody>
                    <a:bodyPr>
                      <a:noAutofit/>
                    </a:bodyPr>
                    <a:lstStyle/>
                    <a:p>
                      <a:r>
                        <a:rPr sz="1875" b="1" i="0">
                          <a:solidFill>
                            <a:srgbClr val="FFFFFF"/>
                          </a:solidFill>
                          <a:latin typeface="Helvetica Neue"/>
                          <a:ea typeface="Helvetica Neue"/>
                          <a:cs typeface="Helvetica Neue"/>
                        </a:rPr>
                        <a:t>Mechanism</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Purpose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Concrete example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Rule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Ongoing project guidance</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Evidence is visible beside a task</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Skill</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 method invoked for a task</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Prepare the Northstar brief</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Hook</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 script runs after a chosen event</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Check sample data after Claude edits it</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274">
            <a:extLst xmlns:a="http://schemas.openxmlformats.org/drawingml/2006/main">
              <a:ext uri="{FF2B5EF4-FFF2-40B4-BE49-F238E27FC236}">
                <a16:creationId xmlns:a16="http://schemas.microsoft.com/office/drawing/2014/main" id="{97726FF1-3741-442B-82DD-C004FA75D2C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28</a:t>
            </a:r>
          </a:p>
        </p:txBody>
      </p:sp>
    </p:spTree>
    <p:extLst>
      <p:ext uri="{BB962C8B-B14F-4D97-AF65-F5344CB8AC3E}">
        <p14:creationId xmlns:p14="http://schemas.microsoft.com/office/powerpoint/2010/main" val="1387621625"/>
      </p:ext>
    </p:extLst>
  </p:cSld>
</p:sld>
</file>

<file path=ppt/slides/slide2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275">
            <a:extLst xmlns:a="http://schemas.openxmlformats.org/drawingml/2006/main">
              <a:ext uri="{FF2B5EF4-FFF2-40B4-BE49-F238E27FC236}">
                <a16:creationId xmlns:a16="http://schemas.microsoft.com/office/drawing/2014/main" id="{5B4AB737-96B2-4526-A6D5-92FB74376E0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Read the structure; let Claude write it</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1090613">
                <a:tc>
                  <a:txBody>
                    <a:bodyPr>
                      <a:noAutofit/>
                    </a:bodyPr>
                    <a:lstStyle/>
                    <a:p>
                      <a:r>
                        <a:rPr sz="1875" b="1" i="0">
                          <a:solidFill>
                            <a:srgbClr val="FFFFFF"/>
                          </a:solidFill>
                          <a:latin typeface="Helvetica Neue"/>
                          <a:ea typeface="Helvetica Neue"/>
                          <a:cs typeface="Helvetica Neue"/>
                        </a:rPr>
                        <a:t>Format</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Recognize it</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What we use it for</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Markdown</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Headings and ordinary sentences</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Briefs, specifications and skills</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JSON</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Named fields inside braces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Sample records and tool settings</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YAML</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Indented labels and values</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small settings block at the top of a skill</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276">
            <a:extLst xmlns:a="http://schemas.openxmlformats.org/drawingml/2006/main">
              <a:ext uri="{FF2B5EF4-FFF2-40B4-BE49-F238E27FC236}">
                <a16:creationId xmlns:a16="http://schemas.microsoft.com/office/drawing/2014/main" id="{DD426290-B206-4DD2-9B1B-B1A1E952E4B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29</a:t>
            </a:r>
          </a:p>
        </p:txBody>
      </p:sp>
    </p:spTree>
    <p:extLst>
      <p:ext uri="{BB962C8B-B14F-4D97-AF65-F5344CB8AC3E}">
        <p14:creationId xmlns:p14="http://schemas.microsoft.com/office/powerpoint/2010/main" val="1392149317"/>
      </p:ext>
    </p:extLst>
  </p:cSld>
</p:sld>
</file>

<file path=ppt/slides/slide3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4" name="text-277">
            <a:extLst xmlns:a="http://schemas.openxmlformats.org/drawingml/2006/main">
              <a:ext uri="{FF2B5EF4-FFF2-40B4-BE49-F238E27FC236}">
                <a16:creationId xmlns:a16="http://schemas.microsoft.com/office/drawing/2014/main" id="{C9B44977-1CA2-4C29-887C-103E40BCAB0A}"/>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Where Claude finds the instructions</a:t>
            </a:r>
          </a:p>
        </p:txBody>
      </p:sp>
      <p:sp>
        <p:nvSpPr>
          <p:cNvPr id="2" name="panel-278">
            <a:extLst xmlns:a="http://schemas.openxmlformats.org/drawingml/2006/main">
              <a:ext uri="{FF2B5EF4-FFF2-40B4-BE49-F238E27FC236}">
                <a16:creationId xmlns:a16="http://schemas.microsoft.com/office/drawing/2014/main" id="{CFDE1E04-5343-48D9-B70A-82963459FD99}"/>
              </a:ext>
            </a:extLst>
          </p:cNvPr>
          <p:cNvSpPr>
            <a:spLocks xmlns:a="http://schemas.openxmlformats.org/drawingml/2006/main" noGrp="1"/>
          </p:cNvSpPr>
          <p:nvPr/>
        </p:nvSpPr>
        <p:spPr>
          <a:xfrm xmlns:a="http://schemas.openxmlformats.org/drawingml/2006/main">
            <a:off x="609600" y="1828800"/>
            <a:ext cx="7000875" cy="3169920"/>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279">
            <a:extLst xmlns:a="http://schemas.openxmlformats.org/drawingml/2006/main">
              <a:ext uri="{FF2B5EF4-FFF2-40B4-BE49-F238E27FC236}">
                <a16:creationId xmlns:a16="http://schemas.microsoft.com/office/drawing/2014/main" id="{4FED7B01-CDE4-45EE-91C6-FFA9C0F8E07C}"/>
              </a:ext>
            </a:extLst>
          </p:cNvPr>
          <p:cNvSpPr>
            <a:spLocks xmlns:a="http://schemas.openxmlformats.org/drawingml/2006/main" noGrp="1"/>
          </p:cNvSpPr>
          <p:nvPr/>
        </p:nvSpPr>
        <p:spPr>
          <a:xfrm xmlns:a="http://schemas.openxmlformats.org/drawingml/2006/main">
            <a:off x="847725" y="2076450"/>
            <a:ext cx="6543675" cy="2865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Walkthrough Assets/</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CLAUDE.md</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.claude/</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 rules/interface.md</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 skills/client-brief/</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 settings.example.json</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.mcp.json</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03-build/clientdesk/</a:t>
            </a:r>
          </a:p>
        </p:txBody>
      </p:sp>
      <p:sp>
        <p:nvSpPr>
          <p:cNvPr id="4" name="text-280">
            <a:extLst xmlns:a="http://schemas.openxmlformats.org/drawingml/2006/main">
              <a:ext uri="{FF2B5EF4-FFF2-40B4-BE49-F238E27FC236}">
                <a16:creationId xmlns:a16="http://schemas.microsoft.com/office/drawing/2014/main" id="{05481F74-7E8E-41E1-8D26-2022AB014BD9}"/>
              </a:ext>
            </a:extLst>
          </p:cNvPr>
          <p:cNvSpPr>
            <a:spLocks xmlns:a="http://schemas.openxmlformats.org/drawingml/2006/main" noGrp="1"/>
          </p:cNvSpPr>
          <p:nvPr/>
        </p:nvSpPr>
        <p:spPr>
          <a:xfrm xmlns:a="http://schemas.openxmlformats.org/drawingml/2006/main">
            <a:off x="7991475" y="19431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CLAUDE.md</a:t>
            </a:r>
          </a:p>
        </p:txBody>
      </p:sp>
      <p:sp>
        <p:nvSpPr>
          <p:cNvPr id="5" name="text-281">
            <a:extLst xmlns:a="http://schemas.openxmlformats.org/drawingml/2006/main">
              <a:ext uri="{FF2B5EF4-FFF2-40B4-BE49-F238E27FC236}">
                <a16:creationId xmlns:a16="http://schemas.microsoft.com/office/drawing/2014/main" id="{7C2AB8FE-54B8-4874-AF89-38A0E9916ACB}"/>
              </a:ext>
            </a:extLst>
          </p:cNvPr>
          <p:cNvSpPr>
            <a:spLocks xmlns:a="http://schemas.openxmlformats.org/drawingml/2006/main" noGrp="1"/>
          </p:cNvSpPr>
          <p:nvPr/>
        </p:nvSpPr>
        <p:spPr>
          <a:xfrm xmlns:a="http://schemas.openxmlformats.org/drawingml/2006/main">
            <a:off x="7991475" y="23241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Where to start and what to check</a:t>
            </a:r>
          </a:p>
        </p:txBody>
      </p:sp>
      <p:sp>
        <p:nvSpPr>
          <p:cNvPr id="6" name="text-282">
            <a:extLst xmlns:a="http://schemas.openxmlformats.org/drawingml/2006/main">
              <a:ext uri="{FF2B5EF4-FFF2-40B4-BE49-F238E27FC236}">
                <a16:creationId xmlns:a16="http://schemas.microsoft.com/office/drawing/2014/main" id="{A8C6BA93-5779-4F4E-B9AC-603FF9DE042D}"/>
              </a:ext>
            </a:extLst>
          </p:cNvPr>
          <p:cNvSpPr>
            <a:spLocks xmlns:a="http://schemas.openxmlformats.org/drawingml/2006/main" noGrp="1"/>
          </p:cNvSpPr>
          <p:nvPr/>
        </p:nvSpPr>
        <p:spPr>
          <a:xfrm xmlns:a="http://schemas.openxmlformats.org/drawingml/2006/main">
            <a:off x="7991475" y="30099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rules/</a:t>
            </a:r>
          </a:p>
        </p:txBody>
      </p:sp>
      <p:sp>
        <p:nvSpPr>
          <p:cNvPr id="7" name="text-283">
            <a:extLst xmlns:a="http://schemas.openxmlformats.org/drawingml/2006/main">
              <a:ext uri="{FF2B5EF4-FFF2-40B4-BE49-F238E27FC236}">
                <a16:creationId xmlns:a16="http://schemas.microsoft.com/office/drawing/2014/main" id="{396F8A55-1CF8-48D3-8E65-50FEF0EB877A}"/>
              </a:ext>
            </a:extLst>
          </p:cNvPr>
          <p:cNvSpPr>
            <a:spLocks xmlns:a="http://schemas.openxmlformats.org/drawingml/2006/main" noGrp="1"/>
          </p:cNvSpPr>
          <p:nvPr/>
        </p:nvSpPr>
        <p:spPr>
          <a:xfrm xmlns:a="http://schemas.openxmlformats.org/drawingml/2006/main">
            <a:off x="7991475" y="33909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Guidance for interface files</a:t>
            </a:r>
          </a:p>
        </p:txBody>
      </p:sp>
      <p:sp>
        <p:nvSpPr>
          <p:cNvPr id="8" name="text-284">
            <a:extLst xmlns:a="http://schemas.openxmlformats.org/drawingml/2006/main">
              <a:ext uri="{FF2B5EF4-FFF2-40B4-BE49-F238E27FC236}">
                <a16:creationId xmlns:a16="http://schemas.microsoft.com/office/drawing/2014/main" id="{C98BEEDC-BDD1-4D67-ABF6-CF782C54E554}"/>
              </a:ext>
            </a:extLst>
          </p:cNvPr>
          <p:cNvSpPr>
            <a:spLocks xmlns:a="http://schemas.openxmlformats.org/drawingml/2006/main" noGrp="1"/>
          </p:cNvSpPr>
          <p:nvPr/>
        </p:nvSpPr>
        <p:spPr>
          <a:xfrm xmlns:a="http://schemas.openxmlformats.org/drawingml/2006/main">
            <a:off x="7991475" y="40767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skills/</a:t>
            </a:r>
          </a:p>
        </p:txBody>
      </p:sp>
      <p:sp>
        <p:nvSpPr>
          <p:cNvPr id="9" name="text-285">
            <a:extLst xmlns:a="http://schemas.openxmlformats.org/drawingml/2006/main">
              <a:ext uri="{FF2B5EF4-FFF2-40B4-BE49-F238E27FC236}">
                <a16:creationId xmlns:a16="http://schemas.microsoft.com/office/drawing/2014/main" id="{837D442E-A2D1-4AEB-B90A-C41C0B33CE81}"/>
              </a:ext>
            </a:extLst>
          </p:cNvPr>
          <p:cNvSpPr>
            <a:spLocks xmlns:a="http://schemas.openxmlformats.org/drawingml/2006/main" noGrp="1"/>
          </p:cNvSpPr>
          <p:nvPr/>
        </p:nvSpPr>
        <p:spPr>
          <a:xfrm xmlns:a="http://schemas.openxmlformats.org/drawingml/2006/main">
            <a:off x="7991475" y="44577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A reusable client-brief method</a:t>
            </a:r>
          </a:p>
        </p:txBody>
      </p:sp>
      <p:sp>
        <p:nvSpPr>
          <p:cNvPr id="10" name="text-286">
            <a:extLst xmlns:a="http://schemas.openxmlformats.org/drawingml/2006/main">
              <a:ext uri="{FF2B5EF4-FFF2-40B4-BE49-F238E27FC236}">
                <a16:creationId xmlns:a16="http://schemas.microsoft.com/office/drawing/2014/main" id="{B8DA4804-5A9E-4810-9700-4CD7A3D5CD28}"/>
              </a:ext>
            </a:extLst>
          </p:cNvPr>
          <p:cNvSpPr>
            <a:spLocks xmlns:a="http://schemas.openxmlformats.org/drawingml/2006/main" noGrp="1"/>
          </p:cNvSpPr>
          <p:nvPr/>
        </p:nvSpPr>
        <p:spPr>
          <a:xfrm xmlns:a="http://schemas.openxmlformats.org/drawingml/2006/main">
            <a:off x="7991475" y="51435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settings.example.json</a:t>
            </a:r>
          </a:p>
        </p:txBody>
      </p:sp>
      <p:sp>
        <p:nvSpPr>
          <p:cNvPr id="11" name="text-287">
            <a:extLst xmlns:a="http://schemas.openxmlformats.org/drawingml/2006/main">
              <a:ext uri="{FF2B5EF4-FFF2-40B4-BE49-F238E27FC236}">
                <a16:creationId xmlns:a16="http://schemas.microsoft.com/office/drawing/2014/main" id="{8ECE7613-9C7D-4DE4-9310-6B10B2FE820E}"/>
              </a:ext>
            </a:extLst>
          </p:cNvPr>
          <p:cNvSpPr>
            <a:spLocks xmlns:a="http://schemas.openxmlformats.org/drawingml/2006/main" noGrp="1"/>
          </p:cNvSpPr>
          <p:nvPr/>
        </p:nvSpPr>
        <p:spPr>
          <a:xfrm xmlns:a="http://schemas.openxmlformats.org/drawingml/2006/main">
            <a:off x="7991475" y="55245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Reviewed hook example; opt in</a:t>
            </a:r>
          </a:p>
        </p:txBody>
      </p:sp>
      <p:sp>
        <p:nvSpPr>
          <p:cNvPr id="12" name="text-288">
            <a:extLst xmlns:a="http://schemas.openxmlformats.org/drawingml/2006/main">
              <a:ext uri="{FF2B5EF4-FFF2-40B4-BE49-F238E27FC236}">
                <a16:creationId xmlns:a16="http://schemas.microsoft.com/office/drawing/2014/main" id="{F3E252C0-BAD0-4FDA-8F00-1884797E5CE2}"/>
              </a:ext>
            </a:extLst>
          </p:cNvPr>
          <p:cNvSpPr>
            <a:spLocks xmlns:a="http://schemas.openxmlformats.org/drawingml/2006/main" noGrp="1"/>
          </p:cNvSpPr>
          <p:nvPr/>
        </p:nvSpPr>
        <p:spPr>
          <a:xfrm xmlns:a="http://schemas.openxmlformats.org/drawingml/2006/main">
            <a:off x="609600" y="6105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686868"/>
                </a:solidFill>
                <a:latin typeface="Helvetica Neue"/>
                <a:ea typeface="Helvetica Neue"/>
                <a:cs typeface="Helvetica Neue"/>
              </a:defRPr>
            </a:pPr>
            <a:r>
              <a:rPr sz="1500" b="0" i="0">
                <a:solidFill>
                  <a:srgbClr val="686868"/>
                </a:solidFill>
                <a:latin typeface="Helvetica Neue"/>
                <a:ea typeface="Helvetica Neue"/>
                <a:cs typeface="Helvetica Neue"/>
              </a:rPr>
              <a:t>Project context · Scoped design rule · Reusable workflow · Hook configuration · Project MCP configuration</a:t>
            </a:r>
          </a:p>
        </p:txBody>
      </p:sp>
      <p:sp>
        <p:nvSpPr>
          <p:cNvPr id="13" name="text-289">
            <a:extLst xmlns:a="http://schemas.openxmlformats.org/drawingml/2006/main">
              <a:ext uri="{FF2B5EF4-FFF2-40B4-BE49-F238E27FC236}">
                <a16:creationId xmlns:a16="http://schemas.microsoft.com/office/drawing/2014/main" id="{345D91F6-45E2-4359-A0FC-C0E4EB9A2E0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30</a:t>
            </a:r>
          </a:p>
        </p:txBody>
      </p:sp>
    </p:spTree>
    <p:extLst>
      <p:ext uri="{BB962C8B-B14F-4D97-AF65-F5344CB8AC3E}">
        <p14:creationId xmlns:p14="http://schemas.microsoft.com/office/powerpoint/2010/main" val="1546800824"/>
      </p:ext>
    </p:extLst>
  </p:cSld>
</p:sld>
</file>

<file path=ppt/slides/slide3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290">
            <a:extLst xmlns:a="http://schemas.openxmlformats.org/drawingml/2006/main">
              <a:ext uri="{FF2B5EF4-FFF2-40B4-BE49-F238E27FC236}">
                <a16:creationId xmlns:a16="http://schemas.microsoft.com/office/drawing/2014/main" id="{FE9FB1A4-9CAD-4F98-AFE9-B37A1393D7F1}"/>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Write the project instructions</a:t>
            </a:r>
          </a:p>
        </p:txBody>
      </p:sp>
      <p:sp>
        <p:nvSpPr>
          <p:cNvPr id="2" name="panel-291">
            <a:extLst xmlns:a="http://schemas.openxmlformats.org/drawingml/2006/main">
              <a:ext uri="{FF2B5EF4-FFF2-40B4-BE49-F238E27FC236}">
                <a16:creationId xmlns:a16="http://schemas.microsoft.com/office/drawing/2014/main" id="{487685E8-2F96-4183-9CBF-1AA4D07C0A9C}"/>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292">
            <a:extLst xmlns:a="http://schemas.openxmlformats.org/drawingml/2006/main">
              <a:ext uri="{FF2B5EF4-FFF2-40B4-BE49-F238E27FC236}">
                <a16:creationId xmlns:a16="http://schemas.microsoft.com/office/drawing/2014/main" id="{BC3EA9AF-15E2-4200-8BB1-609B722D8786}"/>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293">
            <a:extLst xmlns:a="http://schemas.openxmlformats.org/drawingml/2006/main">
              <a:ext uri="{FF2B5EF4-FFF2-40B4-BE49-F238E27FC236}">
                <a16:creationId xmlns:a16="http://schemas.microsoft.com/office/drawing/2014/main" id="{C67E5504-4CF9-4AA9-AAF7-56E473C4D9E1}"/>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294">
            <a:extLst xmlns:a="http://schemas.openxmlformats.org/drawingml/2006/main">
              <a:ext uri="{FF2B5EF4-FFF2-40B4-BE49-F238E27FC236}">
                <a16:creationId xmlns:a16="http://schemas.microsoft.com/office/drawing/2014/main" id="{C315A02E-67A0-4939-A848-226FBD0CB76F}"/>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295">
            <a:extLst xmlns:a="http://schemas.openxmlformats.org/drawingml/2006/main">
              <a:ext uri="{FF2B5EF4-FFF2-40B4-BE49-F238E27FC236}">
                <a16:creationId xmlns:a16="http://schemas.microsoft.com/office/drawing/2014/main" id="{0B741A43-3E03-40A7-9A55-A8A5F64D1095}"/>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Read 01-planning/BRIEF.md, 01-planning/SPEC.md if present, and README.md. Create or update CLAUDE.md with the project purpose, file locations, start command, checks, and what requires human review. Keep it short and remove anything that merely repeats another file.</a:t>
            </a:r>
          </a:p>
        </p:txBody>
      </p:sp>
      <p:sp>
        <p:nvSpPr>
          <p:cNvPr id="7" name="text-296">
            <a:extLst xmlns:a="http://schemas.openxmlformats.org/drawingml/2006/main">
              <a:ext uri="{FF2B5EF4-FFF2-40B4-BE49-F238E27FC236}">
                <a16:creationId xmlns:a16="http://schemas.microsoft.com/office/drawing/2014/main" id="{E50A880A-696C-4A99-8BD6-DC60018334AA}"/>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Context:</a:t>
            </a:r>
            <a:r>
              <a:rPr sz="1875" b="0" i="0">
                <a:solidFill>
                  <a:srgbClr val="1C1C1C"/>
                </a:solidFill>
                <a:latin typeface="Helvetica Neue"/>
                <a:ea typeface="Helvetica Neue"/>
                <a:cs typeface="Helvetica Neue"/>
              </a:rPr>
              <a:t> uses the files that actually exist.</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Maintenance:</a:t>
            </a:r>
            <a:r>
              <a:rPr sz="1875" b="0" i="0">
                <a:solidFill>
                  <a:srgbClr val="1C1C1C"/>
                </a:solidFill>
                <a:latin typeface="Helvetica Neue"/>
                <a:ea typeface="Helvetica Neue"/>
                <a:cs typeface="Helvetica Neue"/>
              </a:rPr>
              <a:t> keeps instructions short enough to review.</a:t>
            </a:r>
          </a:p>
        </p:txBody>
      </p:sp>
      <p:sp>
        <p:nvSpPr>
          <p:cNvPr id="8" name="panel-297">
            <a:extLst xmlns:a="http://schemas.openxmlformats.org/drawingml/2006/main">
              <a:ext uri="{FF2B5EF4-FFF2-40B4-BE49-F238E27FC236}">
                <a16:creationId xmlns:a16="http://schemas.microsoft.com/office/drawing/2014/main" id="{67CE9484-2110-400C-8DD0-81470E21DBA9}"/>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298">
            <a:extLst xmlns:a="http://schemas.openxmlformats.org/drawingml/2006/main">
              <a:ext uri="{FF2B5EF4-FFF2-40B4-BE49-F238E27FC236}">
                <a16:creationId xmlns:a16="http://schemas.microsoft.com/office/drawing/2014/main" id="{4FAB80A7-061B-4C27-9A83-EED5D87E1914}"/>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file points to the real start and check commands.</a:t>
            </a:r>
          </a:p>
        </p:txBody>
      </p:sp>
      <p:sp>
        <p:nvSpPr>
          <p:cNvPr id="10" name="text-299">
            <a:extLst xmlns:a="http://schemas.openxmlformats.org/drawingml/2006/main">
              <a:ext uri="{FF2B5EF4-FFF2-40B4-BE49-F238E27FC236}">
                <a16:creationId xmlns:a16="http://schemas.microsoft.com/office/drawing/2014/main" id="{C1F50C96-383A-4ABB-80FF-8F6B6D658B9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31</a:t>
            </a:r>
          </a:p>
        </p:txBody>
      </p:sp>
    </p:spTree>
    <p:extLst>
      <p:ext uri="{BB962C8B-B14F-4D97-AF65-F5344CB8AC3E}">
        <p14:creationId xmlns:p14="http://schemas.microsoft.com/office/powerpoint/2010/main" val="737116745"/>
      </p:ext>
    </p:extLst>
  </p:cSld>
</p:sld>
</file>

<file path=ppt/slides/slide3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300">
            <a:extLst xmlns:a="http://schemas.openxmlformats.org/drawingml/2006/main">
              <a:ext uri="{FF2B5EF4-FFF2-40B4-BE49-F238E27FC236}">
                <a16:creationId xmlns:a16="http://schemas.microsoft.com/office/drawing/2014/main" id="{BA89822C-BAFB-4F5A-8661-8550594003F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rule Claude can actually apply</a:t>
            </a:r>
          </a:p>
        </p:txBody>
      </p:sp>
      <p:sp>
        <p:nvSpPr>
          <p:cNvPr id="2" name="panel-301">
            <a:extLst xmlns:a="http://schemas.openxmlformats.org/drawingml/2006/main">
              <a:ext uri="{FF2B5EF4-FFF2-40B4-BE49-F238E27FC236}">
                <a16:creationId xmlns:a16="http://schemas.microsoft.com/office/drawing/2014/main" id="{39A33AC6-AF16-456B-9091-6FAA2AB9B188}"/>
              </a:ext>
            </a:extLst>
          </p:cNvPr>
          <p:cNvSpPr>
            <a:spLocks xmlns:a="http://schemas.openxmlformats.org/drawingml/2006/main" noGrp="1"/>
          </p:cNvSpPr>
          <p:nvPr/>
        </p:nvSpPr>
        <p:spPr>
          <a:xfrm xmlns:a="http://schemas.openxmlformats.org/drawingml/2006/main">
            <a:off x="609600" y="1828800"/>
            <a:ext cx="7000875" cy="2872740"/>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302">
            <a:extLst xmlns:a="http://schemas.openxmlformats.org/drawingml/2006/main">
              <a:ext uri="{FF2B5EF4-FFF2-40B4-BE49-F238E27FC236}">
                <a16:creationId xmlns:a16="http://schemas.microsoft.com/office/drawing/2014/main" id="{377A909C-52AF-422D-B400-05490521526D}"/>
              </a:ext>
            </a:extLst>
          </p:cNvPr>
          <p:cNvSpPr>
            <a:spLocks xmlns:a="http://schemas.openxmlformats.org/drawingml/2006/main" noGrp="1"/>
          </p:cNvSpPr>
          <p:nvPr/>
        </p:nvSpPr>
        <p:spPr>
          <a:xfrm xmlns:a="http://schemas.openxmlformats.org/drawingml/2006/main">
            <a:off x="847725" y="2076450"/>
            <a:ext cx="6543675" cy="2567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paths:</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 "03-build/clientdesk/app/**"</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 "03-build/clientdesk/components/**"</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Keep source evidence beside facts.</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Keep the two-step save review.</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Check the page at 390px after edits.</a:t>
            </a:r>
          </a:p>
        </p:txBody>
      </p:sp>
      <p:sp>
        <p:nvSpPr>
          <p:cNvPr id="4" name="text-303">
            <a:extLst xmlns:a="http://schemas.openxmlformats.org/drawingml/2006/main">
              <a:ext uri="{FF2B5EF4-FFF2-40B4-BE49-F238E27FC236}">
                <a16:creationId xmlns:a16="http://schemas.microsoft.com/office/drawing/2014/main" id="{EB5E01F5-AAA4-49FE-B55E-E9702779FE80}"/>
              </a:ext>
            </a:extLst>
          </p:cNvPr>
          <p:cNvSpPr>
            <a:spLocks xmlns:a="http://schemas.openxmlformats.org/drawingml/2006/main" noGrp="1"/>
          </p:cNvSpPr>
          <p:nvPr/>
        </p:nvSpPr>
        <p:spPr>
          <a:xfrm xmlns:a="http://schemas.openxmlformats.org/drawingml/2006/main">
            <a:off x="7991475" y="19431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Scope</a:t>
            </a:r>
          </a:p>
        </p:txBody>
      </p:sp>
      <p:sp>
        <p:nvSpPr>
          <p:cNvPr id="5" name="text-304">
            <a:extLst xmlns:a="http://schemas.openxmlformats.org/drawingml/2006/main">
              <a:ext uri="{FF2B5EF4-FFF2-40B4-BE49-F238E27FC236}">
                <a16:creationId xmlns:a16="http://schemas.microsoft.com/office/drawing/2014/main" id="{ECF39A85-A665-4B7A-9B8C-73C956AE90AF}"/>
              </a:ext>
            </a:extLst>
          </p:cNvPr>
          <p:cNvSpPr>
            <a:spLocks xmlns:a="http://schemas.openxmlformats.org/drawingml/2006/main" noGrp="1"/>
          </p:cNvSpPr>
          <p:nvPr/>
        </p:nvSpPr>
        <p:spPr>
          <a:xfrm xmlns:a="http://schemas.openxmlformats.org/drawingml/2006/main">
            <a:off x="7991475" y="23241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686868"/>
                </a:solidFill>
                <a:latin typeface="Helvetica Neue"/>
                <a:ea typeface="Helvetica Neue"/>
                <a:cs typeface="Helvetica Neue"/>
              </a:defRPr>
            </a:pPr>
            <a:r>
              <a:rPr sz="1725" b="0" i="0">
                <a:solidFill>
                  <a:srgbClr val="686868"/>
                </a:solidFill>
                <a:latin typeface="Helvetica Neue"/>
                <a:ea typeface="Helvetica Neue"/>
                <a:cs typeface="Helvetica Neue"/>
              </a:rPr>
              <a:t>The actual interface folders</a:t>
            </a:r>
          </a:p>
        </p:txBody>
      </p:sp>
      <p:sp>
        <p:nvSpPr>
          <p:cNvPr id="6" name="text-305">
            <a:extLst xmlns:a="http://schemas.openxmlformats.org/drawingml/2006/main">
              <a:ext uri="{FF2B5EF4-FFF2-40B4-BE49-F238E27FC236}">
                <a16:creationId xmlns:a16="http://schemas.microsoft.com/office/drawing/2014/main" id="{1E975593-E1E1-40B7-BD3E-8144BDF24179}"/>
              </a:ext>
            </a:extLst>
          </p:cNvPr>
          <p:cNvSpPr>
            <a:spLocks xmlns:a="http://schemas.openxmlformats.org/drawingml/2006/main" noGrp="1"/>
          </p:cNvSpPr>
          <p:nvPr/>
        </p:nvSpPr>
        <p:spPr>
          <a:xfrm xmlns:a="http://schemas.openxmlformats.org/drawingml/2006/main">
            <a:off x="7991475" y="318135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Visible behavior</a:t>
            </a:r>
          </a:p>
        </p:txBody>
      </p:sp>
      <p:sp>
        <p:nvSpPr>
          <p:cNvPr id="7" name="text-306">
            <a:extLst xmlns:a="http://schemas.openxmlformats.org/drawingml/2006/main">
              <a:ext uri="{FF2B5EF4-FFF2-40B4-BE49-F238E27FC236}">
                <a16:creationId xmlns:a16="http://schemas.microsoft.com/office/drawing/2014/main" id="{39E55F32-D743-43BA-B3D2-E9798F21CAD8}"/>
              </a:ext>
            </a:extLst>
          </p:cNvPr>
          <p:cNvSpPr>
            <a:spLocks xmlns:a="http://schemas.openxmlformats.org/drawingml/2006/main" noGrp="1"/>
          </p:cNvSpPr>
          <p:nvPr/>
        </p:nvSpPr>
        <p:spPr>
          <a:xfrm xmlns:a="http://schemas.openxmlformats.org/drawingml/2006/main">
            <a:off x="7991475" y="356235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686868"/>
                </a:solidFill>
                <a:latin typeface="Helvetica Neue"/>
                <a:ea typeface="Helvetica Neue"/>
                <a:cs typeface="Helvetica Neue"/>
              </a:defRPr>
            </a:pPr>
            <a:r>
              <a:rPr sz="1725" b="0" i="0">
                <a:solidFill>
                  <a:srgbClr val="686868"/>
                </a:solidFill>
                <a:latin typeface="Helvetica Neue"/>
                <a:ea typeface="Helvetica Neue"/>
                <a:cs typeface="Helvetica Neue"/>
              </a:rPr>
              <a:t>Sources and review remain present</a:t>
            </a:r>
          </a:p>
        </p:txBody>
      </p:sp>
      <p:sp>
        <p:nvSpPr>
          <p:cNvPr id="8" name="text-307">
            <a:extLst xmlns:a="http://schemas.openxmlformats.org/drawingml/2006/main">
              <a:ext uri="{FF2B5EF4-FFF2-40B4-BE49-F238E27FC236}">
                <a16:creationId xmlns:a16="http://schemas.microsoft.com/office/drawing/2014/main" id="{3293B8E0-1F29-40A0-A31D-38B838B6891E}"/>
              </a:ext>
            </a:extLst>
          </p:cNvPr>
          <p:cNvSpPr>
            <a:spLocks xmlns:a="http://schemas.openxmlformats.org/drawingml/2006/main" noGrp="1"/>
          </p:cNvSpPr>
          <p:nvPr/>
        </p:nvSpPr>
        <p:spPr>
          <a:xfrm xmlns:a="http://schemas.openxmlformats.org/drawingml/2006/main">
            <a:off x="7991475" y="44196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Proof</a:t>
            </a:r>
          </a:p>
        </p:txBody>
      </p:sp>
      <p:sp>
        <p:nvSpPr>
          <p:cNvPr id="9" name="text-308">
            <a:extLst xmlns:a="http://schemas.openxmlformats.org/drawingml/2006/main">
              <a:ext uri="{FF2B5EF4-FFF2-40B4-BE49-F238E27FC236}">
                <a16:creationId xmlns:a16="http://schemas.microsoft.com/office/drawing/2014/main" id="{FA3B80E7-7866-46FA-9098-66F04B3C9792}"/>
              </a:ext>
            </a:extLst>
          </p:cNvPr>
          <p:cNvSpPr>
            <a:spLocks xmlns:a="http://schemas.openxmlformats.org/drawingml/2006/main" noGrp="1"/>
          </p:cNvSpPr>
          <p:nvPr/>
        </p:nvSpPr>
        <p:spPr>
          <a:xfrm xmlns:a="http://schemas.openxmlformats.org/drawingml/2006/main">
            <a:off x="7991475" y="48006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686868"/>
                </a:solidFill>
                <a:latin typeface="Helvetica Neue"/>
                <a:ea typeface="Helvetica Neue"/>
                <a:cs typeface="Helvetica Neue"/>
              </a:defRPr>
            </a:pPr>
            <a:r>
              <a:rPr sz="1725" b="0" i="0">
                <a:solidFill>
                  <a:srgbClr val="686868"/>
                </a:solidFill>
                <a:latin typeface="Helvetica Neue"/>
                <a:ea typeface="Helvetica Neue"/>
                <a:cs typeface="Helvetica Neue"/>
              </a:rPr>
              <a:t>Inspect the page at phone width</a:t>
            </a:r>
          </a:p>
        </p:txBody>
      </p:sp>
      <p:sp>
        <p:nvSpPr>
          <p:cNvPr id="10" name="text-309">
            <a:extLst xmlns:a="http://schemas.openxmlformats.org/drawingml/2006/main">
              <a:ext uri="{FF2B5EF4-FFF2-40B4-BE49-F238E27FC236}">
                <a16:creationId xmlns:a16="http://schemas.microsoft.com/office/drawing/2014/main" id="{3836B44B-B8EA-4428-80A4-3BEF1E60FE4A}"/>
              </a:ext>
            </a:extLst>
          </p:cNvPr>
          <p:cNvSpPr>
            <a:spLocks xmlns:a="http://schemas.openxmlformats.org/drawingml/2006/main" noGrp="1"/>
          </p:cNvSpPr>
          <p:nvPr/>
        </p:nvSpPr>
        <p:spPr>
          <a:xfrm xmlns:a="http://schemas.openxmlformats.org/drawingml/2006/main">
            <a:off x="609600" y="6105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686868"/>
                </a:solidFill>
                <a:latin typeface="Helvetica Neue"/>
                <a:ea typeface="Helvetica Neue"/>
                <a:cs typeface="Helvetica Neue"/>
              </a:defRPr>
            </a:pPr>
            <a:r>
              <a:rPr sz="1500" b="0" i="0">
                <a:solidFill>
                  <a:srgbClr val="686868"/>
                </a:solidFill>
                <a:latin typeface="Helvetica Neue"/>
                <a:ea typeface="Helvetica Neue"/>
                <a:cs typeface="Helvetica Neue"/>
              </a:rPr>
              <a:t>.claude/rules/interface.md · excerpt from the actual project</a:t>
            </a:r>
          </a:p>
        </p:txBody>
      </p:sp>
      <p:sp>
        <p:nvSpPr>
          <p:cNvPr id="11" name="text-310">
            <a:extLst xmlns:a="http://schemas.openxmlformats.org/drawingml/2006/main">
              <a:ext uri="{FF2B5EF4-FFF2-40B4-BE49-F238E27FC236}">
                <a16:creationId xmlns:a16="http://schemas.microsoft.com/office/drawing/2014/main" id="{826F80B5-BBD9-4AB0-A491-45F2D93E478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32</a:t>
            </a:r>
          </a:p>
        </p:txBody>
      </p:sp>
    </p:spTree>
    <p:extLst>
      <p:ext uri="{BB962C8B-B14F-4D97-AF65-F5344CB8AC3E}">
        <p14:creationId xmlns:p14="http://schemas.microsoft.com/office/powerpoint/2010/main" val="1994910465"/>
      </p:ext>
    </p:extLst>
  </p:cSld>
</p:sld>
</file>

<file path=ppt/slides/slide3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311">
            <a:extLst xmlns:a="http://schemas.openxmlformats.org/drawingml/2006/main">
              <a:ext uri="{FF2B5EF4-FFF2-40B4-BE49-F238E27FC236}">
                <a16:creationId xmlns:a16="http://schemas.microsoft.com/office/drawing/2014/main" id="{3E5EC086-DF91-4702-99C3-FFA640DFC73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Turn a design preference into a rule</a:t>
            </a:r>
          </a:p>
        </p:txBody>
      </p:sp>
      <p:sp>
        <p:nvSpPr>
          <p:cNvPr id="2" name="panel-312">
            <a:extLst xmlns:a="http://schemas.openxmlformats.org/drawingml/2006/main">
              <a:ext uri="{FF2B5EF4-FFF2-40B4-BE49-F238E27FC236}">
                <a16:creationId xmlns:a16="http://schemas.microsoft.com/office/drawing/2014/main" id="{3B3B2731-096B-4E66-A6F3-C18F271037D0}"/>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313">
            <a:extLst xmlns:a="http://schemas.openxmlformats.org/drawingml/2006/main">
              <a:ext uri="{FF2B5EF4-FFF2-40B4-BE49-F238E27FC236}">
                <a16:creationId xmlns:a16="http://schemas.microsoft.com/office/drawing/2014/main" id="{47FBECE3-291D-41C3-8DFD-B1448D83ACE6}"/>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314">
            <a:extLst xmlns:a="http://schemas.openxmlformats.org/drawingml/2006/main">
              <a:ext uri="{FF2B5EF4-FFF2-40B4-BE49-F238E27FC236}">
                <a16:creationId xmlns:a16="http://schemas.microsoft.com/office/drawing/2014/main" id="{E94328C6-8CF6-4301-BDFF-0426FCF05F8C}"/>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Create a rule in .claude/rules/interface.md for the interface files. Require visible sources beside meeting facts, distinct loading and error states, one clear primary action, and a phone-width review after changes. Show me the file and explain its scope.</a:t>
            </a:r>
          </a:p>
        </p:txBody>
      </p:sp>
      <p:sp>
        <p:nvSpPr>
          <p:cNvPr id="5" name="panel-315">
            <a:extLst xmlns:a="http://schemas.openxmlformats.org/drawingml/2006/main">
              <a:ext uri="{FF2B5EF4-FFF2-40B4-BE49-F238E27FC236}">
                <a16:creationId xmlns:a16="http://schemas.microsoft.com/office/drawing/2014/main" id="{75593042-EFC2-4876-B5D6-1818585AD88B}"/>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316">
            <a:extLst xmlns:a="http://schemas.openxmlformats.org/drawingml/2006/main">
              <a:ext uri="{FF2B5EF4-FFF2-40B4-BE49-F238E27FC236}">
                <a16:creationId xmlns:a16="http://schemas.microsoft.com/office/drawing/2014/main" id="{1EE02DAE-15BC-41A8-B98D-B2486C54D3BE}"/>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An observable design rule</a:t>
            </a:r>
          </a:p>
        </p:txBody>
      </p:sp>
      <p:sp>
        <p:nvSpPr>
          <p:cNvPr id="7" name="text-317">
            <a:extLst xmlns:a="http://schemas.openxmlformats.org/drawingml/2006/main">
              <a:ext uri="{FF2B5EF4-FFF2-40B4-BE49-F238E27FC236}">
                <a16:creationId xmlns:a16="http://schemas.microsoft.com/office/drawing/2014/main" id="{C16B5482-6973-4F18-BA94-02AFEF6AAA1F}"/>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Preference:</a:t>
            </a:r>
            <a:r>
              <a:rPr sz="2025" b="0" i="0">
                <a:solidFill>
                  <a:srgbClr val="1C1C1C"/>
                </a:solidFill>
                <a:latin typeface="Helvetica Neue"/>
                <a:ea typeface="Helvetica Neue"/>
                <a:cs typeface="Helvetica Neue"/>
              </a:rPr>
              <a:t> “Make it polished.”</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Rule:</a:t>
            </a:r>
            <a:r>
              <a:rPr sz="2025" b="0" i="0">
                <a:solidFill>
                  <a:srgbClr val="1C1C1C"/>
                </a:solidFill>
                <a:latin typeface="Helvetica Neue"/>
                <a:ea typeface="Helvetica Neue"/>
                <a:cs typeface="Helvetica Neue"/>
              </a:rPr>
              <a:t> Keep source evidence beside facts.</a:t>
            </a:r>
          </a:p>
          <a:p xmlns:a="http://schemas.openxmlformats.org/drawingml/2006/main">
            <a:pPr>
              <a:defRPr sz="2025" b="0" i="0">
                <a:solidFill>
                  <a:srgbClr val="1C1C1C"/>
                </a:solidFill>
                <a:latin typeface="Helvetica Neue"/>
                <a:ea typeface="Helvetica Neue"/>
                <a:cs typeface="Helvetica Neue"/>
              </a:defRPr>
            </a:pPr>
            <a:r>
              <a:rPr sz="2025" b="1" i="1">
                <a:solidFill>
                  <a:srgbClr val="1C1C1C"/>
                </a:solidFill>
                <a:latin typeface="Helvetica Neue"/>
                <a:ea typeface="Helvetica Neue"/>
                <a:cs typeface="Helvetica Neue"/>
              </a:rPr>
              <a:t>Check:</a:t>
            </a:r>
            <a:r>
              <a:rPr sz="2025" b="0" i="1">
                <a:solidFill>
                  <a:srgbClr val="1C1C1C"/>
                </a:solidFill>
                <a:latin typeface="Helvetica Neue"/>
                <a:ea typeface="Helvetica Neue"/>
                <a:cs typeface="Helvetica Neue"/>
              </a:rPr>
              <a:t> Can I read the source ID beside Maya’s request?</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Scope:</a:t>
            </a:r>
            <a:r>
              <a:rPr sz="2025" b="0" i="0">
                <a:solidFill>
                  <a:srgbClr val="1C1C1C"/>
                </a:solidFill>
                <a:latin typeface="Helvetica Neue"/>
                <a:ea typeface="Helvetica Neue"/>
                <a:cs typeface="Helvetica Neue"/>
              </a:rPr>
              <a:t> app/ and components/ inside the build.</a:t>
            </a:r>
          </a:p>
        </p:txBody>
      </p:sp>
      <p:sp>
        <p:nvSpPr>
          <p:cNvPr id="8" name="text-318">
            <a:extLst xmlns:a="http://schemas.openxmlformats.org/drawingml/2006/main">
              <a:ext uri="{FF2B5EF4-FFF2-40B4-BE49-F238E27FC236}">
                <a16:creationId xmlns:a16="http://schemas.microsoft.com/office/drawing/2014/main" id="{C975EF76-804D-4789-A654-ACEB207E3B56}"/>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A useful rule tells us what to inspect.</a:t>
            </a:r>
          </a:p>
        </p:txBody>
      </p:sp>
      <p:sp>
        <p:nvSpPr>
          <p:cNvPr id="9" name="text-319">
            <a:extLst xmlns:a="http://schemas.openxmlformats.org/drawingml/2006/main">
              <a:ext uri="{FF2B5EF4-FFF2-40B4-BE49-F238E27FC236}">
                <a16:creationId xmlns:a16="http://schemas.microsoft.com/office/drawing/2014/main" id="{26C04D3F-57B3-4384-992F-7554B6BE06C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33</a:t>
            </a:r>
          </a:p>
        </p:txBody>
      </p:sp>
    </p:spTree>
    <p:extLst>
      <p:ext uri="{BB962C8B-B14F-4D97-AF65-F5344CB8AC3E}">
        <p14:creationId xmlns:p14="http://schemas.microsoft.com/office/powerpoint/2010/main" val="1481333257"/>
      </p:ext>
    </p:extLst>
  </p:cSld>
</p:sld>
</file>

<file path=ppt/slides/slide3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320">
            <a:extLst xmlns:a="http://schemas.openxmlformats.org/drawingml/2006/main">
              <a:ext uri="{FF2B5EF4-FFF2-40B4-BE49-F238E27FC236}">
                <a16:creationId xmlns:a16="http://schemas.microsoft.com/office/drawing/2014/main" id="{8EF23FD2-2715-438E-A40F-4F1921E172CB}"/>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Where a skill belongs</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1090613">
                <a:tc>
                  <a:txBody>
                    <a:bodyPr>
                      <a:noAutofit/>
                    </a:bodyPr>
                    <a:lstStyle/>
                    <a:p>
                      <a:r>
                        <a:rPr sz="1875" b="1" i="0">
                          <a:solidFill>
                            <a:srgbClr val="FFFFFF"/>
                          </a:solidFill>
                          <a:latin typeface="Helvetica Neue"/>
                          <a:ea typeface="Helvetica Neue"/>
                          <a:cs typeface="Helvetica Neue"/>
                        </a:rPr>
                        <a:t>Placement</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Use it when</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Example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Project</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method belongs with this app</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.claude/skills/client-brief/</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Personal</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You reuse it across your own projects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~/.claude/skills/</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Read for this task</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guidance is useful once</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A reviewed design repository</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321">
            <a:extLst xmlns:a="http://schemas.openxmlformats.org/drawingml/2006/main">
              <a:ext uri="{FF2B5EF4-FFF2-40B4-BE49-F238E27FC236}">
                <a16:creationId xmlns:a16="http://schemas.microsoft.com/office/drawing/2014/main" id="{B0BBC3F3-AD6F-44AE-A588-3DB89F79435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34</a:t>
            </a:r>
          </a:p>
        </p:txBody>
      </p:sp>
    </p:spTree>
    <p:extLst>
      <p:ext uri="{BB962C8B-B14F-4D97-AF65-F5344CB8AC3E}">
        <p14:creationId xmlns:p14="http://schemas.microsoft.com/office/powerpoint/2010/main" val="1540398826"/>
      </p:ext>
    </p:extLst>
  </p:cSld>
</p:sld>
</file>

<file path=ppt/slides/slide3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text-322">
            <a:extLst xmlns:a="http://schemas.openxmlformats.org/drawingml/2006/main">
              <a:ext uri="{FF2B5EF4-FFF2-40B4-BE49-F238E27FC236}">
                <a16:creationId xmlns:a16="http://schemas.microsoft.com/office/drawing/2014/main" id="{BF538ED2-7FE3-447C-A19C-7E6F7CDB078B}"/>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Review design guidance before using it</a:t>
            </a:r>
          </a:p>
        </p:txBody>
      </p:sp>
      <p:sp>
        <p:nvSpPr>
          <p:cNvPr id="2" name="panel-323">
            <a:extLst xmlns:a="http://schemas.openxmlformats.org/drawingml/2006/main">
              <a:ext uri="{FF2B5EF4-FFF2-40B4-BE49-F238E27FC236}">
                <a16:creationId xmlns:a16="http://schemas.microsoft.com/office/drawing/2014/main" id="{611FF702-6348-418F-83CE-51328EC5F87B}"/>
              </a:ext>
            </a:extLst>
          </p:cNvPr>
          <p:cNvSpPr>
            <a:spLocks xmlns:a="http://schemas.openxmlformats.org/drawingml/2006/main" noGrp="1"/>
          </p:cNvSpPr>
          <p:nvPr/>
        </p:nvSpPr>
        <p:spPr>
          <a:xfrm xmlns:a="http://schemas.openxmlformats.org/drawingml/2006/main">
            <a:off x="609600" y="1981200"/>
            <a:ext cx="10972800" cy="211455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panel-324">
            <a:extLst xmlns:a="http://schemas.openxmlformats.org/drawingml/2006/main">
              <a:ext uri="{FF2B5EF4-FFF2-40B4-BE49-F238E27FC236}">
                <a16:creationId xmlns:a16="http://schemas.microsoft.com/office/drawing/2014/main" id="{2BC55CEF-7E7E-4EAD-85AE-98FE4FC650AB}"/>
              </a:ext>
            </a:extLst>
          </p:cNvPr>
          <p:cNvSpPr>
            <a:spLocks xmlns:a="http://schemas.openxmlformats.org/drawingml/2006/main" noGrp="1"/>
          </p:cNvSpPr>
          <p:nvPr/>
        </p:nvSpPr>
        <p:spPr>
          <a:xfrm xmlns:a="http://schemas.openxmlformats.org/drawingml/2006/main">
            <a:off x="609600" y="1981200"/>
            <a:ext cx="38100" cy="211455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4" name="text-325">
            <a:extLst xmlns:a="http://schemas.openxmlformats.org/drawingml/2006/main">
              <a:ext uri="{FF2B5EF4-FFF2-40B4-BE49-F238E27FC236}">
                <a16:creationId xmlns:a16="http://schemas.microsoft.com/office/drawing/2014/main" id="{6C9C21F8-D193-4DE9-9D17-2F280B1B551F}"/>
              </a:ext>
            </a:extLst>
          </p:cNvPr>
          <p:cNvSpPr>
            <a:spLocks xmlns:a="http://schemas.openxmlformats.org/drawingml/2006/main" noGrp="1"/>
          </p:cNvSpPr>
          <p:nvPr/>
        </p:nvSpPr>
        <p:spPr>
          <a:xfrm xmlns:a="http://schemas.openxmlformats.org/drawingml/2006/main">
            <a:off x="876300" y="2209800"/>
            <a:ext cx="1038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Read the supplied .claude/rules/interface.md without changing files. Explain its scope and observable checks. If reviewing an external design skill later, record its exact source revision and inspect scripts before using its guidance.</a:t>
            </a:r>
          </a:p>
        </p:txBody>
      </p:sp>
      <p:sp>
        <p:nvSpPr>
          <p:cNvPr id="5" name="text-326">
            <a:extLst xmlns:a="http://schemas.openxmlformats.org/drawingml/2006/main">
              <a:ext uri="{FF2B5EF4-FFF2-40B4-BE49-F238E27FC236}">
                <a16:creationId xmlns:a16="http://schemas.microsoft.com/office/drawing/2014/main" id="{C4A5A357-6C91-4A21-BA79-B8B7385E3711}"/>
              </a:ext>
            </a:extLst>
          </p:cNvPr>
          <p:cNvSpPr>
            <a:spLocks xmlns:a="http://schemas.openxmlformats.org/drawingml/2006/main" noGrp="1"/>
          </p:cNvSpPr>
          <p:nvPr/>
        </p:nvSpPr>
        <p:spPr>
          <a:xfrm xmlns:a="http://schemas.openxmlformats.org/drawingml/2006/main">
            <a:off x="609600" y="528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686868"/>
                </a:solidFill>
                <a:latin typeface="Helvetica Neue"/>
                <a:ea typeface="Helvetica Neue"/>
                <a:cs typeface="Helvetica Neue"/>
              </a:defRPr>
            </a:pPr>
            <a:r>
              <a:rPr sz="1875" b="1" i="0">
                <a:solidFill>
                  <a:srgbClr val="686868"/>
                </a:solidFill>
                <a:latin typeface="Helvetica Neue"/>
                <a:ea typeface="Helvetica Neue"/>
                <a:cs typeface="Helvetica Neue"/>
              </a:rPr>
              <a:t>Classroom example:</a:t>
            </a:r>
            <a:r>
              <a:rPr sz="1875" b="0" i="0">
                <a:solidFill>
                  <a:srgbClr val="686868"/>
                </a:solidFill>
                <a:latin typeface="Helvetica Neue"/>
                <a:ea typeface="Helvetica Neue"/>
                <a:cs typeface="Helvetica Neue"/>
              </a:rPr>
              <a:t> the supplied interface rule. External skills are an optional extension.</a:t>
            </a:r>
          </a:p>
        </p:txBody>
      </p:sp>
      <p:sp>
        <p:nvSpPr>
          <p:cNvPr id="6" name="text-327">
            <a:extLst xmlns:a="http://schemas.openxmlformats.org/drawingml/2006/main">
              <a:ext uri="{FF2B5EF4-FFF2-40B4-BE49-F238E27FC236}">
                <a16:creationId xmlns:a16="http://schemas.microsoft.com/office/drawing/2014/main" id="{2E144084-3574-4BAD-BBF4-A76E3D2A885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35</a:t>
            </a:r>
          </a:p>
        </p:txBody>
      </p:sp>
    </p:spTree>
    <p:extLst>
      <p:ext uri="{BB962C8B-B14F-4D97-AF65-F5344CB8AC3E}">
        <p14:creationId xmlns:p14="http://schemas.microsoft.com/office/powerpoint/2010/main" val="556318021"/>
      </p:ext>
    </p:extLst>
  </p:cSld>
</p:sld>
</file>

<file path=ppt/slides/slide3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328">
            <a:extLst xmlns:a="http://schemas.openxmlformats.org/drawingml/2006/main">
              <a:ext uri="{FF2B5EF4-FFF2-40B4-BE49-F238E27FC236}">
                <a16:creationId xmlns:a16="http://schemas.microsoft.com/office/drawing/2014/main" id="{50C32A3E-1C56-4295-B27C-83AA6C06087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Enter Plan mode before changing files</a:t>
            </a:r>
          </a:p>
        </p:txBody>
      </p:sp>
      <p:sp>
        <p:nvSpPr>
          <p:cNvPr id="2" name="panel-329">
            <a:extLst xmlns:a="http://schemas.openxmlformats.org/drawingml/2006/main">
              <a:ext uri="{FF2B5EF4-FFF2-40B4-BE49-F238E27FC236}">
                <a16:creationId xmlns:a16="http://schemas.microsoft.com/office/drawing/2014/main" id="{9C6DA071-217F-4853-9026-E1B2067A1477}"/>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330">
            <a:extLst xmlns:a="http://schemas.openxmlformats.org/drawingml/2006/main">
              <a:ext uri="{FF2B5EF4-FFF2-40B4-BE49-F238E27FC236}">
                <a16:creationId xmlns:a16="http://schemas.microsoft.com/office/drawing/2014/main" id="{0D0181F9-EE22-48A1-9BEA-83E8D17589DF}"/>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331">
            <a:extLst xmlns:a="http://schemas.openxmlformats.org/drawingml/2006/main">
              <a:ext uri="{FF2B5EF4-FFF2-40B4-BE49-F238E27FC236}">
                <a16:creationId xmlns:a16="http://schemas.microsoft.com/office/drawing/2014/main" id="{2CB0F21F-D9F8-4670-8BE8-4AF9756B6D6D}"/>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332">
            <a:extLst xmlns:a="http://schemas.openxmlformats.org/drawingml/2006/main">
              <a:ext uri="{FF2B5EF4-FFF2-40B4-BE49-F238E27FC236}">
                <a16:creationId xmlns:a16="http://schemas.microsoft.com/office/drawing/2014/main" id="{1196139F-4E6A-459E-B4C3-8590A0B55C4A}"/>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333">
            <a:extLst xmlns:a="http://schemas.openxmlformats.org/drawingml/2006/main">
              <a:ext uri="{FF2B5EF4-FFF2-40B4-BE49-F238E27FC236}">
                <a16:creationId xmlns:a16="http://schemas.microsoft.com/office/drawing/2014/main" id="{CB0C24E5-8C91-4600-BA27-3B9934DC5EDF}"/>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 me switch this Claude Code session to Plan mode. Confirm it is active. Read the brief and design files, ask about missing decisions, and propose the build sequence before editing the app.</a:t>
            </a:r>
          </a:p>
        </p:txBody>
      </p:sp>
      <p:sp>
        <p:nvSpPr>
          <p:cNvPr id="7" name="text-334">
            <a:extLst xmlns:a="http://schemas.openxmlformats.org/drawingml/2006/main">
              <a:ext uri="{FF2B5EF4-FFF2-40B4-BE49-F238E27FC236}">
                <a16:creationId xmlns:a16="http://schemas.microsoft.com/office/drawing/2014/main" id="{D243BF35-5990-46B1-A25D-E0977F63FBFA}"/>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Mode:</a:t>
            </a:r>
            <a:r>
              <a:rPr sz="1875" b="0" i="0">
                <a:solidFill>
                  <a:srgbClr val="1C1C1C"/>
                </a:solidFill>
                <a:latin typeface="Helvetica Neue"/>
                <a:ea typeface="Helvetica Neue"/>
                <a:cs typeface="Helvetica Neue"/>
              </a:rPr>
              <a:t> separates planning from implementation.</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Evidence:</a:t>
            </a:r>
            <a:r>
              <a:rPr sz="1875" b="0" i="0">
                <a:solidFill>
                  <a:srgbClr val="1C1C1C"/>
                </a:solidFill>
                <a:latin typeface="Helvetica Neue"/>
                <a:ea typeface="Helvetica Neue"/>
                <a:cs typeface="Helvetica Neue"/>
              </a:rPr>
              <a:t> reads the project before proposing work.</a:t>
            </a:r>
          </a:p>
        </p:txBody>
      </p:sp>
      <p:sp>
        <p:nvSpPr>
          <p:cNvPr id="8" name="panel-335">
            <a:extLst xmlns:a="http://schemas.openxmlformats.org/drawingml/2006/main">
              <a:ext uri="{FF2B5EF4-FFF2-40B4-BE49-F238E27FC236}">
                <a16:creationId xmlns:a16="http://schemas.microsoft.com/office/drawing/2014/main" id="{96BD886E-435A-42B5-BF37-A59CDB95A775}"/>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336">
            <a:extLst xmlns:a="http://schemas.openxmlformats.org/drawingml/2006/main">
              <a:ext uri="{FF2B5EF4-FFF2-40B4-BE49-F238E27FC236}">
                <a16:creationId xmlns:a16="http://schemas.microsoft.com/office/drawing/2014/main" id="{3DF29CC4-11F6-4C71-A865-EB83253B0EC0}"/>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session shows Plan mode and returns decisions and a plan.</a:t>
            </a:r>
          </a:p>
        </p:txBody>
      </p:sp>
      <p:sp>
        <p:nvSpPr>
          <p:cNvPr id="10" name="text-337">
            <a:extLst xmlns:a="http://schemas.openxmlformats.org/drawingml/2006/main">
              <a:ext uri="{FF2B5EF4-FFF2-40B4-BE49-F238E27FC236}">
                <a16:creationId xmlns:a16="http://schemas.microsoft.com/office/drawing/2014/main" id="{C2AA0C5C-5E43-4833-927E-0A4A5A39F69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36</a:t>
            </a:r>
          </a:p>
        </p:txBody>
      </p:sp>
    </p:spTree>
    <p:extLst>
      <p:ext uri="{BB962C8B-B14F-4D97-AF65-F5344CB8AC3E}">
        <p14:creationId xmlns:p14="http://schemas.microsoft.com/office/powerpoint/2010/main" val="1444495193"/>
      </p:ext>
    </p:extLst>
  </p:cSld>
</p:sld>
</file>

<file path=ppt/slides/slide3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text-338">
            <a:extLst xmlns:a="http://schemas.openxmlformats.org/drawingml/2006/main">
              <a:ext uri="{FF2B5EF4-FFF2-40B4-BE49-F238E27FC236}">
                <a16:creationId xmlns:a16="http://schemas.microsoft.com/office/drawing/2014/main" id="{E880D5F7-E1CA-45B2-B3E9-5C1A074598F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planning conversation</a:t>
            </a:r>
          </a:p>
        </p:txBody>
      </p:sp>
      <p:sp>
        <p:nvSpPr>
          <p:cNvPr id="2" name="panel-339">
            <a:extLst xmlns:a="http://schemas.openxmlformats.org/drawingml/2006/main">
              <a:ext uri="{FF2B5EF4-FFF2-40B4-BE49-F238E27FC236}">
                <a16:creationId xmlns:a16="http://schemas.microsoft.com/office/drawing/2014/main" id="{4FC13118-A4B8-4118-8117-7D6CBA2B33CB}"/>
              </a:ext>
            </a:extLst>
          </p:cNvPr>
          <p:cNvSpPr>
            <a:spLocks xmlns:a="http://schemas.openxmlformats.org/drawingml/2006/main" noGrp="1"/>
          </p:cNvSpPr>
          <p:nvPr/>
        </p:nvSpPr>
        <p:spPr>
          <a:xfrm xmlns:a="http://schemas.openxmlformats.org/drawingml/2006/main">
            <a:off x="609600" y="1981200"/>
            <a:ext cx="10972800" cy="25146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panel-340">
            <a:extLst xmlns:a="http://schemas.openxmlformats.org/drawingml/2006/main">
              <a:ext uri="{FF2B5EF4-FFF2-40B4-BE49-F238E27FC236}">
                <a16:creationId xmlns:a16="http://schemas.microsoft.com/office/drawing/2014/main" id="{7D4DE679-9606-4732-A2A4-2719F46914D8}"/>
              </a:ext>
            </a:extLst>
          </p:cNvPr>
          <p:cNvSpPr>
            <a:spLocks xmlns:a="http://schemas.openxmlformats.org/drawingml/2006/main" noGrp="1"/>
          </p:cNvSpPr>
          <p:nvPr/>
        </p:nvSpPr>
        <p:spPr>
          <a:xfrm xmlns:a="http://schemas.openxmlformats.org/drawingml/2006/main">
            <a:off x="609600" y="1981200"/>
            <a:ext cx="38100" cy="251460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4" name="text-341">
            <a:extLst xmlns:a="http://schemas.openxmlformats.org/drawingml/2006/main">
              <a:ext uri="{FF2B5EF4-FFF2-40B4-BE49-F238E27FC236}">
                <a16:creationId xmlns:a16="http://schemas.microsoft.com/office/drawing/2014/main" id="{CEE77D13-B591-4C83-A7C8-1C6C24174729}"/>
              </a:ext>
            </a:extLst>
          </p:cNvPr>
          <p:cNvSpPr>
            <a:spLocks xmlns:a="http://schemas.openxmlformats.org/drawingml/2006/main" noGrp="1"/>
          </p:cNvSpPr>
          <p:nvPr/>
        </p:nvSpPr>
        <p:spPr>
          <a:xfrm xmlns:a="http://schemas.openxmlformats.org/drawingml/2006/main">
            <a:off x="876300" y="2209800"/>
            <a:ext cx="10382250"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We are building ClientDesk for a solo consultant. Read 01-planning/BRIEF.md and the sample records. Identify decisions that would block a useful first version. Ask me those questions before proposing the plan. Then outline the scope, screens, data, acceptance checks, and milestones. Do not build yet.</a:t>
            </a:r>
          </a:p>
        </p:txBody>
      </p:sp>
      <p:sp>
        <p:nvSpPr>
          <p:cNvPr id="5" name="text-342">
            <a:extLst xmlns:a="http://schemas.openxmlformats.org/drawingml/2006/main">
              <a:ext uri="{FF2B5EF4-FFF2-40B4-BE49-F238E27FC236}">
                <a16:creationId xmlns:a16="http://schemas.microsoft.com/office/drawing/2014/main" id="{C2966B3E-DAE3-4535-8499-DC8412FC57E0}"/>
              </a:ext>
            </a:extLst>
          </p:cNvPr>
          <p:cNvSpPr>
            <a:spLocks xmlns:a="http://schemas.openxmlformats.org/drawingml/2006/main" noGrp="1"/>
          </p:cNvSpPr>
          <p:nvPr/>
        </p:nvSpPr>
        <p:spPr>
          <a:xfrm xmlns:a="http://schemas.openxmlformats.org/drawingml/2006/main">
            <a:off x="609600" y="528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686868"/>
                </a:solidFill>
                <a:latin typeface="Helvetica Neue"/>
                <a:ea typeface="Helvetica Neue"/>
                <a:cs typeface="Helvetica Neue"/>
              </a:defRPr>
            </a:pPr>
            <a:r>
              <a:rPr sz="1875" b="1" i="0">
                <a:solidFill>
                  <a:srgbClr val="686868"/>
                </a:solidFill>
                <a:latin typeface="Helvetica Neue"/>
                <a:ea typeface="Helvetica Neue"/>
                <a:cs typeface="Helvetica Neue"/>
              </a:rPr>
              <a:t>Where:</a:t>
            </a:r>
            <a:r>
              <a:rPr sz="1875" b="0" i="0">
                <a:solidFill>
                  <a:srgbClr val="686868"/>
                </a:solidFill>
                <a:latin typeface="Helvetica Neue"/>
                <a:ea typeface="Helvetica Neue"/>
                <a:cs typeface="Helvetica Neue"/>
              </a:rPr>
              <a:t> Claude Code Plan mode. Review the proposed plan before asking Claude to save 01-planning/SPEC.md.</a:t>
            </a:r>
          </a:p>
        </p:txBody>
      </p:sp>
      <p:sp>
        <p:nvSpPr>
          <p:cNvPr id="6" name="text-343">
            <a:extLst xmlns:a="http://schemas.openxmlformats.org/drawingml/2006/main">
              <a:ext uri="{FF2B5EF4-FFF2-40B4-BE49-F238E27FC236}">
                <a16:creationId xmlns:a16="http://schemas.microsoft.com/office/drawing/2014/main" id="{FD586EF0-31B6-4D1E-A370-FE486CE8AF7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37</a:t>
            </a:r>
          </a:p>
        </p:txBody>
      </p:sp>
    </p:spTree>
    <p:extLst>
      <p:ext uri="{BB962C8B-B14F-4D97-AF65-F5344CB8AC3E}">
        <p14:creationId xmlns:p14="http://schemas.microsoft.com/office/powerpoint/2010/main" val="195019769"/>
      </p:ext>
    </p:extLst>
  </p:cSld>
</p:sld>
</file>

<file path=ppt/slides/slide3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344">
            <a:extLst xmlns:a="http://schemas.openxmlformats.org/drawingml/2006/main">
              <a:ext uri="{FF2B5EF4-FFF2-40B4-BE49-F238E27FC236}">
                <a16:creationId xmlns:a16="http://schemas.microsoft.com/office/drawing/2014/main" id="{1481A7D6-3E23-4B65-A8A0-FB99669C853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Answer the decisions that block the plan</a:t>
            </a:r>
          </a:p>
        </p:txBody>
      </p:sp>
      <p:sp>
        <p:nvSpPr>
          <p:cNvPr id="2" name="panel-345">
            <a:extLst xmlns:a="http://schemas.openxmlformats.org/drawingml/2006/main">
              <a:ext uri="{FF2B5EF4-FFF2-40B4-BE49-F238E27FC236}">
                <a16:creationId xmlns:a16="http://schemas.microsoft.com/office/drawing/2014/main" id="{3C17179E-B025-4511-A4C1-0B1D21B0683D}"/>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346">
            <a:extLst xmlns:a="http://schemas.openxmlformats.org/drawingml/2006/main">
              <a:ext uri="{FF2B5EF4-FFF2-40B4-BE49-F238E27FC236}">
                <a16:creationId xmlns:a16="http://schemas.microsoft.com/office/drawing/2014/main" id="{0747738A-E8D0-4BF5-9309-F00226C5CCE6}"/>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347">
            <a:extLst xmlns:a="http://schemas.openxmlformats.org/drawingml/2006/main">
              <a:ext uri="{FF2B5EF4-FFF2-40B4-BE49-F238E27FC236}">
                <a16:creationId xmlns:a16="http://schemas.microsoft.com/office/drawing/2014/main" id="{E5CFF55C-734F-4EC4-85E4-89B30BFF0A67}"/>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For the first milestone, use fictional records and one local user. The task must show its supporting meeting, owner, and proposed due date before saving. Importing the same meeting twice must keep one copy. Defer hosting until this loop passes. Keep named sign-in outside this release. Update the proposed plan.</a:t>
            </a:r>
          </a:p>
        </p:txBody>
      </p:sp>
      <p:sp>
        <p:nvSpPr>
          <p:cNvPr id="5" name="panel-348">
            <a:extLst xmlns:a="http://schemas.openxmlformats.org/drawingml/2006/main">
              <a:ext uri="{FF2B5EF4-FFF2-40B4-BE49-F238E27FC236}">
                <a16:creationId xmlns:a16="http://schemas.microsoft.com/office/drawing/2014/main" id="{D1899C91-68AC-42F5-AEE3-1792F7A5E24D}"/>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349">
            <a:extLst xmlns:a="http://schemas.openxmlformats.org/drawingml/2006/main">
              <a:ext uri="{FF2B5EF4-FFF2-40B4-BE49-F238E27FC236}">
                <a16:creationId xmlns:a16="http://schemas.microsoft.com/office/drawing/2014/main" id="{9FBF34AB-B630-4173-9854-DA5686DFD762}"/>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The decisions recorded in SPEC.md</a:t>
            </a:r>
          </a:p>
        </p:txBody>
      </p:sp>
      <p:sp>
        <p:nvSpPr>
          <p:cNvPr id="7" name="text-350">
            <a:extLst xmlns:a="http://schemas.openxmlformats.org/drawingml/2006/main">
              <a:ext uri="{FF2B5EF4-FFF2-40B4-BE49-F238E27FC236}">
                <a16:creationId xmlns:a16="http://schemas.microsoft.com/office/drawing/2014/main" id="{E13DCE39-D9D4-432C-A357-DA2B357EDB23}"/>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Use fictional practice records first.</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Review title, owner, date and source before save.</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Importing the same source updates one meeting.</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Named sign-in and shared access stay outside this release.</a:t>
            </a:r>
          </a:p>
        </p:txBody>
      </p:sp>
      <p:sp>
        <p:nvSpPr>
          <p:cNvPr id="8" name="text-351">
            <a:extLst xmlns:a="http://schemas.openxmlformats.org/drawingml/2006/main">
              <a:ext uri="{FF2B5EF4-FFF2-40B4-BE49-F238E27FC236}">
                <a16:creationId xmlns:a16="http://schemas.microsoft.com/office/drawing/2014/main" id="{E54D26C2-6673-4C1B-BFA0-0A7DF09AAAC9}"/>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Resolve decisions that change the user journey before choosing more technology.</a:t>
            </a:r>
          </a:p>
        </p:txBody>
      </p:sp>
      <p:sp>
        <p:nvSpPr>
          <p:cNvPr id="9" name="text-352">
            <a:extLst xmlns:a="http://schemas.openxmlformats.org/drawingml/2006/main">
              <a:ext uri="{FF2B5EF4-FFF2-40B4-BE49-F238E27FC236}">
                <a16:creationId xmlns:a16="http://schemas.microsoft.com/office/drawing/2014/main" id="{2A38C253-A140-4133-BEAB-708CF030CE6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38</a:t>
            </a:r>
          </a:p>
        </p:txBody>
      </p:sp>
    </p:spTree>
    <p:extLst>
      <p:ext uri="{BB962C8B-B14F-4D97-AF65-F5344CB8AC3E}">
        <p14:creationId xmlns:p14="http://schemas.microsoft.com/office/powerpoint/2010/main" val="97020336"/>
      </p:ext>
    </p:extLst>
  </p:cSld>
</p:sld>
</file>

<file path=ppt/slides/slide3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353">
            <a:extLst xmlns:a="http://schemas.openxmlformats.org/drawingml/2006/main">
              <a:ext uri="{FF2B5EF4-FFF2-40B4-BE49-F238E27FC236}">
                <a16:creationId xmlns:a16="http://schemas.microsoft.com/office/drawing/2014/main" id="{4AAEA589-83BF-44B3-BA8A-379F4F6524D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Why the planning prompt works</a:t>
            </a:r>
          </a:p>
        </p:txBody>
      </p:sp>
      <p:sp>
        <p:nvSpPr>
          <p:cNvPr id="2" name="panel-354">
            <a:extLst xmlns:a="http://schemas.openxmlformats.org/drawingml/2006/main">
              <a:ext uri="{FF2B5EF4-FFF2-40B4-BE49-F238E27FC236}">
                <a16:creationId xmlns:a16="http://schemas.microsoft.com/office/drawing/2014/main" id="{B0724875-7404-472D-85B8-B9254EA625F4}"/>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355">
            <a:extLst xmlns:a="http://schemas.openxmlformats.org/drawingml/2006/main">
              <a:ext uri="{FF2B5EF4-FFF2-40B4-BE49-F238E27FC236}">
                <a16:creationId xmlns:a16="http://schemas.microsoft.com/office/drawing/2014/main" id="{1EF3CF6D-E6D7-4016-8FB5-5820E7FAB006}"/>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356">
            <a:extLst xmlns:a="http://schemas.openxmlformats.org/drawingml/2006/main">
              <a:ext uri="{FF2B5EF4-FFF2-40B4-BE49-F238E27FC236}">
                <a16:creationId xmlns:a16="http://schemas.microsoft.com/office/drawing/2014/main" id="{65518EF7-E449-4E81-8E59-2663281D8C3D}"/>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357">
            <a:extLst xmlns:a="http://schemas.openxmlformats.org/drawingml/2006/main">
              <a:ext uri="{FF2B5EF4-FFF2-40B4-BE49-F238E27FC236}">
                <a16:creationId xmlns:a16="http://schemas.microsoft.com/office/drawing/2014/main" id="{FC4456E8-A336-4B3F-977B-28FBC0772780}"/>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358">
            <a:extLst xmlns:a="http://schemas.openxmlformats.org/drawingml/2006/main">
              <a:ext uri="{FF2B5EF4-FFF2-40B4-BE49-F238E27FC236}">
                <a16:creationId xmlns:a16="http://schemas.microsoft.com/office/drawing/2014/main" id="{D9ECCB3E-398E-4517-A36E-6D0386A715CF}"/>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Review the proposed plan against 01-planning/BRIEF.md. Identify any unstated assumption, extra feature, or requirement that cannot be checked. For each issue, propose the smallest clarification. Do not start implementation.</a:t>
            </a:r>
          </a:p>
        </p:txBody>
      </p:sp>
      <p:sp>
        <p:nvSpPr>
          <p:cNvPr id="7" name="text-359">
            <a:extLst xmlns:a="http://schemas.openxmlformats.org/drawingml/2006/main">
              <a:ext uri="{FF2B5EF4-FFF2-40B4-BE49-F238E27FC236}">
                <a16:creationId xmlns:a16="http://schemas.microsoft.com/office/drawing/2014/main" id="{33FDD0A4-6C8B-497B-B976-5963422A7CD0}"/>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Grounding:</a:t>
            </a:r>
            <a:r>
              <a:rPr sz="1875" b="0" i="0">
                <a:solidFill>
                  <a:srgbClr val="1C1C1C"/>
                </a:solidFill>
                <a:latin typeface="Helvetica Neue"/>
                <a:ea typeface="Helvetica Neue"/>
                <a:cs typeface="Helvetica Neue"/>
              </a:rPr>
              <a:t> checks against the agreed brief.</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Testability:</a:t>
            </a:r>
            <a:r>
              <a:rPr sz="1875" b="0" i="0">
                <a:solidFill>
                  <a:srgbClr val="1C1C1C"/>
                </a:solidFill>
                <a:latin typeface="Helvetica Neue"/>
                <a:ea typeface="Helvetica Neue"/>
                <a:cs typeface="Helvetica Neue"/>
              </a:rPr>
              <a:t> turns vague requirements into observable outcomes.</a:t>
            </a:r>
          </a:p>
        </p:txBody>
      </p:sp>
      <p:sp>
        <p:nvSpPr>
          <p:cNvPr id="8" name="panel-360">
            <a:extLst xmlns:a="http://schemas.openxmlformats.org/drawingml/2006/main">
              <a:ext uri="{FF2B5EF4-FFF2-40B4-BE49-F238E27FC236}">
                <a16:creationId xmlns:a16="http://schemas.microsoft.com/office/drawing/2014/main" id="{904ED26A-F018-407C-84BA-46D484589E56}"/>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361">
            <a:extLst xmlns:a="http://schemas.openxmlformats.org/drawingml/2006/main">
              <a:ext uri="{FF2B5EF4-FFF2-40B4-BE49-F238E27FC236}">
                <a16:creationId xmlns:a16="http://schemas.microsoft.com/office/drawing/2014/main" id="{703277C3-83F7-47DE-8799-8469AE08D404}"/>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Every first-milestone requirement has a clear observation or test.</a:t>
            </a:r>
          </a:p>
        </p:txBody>
      </p:sp>
      <p:sp>
        <p:nvSpPr>
          <p:cNvPr id="10" name="text-362">
            <a:extLst xmlns:a="http://schemas.openxmlformats.org/drawingml/2006/main">
              <a:ext uri="{FF2B5EF4-FFF2-40B4-BE49-F238E27FC236}">
                <a16:creationId xmlns:a16="http://schemas.microsoft.com/office/drawing/2014/main" id="{396E9788-896C-4850-A0EC-B75F5A4B9DF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39</a:t>
            </a:r>
          </a:p>
        </p:txBody>
      </p:sp>
    </p:spTree>
    <p:extLst>
      <p:ext uri="{BB962C8B-B14F-4D97-AF65-F5344CB8AC3E}">
        <p14:creationId xmlns:p14="http://schemas.microsoft.com/office/powerpoint/2010/main" val="350099764"/>
      </p:ext>
    </p:extLst>
  </p:cSld>
</p:sld>
</file>

<file path=ppt/slides/slide4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363">
            <a:extLst xmlns:a="http://schemas.openxmlformats.org/drawingml/2006/main">
              <a:ext uri="{FF2B5EF4-FFF2-40B4-BE49-F238E27FC236}">
                <a16:creationId xmlns:a16="http://schemas.microsoft.com/office/drawing/2014/main" id="{C1E62B54-E22F-49B5-A095-074719CCAE6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specification Claude can execute</a:t>
            </a:r>
          </a:p>
        </p:txBody>
      </p:sp>
      <p:sp>
        <p:nvSpPr>
          <p:cNvPr id="2" name="panel-364">
            <a:extLst xmlns:a="http://schemas.openxmlformats.org/drawingml/2006/main">
              <a:ext uri="{FF2B5EF4-FFF2-40B4-BE49-F238E27FC236}">
                <a16:creationId xmlns:a16="http://schemas.microsoft.com/office/drawing/2014/main" id="{75E3CD84-6784-44EF-8FE8-4CB250A14611}"/>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365">
            <a:extLst xmlns:a="http://schemas.openxmlformats.org/drawingml/2006/main">
              <a:ext uri="{FF2B5EF4-FFF2-40B4-BE49-F238E27FC236}">
                <a16:creationId xmlns:a16="http://schemas.microsoft.com/office/drawing/2014/main" id="{270BC599-1AE2-4089-A121-8536CA684BF3}"/>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01-planning/SPEC.md · acceptance excerpt</a:t>
            </a:r>
          </a:p>
        </p:txBody>
      </p:sp>
      <p:sp>
        <p:nvSpPr>
          <p:cNvPr id="4" name="text-366">
            <a:extLst xmlns:a="http://schemas.openxmlformats.org/drawingml/2006/main">
              <a:ext uri="{FF2B5EF4-FFF2-40B4-BE49-F238E27FC236}">
                <a16:creationId xmlns:a16="http://schemas.microsoft.com/office/drawing/2014/main" id="{5A7DC537-D092-433A-902C-BF45E7DB63B3}"/>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1. Northstar shows the checklist request and source demo-transcript-001.</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2. Cedar says transcript unavailable; Atlas has a useful empty state.</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3. Review/save/read-back works and repeated save creates one task.</a:t>
            </a:r>
          </a:p>
        </p:txBody>
      </p:sp>
      <p:sp>
        <p:nvSpPr>
          <p:cNvPr id="5" name="panel-367">
            <a:extLst xmlns:a="http://schemas.openxmlformats.org/drawingml/2006/main">
              <a:ext uri="{FF2B5EF4-FFF2-40B4-BE49-F238E27FC236}">
                <a16:creationId xmlns:a16="http://schemas.microsoft.com/office/drawing/2014/main" id="{B7184394-9F8D-4873-ABED-884B75DEC1C5}"/>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368">
            <a:extLst xmlns:a="http://schemas.openxmlformats.org/drawingml/2006/main">
              <a:ext uri="{FF2B5EF4-FFF2-40B4-BE49-F238E27FC236}">
                <a16:creationId xmlns:a16="http://schemas.microsoft.com/office/drawing/2014/main" id="{78E5F1D0-5059-446B-8368-CB4B54E59CFB}"/>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What we inspect</a:t>
            </a:r>
          </a:p>
        </p:txBody>
      </p:sp>
      <p:sp>
        <p:nvSpPr>
          <p:cNvPr id="7" name="text-369">
            <a:extLst xmlns:a="http://schemas.openxmlformats.org/drawingml/2006/main">
              <a:ext uri="{FF2B5EF4-FFF2-40B4-BE49-F238E27FC236}">
                <a16:creationId xmlns:a16="http://schemas.microsoft.com/office/drawing/2014/main" id="{47551654-0B18-4DF0-A77D-51C782EBDF13}"/>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A visible source.</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An honest missing-data state.</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A task that survives reload.</a:t>
            </a:r>
          </a:p>
          <a:p xmlns:a="http://schemas.openxmlformats.org/drawingml/2006/main">
            <a:r>
              <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These become our demo checks.</a:t>
            </a:r>
          </a:p>
        </p:txBody>
      </p:sp>
      <p:sp>
        <p:nvSpPr>
          <p:cNvPr id="8" name="text-370">
            <a:extLst xmlns:a="http://schemas.openxmlformats.org/drawingml/2006/main">
              <a:ext uri="{FF2B5EF4-FFF2-40B4-BE49-F238E27FC236}">
                <a16:creationId xmlns:a16="http://schemas.microsoft.com/office/drawing/2014/main" id="{A7A10ACA-3367-4A40-96C1-980A63449B3D}"/>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40</a:t>
            </a:r>
          </a:p>
        </p:txBody>
      </p:sp>
    </p:spTree>
    <p:extLst>
      <p:ext uri="{BB962C8B-B14F-4D97-AF65-F5344CB8AC3E}">
        <p14:creationId xmlns:p14="http://schemas.microsoft.com/office/powerpoint/2010/main" val="885765707"/>
      </p:ext>
    </p:extLst>
  </p:cSld>
</p:sld>
</file>

<file path=ppt/slides/slide4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371">
            <a:extLst xmlns:a="http://schemas.openxmlformats.org/drawingml/2006/main">
              <a:ext uri="{FF2B5EF4-FFF2-40B4-BE49-F238E27FC236}">
                <a16:creationId xmlns:a16="http://schemas.microsoft.com/office/drawing/2014/main" id="{AC47CBA3-9524-4841-964A-96FE643D31BA}"/>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Approve and save the specification</a:t>
            </a:r>
          </a:p>
        </p:txBody>
      </p:sp>
      <p:sp>
        <p:nvSpPr>
          <p:cNvPr id="2" name="panel-372">
            <a:extLst xmlns:a="http://schemas.openxmlformats.org/drawingml/2006/main">
              <a:ext uri="{FF2B5EF4-FFF2-40B4-BE49-F238E27FC236}">
                <a16:creationId xmlns:a16="http://schemas.microsoft.com/office/drawing/2014/main" id="{8CBA4991-1D22-406E-84D7-1BC6A0917540}"/>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373">
            <a:extLst xmlns:a="http://schemas.openxmlformats.org/drawingml/2006/main">
              <a:ext uri="{FF2B5EF4-FFF2-40B4-BE49-F238E27FC236}">
                <a16:creationId xmlns:a16="http://schemas.microsoft.com/office/drawing/2014/main" id="{93BFF294-C0B8-4FC4-AA19-A2E5C42AEFD1}"/>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374">
            <a:extLst xmlns:a="http://schemas.openxmlformats.org/drawingml/2006/main">
              <a:ext uri="{FF2B5EF4-FFF2-40B4-BE49-F238E27FC236}">
                <a16:creationId xmlns:a16="http://schemas.microsoft.com/office/drawing/2014/main" id="{B6A86E3C-0AD5-48F6-892E-D59C520750C0}"/>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I approve the reviewed plan. Save it to 01-planning/SPEC.md with the first-release scope, source fields, screens, failure behavior, acceptance checks, and milestones. Put the milestone checklist in 01-planning/MILESTONES.md. Do not build yet.</a:t>
            </a:r>
          </a:p>
        </p:txBody>
      </p:sp>
      <p:sp>
        <p:nvSpPr>
          <p:cNvPr id="5" name="panel-375">
            <a:extLst xmlns:a="http://schemas.openxmlformats.org/drawingml/2006/main">
              <a:ext uri="{FF2B5EF4-FFF2-40B4-BE49-F238E27FC236}">
                <a16:creationId xmlns:a16="http://schemas.microsoft.com/office/drawing/2014/main" id="{93FD1117-A380-46BE-919D-1B3709DFC092}"/>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376">
            <a:extLst xmlns:a="http://schemas.openxmlformats.org/drawingml/2006/main">
              <a:ext uri="{FF2B5EF4-FFF2-40B4-BE49-F238E27FC236}">
                <a16:creationId xmlns:a16="http://schemas.microsoft.com/office/drawing/2014/main" id="{361A54C7-9E79-4208-8C15-7852D7FCD609}"/>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The saved artifacts</a:t>
            </a:r>
          </a:p>
        </p:txBody>
      </p:sp>
      <p:sp>
        <p:nvSpPr>
          <p:cNvPr id="7" name="text-377">
            <a:extLst xmlns:a="http://schemas.openxmlformats.org/drawingml/2006/main">
              <a:ext uri="{FF2B5EF4-FFF2-40B4-BE49-F238E27FC236}">
                <a16:creationId xmlns:a16="http://schemas.microsoft.com/office/drawing/2014/main" id="{634B72F0-F438-4A46-98A8-8DC460DE6C89}"/>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01-planning/BRIEF.md</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The person, job and boundaries</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01-planning/SPEC.md</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The behavior and acceptance checks</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01-planning/MILESTONES.md</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The order and stopping points</a:t>
            </a:r>
          </a:p>
        </p:txBody>
      </p:sp>
      <p:sp>
        <p:nvSpPr>
          <p:cNvPr id="8" name="text-378">
            <a:extLst xmlns:a="http://schemas.openxmlformats.org/drawingml/2006/main">
              <a:ext uri="{FF2B5EF4-FFF2-40B4-BE49-F238E27FC236}">
                <a16:creationId xmlns:a16="http://schemas.microsoft.com/office/drawing/2014/main" id="{07F6F49C-8126-475F-9C8F-A5064F78078A}"/>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Open the files after saving. A chat answer alone is not the project contract.</a:t>
            </a:r>
          </a:p>
        </p:txBody>
      </p:sp>
      <p:sp>
        <p:nvSpPr>
          <p:cNvPr id="9" name="text-379">
            <a:extLst xmlns:a="http://schemas.openxmlformats.org/drawingml/2006/main">
              <a:ext uri="{FF2B5EF4-FFF2-40B4-BE49-F238E27FC236}">
                <a16:creationId xmlns:a16="http://schemas.microsoft.com/office/drawing/2014/main" id="{FBA7EB77-BB80-4509-9B33-972B4C50A3A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41</a:t>
            </a:r>
          </a:p>
        </p:txBody>
      </p:sp>
    </p:spTree>
    <p:extLst>
      <p:ext uri="{BB962C8B-B14F-4D97-AF65-F5344CB8AC3E}">
        <p14:creationId xmlns:p14="http://schemas.microsoft.com/office/powerpoint/2010/main" val="1536970230"/>
      </p:ext>
    </p:extLst>
  </p:cSld>
</p:sld>
</file>

<file path=ppt/slides/slide4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380">
            <a:extLst xmlns:a="http://schemas.openxmlformats.org/drawingml/2006/main">
              <a:ext uri="{FF2B5EF4-FFF2-40B4-BE49-F238E27FC236}">
                <a16:creationId xmlns:a16="http://schemas.microsoft.com/office/drawing/2014/main" id="{F9D0A848-3E59-455A-BAE7-906CE6BBE05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Acceptance checks remove guesswork</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872490">
                <a:tc>
                  <a:txBody>
                    <a:bodyPr>
                      <a:noAutofit/>
                    </a:bodyPr>
                    <a:lstStyle/>
                    <a:p>
                      <a:r>
                        <a:rPr sz="1875" b="1" i="0">
                          <a:solidFill>
                            <a:srgbClr val="FFFFFF"/>
                          </a:solidFill>
                          <a:latin typeface="Helvetica Neue"/>
                          <a:ea typeface="Helvetica Neue"/>
                          <a:cs typeface="Helvetica Neue"/>
                        </a:rPr>
                        <a:t>Given</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When</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Then</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872490">
                <a:tc>
                  <a:txBody>
                    <a:bodyPr>
                      <a:noAutofit/>
                    </a:bodyPr>
                    <a:lstStyle/>
                    <a:p>
                      <a:r>
                        <a:rPr sz="1875" b="1" i="0">
                          <a:solidFill>
                            <a:srgbClr val="1C1C1C"/>
                          </a:solidFill>
                          <a:latin typeface="Helvetica Neue"/>
                          <a:ea typeface="Helvetica Neue"/>
                          <a:cs typeface="Helvetica Neue"/>
                        </a:rPr>
                        <a:t>Northstar has a meeting</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I open the client</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I see its date and source</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The transcript is unavailable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The import runs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The app says transcript unavailable</a:t>
                      </a:r>
                    </a:p>
                  </a:txBody>
                  <a:tcPr marL="171450" marR="171450" marT="114300" marB="114300" anchor="ctr">
                    <a:lnR w="19050">
                      <a:solidFill>
                        <a:srgbClr val="F8F5F0"/>
                      </a:solidFill>
                    </a:lnR>
                    <a:lnB w="19050">
                      <a:solidFill>
                        <a:srgbClr val="F8F5F0"/>
                      </a:solidFill>
                    </a:lnB>
                    <a:solidFill>
                      <a:srgbClr val="F8F5F0"/>
                    </a:solidFill>
                  </a:tcPr>
                </a:tc>
              </a:tr>
              <a:tr h="872490">
                <a:tc>
                  <a:txBody>
                    <a:bodyPr>
                      <a:noAutofit/>
                    </a:bodyPr>
                    <a:lstStyle/>
                    <a:p>
                      <a:r>
                        <a:rPr sz="1875" b="1" i="0">
                          <a:solidFill>
                            <a:srgbClr val="1C1C1C"/>
                          </a:solidFill>
                          <a:latin typeface="Helvetica Neue"/>
                          <a:ea typeface="Helvetica Neue"/>
                          <a:cs typeface="Helvetica Neue"/>
                        </a:rPr>
                        <a:t>The same meeting arrives twice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I import it again</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There is still one meeting</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Another visitor</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Requests this workspace’s task</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Access is refused</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381">
            <a:extLst xmlns:a="http://schemas.openxmlformats.org/drawingml/2006/main">
              <a:ext uri="{FF2B5EF4-FFF2-40B4-BE49-F238E27FC236}">
                <a16:creationId xmlns:a16="http://schemas.microsoft.com/office/drawing/2014/main" id="{687AF394-CFD8-4CCC-AEE5-E59B428CC2A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42</a:t>
            </a:r>
          </a:p>
        </p:txBody>
      </p:sp>
    </p:spTree>
    <p:extLst>
      <p:ext uri="{BB962C8B-B14F-4D97-AF65-F5344CB8AC3E}">
        <p14:creationId xmlns:p14="http://schemas.microsoft.com/office/powerpoint/2010/main" val="1659582746"/>
      </p:ext>
    </p:extLst>
  </p:cSld>
</p:sld>
</file>

<file path=ppt/slides/slide4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5" name="text-382">
            <a:extLst xmlns:a="http://schemas.openxmlformats.org/drawingml/2006/main">
              <a:ext uri="{FF2B5EF4-FFF2-40B4-BE49-F238E27FC236}">
                <a16:creationId xmlns:a16="http://schemas.microsoft.com/office/drawing/2014/main" id="{57A593D4-6AFE-4AD9-8A50-C82A48E3FA7B}"/>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Milestones Claude can finish</a:t>
            </a:r>
          </a:p>
        </p:txBody>
      </p:sp>
      <p:sp>
        <p:nvSpPr>
          <p:cNvPr id="2" name="text-383">
            <a:extLst xmlns:a="http://schemas.openxmlformats.org/drawingml/2006/main">
              <a:ext uri="{FF2B5EF4-FFF2-40B4-BE49-F238E27FC236}">
                <a16:creationId xmlns:a16="http://schemas.microsoft.com/office/drawing/2014/main" id="{1166F82E-CC45-4458-ABD0-FF01E27B0308}"/>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384">
            <a:extLst xmlns:a="http://schemas.openxmlformats.org/drawingml/2006/main">
              <a:ext uri="{FF2B5EF4-FFF2-40B4-BE49-F238E27FC236}">
                <a16:creationId xmlns:a16="http://schemas.microsoft.com/office/drawing/2014/main" id="{8D141580-6DD5-40EA-BF7F-533E2BA52E85}"/>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385">
            <a:extLst xmlns:a="http://schemas.openxmlformats.org/drawingml/2006/main">
              <a:ext uri="{FF2B5EF4-FFF2-40B4-BE49-F238E27FC236}">
                <a16:creationId xmlns:a16="http://schemas.microsoft.com/office/drawing/2014/main" id="{7F71B8B7-9DD0-4BD3-871A-67B709354568}"/>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Evidence + screen</a:t>
            </a:r>
          </a:p>
        </p:txBody>
      </p:sp>
      <p:sp>
        <p:nvSpPr>
          <p:cNvPr id="5" name="panel-386">
            <a:extLst xmlns:a="http://schemas.openxmlformats.org/drawingml/2006/main">
              <a:ext uri="{FF2B5EF4-FFF2-40B4-BE49-F238E27FC236}">
                <a16:creationId xmlns:a16="http://schemas.microsoft.com/office/drawing/2014/main" id="{90D959A8-7AD4-4338-A85E-1F61B58926B8}"/>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387">
            <a:extLst xmlns:a="http://schemas.openxmlformats.org/drawingml/2006/main">
              <a:ext uri="{FF2B5EF4-FFF2-40B4-BE49-F238E27FC236}">
                <a16:creationId xmlns:a16="http://schemas.microsoft.com/office/drawing/2014/main" id="{73A3B43C-372A-4E78-BEB2-E6C7D456A3CF}"/>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388">
            <a:extLst xmlns:a="http://schemas.openxmlformats.org/drawingml/2006/main">
              <a:ext uri="{FF2B5EF4-FFF2-40B4-BE49-F238E27FC236}">
                <a16:creationId xmlns:a16="http://schemas.microsoft.com/office/drawing/2014/main" id="{8AF2359B-2968-4354-8BE2-BF56D33AEA0F}"/>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389">
            <a:extLst xmlns:a="http://schemas.openxmlformats.org/drawingml/2006/main">
              <a:ext uri="{FF2B5EF4-FFF2-40B4-BE49-F238E27FC236}">
                <a16:creationId xmlns:a16="http://schemas.microsoft.com/office/drawing/2014/main" id="{64D49AF6-0EF8-4B47-AE9D-B2598C957217}"/>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390">
            <a:extLst xmlns:a="http://schemas.openxmlformats.org/drawingml/2006/main">
              <a:ext uri="{FF2B5EF4-FFF2-40B4-BE49-F238E27FC236}">
                <a16:creationId xmlns:a16="http://schemas.microsoft.com/office/drawing/2014/main" id="{4D690FF4-2D73-46E2-9B40-7A48AE37B0F7}"/>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Review + save</a:t>
            </a:r>
          </a:p>
        </p:txBody>
      </p:sp>
      <p:sp>
        <p:nvSpPr>
          <p:cNvPr id="11" name="panel-391">
            <a:extLst xmlns:a="http://schemas.openxmlformats.org/drawingml/2006/main">
              <a:ext uri="{FF2B5EF4-FFF2-40B4-BE49-F238E27FC236}">
                <a16:creationId xmlns:a16="http://schemas.microsoft.com/office/drawing/2014/main" id="{34AB3F25-74B2-461C-B42D-E094D22F4123}"/>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392">
            <a:extLst xmlns:a="http://schemas.openxmlformats.org/drawingml/2006/main">
              <a:ext uri="{FF2B5EF4-FFF2-40B4-BE49-F238E27FC236}">
                <a16:creationId xmlns:a16="http://schemas.microsoft.com/office/drawing/2014/main" id="{A04B78FC-F5AB-402F-B516-CDDAEF631DFA}"/>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393">
            <a:extLst xmlns:a="http://schemas.openxmlformats.org/drawingml/2006/main">
              <a:ext uri="{FF2B5EF4-FFF2-40B4-BE49-F238E27FC236}">
                <a16:creationId xmlns:a16="http://schemas.microsoft.com/office/drawing/2014/main" id="{27AA2A58-1797-4FA1-9319-275DD019D1EA}"/>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394">
            <a:extLst xmlns:a="http://schemas.openxmlformats.org/drawingml/2006/main">
              <a:ext uri="{FF2B5EF4-FFF2-40B4-BE49-F238E27FC236}">
                <a16:creationId xmlns:a16="http://schemas.microsoft.com/office/drawing/2014/main" id="{7B284295-6B54-4055-8ADA-80B81576473C}"/>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395">
            <a:extLst xmlns:a="http://schemas.openxmlformats.org/drawingml/2006/main">
              <a:ext uri="{FF2B5EF4-FFF2-40B4-BE49-F238E27FC236}">
                <a16:creationId xmlns:a16="http://schemas.microsoft.com/office/drawing/2014/main" id="{D9354D5C-5147-478E-AF5B-493680E1CF91}"/>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Import + inspect</a:t>
            </a:r>
          </a:p>
        </p:txBody>
      </p:sp>
      <p:sp>
        <p:nvSpPr>
          <p:cNvPr id="17" name="panel-396">
            <a:extLst xmlns:a="http://schemas.openxmlformats.org/drawingml/2006/main">
              <a:ext uri="{FF2B5EF4-FFF2-40B4-BE49-F238E27FC236}">
                <a16:creationId xmlns:a16="http://schemas.microsoft.com/office/drawing/2014/main" id="{893A7956-8922-4C54-A1B2-2438F46ED8E2}"/>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397">
            <a:extLst xmlns:a="http://schemas.openxmlformats.org/drawingml/2006/main">
              <a:ext uri="{FF2B5EF4-FFF2-40B4-BE49-F238E27FC236}">
                <a16:creationId xmlns:a16="http://schemas.microsoft.com/office/drawing/2014/main" id="{2D634003-2187-42C5-9EFF-08914979F69C}"/>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398">
            <a:extLst xmlns:a="http://schemas.openxmlformats.org/drawingml/2006/main">
              <a:ext uri="{FF2B5EF4-FFF2-40B4-BE49-F238E27FC236}">
                <a16:creationId xmlns:a16="http://schemas.microsoft.com/office/drawing/2014/main" id="{F93C9015-3456-4230-A4CC-500E211720A9}"/>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399">
            <a:extLst xmlns:a="http://schemas.openxmlformats.org/drawingml/2006/main">
              <a:ext uri="{FF2B5EF4-FFF2-40B4-BE49-F238E27FC236}">
                <a16:creationId xmlns:a16="http://schemas.microsoft.com/office/drawing/2014/main" id="{A4099C90-9756-4784-8062-A625F5C8D1BE}"/>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400">
            <a:extLst xmlns:a="http://schemas.openxmlformats.org/drawingml/2006/main">
              <a:ext uri="{FF2B5EF4-FFF2-40B4-BE49-F238E27FC236}">
                <a16:creationId xmlns:a16="http://schemas.microsoft.com/office/drawing/2014/main" id="{A7FB3C3A-6642-4032-A6E5-D28756F49C87}"/>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Skill + handoff</a:t>
            </a:r>
          </a:p>
        </p:txBody>
      </p:sp>
      <p:sp>
        <p:nvSpPr>
          <p:cNvPr id="23" name="text-401">
            <a:extLst xmlns:a="http://schemas.openxmlformats.org/drawingml/2006/main">
              <a:ext uri="{FF2B5EF4-FFF2-40B4-BE49-F238E27FC236}">
                <a16:creationId xmlns:a16="http://schemas.microsoft.com/office/drawing/2014/main" id="{2E75D88B-41A8-4586-B00A-498FD5F60479}"/>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The reference preserves each stage in 01-planning/MILESTONES.md and BUILD-LOG.md.</a:t>
            </a:r>
          </a:p>
        </p:txBody>
      </p:sp>
      <p:sp>
        <p:nvSpPr>
          <p:cNvPr id="24" name="text-402">
            <a:extLst xmlns:a="http://schemas.openxmlformats.org/drawingml/2006/main">
              <a:ext uri="{FF2B5EF4-FFF2-40B4-BE49-F238E27FC236}">
                <a16:creationId xmlns:a16="http://schemas.microsoft.com/office/drawing/2014/main" id="{1D657D21-E566-4B17-89F4-77AB825CDA5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43</a:t>
            </a:r>
          </a:p>
        </p:txBody>
      </p:sp>
    </p:spTree>
    <p:extLst>
      <p:ext uri="{BB962C8B-B14F-4D97-AF65-F5344CB8AC3E}">
        <p14:creationId xmlns:p14="http://schemas.microsoft.com/office/powerpoint/2010/main" val="699218721"/>
      </p:ext>
    </p:extLst>
  </p:cSld>
</p:sld>
</file>

<file path=ppt/slides/slide4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403">
            <a:extLst xmlns:a="http://schemas.openxmlformats.org/drawingml/2006/main">
              <a:ext uri="{FF2B5EF4-FFF2-40B4-BE49-F238E27FC236}">
                <a16:creationId xmlns:a16="http://schemas.microsoft.com/office/drawing/2014/main" id="{181B166E-30C8-4DDF-8037-17B92A8A4BF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checkpoint before implementation</a:t>
            </a:r>
          </a:p>
        </p:txBody>
      </p:sp>
      <p:sp>
        <p:nvSpPr>
          <p:cNvPr id="2" name="panel-404">
            <a:extLst xmlns:a="http://schemas.openxmlformats.org/drawingml/2006/main">
              <a:ext uri="{FF2B5EF4-FFF2-40B4-BE49-F238E27FC236}">
                <a16:creationId xmlns:a16="http://schemas.microsoft.com/office/drawing/2014/main" id="{3E8A759D-7CE0-4732-9817-50DCC9792F09}"/>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405">
            <a:extLst xmlns:a="http://schemas.openxmlformats.org/drawingml/2006/main">
              <a:ext uri="{FF2B5EF4-FFF2-40B4-BE49-F238E27FC236}">
                <a16:creationId xmlns:a16="http://schemas.microsoft.com/office/drawing/2014/main" id="{95C6D6DA-F77E-43A5-99BA-D7C5750C2206}"/>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406">
            <a:extLst xmlns:a="http://schemas.openxmlformats.org/drawingml/2006/main">
              <a:ext uri="{FF2B5EF4-FFF2-40B4-BE49-F238E27FC236}">
                <a16:creationId xmlns:a16="http://schemas.microsoft.com/office/drawing/2014/main" id="{D4BA1F39-6407-4DA0-8028-DDE028819B56}"/>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407">
            <a:extLst xmlns:a="http://schemas.openxmlformats.org/drawingml/2006/main">
              <a:ext uri="{FF2B5EF4-FFF2-40B4-BE49-F238E27FC236}">
                <a16:creationId xmlns:a16="http://schemas.microsoft.com/office/drawing/2014/main" id="{B22F9DC9-3C7A-40D0-939D-C4FBF347BCAC}"/>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408">
            <a:extLst xmlns:a="http://schemas.openxmlformats.org/drawingml/2006/main">
              <a:ext uri="{FF2B5EF4-FFF2-40B4-BE49-F238E27FC236}">
                <a16:creationId xmlns:a16="http://schemas.microsoft.com/office/drawing/2014/main" id="{DE0124BE-29FA-4A73-81FD-763097578C90}"/>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Read the first milestone and explain it back to me as a user journey. Name the files you expect to change, the checks you will run, and where you will stop. Flag anything that is still ambiguous. Do not edit yet.</a:t>
            </a:r>
          </a:p>
        </p:txBody>
      </p:sp>
      <p:sp>
        <p:nvSpPr>
          <p:cNvPr id="7" name="text-409">
            <a:extLst xmlns:a="http://schemas.openxmlformats.org/drawingml/2006/main">
              <a:ext uri="{FF2B5EF4-FFF2-40B4-BE49-F238E27FC236}">
                <a16:creationId xmlns:a16="http://schemas.microsoft.com/office/drawing/2014/main" id="{06FE656A-E93E-415F-9A2C-047790F247B6}"/>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Preview:</a:t>
            </a:r>
            <a:r>
              <a:rPr sz="1875" b="0" i="0">
                <a:solidFill>
                  <a:srgbClr val="1C1C1C"/>
                </a:solidFill>
                <a:latin typeface="Helvetica Neue"/>
                <a:ea typeface="Helvetica Neue"/>
                <a:cs typeface="Helvetica Neue"/>
              </a:rPr>
              <a:t> reveals misunderstandings cheaply.</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Boundary:</a:t>
            </a:r>
            <a:r>
              <a:rPr sz="1875" b="0" i="0">
                <a:solidFill>
                  <a:srgbClr val="1C1C1C"/>
                </a:solidFill>
                <a:latin typeface="Helvetica Neue"/>
                <a:ea typeface="Helvetica Neue"/>
                <a:cs typeface="Helvetica Neue"/>
              </a:rPr>
              <a:t> defines a finish line for the next request.</a:t>
            </a:r>
          </a:p>
        </p:txBody>
      </p:sp>
      <p:sp>
        <p:nvSpPr>
          <p:cNvPr id="8" name="panel-410">
            <a:extLst xmlns:a="http://schemas.openxmlformats.org/drawingml/2006/main">
              <a:ext uri="{FF2B5EF4-FFF2-40B4-BE49-F238E27FC236}">
                <a16:creationId xmlns:a16="http://schemas.microsoft.com/office/drawing/2014/main" id="{5CF7C72B-0E43-46F5-B382-C4E4C8741A05}"/>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411">
            <a:extLst xmlns:a="http://schemas.openxmlformats.org/drawingml/2006/main">
              <a:ext uri="{FF2B5EF4-FFF2-40B4-BE49-F238E27FC236}">
                <a16:creationId xmlns:a16="http://schemas.microsoft.com/office/drawing/2014/main" id="{EB445A6B-D879-41D1-97F2-3A57946F01A7}"/>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explanation matches the agreed journey and stopping point.</a:t>
            </a:r>
          </a:p>
        </p:txBody>
      </p:sp>
      <p:sp>
        <p:nvSpPr>
          <p:cNvPr id="10" name="text-412">
            <a:extLst xmlns:a="http://schemas.openxmlformats.org/drawingml/2006/main">
              <a:ext uri="{FF2B5EF4-FFF2-40B4-BE49-F238E27FC236}">
                <a16:creationId xmlns:a16="http://schemas.microsoft.com/office/drawing/2014/main" id="{8174AB04-EF8C-463D-A1BA-AC46CCF4837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44</a:t>
            </a:r>
          </a:p>
        </p:txBody>
      </p:sp>
    </p:spTree>
    <p:extLst>
      <p:ext uri="{BB962C8B-B14F-4D97-AF65-F5344CB8AC3E}">
        <p14:creationId xmlns:p14="http://schemas.microsoft.com/office/powerpoint/2010/main" val="2084471405"/>
      </p:ext>
    </p:extLst>
  </p:cSld>
</p:sld>
</file>

<file path=ppt/slides/slide45.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14" name="text-413">
            <a:extLst xmlns:a="http://schemas.openxmlformats.org/drawingml/2006/main">
              <a:ext uri="{FF2B5EF4-FFF2-40B4-BE49-F238E27FC236}">
                <a16:creationId xmlns:a16="http://schemas.microsoft.com/office/drawing/2014/main" id="{DE66ABE3-F744-4D75-8E72-83856DC6DC37}"/>
              </a:ext>
            </a:extLst>
          </p:cNvPr>
          <p:cNvSpPr>
            <a:spLocks xmlns:a="http://schemas.openxmlformats.org/drawingml/2006/main" noGrp="1"/>
          </p:cNvSpPr>
          <p:nvPr/>
        </p:nvSpPr>
        <p:spPr>
          <a:xfrm xmlns:a="http://schemas.openxmlformats.org/drawingml/2006/main">
            <a:off x="609600" y="7905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i="0">
                <a:solidFill>
                  <a:srgbClr val="D1372D"/>
                </a:solidFill>
                <a:latin typeface="Avenir Next"/>
                <a:ea typeface="Avenir Next"/>
                <a:cs typeface="Avenir Next"/>
              </a:defRPr>
            </a:pPr>
            <a:r>
              <a:rPr sz="5400" b="1" i="0">
                <a:solidFill>
                  <a:srgbClr val="D1372D"/>
                </a:solidFill>
                <a:latin typeface="Avenir Next"/>
                <a:ea typeface="Avenir Next"/>
                <a:cs typeface="Avenir Next"/>
              </a:rPr>
              <a:t>LAB</a:t>
            </a:r>
          </a:p>
        </p:txBody>
      </p:sp>
      <p:sp>
        <p:nvSpPr>
          <p:cNvPr id="2" name="text-414">
            <a:extLst xmlns:a="http://schemas.openxmlformats.org/drawingml/2006/main">
              <a:ext uri="{FF2B5EF4-FFF2-40B4-BE49-F238E27FC236}">
                <a16:creationId xmlns:a16="http://schemas.microsoft.com/office/drawing/2014/main" id="{411A6E97-43CB-4106-9720-46B05C1CC462}"/>
              </a:ext>
            </a:extLst>
          </p:cNvPr>
          <p:cNvSpPr>
            <a:spLocks xmlns:a="http://schemas.openxmlformats.org/drawingml/2006/main" noGrp="1"/>
          </p:cNvSpPr>
          <p:nvPr/>
        </p:nvSpPr>
        <p:spPr>
          <a:xfrm xmlns:a="http://schemas.openxmlformats.org/drawingml/2006/main">
            <a:off x="609600" y="1752600"/>
            <a:ext cx="2619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1" i="0">
                <a:solidFill>
                  <a:srgbClr val="D1372D"/>
                </a:solidFill>
                <a:latin typeface="Avenir Next"/>
                <a:ea typeface="Avenir Next"/>
                <a:cs typeface="Avenir Next"/>
              </a:defRPr>
            </a:pPr>
            <a:r>
              <a:rPr sz="8700" b="1" i="0">
                <a:solidFill>
                  <a:srgbClr val="D1372D"/>
                </a:solidFill>
                <a:latin typeface="Avenir Next"/>
                <a:ea typeface="Avenir Next"/>
                <a:cs typeface="Avenir Next"/>
              </a:rPr>
              <a:t>01</a:t>
            </a:r>
          </a:p>
        </p:txBody>
      </p:sp>
      <p:sp>
        <p:nvSpPr>
          <p:cNvPr id="3" name="text-415">
            <a:extLst xmlns:a="http://schemas.openxmlformats.org/drawingml/2006/main">
              <a:ext uri="{FF2B5EF4-FFF2-40B4-BE49-F238E27FC236}">
                <a16:creationId xmlns:a16="http://schemas.microsoft.com/office/drawing/2014/main" id="{221BA271-369A-42D8-ADFE-DA0BD382EA47}"/>
              </a:ext>
            </a:extLst>
          </p:cNvPr>
          <p:cNvSpPr>
            <a:spLocks xmlns:a="http://schemas.openxmlformats.org/drawingml/2006/main" noGrp="1"/>
          </p:cNvSpPr>
          <p:nvPr/>
        </p:nvSpPr>
        <p:spPr>
          <a:xfrm xmlns:a="http://schemas.openxmlformats.org/drawingml/2006/main">
            <a:off x="3600450" y="600075"/>
            <a:ext cx="7867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Your first build plan</a:t>
            </a:r>
          </a:p>
        </p:txBody>
      </p:sp>
      <p:sp>
        <p:nvSpPr>
          <p:cNvPr id="4" name="text-416">
            <a:extLst xmlns:a="http://schemas.openxmlformats.org/drawingml/2006/main">
              <a:ext uri="{FF2B5EF4-FFF2-40B4-BE49-F238E27FC236}">
                <a16:creationId xmlns:a16="http://schemas.microsoft.com/office/drawing/2014/main" id="{F11C1610-5475-418F-82A4-348FB81AD465}"/>
              </a:ext>
            </a:extLst>
          </p:cNvPr>
          <p:cNvSpPr>
            <a:spLocks xmlns:a="http://schemas.openxmlformats.org/drawingml/2006/main" noGrp="1"/>
          </p:cNvSpPr>
          <p:nvPr/>
        </p:nvSpPr>
        <p:spPr>
          <a:xfrm xmlns:a="http://schemas.openxmlformats.org/drawingml/2006/main">
            <a:off x="3600450" y="2114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5" name="text-417">
            <a:extLst xmlns:a="http://schemas.openxmlformats.org/drawingml/2006/main">
              <a:ext uri="{FF2B5EF4-FFF2-40B4-BE49-F238E27FC236}">
                <a16:creationId xmlns:a16="http://schemas.microsoft.com/office/drawing/2014/main" id="{3C861B05-37B0-4427-BBF6-DC622D6047A9}"/>
              </a:ext>
            </a:extLst>
          </p:cNvPr>
          <p:cNvSpPr>
            <a:spLocks xmlns:a="http://schemas.openxmlformats.org/drawingml/2006/main" noGrp="1"/>
          </p:cNvSpPr>
          <p:nvPr/>
        </p:nvSpPr>
        <p:spPr>
          <a:xfrm xmlns:a="http://schemas.openxmlformats.org/drawingml/2006/main">
            <a:off x="4505325" y="211455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Write one user and one recurring job</a:t>
            </a:r>
          </a:p>
        </p:txBody>
      </p:sp>
      <p:sp>
        <p:nvSpPr>
          <p:cNvPr id="6" name="text-418">
            <a:extLst xmlns:a="http://schemas.openxmlformats.org/drawingml/2006/main">
              <a:ext uri="{FF2B5EF4-FFF2-40B4-BE49-F238E27FC236}">
                <a16:creationId xmlns:a16="http://schemas.microsoft.com/office/drawing/2014/main" id="{05F2C09F-CD3C-431C-8BF7-82E1748C5ACB}"/>
              </a:ext>
            </a:extLst>
          </p:cNvPr>
          <p:cNvSpPr>
            <a:spLocks xmlns:a="http://schemas.openxmlformats.org/drawingml/2006/main" noGrp="1"/>
          </p:cNvSpPr>
          <p:nvPr/>
        </p:nvSpPr>
        <p:spPr>
          <a:xfrm xmlns:a="http://schemas.openxmlformats.org/drawingml/2006/main">
            <a:off x="3600450" y="30575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7" name="text-419">
            <a:extLst xmlns:a="http://schemas.openxmlformats.org/drawingml/2006/main">
              <a:ext uri="{FF2B5EF4-FFF2-40B4-BE49-F238E27FC236}">
                <a16:creationId xmlns:a16="http://schemas.microsoft.com/office/drawing/2014/main" id="{8E0AB62E-DF2C-4D00-9CCC-068821932D3B}"/>
              </a:ext>
            </a:extLst>
          </p:cNvPr>
          <p:cNvSpPr>
            <a:spLocks xmlns:a="http://schemas.openxmlformats.org/drawingml/2006/main" noGrp="1"/>
          </p:cNvSpPr>
          <p:nvPr/>
        </p:nvSpPr>
        <p:spPr>
          <a:xfrm xmlns:a="http://schemas.openxmlformats.org/drawingml/2006/main">
            <a:off x="4505325" y="3057525"/>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Choose the first useful workflow</a:t>
            </a:r>
          </a:p>
        </p:txBody>
      </p:sp>
      <p:sp>
        <p:nvSpPr>
          <p:cNvPr id="8" name="text-420">
            <a:extLst xmlns:a="http://schemas.openxmlformats.org/drawingml/2006/main">
              <a:ext uri="{FF2B5EF4-FFF2-40B4-BE49-F238E27FC236}">
                <a16:creationId xmlns:a16="http://schemas.microsoft.com/office/drawing/2014/main" id="{E96F8C88-F658-4DFB-B9EE-8F246FC97F75}"/>
              </a:ext>
            </a:extLst>
          </p:cNvPr>
          <p:cNvSpPr>
            <a:spLocks xmlns:a="http://schemas.openxmlformats.org/drawingml/2006/main" noGrp="1"/>
          </p:cNvSpPr>
          <p:nvPr/>
        </p:nvSpPr>
        <p:spPr>
          <a:xfrm xmlns:a="http://schemas.openxmlformats.org/drawingml/2006/main">
            <a:off x="36004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9" name="text-421">
            <a:extLst xmlns:a="http://schemas.openxmlformats.org/drawingml/2006/main">
              <a:ext uri="{FF2B5EF4-FFF2-40B4-BE49-F238E27FC236}">
                <a16:creationId xmlns:a16="http://schemas.microsoft.com/office/drawing/2014/main" id="{3CE6FA04-6EF1-4270-BC91-DD211ADDAF0D}"/>
              </a:ext>
            </a:extLst>
          </p:cNvPr>
          <p:cNvSpPr>
            <a:spLocks xmlns:a="http://schemas.openxmlformats.org/drawingml/2006/main" noGrp="1"/>
          </p:cNvSpPr>
          <p:nvPr/>
        </p:nvSpPr>
        <p:spPr>
          <a:xfrm xmlns:a="http://schemas.openxmlformats.org/drawingml/2006/main">
            <a:off x="4505325" y="400050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Add three acceptance checks</a:t>
            </a:r>
          </a:p>
        </p:txBody>
      </p:sp>
      <p:sp>
        <p:nvSpPr>
          <p:cNvPr id="10" name="panel-422">
            <a:extLst xmlns:a="http://schemas.openxmlformats.org/drawingml/2006/main">
              <a:ext uri="{FF2B5EF4-FFF2-40B4-BE49-F238E27FC236}">
                <a16:creationId xmlns:a16="http://schemas.microsoft.com/office/drawing/2014/main" id="{445B5A8A-1D0C-42CE-9B52-7ADE977A19FE}"/>
              </a:ext>
            </a:extLst>
          </p:cNvPr>
          <p:cNvSpPr>
            <a:spLocks xmlns:a="http://schemas.openxmlformats.org/drawingml/2006/main" noGrp="1"/>
          </p:cNvSpPr>
          <p:nvPr/>
        </p:nvSpPr>
        <p:spPr>
          <a:xfrm xmlns:a="http://schemas.openxmlformats.org/drawingml/2006/main">
            <a:off x="3600450" y="5219700"/>
            <a:ext cx="7715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423">
            <a:extLst xmlns:a="http://schemas.openxmlformats.org/drawingml/2006/main">
              <a:ext uri="{FF2B5EF4-FFF2-40B4-BE49-F238E27FC236}">
                <a16:creationId xmlns:a16="http://schemas.microsoft.com/office/drawing/2014/main" id="{97F3AE88-B8C0-4D71-94EA-B369B30D55E0}"/>
              </a:ext>
            </a:extLst>
          </p:cNvPr>
          <p:cNvSpPr>
            <a:spLocks xmlns:a="http://schemas.openxmlformats.org/drawingml/2006/main" noGrp="1"/>
          </p:cNvSpPr>
          <p:nvPr/>
        </p:nvSpPr>
        <p:spPr>
          <a:xfrm xmlns:a="http://schemas.openxmlformats.org/drawingml/2006/main">
            <a:off x="3600450" y="54959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i="0">
                <a:solidFill>
                  <a:srgbClr val="686868"/>
                </a:solidFill>
                <a:latin typeface="Helvetica Neue"/>
                <a:ea typeface="Helvetica Neue"/>
                <a:cs typeface="Helvetica Neue"/>
              </a:defRPr>
            </a:pPr>
            <a:r>
              <a:rPr sz="1650" b="0" i="0">
                <a:solidFill>
                  <a:srgbClr val="686868"/>
                </a:solidFill>
                <a:latin typeface="Helvetica Neue"/>
                <a:ea typeface="Helvetica Neue"/>
                <a:cs typeface="Helvetica Neue"/>
              </a:rPr>
              <a:t>00-course-map/labs/01-plan.md</a:t>
            </a:r>
          </a:p>
        </p:txBody>
      </p:sp>
      <p:sp>
        <p:nvSpPr>
          <p:cNvPr id="12" name="text-424">
            <a:extLst xmlns:a="http://schemas.openxmlformats.org/drawingml/2006/main">
              <a:ext uri="{FF2B5EF4-FFF2-40B4-BE49-F238E27FC236}">
                <a16:creationId xmlns:a16="http://schemas.microsoft.com/office/drawing/2014/main" id="{D119F953-D56B-4088-BDA6-C3DA976C27DE}"/>
              </a:ext>
            </a:extLst>
          </p:cNvPr>
          <p:cNvSpPr>
            <a:spLocks xmlns:a="http://schemas.openxmlformats.org/drawingml/2006/main" noGrp="1"/>
          </p:cNvSpPr>
          <p:nvPr/>
        </p:nvSpPr>
        <p:spPr>
          <a:xfrm xmlns:a="http://schemas.openxmlformats.org/drawingml/2006/main">
            <a:off x="3600450" y="5876925"/>
            <a:ext cx="776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01-planning/BRIEF.md + the first milestone in 01-planning/SPEC.md</a:t>
            </a:r>
          </a:p>
        </p:txBody>
      </p:sp>
      <p:sp>
        <p:nvSpPr>
          <p:cNvPr id="13" name="text-425">
            <a:extLst xmlns:a="http://schemas.openxmlformats.org/drawingml/2006/main">
              <a:ext uri="{FF2B5EF4-FFF2-40B4-BE49-F238E27FC236}">
                <a16:creationId xmlns:a16="http://schemas.microsoft.com/office/drawing/2014/main" id="{93A1B413-BC98-43EC-94E8-1773E7F56B3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45</a:t>
            </a:r>
          </a:p>
        </p:txBody>
      </p:sp>
    </p:spTree>
    <p:extLst>
      <p:ext uri="{BB962C8B-B14F-4D97-AF65-F5344CB8AC3E}">
        <p14:creationId xmlns:p14="http://schemas.microsoft.com/office/powerpoint/2010/main" val="1174868774"/>
      </p:ext>
    </p:extLst>
  </p:cSld>
</p:sld>
</file>

<file path=ppt/slides/slide4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426">
            <a:extLst xmlns:a="http://schemas.openxmlformats.org/drawingml/2006/main">
              <a:ext uri="{FF2B5EF4-FFF2-40B4-BE49-F238E27FC236}">
                <a16:creationId xmlns:a16="http://schemas.microsoft.com/office/drawing/2014/main" id="{6F3A131E-A655-4489-BB6E-EB4006BE5E4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plan review before code</a:t>
            </a:r>
          </a:p>
        </p:txBody>
      </p:sp>
      <p:sp>
        <p:nvSpPr>
          <p:cNvPr id="2" name="panel-427">
            <a:extLst xmlns:a="http://schemas.openxmlformats.org/drawingml/2006/main">
              <a:ext uri="{FF2B5EF4-FFF2-40B4-BE49-F238E27FC236}">
                <a16:creationId xmlns:a16="http://schemas.microsoft.com/office/drawing/2014/main" id="{68D1BAAD-323D-4990-A172-C7211E3A05F2}"/>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428">
            <a:extLst xmlns:a="http://schemas.openxmlformats.org/drawingml/2006/main">
              <a:ext uri="{FF2B5EF4-FFF2-40B4-BE49-F238E27FC236}">
                <a16:creationId xmlns:a16="http://schemas.microsoft.com/office/drawing/2014/main" id="{E1D0BAF3-BBFA-4831-AFA0-BB46E3ADD103}"/>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429">
            <a:extLst xmlns:a="http://schemas.openxmlformats.org/drawingml/2006/main">
              <a:ext uri="{FF2B5EF4-FFF2-40B4-BE49-F238E27FC236}">
                <a16:creationId xmlns:a16="http://schemas.microsoft.com/office/drawing/2014/main" id="{B2D73C0E-DE69-43B5-9760-7515AAB73EFD}"/>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Too vague</a:t>
            </a:r>
          </a:p>
        </p:txBody>
      </p:sp>
      <p:sp>
        <p:nvSpPr>
          <p:cNvPr id="5" name="text-430">
            <a:extLst xmlns:a="http://schemas.openxmlformats.org/drawingml/2006/main">
              <a:ext uri="{FF2B5EF4-FFF2-40B4-BE49-F238E27FC236}">
                <a16:creationId xmlns:a16="http://schemas.microsoft.com/office/drawing/2014/main" id="{B81C66DF-DC61-407D-9322-163C056F835A}"/>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“Make a professional CRM</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with integrations and AI.”</a:t>
            </a:r>
          </a:p>
        </p:txBody>
      </p:sp>
      <p:sp>
        <p:nvSpPr>
          <p:cNvPr id="6" name="text-431">
            <a:extLst xmlns:a="http://schemas.openxmlformats.org/drawingml/2006/main">
              <a:ext uri="{FF2B5EF4-FFF2-40B4-BE49-F238E27FC236}">
                <a16:creationId xmlns:a16="http://schemas.microsoft.com/office/drawing/2014/main" id="{202A6A4D-9F1C-46A7-A206-FD7B7A9A7D29}"/>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Buildable</a:t>
            </a:r>
          </a:p>
        </p:txBody>
      </p:sp>
      <p:sp>
        <p:nvSpPr>
          <p:cNvPr id="7" name="text-432">
            <a:extLst xmlns:a="http://schemas.openxmlformats.org/drawingml/2006/main">
              <a:ext uri="{FF2B5EF4-FFF2-40B4-BE49-F238E27FC236}">
                <a16:creationId xmlns:a16="http://schemas.microsoft.com/office/drawing/2014/main" id="{F75933CA-7052-4A7C-AD5D-580131AFF24B}"/>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“Show Northstar’s latest meeting,</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with a source link, and let me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review one task before saving.”</a:t>
            </a:r>
          </a:p>
        </p:txBody>
      </p:sp>
      <p:sp>
        <p:nvSpPr>
          <p:cNvPr id="8" name="text-433">
            <a:extLst xmlns:a="http://schemas.openxmlformats.org/drawingml/2006/main">
              <a:ext uri="{FF2B5EF4-FFF2-40B4-BE49-F238E27FC236}">
                <a16:creationId xmlns:a16="http://schemas.microsoft.com/office/drawing/2014/main" id="{F16FB71D-AD36-4F7F-943F-4423CF95CC2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46</a:t>
            </a:r>
          </a:p>
        </p:txBody>
      </p:sp>
    </p:spTree>
    <p:extLst>
      <p:ext uri="{BB962C8B-B14F-4D97-AF65-F5344CB8AC3E}">
        <p14:creationId xmlns:p14="http://schemas.microsoft.com/office/powerpoint/2010/main" val="403069508"/>
      </p:ext>
    </p:extLst>
  </p:cSld>
</p:sld>
</file>

<file path=ppt/slides/slide4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434">
            <a:extLst xmlns:a="http://schemas.openxmlformats.org/drawingml/2006/main">
              <a:ext uri="{FF2B5EF4-FFF2-40B4-BE49-F238E27FC236}">
                <a16:creationId xmlns:a16="http://schemas.microsoft.com/office/drawing/2014/main" id="{2FD98AFB-C83E-457D-BE09-463F3B1A2EE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specification is ready to build</a:t>
            </a:r>
          </a:p>
        </p:txBody>
      </p:sp>
      <p:sp>
        <p:nvSpPr>
          <p:cNvPr id="2" name="text-435">
            <a:extLst xmlns:a="http://schemas.openxmlformats.org/drawingml/2006/main">
              <a:ext uri="{FF2B5EF4-FFF2-40B4-BE49-F238E27FC236}">
                <a16:creationId xmlns:a16="http://schemas.microsoft.com/office/drawing/2014/main" id="{2E144839-83F5-4F69-BF7A-3F894E339942}"/>
              </a:ext>
            </a:extLst>
          </p:cNvPr>
          <p:cNvSpPr>
            <a:spLocks xmlns:a="http://schemas.openxmlformats.org/drawingml/2006/main" noGrp="1"/>
          </p:cNvSpPr>
          <p:nvPr/>
        </p:nvSpPr>
        <p:spPr>
          <a:xfrm xmlns:a="http://schemas.openxmlformats.org/drawingml/2006/main">
            <a:off x="609600" y="19335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3" name="text-436">
            <a:extLst xmlns:a="http://schemas.openxmlformats.org/drawingml/2006/main">
              <a:ext uri="{FF2B5EF4-FFF2-40B4-BE49-F238E27FC236}">
                <a16:creationId xmlns:a16="http://schemas.microsoft.com/office/drawing/2014/main" id="{585FA039-19CF-4C2C-A7F4-036E4760BCB6}"/>
              </a:ext>
            </a:extLst>
          </p:cNvPr>
          <p:cNvSpPr>
            <a:spLocks xmlns:a="http://schemas.openxmlformats.org/drawingml/2006/main" noGrp="1"/>
          </p:cNvSpPr>
          <p:nvPr/>
        </p:nvSpPr>
        <p:spPr>
          <a:xfrm xmlns:a="http://schemas.openxmlformats.org/drawingml/2006/main">
            <a:off x="1514475" y="193357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01-planning/SPEC.md names the user and recurring job</a:t>
            </a:r>
          </a:p>
        </p:txBody>
      </p:sp>
      <p:sp>
        <p:nvSpPr>
          <p:cNvPr id="4" name="text-437">
            <a:extLst xmlns:a="http://schemas.openxmlformats.org/drawingml/2006/main">
              <a:ext uri="{FF2B5EF4-FFF2-40B4-BE49-F238E27FC236}">
                <a16:creationId xmlns:a16="http://schemas.microsoft.com/office/drawing/2014/main" id="{68137371-9A5A-49C4-BD1A-E6255D02DD2B}"/>
              </a:ext>
            </a:extLst>
          </p:cNvPr>
          <p:cNvSpPr>
            <a:spLocks xmlns:a="http://schemas.openxmlformats.org/drawingml/2006/main" noGrp="1"/>
          </p:cNvSpPr>
          <p:nvPr/>
        </p:nvSpPr>
        <p:spPr>
          <a:xfrm xmlns:a="http://schemas.openxmlformats.org/drawingml/2006/main">
            <a:off x="609600" y="28003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5" name="text-438">
            <a:extLst xmlns:a="http://schemas.openxmlformats.org/drawingml/2006/main">
              <a:ext uri="{FF2B5EF4-FFF2-40B4-BE49-F238E27FC236}">
                <a16:creationId xmlns:a16="http://schemas.microsoft.com/office/drawing/2014/main" id="{769CD656-A997-4527-B5C8-C2D2072BD8D6}"/>
              </a:ext>
            </a:extLst>
          </p:cNvPr>
          <p:cNvSpPr>
            <a:spLocks xmlns:a="http://schemas.openxmlformats.org/drawingml/2006/main" noGrp="1"/>
          </p:cNvSpPr>
          <p:nvPr/>
        </p:nvSpPr>
        <p:spPr>
          <a:xfrm xmlns:a="http://schemas.openxmlformats.org/drawingml/2006/main">
            <a:off x="1514475" y="2800350"/>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Each field has a named source</a:t>
            </a:r>
          </a:p>
        </p:txBody>
      </p:sp>
      <p:sp>
        <p:nvSpPr>
          <p:cNvPr id="6" name="text-439">
            <a:extLst xmlns:a="http://schemas.openxmlformats.org/drawingml/2006/main">
              <a:ext uri="{FF2B5EF4-FFF2-40B4-BE49-F238E27FC236}">
                <a16:creationId xmlns:a16="http://schemas.microsoft.com/office/drawing/2014/main" id="{B08C3AFD-E30F-4BAE-9EB9-E0AA67C3BA8D}"/>
              </a:ext>
            </a:extLst>
          </p:cNvPr>
          <p:cNvSpPr>
            <a:spLocks xmlns:a="http://schemas.openxmlformats.org/drawingml/2006/main" noGrp="1"/>
          </p:cNvSpPr>
          <p:nvPr/>
        </p:nvSpPr>
        <p:spPr>
          <a:xfrm xmlns:a="http://schemas.openxmlformats.org/drawingml/2006/main">
            <a:off x="609600" y="36671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7" name="text-440">
            <a:extLst xmlns:a="http://schemas.openxmlformats.org/drawingml/2006/main">
              <a:ext uri="{FF2B5EF4-FFF2-40B4-BE49-F238E27FC236}">
                <a16:creationId xmlns:a16="http://schemas.microsoft.com/office/drawing/2014/main" id="{B961B7D5-F2B8-4399-8DFE-D34D6AF9C3A2}"/>
              </a:ext>
            </a:extLst>
          </p:cNvPr>
          <p:cNvSpPr>
            <a:spLocks xmlns:a="http://schemas.openxmlformats.org/drawingml/2006/main" noGrp="1"/>
          </p:cNvSpPr>
          <p:nvPr/>
        </p:nvSpPr>
        <p:spPr>
          <a:xfrm xmlns:a="http://schemas.openxmlformats.org/drawingml/2006/main">
            <a:off x="1514475" y="366712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Milestone 1 has a check you can demonstrate</a:t>
            </a:r>
          </a:p>
        </p:txBody>
      </p:sp>
      <p:sp>
        <p:nvSpPr>
          <p:cNvPr id="8" name="text-441">
            <a:extLst xmlns:a="http://schemas.openxmlformats.org/drawingml/2006/main">
              <a:ext uri="{FF2B5EF4-FFF2-40B4-BE49-F238E27FC236}">
                <a16:creationId xmlns:a16="http://schemas.microsoft.com/office/drawing/2014/main" id="{80F7312C-9593-4518-9F5D-7F34B533BB26}"/>
              </a:ext>
            </a:extLst>
          </p:cNvPr>
          <p:cNvSpPr>
            <a:spLocks xmlns:a="http://schemas.openxmlformats.org/drawingml/2006/main" noGrp="1"/>
          </p:cNvSpPr>
          <p:nvPr/>
        </p:nvSpPr>
        <p:spPr>
          <a:xfrm xmlns:a="http://schemas.openxmlformats.org/drawingml/2006/main">
            <a:off x="609600" y="572452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Northstar example:</a:t>
            </a:r>
            <a:r>
              <a:rPr sz="2025" b="0" i="0">
                <a:solidFill>
                  <a:srgbClr val="1C1C1C"/>
                </a:solidFill>
                <a:latin typeface="Helvetica Neue"/>
                <a:ea typeface="Helvetica Neue"/>
                <a:cs typeface="Helvetica Neue"/>
              </a:rPr>
              <a:t> meeting source → reviewed proposal → one saved task after reload.</a:t>
            </a:r>
          </a:p>
        </p:txBody>
      </p:sp>
      <p:sp>
        <p:nvSpPr>
          <p:cNvPr id="9" name="text-442">
            <a:extLst xmlns:a="http://schemas.openxmlformats.org/drawingml/2006/main">
              <a:ext uri="{FF2B5EF4-FFF2-40B4-BE49-F238E27FC236}">
                <a16:creationId xmlns:a16="http://schemas.microsoft.com/office/drawing/2014/main" id="{F76EBA48-F23A-4D6C-A396-77DAA789258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47</a:t>
            </a:r>
          </a:p>
        </p:txBody>
      </p:sp>
    </p:spTree>
    <p:extLst>
      <p:ext uri="{BB962C8B-B14F-4D97-AF65-F5344CB8AC3E}">
        <p14:creationId xmlns:p14="http://schemas.microsoft.com/office/powerpoint/2010/main" val="722526953"/>
      </p:ext>
    </p:extLst>
  </p:cSld>
</p:sld>
</file>

<file path=ppt/slides/slide48.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sp>
        <p:nvSpPr>
          <p:cNvPr id="4" name="text-443">
            <a:extLst xmlns:a="http://schemas.openxmlformats.org/drawingml/2006/main">
              <a:ext uri="{FF2B5EF4-FFF2-40B4-BE49-F238E27FC236}">
                <a16:creationId xmlns:a16="http://schemas.microsoft.com/office/drawing/2014/main" id="{ACF2B9D7-4688-4D6A-A8C8-9B52A22F449E}"/>
              </a:ext>
            </a:extLst>
          </p:cNvPr>
          <p:cNvSpPr>
            <a:spLocks xmlns:a="http://schemas.openxmlformats.org/drawingml/2006/main" noGrp="1"/>
          </p:cNvSpPr>
          <p:nvPr/>
        </p:nvSpPr>
        <p:spPr>
          <a:xfrm xmlns:a="http://schemas.openxmlformats.org/drawingml/2006/main">
            <a:off x="609600" y="12382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1" i="0">
                <a:solidFill>
                  <a:srgbClr val="FFFFFF"/>
                </a:solidFill>
                <a:latin typeface="Avenir Next"/>
                <a:ea typeface="Avenir Next"/>
                <a:cs typeface="Avenir Next"/>
              </a:defRPr>
            </a:pPr>
            <a:r>
              <a:rPr sz="5700" b="1" i="0">
                <a:solidFill>
                  <a:srgbClr val="FFFFFF"/>
                </a:solidFill>
                <a:latin typeface="Avenir Next"/>
                <a:ea typeface="Avenir Next"/>
                <a:cs typeface="Avenir Next"/>
              </a:rPr>
              <a:t>Questions + reset</a:t>
            </a:r>
          </a:p>
        </p:txBody>
      </p:sp>
      <p:sp>
        <p:nvSpPr>
          <p:cNvPr id="2" name="text-444">
            <a:extLst xmlns:a="http://schemas.openxmlformats.org/drawingml/2006/main">
              <a:ext uri="{FF2B5EF4-FFF2-40B4-BE49-F238E27FC236}">
                <a16:creationId xmlns:a16="http://schemas.microsoft.com/office/drawing/2014/main" id="{BD2B1FE1-6A29-4626-9EAC-A238984B9ED2}"/>
              </a:ext>
            </a:extLst>
          </p:cNvPr>
          <p:cNvSpPr>
            <a:spLocks xmlns:a="http://schemas.openxmlformats.org/drawingml/2006/main" noGrp="1"/>
          </p:cNvSpPr>
          <p:nvPr/>
        </p:nvSpPr>
        <p:spPr>
          <a:xfrm xmlns:a="http://schemas.openxmlformats.org/drawingml/2006/main">
            <a:off x="609600" y="3209925"/>
            <a:ext cx="1028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0" i="0">
                <a:solidFill>
                  <a:srgbClr val="EEEAE3"/>
                </a:solidFill>
                <a:latin typeface="Helvetica Neue"/>
                <a:ea typeface="Helvetica Neue"/>
                <a:cs typeface="Helvetica Neue"/>
              </a:defRPr>
            </a:pPr>
            <a:r>
              <a:rPr sz="3000" b="1" i="0">
                <a:solidFill>
                  <a:srgbClr val="EEEAE3"/>
                </a:solidFill>
                <a:latin typeface="Helvetica Neue"/>
                <a:ea typeface="Helvetica Neue"/>
                <a:cs typeface="Helvetica Neue"/>
              </a:rPr>
              <a:t>Next:</a:t>
            </a:r>
            <a:r>
              <a:rPr sz="3000" b="0" i="0">
                <a:solidFill>
                  <a:srgbClr val="EEEAE3"/>
                </a:solidFill>
                <a:latin typeface="Helvetica Neue"/>
                <a:ea typeface="Helvetica Neue"/>
                <a:cs typeface="Helvetica Neue"/>
              </a:rPr>
              <a:t> save the plan and build the first client workflow</a:t>
            </a:r>
          </a:p>
        </p:txBody>
      </p:sp>
      <p:sp>
        <p:nvSpPr>
          <p:cNvPr id="3" name="text-445">
            <a:extLst xmlns:a="http://schemas.openxmlformats.org/drawingml/2006/main">
              <a:ext uri="{FF2B5EF4-FFF2-40B4-BE49-F238E27FC236}">
                <a16:creationId xmlns:a16="http://schemas.microsoft.com/office/drawing/2014/main" id="{8CE014A4-147E-4340-8B56-7BBE8F8A81F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EEEAE3"/>
                </a:solidFill>
                <a:latin typeface="Helvetica Neue"/>
                <a:ea typeface="Helvetica Neue"/>
                <a:cs typeface="Helvetica Neue"/>
              </a:defRPr>
            </a:pPr>
            <a:r>
              <a:rPr sz="1200" b="0" i="0">
                <a:solidFill>
                  <a:srgbClr val="EEEAE3"/>
                </a:solidFill>
                <a:latin typeface="Helvetica Neue"/>
                <a:ea typeface="Helvetica Neue"/>
                <a:cs typeface="Helvetica Neue"/>
              </a:rPr>
              <a:t>48</a:t>
            </a:r>
          </a:p>
        </p:txBody>
      </p:sp>
    </p:spTree>
    <p:extLst>
      <p:ext uri="{BB962C8B-B14F-4D97-AF65-F5344CB8AC3E}">
        <p14:creationId xmlns:p14="http://schemas.microsoft.com/office/powerpoint/2010/main" val="885146639"/>
      </p:ext>
    </p:extLst>
  </p:cSld>
</p:sld>
</file>

<file path=ppt/slides/slide49.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d9a805f4aa44614"/>
          <a:srcRect xmlns:a="http://schemas.openxmlformats.org/drawingml/2006/main" l="0" t="10440" r="0" b="1044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446">
            <a:extLst xmlns:a="http://schemas.openxmlformats.org/drawingml/2006/main">
              <a:ext uri="{FF2B5EF4-FFF2-40B4-BE49-F238E27FC236}">
                <a16:creationId xmlns:a16="http://schemas.microsoft.com/office/drawing/2014/main" id="{137DCF42-9B05-4886-BB2A-0E4C56962988}"/>
              </a:ext>
            </a:extLst>
          </p:cNvPr>
          <p:cNvSpPr>
            <a:spLocks xmlns:a="http://schemas.openxmlformats.org/drawingml/2006/main" noGrp="1"/>
          </p:cNvSpPr>
          <p:nvPr/>
        </p:nvSpPr>
        <p:spPr>
          <a:xfrm xmlns:a="http://schemas.openxmlformats.org/drawingml/2006/main">
            <a:off x="609600" y="51435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200" b="1" i="0">
                <a:solidFill>
                  <a:srgbClr val="FFFFFF"/>
                </a:solidFill>
                <a:latin typeface="Avenir Next"/>
                <a:ea typeface="Avenir Next"/>
                <a:cs typeface="Avenir Next"/>
              </a:defRPr>
            </a:pPr>
            <a:r>
              <a:rPr sz="7200" b="1" i="0">
                <a:solidFill>
                  <a:srgbClr val="FFFFFF"/>
                </a:solidFill>
                <a:latin typeface="Avenir Next"/>
                <a:ea typeface="Avenir Next"/>
                <a:cs typeface="Avenir Next"/>
              </a:rPr>
              <a:t>02</a:t>
            </a:r>
          </a:p>
        </p:txBody>
      </p:sp>
      <p:sp>
        <p:nvSpPr>
          <p:cNvPr id="3" name="text-447">
            <a:extLst xmlns:a="http://schemas.openxmlformats.org/drawingml/2006/main">
              <a:ext uri="{FF2B5EF4-FFF2-40B4-BE49-F238E27FC236}">
                <a16:creationId xmlns:a16="http://schemas.microsoft.com/office/drawing/2014/main" id="{AE1E1D6F-F1AA-4658-AFD5-4EF1A201515F}"/>
              </a:ext>
            </a:extLst>
          </p:cNvPr>
          <p:cNvSpPr>
            <a:spLocks xmlns:a="http://schemas.openxmlformats.org/drawingml/2006/main" noGrp="1"/>
          </p:cNvSpPr>
          <p:nvPr/>
        </p:nvSpPr>
        <p:spPr>
          <a:xfrm xmlns:a="http://schemas.openxmlformats.org/drawingml/2006/main">
            <a:off x="609600" y="2152650"/>
            <a:ext cx="65246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525" b="1" i="0">
                <a:solidFill>
                  <a:srgbClr val="FFFFFF"/>
                </a:solidFill>
                <a:latin typeface="Avenir Next"/>
                <a:ea typeface="Avenir Next"/>
                <a:cs typeface="Avenir Next"/>
              </a:defRPr>
            </a:pPr>
            <a:r>
              <a:rPr sz="6525" b="1" i="0">
                <a:solidFill>
                  <a:srgbClr val="FFFFFF"/>
                </a:solidFill>
                <a:latin typeface="Avenir Next"/>
                <a:ea typeface="Avenir Next"/>
                <a:cs typeface="Avenir Next"/>
              </a:rPr>
              <a:t>Build it</a:t>
            </a:r>
          </a:p>
          <a:p xmlns:a="http://schemas.openxmlformats.org/drawingml/2006/main">
            <a:pPr>
              <a:defRPr sz="6525" b="1" i="0">
                <a:solidFill>
                  <a:srgbClr val="FFFFFF"/>
                </a:solidFill>
                <a:latin typeface="Avenir Next"/>
                <a:ea typeface="Avenir Next"/>
                <a:cs typeface="Avenir Next"/>
              </a:defRPr>
            </a:pPr>
            <a:r>
              <a:rPr sz="6525" b="1" i="0">
                <a:solidFill>
                  <a:srgbClr val="FFFFFF"/>
                </a:solidFill>
                <a:latin typeface="Avenir Next"/>
                <a:ea typeface="Avenir Next"/>
                <a:cs typeface="Avenir Next"/>
              </a:rPr>
              <a:t>for real</a:t>
            </a:r>
          </a:p>
        </p:txBody>
      </p:sp>
      <p:sp>
        <p:nvSpPr>
          <p:cNvPr id="4" name="text-448">
            <a:extLst xmlns:a="http://schemas.openxmlformats.org/drawingml/2006/main">
              <a:ext uri="{FF2B5EF4-FFF2-40B4-BE49-F238E27FC236}">
                <a16:creationId xmlns:a16="http://schemas.microsoft.com/office/drawing/2014/main" id="{1BF708B6-983C-4F36-AAD0-5A52870A7A8B}"/>
              </a:ext>
            </a:extLst>
          </p:cNvPr>
          <p:cNvSpPr>
            <a:spLocks xmlns:a="http://schemas.openxmlformats.org/drawingml/2006/main" noGrp="1"/>
          </p:cNvSpPr>
          <p:nvPr/>
        </p:nvSpPr>
        <p:spPr>
          <a:xfrm xmlns:a="http://schemas.openxmlformats.org/drawingml/2006/main">
            <a:off x="609600" y="5448300"/>
            <a:ext cx="600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FFFFFF"/>
                </a:solidFill>
                <a:latin typeface="Helvetica Neue"/>
                <a:ea typeface="Helvetica Neue"/>
                <a:cs typeface="Helvetica Neue"/>
              </a:defRPr>
            </a:pPr>
            <a:r>
              <a:rPr sz="2175" b="0" i="0">
                <a:solidFill>
                  <a:srgbClr val="FFFFFF"/>
                </a:solidFill>
                <a:latin typeface="Helvetica Neue"/>
                <a:ea typeface="Helvetica Neue"/>
                <a:cs typeface="Helvetica Neue"/>
              </a:rPr>
              <a:t>A connected and tested CRM workflow</a:t>
            </a:r>
          </a:p>
        </p:txBody>
      </p:sp>
      <p:sp>
        <p:nvSpPr>
          <p:cNvPr id="5" name="text-449">
            <a:extLst xmlns:a="http://schemas.openxmlformats.org/drawingml/2006/main">
              <a:ext uri="{FF2B5EF4-FFF2-40B4-BE49-F238E27FC236}">
                <a16:creationId xmlns:a16="http://schemas.microsoft.com/office/drawing/2014/main" id="{60420D44-2DBE-4EC8-A75D-927F557985B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EEEAE3"/>
                </a:solidFill>
                <a:latin typeface="Helvetica Neue"/>
                <a:ea typeface="Helvetica Neue"/>
                <a:cs typeface="Helvetica Neue"/>
              </a:defRPr>
            </a:pPr>
            <a:r>
              <a:rPr sz="1200" b="0" i="0">
                <a:solidFill>
                  <a:srgbClr val="EEEAE3"/>
                </a:solidFill>
                <a:latin typeface="Helvetica Neue"/>
                <a:ea typeface="Helvetica Neue"/>
                <a:cs typeface="Helvetica Neue"/>
              </a:rPr>
              <a:t>49</a:t>
            </a:r>
          </a:p>
        </p:txBody>
      </p:sp>
    </p:spTree>
    <p:extLst>
      <p:ext uri="{BB962C8B-B14F-4D97-AF65-F5344CB8AC3E}">
        <p14:creationId xmlns:p14="http://schemas.microsoft.com/office/powerpoint/2010/main" val="903241811"/>
      </p:ext>
    </p:extLst>
  </p:cSld>
</p:sld>
</file>

<file path=ppt/slides/slide5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450">
            <a:extLst xmlns:a="http://schemas.openxmlformats.org/drawingml/2006/main">
              <a:ext uri="{FF2B5EF4-FFF2-40B4-BE49-F238E27FC236}">
                <a16:creationId xmlns:a16="http://schemas.microsoft.com/office/drawing/2014/main" id="{F606D793-E62E-4E80-A691-D3C609F9B0B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Project files and Git history</a:t>
            </a:r>
          </a:p>
        </p:txBody>
      </p:sp>
      <p:sp>
        <p:nvSpPr>
          <p:cNvPr id="2" name="panel-451">
            <a:extLst xmlns:a="http://schemas.openxmlformats.org/drawingml/2006/main">
              <a:ext uri="{FF2B5EF4-FFF2-40B4-BE49-F238E27FC236}">
                <a16:creationId xmlns:a16="http://schemas.microsoft.com/office/drawing/2014/main" id="{00477234-764C-4D27-BD75-1DFD0CD09138}"/>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452">
            <a:extLst xmlns:a="http://schemas.openxmlformats.org/drawingml/2006/main">
              <a:ext uri="{FF2B5EF4-FFF2-40B4-BE49-F238E27FC236}">
                <a16:creationId xmlns:a16="http://schemas.microsoft.com/office/drawing/2014/main" id="{4A679445-EC95-461E-9284-15E54E18B67C}"/>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453">
            <a:extLst xmlns:a="http://schemas.openxmlformats.org/drawingml/2006/main">
              <a:ext uri="{FF2B5EF4-FFF2-40B4-BE49-F238E27FC236}">
                <a16:creationId xmlns:a16="http://schemas.microsoft.com/office/drawing/2014/main" id="{414A03D9-812E-4A84-BF7C-0FB85C82C7ED}"/>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Working folder</a:t>
            </a:r>
          </a:p>
        </p:txBody>
      </p:sp>
      <p:sp>
        <p:nvSpPr>
          <p:cNvPr id="5" name="text-454">
            <a:extLst xmlns:a="http://schemas.openxmlformats.org/drawingml/2006/main">
              <a:ext uri="{FF2B5EF4-FFF2-40B4-BE49-F238E27FC236}">
                <a16:creationId xmlns:a16="http://schemas.microsoft.com/office/drawing/2014/main" id="{9287CA75-E3F0-4718-8CAF-2BB72E80B107}"/>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README.md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01-planning/SPEC.md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03-build/clientdesk/</a:t>
            </a:r>
          </a:p>
          <a:p xmlns:a="http://schemas.openxmlformats.org/drawingml/2006/main">
            <a:r>
              <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Saving changes the current files.</a:t>
            </a:r>
          </a:p>
        </p:txBody>
      </p:sp>
      <p:sp>
        <p:nvSpPr>
          <p:cNvPr id="6" name="text-455">
            <a:extLst xmlns:a="http://schemas.openxmlformats.org/drawingml/2006/main">
              <a:ext uri="{FF2B5EF4-FFF2-40B4-BE49-F238E27FC236}">
                <a16:creationId xmlns:a16="http://schemas.microsoft.com/office/drawing/2014/main" id="{FBF6809A-635A-4CCC-8A0B-17EE694875EF}"/>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Git history</a:t>
            </a:r>
          </a:p>
        </p:txBody>
      </p:sp>
      <p:sp>
        <p:nvSpPr>
          <p:cNvPr id="7" name="text-456">
            <a:extLst xmlns:a="http://schemas.openxmlformats.org/drawingml/2006/main">
              <a:ext uri="{FF2B5EF4-FFF2-40B4-BE49-F238E27FC236}">
                <a16:creationId xmlns:a16="http://schemas.microsoft.com/office/drawing/2014/main" id="{E965AD5E-C187-47C6-A1A1-CDB852DD31B6}"/>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1" i="0">
                <a:solidFill>
                  <a:srgbClr val="1C1C1C"/>
                </a:solidFill>
                <a:latin typeface="Helvetica Neue"/>
                <a:ea typeface="Helvetica Neue"/>
                <a:cs typeface="Helvetica Neue"/>
              </a:rPr>
              <a:t>Commit 1:</a:t>
            </a:r>
            <a:r>
              <a:rPr sz="2325" b="0" i="0">
                <a:solidFill>
                  <a:srgbClr val="1C1C1C"/>
                </a:solidFill>
                <a:latin typeface="Helvetica Neue"/>
                <a:ea typeface="Helvetica Neue"/>
                <a:cs typeface="Helvetica Neue"/>
              </a:rPr>
              <a:t> specification</a:t>
            </a:r>
          </a:p>
          <a:p xmlns:a="http://schemas.openxmlformats.org/drawingml/2006/main">
            <a:pPr>
              <a:defRPr sz="2325" b="0" i="0">
                <a:solidFill>
                  <a:srgbClr val="1C1C1C"/>
                </a:solidFill>
                <a:latin typeface="Helvetica Neue"/>
                <a:ea typeface="Helvetica Neue"/>
                <a:cs typeface="Helvetica Neue"/>
              </a:defRPr>
            </a:pPr>
            <a:r>
              <a:rPr sz="2325" b="1" i="0">
                <a:solidFill>
                  <a:srgbClr val="1C1C1C"/>
                </a:solidFill>
                <a:latin typeface="Helvetica Neue"/>
                <a:ea typeface="Helvetica Neue"/>
                <a:cs typeface="Helvetica Neue"/>
              </a:rPr>
              <a:t>Commit 2:</a:t>
            </a:r>
            <a:r>
              <a:rPr sz="2325" b="0" i="0">
                <a:solidFill>
                  <a:srgbClr val="1C1C1C"/>
                </a:solidFill>
                <a:latin typeface="Helvetica Neue"/>
                <a:ea typeface="Helvetica Neue"/>
                <a:cs typeface="Helvetica Neue"/>
              </a:rPr>
              <a:t> first client screen</a:t>
            </a:r>
          </a:p>
          <a:p xmlns:a="http://schemas.openxmlformats.org/drawingml/2006/main">
            <a:pPr>
              <a:defRPr sz="2325" b="0" i="0">
                <a:solidFill>
                  <a:srgbClr val="1C1C1C"/>
                </a:solidFill>
                <a:latin typeface="Helvetica Neue"/>
                <a:ea typeface="Helvetica Neue"/>
                <a:cs typeface="Helvetica Neue"/>
              </a:defRPr>
            </a:pPr>
            <a:r>
              <a:rPr sz="2325" b="1" i="0">
                <a:solidFill>
                  <a:srgbClr val="1C1C1C"/>
                </a:solidFill>
                <a:latin typeface="Helvetica Neue"/>
                <a:ea typeface="Helvetica Neue"/>
                <a:cs typeface="Helvetica Neue"/>
              </a:rPr>
              <a:t>Commit 3:</a:t>
            </a:r>
            <a:r>
              <a:rPr sz="2325" b="0" i="0">
                <a:solidFill>
                  <a:srgbClr val="1C1C1C"/>
                </a:solidFill>
                <a:latin typeface="Helvetica Neue"/>
                <a:ea typeface="Helvetica Neue"/>
                <a:cs typeface="Helvetica Neue"/>
              </a:rPr>
              <a:t> reviewed task</a:t>
            </a:r>
          </a:p>
          <a:p xmlns:a="http://schemas.openxmlformats.org/drawingml/2006/main">
            <a:r>
              <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Each commit records a checkpoint.</a:t>
            </a:r>
          </a:p>
        </p:txBody>
      </p:sp>
      <p:sp>
        <p:nvSpPr>
          <p:cNvPr id="8" name="text-457">
            <a:extLst xmlns:a="http://schemas.openxmlformats.org/drawingml/2006/main">
              <a:ext uri="{FF2B5EF4-FFF2-40B4-BE49-F238E27FC236}">
                <a16:creationId xmlns:a16="http://schemas.microsoft.com/office/drawing/2014/main" id="{F324D0DF-F6C7-49B3-9A8B-38FE2F682A8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50</a:t>
            </a:r>
          </a:p>
        </p:txBody>
      </p:sp>
    </p:spTree>
    <p:extLst>
      <p:ext uri="{BB962C8B-B14F-4D97-AF65-F5344CB8AC3E}">
        <p14:creationId xmlns:p14="http://schemas.microsoft.com/office/powerpoint/2010/main" val="1208087441"/>
      </p:ext>
    </p:extLst>
  </p:cSld>
</p:sld>
</file>

<file path=ppt/slides/slide5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458">
            <a:extLst xmlns:a="http://schemas.openxmlformats.org/drawingml/2006/main">
              <a:ext uri="{FF2B5EF4-FFF2-40B4-BE49-F238E27FC236}">
                <a16:creationId xmlns:a16="http://schemas.microsoft.com/office/drawing/2014/main" id="{0FFC0011-5B3D-42B4-9EA8-BB93F5DB2BA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project’s .gitignore file</a:t>
            </a:r>
          </a:p>
        </p:txBody>
      </p:sp>
      <p:sp>
        <p:nvSpPr>
          <p:cNvPr id="2" name="panel-459">
            <a:extLst xmlns:a="http://schemas.openxmlformats.org/drawingml/2006/main">
              <a:ext uri="{FF2B5EF4-FFF2-40B4-BE49-F238E27FC236}">
                <a16:creationId xmlns:a16="http://schemas.microsoft.com/office/drawing/2014/main" id="{23A4EECE-8F49-458A-9752-6F099A733F8D}"/>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460">
            <a:extLst xmlns:a="http://schemas.openxmlformats.org/drawingml/2006/main">
              <a:ext uri="{FF2B5EF4-FFF2-40B4-BE49-F238E27FC236}">
                <a16:creationId xmlns:a16="http://schemas.microsoft.com/office/drawing/2014/main" id="{010283FA-CA33-4571-8792-6EE1B39C2B39}"/>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461">
            <a:extLst xmlns:a="http://schemas.openxmlformats.org/drawingml/2006/main">
              <a:ext uri="{FF2B5EF4-FFF2-40B4-BE49-F238E27FC236}">
                <a16:creationId xmlns:a16="http://schemas.microsoft.com/office/drawing/2014/main" id="{8117C452-6281-4035-AD71-018CF49132E9}"/>
              </a:ext>
            </a:extLst>
          </p:cNvPr>
          <p:cNvSpPr>
            <a:spLocks xmlns:a="http://schemas.openxmlformats.org/drawingml/2006/main" noGrp="1"/>
          </p:cNvSpPr>
          <p:nvPr/>
        </p:nvSpPr>
        <p:spPr>
          <a:xfrm xmlns:a="http://schemas.openxmlformats.org/drawingml/2006/main">
            <a:off x="609600" y="20383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462">
            <a:extLst xmlns:a="http://schemas.openxmlformats.org/drawingml/2006/main">
              <a:ext uri="{FF2B5EF4-FFF2-40B4-BE49-F238E27FC236}">
                <a16:creationId xmlns:a16="http://schemas.microsoft.com/office/drawing/2014/main" id="{369D38DD-16C2-4932-80D8-127E329E18F0}"/>
              </a:ext>
            </a:extLst>
          </p:cNvPr>
          <p:cNvSpPr>
            <a:spLocks xmlns:a="http://schemas.openxmlformats.org/drawingml/2006/main" noGrp="1"/>
          </p:cNvSpPr>
          <p:nvPr/>
        </p:nvSpPr>
        <p:spPr>
          <a:xfrm xmlns:a="http://schemas.openxmlformats.org/drawingml/2006/main">
            <a:off x="7981950" y="2038350"/>
            <a:ext cx="3600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i="0">
                <a:solidFill>
                  <a:srgbClr val="686868"/>
                </a:solidFill>
                <a:latin typeface="Avenir Next"/>
                <a:ea typeface="Avenir Next"/>
                <a:cs typeface="Avenir Next"/>
              </a:defRPr>
            </a:pPr>
            <a:r>
              <a:rPr sz="1875" b="1" i="0">
                <a:solidFill>
                  <a:srgbClr val="686868"/>
                </a:solidFill>
                <a:latin typeface="Avenir Next"/>
                <a:ea typeface="Avenir Next"/>
                <a:cs typeface="Avenir Next"/>
              </a:rPr>
              <a:t>Technical reference</a:t>
            </a:r>
          </a:p>
        </p:txBody>
      </p:sp>
      <p:sp>
        <p:nvSpPr>
          <p:cNvPr id="6" name="text-463">
            <a:extLst xmlns:a="http://schemas.openxmlformats.org/drawingml/2006/main">
              <a:ext uri="{FF2B5EF4-FFF2-40B4-BE49-F238E27FC236}">
                <a16:creationId xmlns:a16="http://schemas.microsoft.com/office/drawing/2014/main" id="{E72BB241-871B-46F8-AE0A-81C833559726}"/>
              </a:ext>
            </a:extLst>
          </p:cNvPr>
          <p:cNvSpPr>
            <a:spLocks xmlns:a="http://schemas.openxmlformats.org/drawingml/2006/main" noGrp="1"/>
          </p:cNvSpPr>
          <p:nvPr/>
        </p:nvSpPr>
        <p:spPr>
          <a:xfrm xmlns:a="http://schemas.openxmlformats.org/drawingml/2006/main">
            <a:off x="609600" y="2667000"/>
            <a:ext cx="68008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Set up the project’s ignore file so secrets, machine-specific settings, logs, and generated local data stay out of Git. Keep an empty example of the required environment variables. Show me what will be excluded.</a:t>
            </a:r>
          </a:p>
        </p:txBody>
      </p:sp>
      <p:sp>
        <p:nvSpPr>
          <p:cNvPr id="7" name="panel-464">
            <a:extLst xmlns:a="http://schemas.openxmlformats.org/drawingml/2006/main">
              <a:ext uri="{FF2B5EF4-FFF2-40B4-BE49-F238E27FC236}">
                <a16:creationId xmlns:a16="http://schemas.microsoft.com/office/drawing/2014/main" id="{AAEBB3D6-C48E-4645-AF2C-60BE664B42DB}"/>
              </a:ext>
            </a:extLst>
          </p:cNvPr>
          <p:cNvSpPr>
            <a:spLocks xmlns:a="http://schemas.openxmlformats.org/drawingml/2006/main" noGrp="1"/>
          </p:cNvSpPr>
          <p:nvPr/>
        </p:nvSpPr>
        <p:spPr>
          <a:xfrm xmlns:a="http://schemas.openxmlformats.org/drawingml/2006/main">
            <a:off x="7981950" y="2667000"/>
            <a:ext cx="3600450" cy="2140268"/>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8" name="text-465">
            <a:extLst xmlns:a="http://schemas.openxmlformats.org/drawingml/2006/main">
              <a:ext uri="{FF2B5EF4-FFF2-40B4-BE49-F238E27FC236}">
                <a16:creationId xmlns:a16="http://schemas.microsoft.com/office/drawing/2014/main" id="{8A8D0440-ED66-42AA-8A3D-9ECA27973E53}"/>
              </a:ext>
            </a:extLst>
          </p:cNvPr>
          <p:cNvSpPr>
            <a:spLocks xmlns:a="http://schemas.openxmlformats.org/drawingml/2006/main" noGrp="1"/>
          </p:cNvSpPr>
          <p:nvPr/>
        </p:nvSpPr>
        <p:spPr>
          <a:xfrm xmlns:a="http://schemas.openxmlformats.org/drawingml/2006/main">
            <a:off x="8172450" y="2857500"/>
            <a:ext cx="3219450" cy="18545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.env*</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!.env.example</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node_modules/</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.next/</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.data/</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.vercel/</a:t>
            </a:r>
          </a:p>
        </p:txBody>
      </p:sp>
      <p:sp>
        <p:nvSpPr>
          <p:cNvPr id="9" name="text-466">
            <a:extLst xmlns:a="http://schemas.openxmlformats.org/drawingml/2006/main">
              <a:ext uri="{FF2B5EF4-FFF2-40B4-BE49-F238E27FC236}">
                <a16:creationId xmlns:a16="http://schemas.microsoft.com/office/drawing/2014/main" id="{EA7D8485-12F9-4AA8-988B-574FEB1B4ABB}"/>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686868"/>
                </a:solidFill>
                <a:latin typeface="Helvetica Neue"/>
                <a:ea typeface="Helvetica Neue"/>
                <a:cs typeface="Helvetica Neue"/>
              </a:defRPr>
            </a:pPr>
            <a:r>
              <a:rPr sz="1800" b="0" i="0">
                <a:solidFill>
                  <a:srgbClr val="686868"/>
                </a:solidFill>
                <a:latin typeface="Helvetica Neue"/>
                <a:ea typeface="Helvetica Neue"/>
                <a:cs typeface="Helvetica Neue"/>
              </a:rPr>
              <a:t>Keep credentials, generated output and local records outside the reviewed Git checkpoint.</a:t>
            </a:r>
          </a:p>
        </p:txBody>
      </p:sp>
      <p:sp>
        <p:nvSpPr>
          <p:cNvPr id="10" name="text-467">
            <a:extLst xmlns:a="http://schemas.openxmlformats.org/drawingml/2006/main">
              <a:ext uri="{FF2B5EF4-FFF2-40B4-BE49-F238E27FC236}">
                <a16:creationId xmlns:a16="http://schemas.microsoft.com/office/drawing/2014/main" id="{80D67674-3FEE-467B-AA53-8B9FA26969A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51</a:t>
            </a:r>
          </a:p>
        </p:txBody>
      </p:sp>
    </p:spTree>
    <p:extLst>
      <p:ext uri="{BB962C8B-B14F-4D97-AF65-F5344CB8AC3E}">
        <p14:creationId xmlns:p14="http://schemas.microsoft.com/office/powerpoint/2010/main" val="672211627"/>
      </p:ext>
    </p:extLst>
  </p:cSld>
</p:sld>
</file>

<file path=ppt/slides/slide5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468">
            <a:extLst xmlns:a="http://schemas.openxmlformats.org/drawingml/2006/main">
              <a:ext uri="{FF2B5EF4-FFF2-40B4-BE49-F238E27FC236}">
                <a16:creationId xmlns:a16="http://schemas.microsoft.com/office/drawing/2014/main" id="{E4079DEC-12B4-4F37-B474-1FE6038A795A}"/>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first local checkpoint</a:t>
            </a:r>
          </a:p>
        </p:txBody>
      </p:sp>
      <p:sp>
        <p:nvSpPr>
          <p:cNvPr id="2" name="panel-469">
            <a:extLst xmlns:a="http://schemas.openxmlformats.org/drawingml/2006/main">
              <a:ext uri="{FF2B5EF4-FFF2-40B4-BE49-F238E27FC236}">
                <a16:creationId xmlns:a16="http://schemas.microsoft.com/office/drawing/2014/main" id="{DD7284A5-86FF-4506-80EB-19B6225E58FB}"/>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470">
            <a:extLst xmlns:a="http://schemas.openxmlformats.org/drawingml/2006/main">
              <a:ext uri="{FF2B5EF4-FFF2-40B4-BE49-F238E27FC236}">
                <a16:creationId xmlns:a16="http://schemas.microsoft.com/office/drawing/2014/main" id="{B3C94A9F-AC84-4FC4-BABE-AB0A2F36C482}"/>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471">
            <a:extLst xmlns:a="http://schemas.openxmlformats.org/drawingml/2006/main">
              <a:ext uri="{FF2B5EF4-FFF2-40B4-BE49-F238E27FC236}">
                <a16:creationId xmlns:a16="http://schemas.microsoft.com/office/drawing/2014/main" id="{35E44846-C646-4C3B-A1A7-DAF56774508D}"/>
              </a:ext>
            </a:extLst>
          </p:cNvPr>
          <p:cNvSpPr>
            <a:spLocks xmlns:a="http://schemas.openxmlformats.org/drawingml/2006/main" noGrp="1"/>
          </p:cNvSpPr>
          <p:nvPr/>
        </p:nvSpPr>
        <p:spPr>
          <a:xfrm xmlns:a="http://schemas.openxmlformats.org/drawingml/2006/main">
            <a:off x="609600" y="20383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472">
            <a:extLst xmlns:a="http://schemas.openxmlformats.org/drawingml/2006/main">
              <a:ext uri="{FF2B5EF4-FFF2-40B4-BE49-F238E27FC236}">
                <a16:creationId xmlns:a16="http://schemas.microsoft.com/office/drawing/2014/main" id="{8DAAAAAE-1C93-4B65-9EB1-CCAA96752BF3}"/>
              </a:ext>
            </a:extLst>
          </p:cNvPr>
          <p:cNvSpPr>
            <a:spLocks xmlns:a="http://schemas.openxmlformats.org/drawingml/2006/main" noGrp="1"/>
          </p:cNvSpPr>
          <p:nvPr/>
        </p:nvSpPr>
        <p:spPr>
          <a:xfrm xmlns:a="http://schemas.openxmlformats.org/drawingml/2006/main">
            <a:off x="7981950" y="2038350"/>
            <a:ext cx="3600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i="0">
                <a:solidFill>
                  <a:srgbClr val="686868"/>
                </a:solidFill>
                <a:latin typeface="Avenir Next"/>
                <a:ea typeface="Avenir Next"/>
                <a:cs typeface="Avenir Next"/>
              </a:defRPr>
            </a:pPr>
            <a:r>
              <a:rPr sz="1875" b="1" i="0">
                <a:solidFill>
                  <a:srgbClr val="686868"/>
                </a:solidFill>
                <a:latin typeface="Avenir Next"/>
                <a:ea typeface="Avenir Next"/>
                <a:cs typeface="Avenir Next"/>
              </a:rPr>
              <a:t>Technical reference</a:t>
            </a:r>
          </a:p>
        </p:txBody>
      </p:sp>
      <p:sp>
        <p:nvSpPr>
          <p:cNvPr id="6" name="text-473">
            <a:extLst xmlns:a="http://schemas.openxmlformats.org/drawingml/2006/main">
              <a:ext uri="{FF2B5EF4-FFF2-40B4-BE49-F238E27FC236}">
                <a16:creationId xmlns:a16="http://schemas.microsoft.com/office/drawing/2014/main" id="{0D104607-A7A2-4C87-B593-95DA9C7D40F9}"/>
              </a:ext>
            </a:extLst>
          </p:cNvPr>
          <p:cNvSpPr>
            <a:spLocks xmlns:a="http://schemas.openxmlformats.org/drawingml/2006/main" noGrp="1"/>
          </p:cNvSpPr>
          <p:nvPr/>
        </p:nvSpPr>
        <p:spPr>
          <a:xfrm xmlns:a="http://schemas.openxmlformats.org/drawingml/2006/main">
            <a:off x="609600" y="2667000"/>
            <a:ext cx="68008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Save a local checkpoint of the agreed plan. Check whether this folder already uses Git. Show me the files you will include, exclude secrets and local data, then commit the reviewed files with a clear message.</a:t>
            </a:r>
          </a:p>
        </p:txBody>
      </p:sp>
      <p:sp>
        <p:nvSpPr>
          <p:cNvPr id="7" name="panel-474">
            <a:extLst xmlns:a="http://schemas.openxmlformats.org/drawingml/2006/main">
              <a:ext uri="{FF2B5EF4-FFF2-40B4-BE49-F238E27FC236}">
                <a16:creationId xmlns:a16="http://schemas.microsoft.com/office/drawing/2014/main" id="{1D187E30-A00F-4EC2-AC34-C0A35B039013}"/>
              </a:ext>
            </a:extLst>
          </p:cNvPr>
          <p:cNvSpPr>
            <a:spLocks xmlns:a="http://schemas.openxmlformats.org/drawingml/2006/main" noGrp="1"/>
          </p:cNvSpPr>
          <p:nvPr/>
        </p:nvSpPr>
        <p:spPr>
          <a:xfrm xmlns:a="http://schemas.openxmlformats.org/drawingml/2006/main">
            <a:off x="7981950" y="2667000"/>
            <a:ext cx="3600450" cy="1270159"/>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8" name="text-475">
            <a:extLst xmlns:a="http://schemas.openxmlformats.org/drawingml/2006/main">
              <a:ext uri="{FF2B5EF4-FFF2-40B4-BE49-F238E27FC236}">
                <a16:creationId xmlns:a16="http://schemas.microsoft.com/office/drawing/2014/main" id="{13720805-3123-430E-8E47-46F00BF8F7FC}"/>
              </a:ext>
            </a:extLst>
          </p:cNvPr>
          <p:cNvSpPr>
            <a:spLocks xmlns:a="http://schemas.openxmlformats.org/drawingml/2006/main" noGrp="1"/>
          </p:cNvSpPr>
          <p:nvPr/>
        </p:nvSpPr>
        <p:spPr>
          <a:xfrm xmlns:a="http://schemas.openxmlformats.org/drawingml/2006/main">
            <a:off x="8172450" y="2857500"/>
            <a:ext cx="3219450" cy="9844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git status</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git diff --cached</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git commit -m "Plan"</a:t>
            </a:r>
          </a:p>
        </p:txBody>
      </p:sp>
      <p:sp>
        <p:nvSpPr>
          <p:cNvPr id="9" name="text-476">
            <a:extLst xmlns:a="http://schemas.openxmlformats.org/drawingml/2006/main">
              <a:ext uri="{FF2B5EF4-FFF2-40B4-BE49-F238E27FC236}">
                <a16:creationId xmlns:a16="http://schemas.microsoft.com/office/drawing/2014/main" id="{385B2E12-8711-48FD-90F4-6D00504DB5F1}"/>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686868"/>
                </a:solidFill>
                <a:latin typeface="Helvetica Neue"/>
                <a:ea typeface="Helvetica Neue"/>
                <a:cs typeface="Helvetica Neue"/>
              </a:defRPr>
            </a:pPr>
            <a:r>
              <a:rPr sz="1800" b="1" i="0">
                <a:solidFill>
                  <a:srgbClr val="686868"/>
                </a:solidFill>
                <a:latin typeface="Helvetica Neue"/>
                <a:ea typeface="Helvetica Neue"/>
                <a:cs typeface="Helvetica Neue"/>
              </a:rPr>
              <a:t>Result:</a:t>
            </a:r>
            <a:r>
              <a:rPr sz="1800" b="0" i="0">
                <a:solidFill>
                  <a:srgbClr val="686868"/>
                </a:solidFill>
                <a:latin typeface="Helvetica Neue"/>
                <a:ea typeface="Helvetica Neue"/>
                <a:cs typeface="Helvetica Neue"/>
              </a:rPr>
              <a:t> a named checkpoint we can return to. Claude chooses the required Git commands.</a:t>
            </a:r>
          </a:p>
        </p:txBody>
      </p:sp>
      <p:sp>
        <p:nvSpPr>
          <p:cNvPr id="10" name="text-477">
            <a:extLst xmlns:a="http://schemas.openxmlformats.org/drawingml/2006/main">
              <a:ext uri="{FF2B5EF4-FFF2-40B4-BE49-F238E27FC236}">
                <a16:creationId xmlns:a16="http://schemas.microsoft.com/office/drawing/2014/main" id="{3F94D6FD-C7BF-4F03-81EC-08C7E293A7CD}"/>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52</a:t>
            </a:r>
          </a:p>
        </p:txBody>
      </p:sp>
    </p:spTree>
    <p:extLst>
      <p:ext uri="{BB962C8B-B14F-4D97-AF65-F5344CB8AC3E}">
        <p14:creationId xmlns:p14="http://schemas.microsoft.com/office/powerpoint/2010/main" val="1078424384"/>
      </p:ext>
    </p:extLst>
  </p:cSld>
</p:sld>
</file>

<file path=ppt/slides/slide5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478">
            <a:extLst xmlns:a="http://schemas.openxmlformats.org/drawingml/2006/main">
              <a:ext uri="{FF2B5EF4-FFF2-40B4-BE49-F238E27FC236}">
                <a16:creationId xmlns:a16="http://schemas.microsoft.com/office/drawing/2014/main" id="{3B9087B8-CEBE-4F4B-9519-2A7635FB30CD}"/>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What a checkpoint gives us</a:t>
            </a:r>
          </a:p>
        </p:txBody>
      </p:sp>
      <p:sp>
        <p:nvSpPr>
          <p:cNvPr id="2" name="panel-479">
            <a:extLst xmlns:a="http://schemas.openxmlformats.org/drawingml/2006/main">
              <a:ext uri="{FF2B5EF4-FFF2-40B4-BE49-F238E27FC236}">
                <a16:creationId xmlns:a16="http://schemas.microsoft.com/office/drawing/2014/main" id="{265B663E-FF73-4A8D-8475-98A165864968}"/>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480">
            <a:extLst xmlns:a="http://schemas.openxmlformats.org/drawingml/2006/main">
              <a:ext uri="{FF2B5EF4-FFF2-40B4-BE49-F238E27FC236}">
                <a16:creationId xmlns:a16="http://schemas.microsoft.com/office/drawing/2014/main" id="{2B122E28-566C-4FE0-A79A-79171B8A9736}"/>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481">
            <a:extLst xmlns:a="http://schemas.openxmlformats.org/drawingml/2006/main">
              <a:ext uri="{FF2B5EF4-FFF2-40B4-BE49-F238E27FC236}">
                <a16:creationId xmlns:a16="http://schemas.microsoft.com/office/drawing/2014/main" id="{6CE9A017-77DF-4B47-99DE-6AAFE905BCCF}"/>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Show the latest local checkpoint and summarize its included files. Explain how I could compare the current work with that checkpoint without discarding any changes.</a:t>
            </a:r>
          </a:p>
        </p:txBody>
      </p:sp>
      <p:sp>
        <p:nvSpPr>
          <p:cNvPr id="5" name="panel-482">
            <a:extLst xmlns:a="http://schemas.openxmlformats.org/drawingml/2006/main">
              <a:ext uri="{FF2B5EF4-FFF2-40B4-BE49-F238E27FC236}">
                <a16:creationId xmlns:a16="http://schemas.microsoft.com/office/drawing/2014/main" id="{A9DA2F86-B70F-41BE-8D82-418A144C1A4F}"/>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483">
            <a:extLst xmlns:a="http://schemas.openxmlformats.org/drawingml/2006/main">
              <a:ext uri="{FF2B5EF4-FFF2-40B4-BE49-F238E27FC236}">
                <a16:creationId xmlns:a16="http://schemas.microsoft.com/office/drawing/2014/main" id="{2CE10B4F-44DB-422B-B809-9B48EC66494B}"/>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A checkpoint preserved in this project</a:t>
            </a:r>
          </a:p>
        </p:txBody>
      </p:sp>
      <p:sp>
        <p:nvSpPr>
          <p:cNvPr id="7" name="text-484">
            <a:extLst xmlns:a="http://schemas.openxmlformats.org/drawingml/2006/main">
              <a:ext uri="{FF2B5EF4-FFF2-40B4-BE49-F238E27FC236}">
                <a16:creationId xmlns:a16="http://schemas.microsoft.com/office/drawing/2014/main" id="{0F7804CF-EEFC-48CC-87DB-9DC8D03583DE}"/>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a4eb4e2 · original planning commit</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The brief, specification and design decisions were recorded before implementation.</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BUILD-LOG.md explains the subsequent stages.</a:t>
            </a:r>
          </a:p>
        </p:txBody>
      </p:sp>
      <p:sp>
        <p:nvSpPr>
          <p:cNvPr id="8" name="text-485">
            <a:extLst xmlns:a="http://schemas.openxmlformats.org/drawingml/2006/main">
              <a:ext uri="{FF2B5EF4-FFF2-40B4-BE49-F238E27FC236}">
                <a16:creationId xmlns:a16="http://schemas.microsoft.com/office/drawing/2014/main" id="{E2402C2B-6696-46D3-B936-866354EDE93D}"/>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A named checkpoint makes the build history inspectable.</a:t>
            </a:r>
          </a:p>
        </p:txBody>
      </p:sp>
      <p:sp>
        <p:nvSpPr>
          <p:cNvPr id="9" name="text-486">
            <a:extLst xmlns:a="http://schemas.openxmlformats.org/drawingml/2006/main">
              <a:ext uri="{FF2B5EF4-FFF2-40B4-BE49-F238E27FC236}">
                <a16:creationId xmlns:a16="http://schemas.microsoft.com/office/drawing/2014/main" id="{097381EF-1F3C-49D1-9D57-F7AC82C5B18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53</a:t>
            </a:r>
          </a:p>
        </p:txBody>
      </p:sp>
    </p:spTree>
    <p:extLst>
      <p:ext uri="{BB962C8B-B14F-4D97-AF65-F5344CB8AC3E}">
        <p14:creationId xmlns:p14="http://schemas.microsoft.com/office/powerpoint/2010/main" val="1140826710"/>
      </p:ext>
    </p:extLst>
  </p:cSld>
</p:sld>
</file>

<file path=ppt/slides/slide5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6" name="text-487">
            <a:extLst xmlns:a="http://schemas.openxmlformats.org/drawingml/2006/main">
              <a:ext uri="{FF2B5EF4-FFF2-40B4-BE49-F238E27FC236}">
                <a16:creationId xmlns:a16="http://schemas.microsoft.com/office/drawing/2014/main" id="{CED6242B-B2F5-452A-8783-09A1843FC083}"/>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Git, GitHub, and the GitHub CLI</a:t>
            </a:r>
          </a:p>
        </p:txBody>
      </p:sp>
      <p:sp>
        <p:nvSpPr>
          <p:cNvPr id="2" name="panel-488">
            <a:extLst xmlns:a="http://schemas.openxmlformats.org/drawingml/2006/main">
              <a:ext uri="{FF2B5EF4-FFF2-40B4-BE49-F238E27FC236}">
                <a16:creationId xmlns:a16="http://schemas.microsoft.com/office/drawing/2014/main" id="{717D3D12-DD74-4E8F-8968-9CCF8805A25E}"/>
              </a:ext>
            </a:extLst>
          </p:cNvPr>
          <p:cNvSpPr>
            <a:spLocks xmlns:a="http://schemas.openxmlformats.org/drawingml/2006/main" noGrp="1"/>
          </p:cNvSpPr>
          <p:nvPr/>
        </p:nvSpPr>
        <p:spPr>
          <a:xfrm xmlns:a="http://schemas.openxmlformats.org/drawingml/2006/main">
            <a:off x="609600" y="1905000"/>
            <a:ext cx="35052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text-489">
            <a:extLst xmlns:a="http://schemas.openxmlformats.org/drawingml/2006/main">
              <a:ext uri="{FF2B5EF4-FFF2-40B4-BE49-F238E27FC236}">
                <a16:creationId xmlns:a16="http://schemas.microsoft.com/office/drawing/2014/main" id="{F9546B5C-FF43-4E92-870C-AFDACD75E6CC}"/>
              </a:ext>
            </a:extLst>
          </p:cNvPr>
          <p:cNvSpPr>
            <a:spLocks xmlns:a="http://schemas.openxmlformats.org/drawingml/2006/main" noGrp="1"/>
          </p:cNvSpPr>
          <p:nvPr/>
        </p:nvSpPr>
        <p:spPr>
          <a:xfrm xmlns:a="http://schemas.openxmlformats.org/drawingml/2006/main">
            <a:off x="609600" y="21907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1C1C1C"/>
                </a:solidFill>
                <a:latin typeface="Avenir Next"/>
                <a:ea typeface="Avenir Next"/>
                <a:cs typeface="Avenir Next"/>
              </a:defRPr>
            </a:pPr>
            <a:r>
              <a:rPr sz="2550" b="1" i="0">
                <a:solidFill>
                  <a:srgbClr val="1C1C1C"/>
                </a:solidFill>
                <a:latin typeface="Avenir Next"/>
                <a:ea typeface="Avenir Next"/>
                <a:cs typeface="Avenir Next"/>
              </a:rPr>
              <a:t>Git</a:t>
            </a:r>
          </a:p>
        </p:txBody>
      </p:sp>
      <p:sp>
        <p:nvSpPr>
          <p:cNvPr id="4" name="text-490">
            <a:extLst xmlns:a="http://schemas.openxmlformats.org/drawingml/2006/main">
              <a:ext uri="{FF2B5EF4-FFF2-40B4-BE49-F238E27FC236}">
                <a16:creationId xmlns:a16="http://schemas.microsoft.com/office/drawing/2014/main" id="{F8A65D92-5411-45F0-AF4B-0D592569C67A}"/>
              </a:ext>
            </a:extLst>
          </p:cNvPr>
          <p:cNvSpPr>
            <a:spLocks xmlns:a="http://schemas.openxmlformats.org/drawingml/2006/main" noGrp="1"/>
          </p:cNvSpPr>
          <p:nvPr/>
        </p:nvSpPr>
        <p:spPr>
          <a:xfrm xmlns:a="http://schemas.openxmlformats.org/drawingml/2006/main">
            <a:off x="609600" y="2971800"/>
            <a:ext cx="3505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Local checkpoints</a:t>
            </a:r>
          </a:p>
        </p:txBody>
      </p:sp>
      <p:sp>
        <p:nvSpPr>
          <p:cNvPr id="5" name="text-491">
            <a:extLst xmlns:a="http://schemas.openxmlformats.org/drawingml/2006/main">
              <a:ext uri="{FF2B5EF4-FFF2-40B4-BE49-F238E27FC236}">
                <a16:creationId xmlns:a16="http://schemas.microsoft.com/office/drawing/2014/main" id="{8A13CFB1-0520-4D16-98F1-9873738CBE28}"/>
              </a:ext>
            </a:extLst>
          </p:cNvPr>
          <p:cNvSpPr>
            <a:spLocks xmlns:a="http://schemas.openxmlformats.org/drawingml/2006/main" noGrp="1"/>
          </p:cNvSpPr>
          <p:nvPr/>
        </p:nvSpPr>
        <p:spPr>
          <a:xfrm xmlns:a="http://schemas.openxmlformats.org/drawingml/2006/main">
            <a:off x="609600" y="3857625"/>
            <a:ext cx="33147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A commit records a version of the project.</a:t>
            </a:r>
          </a:p>
        </p:txBody>
      </p:sp>
      <p:sp>
        <p:nvSpPr>
          <p:cNvPr id="6" name="panel-492">
            <a:extLst xmlns:a="http://schemas.openxmlformats.org/drawingml/2006/main">
              <a:ext uri="{FF2B5EF4-FFF2-40B4-BE49-F238E27FC236}">
                <a16:creationId xmlns:a16="http://schemas.microsoft.com/office/drawing/2014/main" id="{4CB555B9-5533-44AD-B4FD-75056A7567FA}"/>
              </a:ext>
            </a:extLst>
          </p:cNvPr>
          <p:cNvSpPr>
            <a:spLocks xmlns:a="http://schemas.openxmlformats.org/drawingml/2006/main" noGrp="1"/>
          </p:cNvSpPr>
          <p:nvPr/>
        </p:nvSpPr>
        <p:spPr>
          <a:xfrm xmlns:a="http://schemas.openxmlformats.org/drawingml/2006/main">
            <a:off x="4343400" y="1905000"/>
            <a:ext cx="35052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7" name="text-493">
            <a:extLst xmlns:a="http://schemas.openxmlformats.org/drawingml/2006/main">
              <a:ext uri="{FF2B5EF4-FFF2-40B4-BE49-F238E27FC236}">
                <a16:creationId xmlns:a16="http://schemas.microsoft.com/office/drawing/2014/main" id="{5A5AC186-E4F4-4638-88BA-4A829F18CBFE}"/>
              </a:ext>
            </a:extLst>
          </p:cNvPr>
          <p:cNvSpPr>
            <a:spLocks xmlns:a="http://schemas.openxmlformats.org/drawingml/2006/main" noGrp="1"/>
          </p:cNvSpPr>
          <p:nvPr/>
        </p:nvSpPr>
        <p:spPr>
          <a:xfrm xmlns:a="http://schemas.openxmlformats.org/drawingml/2006/main">
            <a:off x="4343400" y="21907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1C1C1C"/>
                </a:solidFill>
                <a:latin typeface="Avenir Next"/>
                <a:ea typeface="Avenir Next"/>
                <a:cs typeface="Avenir Next"/>
              </a:defRPr>
            </a:pPr>
            <a:r>
              <a:rPr sz="2550" b="1" i="0">
                <a:solidFill>
                  <a:srgbClr val="1C1C1C"/>
                </a:solidFill>
                <a:latin typeface="Avenir Next"/>
                <a:ea typeface="Avenir Next"/>
                <a:cs typeface="Avenir Next"/>
              </a:rPr>
              <a:t>GitHub</a:t>
            </a:r>
          </a:p>
        </p:txBody>
      </p:sp>
      <p:sp>
        <p:nvSpPr>
          <p:cNvPr id="8" name="text-494">
            <a:extLst xmlns:a="http://schemas.openxmlformats.org/drawingml/2006/main">
              <a:ext uri="{FF2B5EF4-FFF2-40B4-BE49-F238E27FC236}">
                <a16:creationId xmlns:a16="http://schemas.microsoft.com/office/drawing/2014/main" id="{B70A7A4C-1F4E-4FCB-8D8C-7CAE1FED0381}"/>
              </a:ext>
            </a:extLst>
          </p:cNvPr>
          <p:cNvSpPr>
            <a:spLocks xmlns:a="http://schemas.openxmlformats.org/drawingml/2006/main" noGrp="1"/>
          </p:cNvSpPr>
          <p:nvPr/>
        </p:nvSpPr>
        <p:spPr>
          <a:xfrm xmlns:a="http://schemas.openxmlformats.org/drawingml/2006/main">
            <a:off x="4343400" y="2971800"/>
            <a:ext cx="3505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Shared repository</a:t>
            </a:r>
          </a:p>
        </p:txBody>
      </p:sp>
      <p:sp>
        <p:nvSpPr>
          <p:cNvPr id="9" name="text-495">
            <a:extLst xmlns:a="http://schemas.openxmlformats.org/drawingml/2006/main">
              <a:ext uri="{FF2B5EF4-FFF2-40B4-BE49-F238E27FC236}">
                <a16:creationId xmlns:a16="http://schemas.microsoft.com/office/drawing/2014/main" id="{D2A95A10-9968-461E-AC4B-07DF3817D0F9}"/>
              </a:ext>
            </a:extLst>
          </p:cNvPr>
          <p:cNvSpPr>
            <a:spLocks xmlns:a="http://schemas.openxmlformats.org/drawingml/2006/main" noGrp="1"/>
          </p:cNvSpPr>
          <p:nvPr/>
        </p:nvSpPr>
        <p:spPr>
          <a:xfrm xmlns:a="http://schemas.openxmlformats.org/drawingml/2006/main">
            <a:off x="4343400" y="3857625"/>
            <a:ext cx="33147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Hosts files and history for review and collaboration.</a:t>
            </a:r>
          </a:p>
        </p:txBody>
      </p:sp>
      <p:sp>
        <p:nvSpPr>
          <p:cNvPr id="10" name="panel-496">
            <a:extLst xmlns:a="http://schemas.openxmlformats.org/drawingml/2006/main">
              <a:ext uri="{FF2B5EF4-FFF2-40B4-BE49-F238E27FC236}">
                <a16:creationId xmlns:a16="http://schemas.microsoft.com/office/drawing/2014/main" id="{A5522A5A-38CF-4268-A32D-A889DC0E5A57}"/>
              </a:ext>
            </a:extLst>
          </p:cNvPr>
          <p:cNvSpPr>
            <a:spLocks xmlns:a="http://schemas.openxmlformats.org/drawingml/2006/main" noGrp="1"/>
          </p:cNvSpPr>
          <p:nvPr/>
        </p:nvSpPr>
        <p:spPr>
          <a:xfrm xmlns:a="http://schemas.openxmlformats.org/drawingml/2006/main">
            <a:off x="8077200" y="1905000"/>
            <a:ext cx="35052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497">
            <a:extLst xmlns:a="http://schemas.openxmlformats.org/drawingml/2006/main">
              <a:ext uri="{FF2B5EF4-FFF2-40B4-BE49-F238E27FC236}">
                <a16:creationId xmlns:a16="http://schemas.microsoft.com/office/drawing/2014/main" id="{235CF29C-426F-4BE8-B98E-93CF83928C0C}"/>
              </a:ext>
            </a:extLst>
          </p:cNvPr>
          <p:cNvSpPr>
            <a:spLocks xmlns:a="http://schemas.openxmlformats.org/drawingml/2006/main" noGrp="1"/>
          </p:cNvSpPr>
          <p:nvPr/>
        </p:nvSpPr>
        <p:spPr>
          <a:xfrm xmlns:a="http://schemas.openxmlformats.org/drawingml/2006/main">
            <a:off x="8077200" y="2190750"/>
            <a:ext cx="350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1C1C1C"/>
                </a:solidFill>
                <a:latin typeface="Avenir Next"/>
                <a:ea typeface="Avenir Next"/>
                <a:cs typeface="Avenir Next"/>
              </a:defRPr>
            </a:pPr>
            <a:r>
              <a:rPr sz="2550" b="1" i="0">
                <a:solidFill>
                  <a:srgbClr val="1C1C1C"/>
                </a:solidFill>
                <a:latin typeface="Avenir Next"/>
                <a:ea typeface="Avenir Next"/>
                <a:cs typeface="Avenir Next"/>
              </a:rPr>
              <a:t>GitHub CLI · gh</a:t>
            </a:r>
          </a:p>
        </p:txBody>
      </p:sp>
      <p:sp>
        <p:nvSpPr>
          <p:cNvPr id="12" name="text-498">
            <a:extLst xmlns:a="http://schemas.openxmlformats.org/drawingml/2006/main">
              <a:ext uri="{FF2B5EF4-FFF2-40B4-BE49-F238E27FC236}">
                <a16:creationId xmlns:a16="http://schemas.microsoft.com/office/drawing/2014/main" id="{E8B2781A-1CF5-42A8-A883-7FC47AAB4702}"/>
              </a:ext>
            </a:extLst>
          </p:cNvPr>
          <p:cNvSpPr>
            <a:spLocks xmlns:a="http://schemas.openxmlformats.org/drawingml/2006/main" noGrp="1"/>
          </p:cNvSpPr>
          <p:nvPr/>
        </p:nvSpPr>
        <p:spPr>
          <a:xfrm xmlns:a="http://schemas.openxmlformats.org/drawingml/2006/main">
            <a:off x="8077200" y="2971800"/>
            <a:ext cx="3505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Claude’s terminal tool</a:t>
            </a:r>
          </a:p>
        </p:txBody>
      </p:sp>
      <p:sp>
        <p:nvSpPr>
          <p:cNvPr id="13" name="text-499">
            <a:extLst xmlns:a="http://schemas.openxmlformats.org/drawingml/2006/main">
              <a:ext uri="{FF2B5EF4-FFF2-40B4-BE49-F238E27FC236}">
                <a16:creationId xmlns:a16="http://schemas.microsoft.com/office/drawing/2014/main" id="{6E5FBF3E-24B6-4C08-AB34-52C4F169BBF5}"/>
              </a:ext>
            </a:extLst>
          </p:cNvPr>
          <p:cNvSpPr>
            <a:spLocks xmlns:a="http://schemas.openxmlformats.org/drawingml/2006/main" noGrp="1"/>
          </p:cNvSpPr>
          <p:nvPr/>
        </p:nvSpPr>
        <p:spPr>
          <a:xfrm xmlns:a="http://schemas.openxmlformats.org/drawingml/2006/main">
            <a:off x="8077200" y="3857625"/>
            <a:ext cx="33147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Helps Claude connect to GitHub and manage repositories.</a:t>
            </a:r>
          </a:p>
        </p:txBody>
      </p:sp>
      <p:sp>
        <p:nvSpPr>
          <p:cNvPr id="14" name="panel-500">
            <a:extLst xmlns:a="http://schemas.openxmlformats.org/drawingml/2006/main">
              <a:ext uri="{FF2B5EF4-FFF2-40B4-BE49-F238E27FC236}">
                <a16:creationId xmlns:a16="http://schemas.microsoft.com/office/drawing/2014/main" id="{93B93434-B223-4463-8315-23B1EC391D95}"/>
              </a:ext>
            </a:extLst>
          </p:cNvPr>
          <p:cNvSpPr>
            <a:spLocks xmlns:a="http://schemas.openxmlformats.org/drawingml/2006/main" noGrp="1"/>
          </p:cNvSpPr>
          <p:nvPr/>
        </p:nvSpPr>
        <p:spPr>
          <a:xfrm xmlns:a="http://schemas.openxmlformats.org/drawingml/2006/main">
            <a:off x="609600" y="546735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5" name="text-501">
            <a:extLst xmlns:a="http://schemas.openxmlformats.org/drawingml/2006/main">
              <a:ext uri="{FF2B5EF4-FFF2-40B4-BE49-F238E27FC236}">
                <a16:creationId xmlns:a16="http://schemas.microsoft.com/office/drawing/2014/main" id="{B78921F9-AC73-4165-9DD8-1C9869A47DB8}"/>
              </a:ext>
            </a:extLst>
          </p:cNvPr>
          <p:cNvSpPr>
            <a:spLocks xmlns:a="http://schemas.openxmlformats.org/drawingml/2006/main" noGrp="1"/>
          </p:cNvSpPr>
          <p:nvPr/>
        </p:nvSpPr>
        <p:spPr>
          <a:xfrm xmlns:a="http://schemas.openxmlformats.org/drawingml/2006/main">
            <a:off x="609600" y="5724525"/>
            <a:ext cx="2286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1C1C1C"/>
                </a:solidFill>
                <a:latin typeface="Avenir Next"/>
                <a:ea typeface="Avenir Next"/>
                <a:cs typeface="Avenir Next"/>
              </a:defRPr>
            </a:pPr>
            <a:r>
              <a:rPr sz="2100" b="1" i="0">
                <a:solidFill>
                  <a:srgbClr val="1C1C1C"/>
                </a:solidFill>
                <a:latin typeface="Avenir Next"/>
                <a:ea typeface="Avenir Next"/>
                <a:cs typeface="Avenir Next"/>
              </a:rPr>
              <a:t>Project folder</a:t>
            </a:r>
          </a:p>
        </p:txBody>
      </p:sp>
      <p:sp>
        <p:nvSpPr>
          <p:cNvPr id="16" name="panel-502">
            <a:extLst xmlns:a="http://schemas.openxmlformats.org/drawingml/2006/main">
              <a:ext uri="{FF2B5EF4-FFF2-40B4-BE49-F238E27FC236}">
                <a16:creationId xmlns:a16="http://schemas.microsoft.com/office/drawing/2014/main" id="{4AB255DC-D380-4251-9825-E9E00EE8C0DE}"/>
              </a:ext>
            </a:extLst>
          </p:cNvPr>
          <p:cNvSpPr>
            <a:spLocks xmlns:a="http://schemas.openxmlformats.org/drawingml/2006/main" noGrp="1"/>
          </p:cNvSpPr>
          <p:nvPr/>
        </p:nvSpPr>
        <p:spPr>
          <a:xfrm xmlns:a="http://schemas.openxmlformats.org/drawingml/2006/main">
            <a:off x="2909888" y="5881688"/>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panel-503">
            <a:extLst xmlns:a="http://schemas.openxmlformats.org/drawingml/2006/main">
              <a:ext uri="{FF2B5EF4-FFF2-40B4-BE49-F238E27FC236}">
                <a16:creationId xmlns:a16="http://schemas.microsoft.com/office/drawing/2014/main" id="{986F73F8-DF62-478B-9041-2A4BD0A10BB5}"/>
              </a:ext>
            </a:extLst>
          </p:cNvPr>
          <p:cNvSpPr>
            <a:spLocks xmlns:a="http://schemas.openxmlformats.org/drawingml/2006/main" noGrp="1"/>
          </p:cNvSpPr>
          <p:nvPr/>
        </p:nvSpPr>
        <p:spPr>
          <a:xfrm xmlns:a="http://schemas.openxmlformats.org/drawingml/2006/main">
            <a:off x="3509963" y="58816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6" idx="3"/>
            <a:endCxn xmlns:a="http://schemas.openxmlformats.org/drawingml/2006/main" id="17" idx="1"/>
          </p:cNvCxnSpPr>
          <p:nvPr/>
        </p:nvCxnSpPr>
        <p:spPr>
          <a:xfrm xmlns:a="http://schemas.openxmlformats.org/drawingml/2006/main">
            <a:off x="2919413" y="5886451"/>
            <a:ext cx="590550"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9" name="text-504">
            <a:extLst xmlns:a="http://schemas.openxmlformats.org/drawingml/2006/main">
              <a:ext uri="{FF2B5EF4-FFF2-40B4-BE49-F238E27FC236}">
                <a16:creationId xmlns:a16="http://schemas.microsoft.com/office/drawing/2014/main" id="{A282591D-73B9-40C5-87D5-9B5631F8878D}"/>
              </a:ext>
            </a:extLst>
          </p:cNvPr>
          <p:cNvSpPr>
            <a:spLocks xmlns:a="http://schemas.openxmlformats.org/drawingml/2006/main" noGrp="1"/>
          </p:cNvSpPr>
          <p:nvPr/>
        </p:nvSpPr>
        <p:spPr>
          <a:xfrm xmlns:a="http://schemas.openxmlformats.org/drawingml/2006/main">
            <a:off x="3848100" y="5724525"/>
            <a:ext cx="314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1C1C1C"/>
                </a:solidFill>
                <a:latin typeface="Avenir Next"/>
                <a:ea typeface="Avenir Next"/>
                <a:cs typeface="Avenir Next"/>
              </a:defRPr>
            </a:pPr>
            <a:r>
              <a:rPr sz="2100" b="1" i="0">
                <a:solidFill>
                  <a:srgbClr val="1C1C1C"/>
                </a:solidFill>
                <a:latin typeface="Avenir Next"/>
                <a:ea typeface="Avenir Next"/>
                <a:cs typeface="Avenir Next"/>
              </a:rPr>
              <a:t>GitHub repository</a:t>
            </a:r>
          </a:p>
        </p:txBody>
      </p:sp>
      <p:sp>
        <p:nvSpPr>
          <p:cNvPr id="20" name="panel-505">
            <a:extLst xmlns:a="http://schemas.openxmlformats.org/drawingml/2006/main">
              <a:ext uri="{FF2B5EF4-FFF2-40B4-BE49-F238E27FC236}">
                <a16:creationId xmlns:a16="http://schemas.microsoft.com/office/drawing/2014/main" id="{69695EA8-18B2-4374-9D4E-865E7E9511DC}"/>
              </a:ext>
            </a:extLst>
          </p:cNvPr>
          <p:cNvSpPr>
            <a:spLocks xmlns:a="http://schemas.openxmlformats.org/drawingml/2006/main" noGrp="1"/>
          </p:cNvSpPr>
          <p:nvPr/>
        </p:nvSpPr>
        <p:spPr>
          <a:xfrm xmlns:a="http://schemas.openxmlformats.org/drawingml/2006/main">
            <a:off x="7158038" y="5881688"/>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panel-506">
            <a:extLst xmlns:a="http://schemas.openxmlformats.org/drawingml/2006/main">
              <a:ext uri="{FF2B5EF4-FFF2-40B4-BE49-F238E27FC236}">
                <a16:creationId xmlns:a16="http://schemas.microsoft.com/office/drawing/2014/main" id="{B31DF923-1D19-493A-A7E0-3C96BC5C1AD1}"/>
              </a:ext>
            </a:extLst>
          </p:cNvPr>
          <p:cNvSpPr>
            <a:spLocks xmlns:a="http://schemas.openxmlformats.org/drawingml/2006/main" noGrp="1"/>
          </p:cNvSpPr>
          <p:nvPr/>
        </p:nvSpPr>
        <p:spPr>
          <a:xfrm xmlns:a="http://schemas.openxmlformats.org/drawingml/2006/main">
            <a:off x="7758113" y="58816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7" name=""/>
          <p:cNvCxnSpPr>
            <a:stCxn xmlns:a="http://schemas.openxmlformats.org/drawingml/2006/main" id="20" idx="3"/>
            <a:endCxn xmlns:a="http://schemas.openxmlformats.org/drawingml/2006/main" id="21" idx="1"/>
          </p:cNvCxnSpPr>
          <p:nvPr/>
        </p:nvCxnSpPr>
        <p:spPr>
          <a:xfrm xmlns:a="http://schemas.openxmlformats.org/drawingml/2006/main">
            <a:off x="7167563" y="5886451"/>
            <a:ext cx="590550"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3" name="text-507">
            <a:extLst xmlns:a="http://schemas.openxmlformats.org/drawingml/2006/main">
              <a:ext uri="{FF2B5EF4-FFF2-40B4-BE49-F238E27FC236}">
                <a16:creationId xmlns:a16="http://schemas.microsoft.com/office/drawing/2014/main" id="{145434FE-05D9-41CF-961B-3F4338BB6BCE}"/>
              </a:ext>
            </a:extLst>
          </p:cNvPr>
          <p:cNvSpPr>
            <a:spLocks xmlns:a="http://schemas.openxmlformats.org/drawingml/2006/main" noGrp="1"/>
          </p:cNvSpPr>
          <p:nvPr/>
        </p:nvSpPr>
        <p:spPr>
          <a:xfrm xmlns:a="http://schemas.openxmlformats.org/drawingml/2006/main">
            <a:off x="8191500" y="5724525"/>
            <a:ext cx="3390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1C1C1C"/>
                </a:solidFill>
                <a:latin typeface="Avenir Next"/>
                <a:ea typeface="Avenir Next"/>
                <a:cs typeface="Avenir Next"/>
              </a:defRPr>
            </a:pPr>
            <a:r>
              <a:rPr sz="2100" b="1" i="0">
                <a:solidFill>
                  <a:srgbClr val="1C1C1C"/>
                </a:solidFill>
                <a:latin typeface="Avenir Next"/>
                <a:ea typeface="Avenir Next"/>
                <a:cs typeface="Avenir Next"/>
              </a:rPr>
              <a:t>Vercel deployment</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518fd269e63d47c7"/>
          <a:stretch xmlns:a="http://schemas.openxmlformats.org/drawingml/2006/main"/>
        </p:blipFill>
        <p:spPr>
          <a:xfrm xmlns:a="http://schemas.openxmlformats.org/drawingml/2006/main">
            <a:off x="10972800" y="472059"/>
            <a:ext cx="533400" cy="522732"/>
          </a:xfrm>
          <a:prstGeom xmlns:a="http://schemas.openxmlformats.org/drawingml/2006/main" prst="rect">
            <a:avLst/>
          </a:prstGeom>
        </p:spPr>
      </p:pic>
      <p:sp>
        <p:nvSpPr>
          <p:cNvPr id="25" name="text-508">
            <a:extLst xmlns:a="http://schemas.openxmlformats.org/drawingml/2006/main">
              <a:ext uri="{FF2B5EF4-FFF2-40B4-BE49-F238E27FC236}">
                <a16:creationId xmlns:a16="http://schemas.microsoft.com/office/drawing/2014/main" id="{2CBF5903-9896-47BD-9E57-A5A56C4C5D8E}"/>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54</a:t>
            </a:r>
          </a:p>
        </p:txBody>
      </p:sp>
    </p:spTree>
    <p:extLst>
      <p:ext uri="{BB962C8B-B14F-4D97-AF65-F5344CB8AC3E}">
        <p14:creationId xmlns:p14="http://schemas.microsoft.com/office/powerpoint/2010/main" val="1477068726"/>
      </p:ext>
    </p:extLst>
  </p:cSld>
</p:sld>
</file>

<file path=ppt/slides/slide5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509">
            <a:extLst xmlns:a="http://schemas.openxmlformats.org/drawingml/2006/main">
              <a:ext uri="{FF2B5EF4-FFF2-40B4-BE49-F238E27FC236}">
                <a16:creationId xmlns:a16="http://schemas.microsoft.com/office/drawing/2014/main" id="{D2C6130E-3E12-467B-88C5-DCD77E4939A7}"/>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GitHub connection, in plain English</a:t>
            </a:r>
          </a:p>
        </p:txBody>
      </p:sp>
      <p:sp>
        <p:nvSpPr>
          <p:cNvPr id="2" name="panel-510">
            <a:extLst xmlns:a="http://schemas.openxmlformats.org/drawingml/2006/main">
              <a:ext uri="{FF2B5EF4-FFF2-40B4-BE49-F238E27FC236}">
                <a16:creationId xmlns:a16="http://schemas.microsoft.com/office/drawing/2014/main" id="{9611A630-7BA7-4656-ADF8-A721043ECF41}"/>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511">
            <a:extLst xmlns:a="http://schemas.openxmlformats.org/drawingml/2006/main">
              <a:ext uri="{FF2B5EF4-FFF2-40B4-BE49-F238E27FC236}">
                <a16:creationId xmlns:a16="http://schemas.microsoft.com/office/drawing/2014/main" id="{ABEC6D8F-EDE4-4E6B-A87F-E3DB4A12C238}"/>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512">
            <a:extLst xmlns:a="http://schemas.openxmlformats.org/drawingml/2006/main">
              <a:ext uri="{FF2B5EF4-FFF2-40B4-BE49-F238E27FC236}">
                <a16:creationId xmlns:a16="http://schemas.microsoft.com/office/drawing/2014/main" id="{E003C419-1120-4D61-ABAA-4FB949D08396}"/>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513">
            <a:extLst xmlns:a="http://schemas.openxmlformats.org/drawingml/2006/main">
              <a:ext uri="{FF2B5EF4-FFF2-40B4-BE49-F238E27FC236}">
                <a16:creationId xmlns:a16="http://schemas.microsoft.com/office/drawing/2014/main" id="{49ABEC7F-6E52-4543-8E88-3FD233DCA2D8}"/>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514">
            <a:extLst xmlns:a="http://schemas.openxmlformats.org/drawingml/2006/main">
              <a:ext uri="{FF2B5EF4-FFF2-40B4-BE49-F238E27FC236}">
                <a16:creationId xmlns:a16="http://schemas.microsoft.com/office/drawing/2014/main" id="{09842D5C-6C9B-4B64-AEF3-FEDE1BCA60F7}"/>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 me connect this project to GitHub. Check what’s already installed, set up anything missing, guide me through signing in, and verify the connection. Explain any steps I need to complete myself.</a:t>
            </a:r>
          </a:p>
        </p:txBody>
      </p:sp>
      <p:sp>
        <p:nvSpPr>
          <p:cNvPr id="7" name="text-515">
            <a:extLst xmlns:a="http://schemas.openxmlformats.org/drawingml/2006/main">
              <a:ext uri="{FF2B5EF4-FFF2-40B4-BE49-F238E27FC236}">
                <a16:creationId xmlns:a16="http://schemas.microsoft.com/office/drawing/2014/main" id="{46B6688F-4836-4A46-8F8A-52DE3021E660}"/>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Inspect first:</a:t>
            </a:r>
            <a:r>
              <a:rPr sz="1875" b="0" i="0">
                <a:solidFill>
                  <a:srgbClr val="1C1C1C"/>
                </a:solidFill>
                <a:latin typeface="Helvetica Neue"/>
                <a:ea typeface="Helvetica Neue"/>
                <a:cs typeface="Helvetica Neue"/>
              </a:rPr>
              <a:t> reuse the existing setup.</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Guide me:</a:t>
            </a:r>
            <a:r>
              <a:rPr sz="1875" b="0" i="0">
                <a:solidFill>
                  <a:srgbClr val="1C1C1C"/>
                </a:solidFill>
                <a:latin typeface="Helvetica Neue"/>
                <a:ea typeface="Helvetica Neue"/>
                <a:cs typeface="Helvetica Neue"/>
              </a:rPr>
              <a:t> pause for my sign-in.</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Verify:</a:t>
            </a:r>
            <a:r>
              <a:rPr sz="1875" b="0" i="0">
                <a:solidFill>
                  <a:srgbClr val="1C1C1C"/>
                </a:solidFill>
                <a:latin typeface="Helvetica Neue"/>
                <a:ea typeface="Helvetica Neue"/>
                <a:cs typeface="Helvetica Neue"/>
              </a:rPr>
              <a:t> show the connected account.</a:t>
            </a:r>
          </a:p>
        </p:txBody>
      </p:sp>
      <p:sp>
        <p:nvSpPr>
          <p:cNvPr id="8" name="panel-516">
            <a:extLst xmlns:a="http://schemas.openxmlformats.org/drawingml/2006/main">
              <a:ext uri="{FF2B5EF4-FFF2-40B4-BE49-F238E27FC236}">
                <a16:creationId xmlns:a16="http://schemas.microsoft.com/office/drawing/2014/main" id="{B3153483-7422-4595-AE4A-28509DB65166}"/>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517">
            <a:extLst xmlns:a="http://schemas.openxmlformats.org/drawingml/2006/main">
              <a:ext uri="{FF2B5EF4-FFF2-40B4-BE49-F238E27FC236}">
                <a16:creationId xmlns:a16="http://schemas.microsoft.com/office/drawing/2014/main" id="{43846DF7-DFFE-4F37-8247-9F5B91153D87}"/>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Claude identifies the signed-in account and reports that GitHub access works. Repository creation comes next.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a74381f2fe84ec2"/>
          <a:stretch xmlns:a="http://schemas.openxmlformats.org/drawingml/2006/main"/>
        </p:blipFill>
        <p:spPr>
          <a:xfrm xmlns:a="http://schemas.openxmlformats.org/drawingml/2006/main">
            <a:off x="10972800" y="472059"/>
            <a:ext cx="533400" cy="522732"/>
          </a:xfrm>
          <a:prstGeom xmlns:a="http://schemas.openxmlformats.org/drawingml/2006/main" prst="rect">
            <a:avLst/>
          </a:prstGeom>
        </p:spPr>
      </p:pic>
      <p:sp>
        <p:nvSpPr>
          <p:cNvPr id="11" name="text-518">
            <a:extLst xmlns:a="http://schemas.openxmlformats.org/drawingml/2006/main">
              <a:ext uri="{FF2B5EF4-FFF2-40B4-BE49-F238E27FC236}">
                <a16:creationId xmlns:a16="http://schemas.microsoft.com/office/drawing/2014/main" id="{E6DBAF79-9311-4C2C-996E-A44FE21F95D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55</a:t>
            </a:r>
          </a:p>
        </p:txBody>
      </p:sp>
    </p:spTree>
    <p:extLst>
      <p:ext uri="{BB962C8B-B14F-4D97-AF65-F5344CB8AC3E}">
        <p14:creationId xmlns:p14="http://schemas.microsoft.com/office/powerpoint/2010/main" val="189477665"/>
      </p:ext>
    </p:extLst>
  </p:cSld>
</p:sld>
</file>

<file path=ppt/slides/slide5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519">
            <a:extLst xmlns:a="http://schemas.openxmlformats.org/drawingml/2006/main">
              <a:ext uri="{FF2B5EF4-FFF2-40B4-BE49-F238E27FC236}">
                <a16:creationId xmlns:a16="http://schemas.microsoft.com/office/drawing/2014/main" id="{08E61FE2-E61D-4DEC-8467-89DC0FF1F6C5}"/>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private GitHub repository</a:t>
            </a:r>
          </a:p>
        </p:txBody>
      </p:sp>
      <p:sp>
        <p:nvSpPr>
          <p:cNvPr id="2" name="panel-520">
            <a:extLst xmlns:a="http://schemas.openxmlformats.org/drawingml/2006/main">
              <a:ext uri="{FF2B5EF4-FFF2-40B4-BE49-F238E27FC236}">
                <a16:creationId xmlns:a16="http://schemas.microsoft.com/office/drawing/2014/main" id="{775EF7F0-FC92-4159-9460-2A4BC3AEEF4F}"/>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521">
            <a:extLst xmlns:a="http://schemas.openxmlformats.org/drawingml/2006/main">
              <a:ext uri="{FF2B5EF4-FFF2-40B4-BE49-F238E27FC236}">
                <a16:creationId xmlns:a16="http://schemas.microsoft.com/office/drawing/2014/main" id="{30AA2916-2849-469E-AEFA-25BB469FFCC4}"/>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522">
            <a:extLst xmlns:a="http://schemas.openxmlformats.org/drawingml/2006/main">
              <a:ext uri="{FF2B5EF4-FFF2-40B4-BE49-F238E27FC236}">
                <a16:creationId xmlns:a16="http://schemas.microsoft.com/office/drawing/2014/main" id="{E8F5874B-369B-4B66-A3C8-DF90DF62760A}"/>
              </a:ext>
            </a:extLst>
          </p:cNvPr>
          <p:cNvSpPr>
            <a:spLocks xmlns:a="http://schemas.openxmlformats.org/drawingml/2006/main" noGrp="1"/>
          </p:cNvSpPr>
          <p:nvPr/>
        </p:nvSpPr>
        <p:spPr>
          <a:xfrm xmlns:a="http://schemas.openxmlformats.org/drawingml/2006/main">
            <a:off x="609600" y="20383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523">
            <a:extLst xmlns:a="http://schemas.openxmlformats.org/drawingml/2006/main">
              <a:ext uri="{FF2B5EF4-FFF2-40B4-BE49-F238E27FC236}">
                <a16:creationId xmlns:a16="http://schemas.microsoft.com/office/drawing/2014/main" id="{D6579DCB-54BD-41C2-AE23-530BDF7873A7}"/>
              </a:ext>
            </a:extLst>
          </p:cNvPr>
          <p:cNvSpPr>
            <a:spLocks xmlns:a="http://schemas.openxmlformats.org/drawingml/2006/main" noGrp="1"/>
          </p:cNvSpPr>
          <p:nvPr/>
        </p:nvSpPr>
        <p:spPr>
          <a:xfrm xmlns:a="http://schemas.openxmlformats.org/drawingml/2006/main">
            <a:off x="7981950" y="2038350"/>
            <a:ext cx="3600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i="0">
                <a:solidFill>
                  <a:srgbClr val="686868"/>
                </a:solidFill>
                <a:latin typeface="Avenir Next"/>
                <a:ea typeface="Avenir Next"/>
                <a:cs typeface="Avenir Next"/>
              </a:defRPr>
            </a:pPr>
            <a:r>
              <a:rPr sz="1875" b="1" i="0">
                <a:solidFill>
                  <a:srgbClr val="686868"/>
                </a:solidFill>
                <a:latin typeface="Avenir Next"/>
                <a:ea typeface="Avenir Next"/>
                <a:cs typeface="Avenir Next"/>
              </a:rPr>
              <a:t>Technical reference</a:t>
            </a:r>
          </a:p>
        </p:txBody>
      </p:sp>
      <p:sp>
        <p:nvSpPr>
          <p:cNvPr id="6" name="text-524">
            <a:extLst xmlns:a="http://schemas.openxmlformats.org/drawingml/2006/main">
              <a:ext uri="{FF2B5EF4-FFF2-40B4-BE49-F238E27FC236}">
                <a16:creationId xmlns:a16="http://schemas.microsoft.com/office/drawing/2014/main" id="{F26AEAA9-DE39-47C0-9B8D-725EF04F7406}"/>
              </a:ext>
            </a:extLst>
          </p:cNvPr>
          <p:cNvSpPr>
            <a:spLocks xmlns:a="http://schemas.openxmlformats.org/drawingml/2006/main" noGrp="1"/>
          </p:cNvSpPr>
          <p:nvPr/>
        </p:nvSpPr>
        <p:spPr>
          <a:xfrm xmlns:a="http://schemas.openxmlformats.org/drawingml/2006/main">
            <a:off x="609600" y="2667000"/>
            <a:ext cx="68008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Create a private GitHub repository for this project using the account I have signed in to. First show me the account, repository name, and files to upload. Check for an existing remote. After I confirm those details, upload the reviewed checkpoint.</a:t>
            </a:r>
          </a:p>
        </p:txBody>
      </p:sp>
      <p:sp>
        <p:nvSpPr>
          <p:cNvPr id="7" name="panel-525">
            <a:extLst xmlns:a="http://schemas.openxmlformats.org/drawingml/2006/main">
              <a:ext uri="{FF2B5EF4-FFF2-40B4-BE49-F238E27FC236}">
                <a16:creationId xmlns:a16="http://schemas.microsoft.com/office/drawing/2014/main" id="{A281876E-701A-489F-BA65-C664C93C7BB2}"/>
              </a:ext>
            </a:extLst>
          </p:cNvPr>
          <p:cNvSpPr>
            <a:spLocks xmlns:a="http://schemas.openxmlformats.org/drawingml/2006/main" noGrp="1"/>
          </p:cNvSpPr>
          <p:nvPr/>
        </p:nvSpPr>
        <p:spPr>
          <a:xfrm xmlns:a="http://schemas.openxmlformats.org/drawingml/2006/main">
            <a:off x="7981950" y="2667000"/>
            <a:ext cx="3600450" cy="980123"/>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8" name="text-526">
            <a:extLst xmlns:a="http://schemas.openxmlformats.org/drawingml/2006/main">
              <a:ext uri="{FF2B5EF4-FFF2-40B4-BE49-F238E27FC236}">
                <a16:creationId xmlns:a16="http://schemas.microsoft.com/office/drawing/2014/main" id="{291AC9DA-F713-4791-8903-E3FA7B8FC59E}"/>
              </a:ext>
            </a:extLst>
          </p:cNvPr>
          <p:cNvSpPr>
            <a:spLocks xmlns:a="http://schemas.openxmlformats.org/drawingml/2006/main" noGrp="1"/>
          </p:cNvSpPr>
          <p:nvPr/>
        </p:nvSpPr>
        <p:spPr>
          <a:xfrm xmlns:a="http://schemas.openxmlformats.org/drawingml/2006/main">
            <a:off x="8172450" y="2857500"/>
            <a:ext cx="3219450" cy="6943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gh auth status</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gh repo create --private</a:t>
            </a:r>
          </a:p>
        </p:txBody>
      </p:sp>
      <p:sp>
        <p:nvSpPr>
          <p:cNvPr id="9" name="text-527">
            <a:extLst xmlns:a="http://schemas.openxmlformats.org/drawingml/2006/main">
              <a:ext uri="{FF2B5EF4-FFF2-40B4-BE49-F238E27FC236}">
                <a16:creationId xmlns:a16="http://schemas.microsoft.com/office/drawing/2014/main" id="{3F7594A5-E215-4717-99E3-DB455CE5D3E6}"/>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686868"/>
                </a:solidFill>
                <a:latin typeface="Helvetica Neue"/>
                <a:ea typeface="Helvetica Neue"/>
                <a:cs typeface="Helvetica Neue"/>
              </a:defRPr>
            </a:pPr>
            <a:r>
              <a:rPr sz="1800" b="1" i="0">
                <a:solidFill>
                  <a:srgbClr val="686868"/>
                </a:solidFill>
                <a:latin typeface="Helvetica Neue"/>
                <a:ea typeface="Helvetica Neue"/>
                <a:cs typeface="Helvetica Neue"/>
              </a:rPr>
              <a:t>Result:</a:t>
            </a:r>
            <a:r>
              <a:rPr sz="1800" b="0" i="0">
                <a:solidFill>
                  <a:srgbClr val="686868"/>
                </a:solidFill>
                <a:latin typeface="Helvetica Neue"/>
                <a:ea typeface="Helvetica Neue"/>
                <a:cs typeface="Helvetica Neue"/>
              </a:rPr>
              <a:t> a private repository containing the reviewed files. A remote is the project’s linked online repository.</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4b2aa2f945f46aa"/>
          <a:stretch xmlns:a="http://schemas.openxmlformats.org/drawingml/2006/main"/>
        </p:blipFill>
        <p:spPr>
          <a:xfrm xmlns:a="http://schemas.openxmlformats.org/drawingml/2006/main">
            <a:off x="10972800" y="472059"/>
            <a:ext cx="533400" cy="522732"/>
          </a:xfrm>
          <a:prstGeom xmlns:a="http://schemas.openxmlformats.org/drawingml/2006/main" prst="rect">
            <a:avLst/>
          </a:prstGeom>
        </p:spPr>
      </p:pic>
      <p:sp>
        <p:nvSpPr>
          <p:cNvPr id="11" name="text-528">
            <a:extLst xmlns:a="http://schemas.openxmlformats.org/drawingml/2006/main">
              <a:ext uri="{FF2B5EF4-FFF2-40B4-BE49-F238E27FC236}">
                <a16:creationId xmlns:a16="http://schemas.microsoft.com/office/drawing/2014/main" id="{397B8951-9BC2-4ACD-B2C6-B6F9768FBCB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56</a:t>
            </a:r>
          </a:p>
        </p:txBody>
      </p:sp>
    </p:spTree>
    <p:extLst>
      <p:ext uri="{BB962C8B-B14F-4D97-AF65-F5344CB8AC3E}">
        <p14:creationId xmlns:p14="http://schemas.microsoft.com/office/powerpoint/2010/main" val="1462041096"/>
      </p:ext>
    </p:extLst>
  </p:cSld>
</p:sld>
</file>

<file path=ppt/slides/slide5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529">
            <a:extLst xmlns:a="http://schemas.openxmlformats.org/drawingml/2006/main">
              <a:ext uri="{FF2B5EF4-FFF2-40B4-BE49-F238E27FC236}">
                <a16:creationId xmlns:a16="http://schemas.microsoft.com/office/drawing/2014/main" id="{65182E7E-4F43-4E11-8840-BD69D5802072}"/>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Verify the repository before moving on</a:t>
            </a:r>
          </a:p>
        </p:txBody>
      </p:sp>
      <p:sp>
        <p:nvSpPr>
          <p:cNvPr id="2" name="panel-530">
            <a:extLst xmlns:a="http://schemas.openxmlformats.org/drawingml/2006/main">
              <a:ext uri="{FF2B5EF4-FFF2-40B4-BE49-F238E27FC236}">
                <a16:creationId xmlns:a16="http://schemas.microsoft.com/office/drawing/2014/main" id="{496E74E4-9815-445F-BF2C-0F9148C1F438}"/>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531">
            <a:extLst xmlns:a="http://schemas.openxmlformats.org/drawingml/2006/main">
              <a:ext uri="{FF2B5EF4-FFF2-40B4-BE49-F238E27FC236}">
                <a16:creationId xmlns:a16="http://schemas.microsoft.com/office/drawing/2014/main" id="{6CF1C91E-6D4B-49DD-A445-AFBC5A347DC3}"/>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532">
            <a:extLst xmlns:a="http://schemas.openxmlformats.org/drawingml/2006/main">
              <a:ext uri="{FF2B5EF4-FFF2-40B4-BE49-F238E27FC236}">
                <a16:creationId xmlns:a16="http://schemas.microsoft.com/office/drawing/2014/main" id="{0815A8F1-E5D5-4502-8D16-AE984806A543}"/>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533">
            <a:extLst xmlns:a="http://schemas.openxmlformats.org/drawingml/2006/main">
              <a:ext uri="{FF2B5EF4-FFF2-40B4-BE49-F238E27FC236}">
                <a16:creationId xmlns:a16="http://schemas.microsoft.com/office/drawing/2014/main" id="{A9BC7BF6-6903-4409-9960-456F4BEB22DF}"/>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534">
            <a:extLst xmlns:a="http://schemas.openxmlformats.org/drawingml/2006/main">
              <a:ext uri="{FF2B5EF4-FFF2-40B4-BE49-F238E27FC236}">
                <a16:creationId xmlns:a16="http://schemas.microsoft.com/office/drawing/2014/main" id="{999F6A3F-93F3-4DB6-B4D8-37DD27244E96}"/>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Show the repository URL, visibility, account owner, and latest uploaded checkpoint. Compare the uploaded files with the reviewed list. If anything is missing or unexpected, explain it before changing the repository.</a:t>
            </a:r>
          </a:p>
        </p:txBody>
      </p:sp>
      <p:sp>
        <p:nvSpPr>
          <p:cNvPr id="7" name="text-535">
            <a:extLst xmlns:a="http://schemas.openxmlformats.org/drawingml/2006/main">
              <a:ext uri="{FF2B5EF4-FFF2-40B4-BE49-F238E27FC236}">
                <a16:creationId xmlns:a16="http://schemas.microsoft.com/office/drawing/2014/main" id="{2970AB7D-B6EA-481B-B7DD-1DC25CD3BC66}"/>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Verification:</a:t>
            </a:r>
            <a:r>
              <a:rPr sz="1875" b="0" i="0">
                <a:solidFill>
                  <a:srgbClr val="1C1C1C"/>
                </a:solidFill>
                <a:latin typeface="Helvetica Neue"/>
                <a:ea typeface="Helvetica Neue"/>
                <a:cs typeface="Helvetica Neue"/>
              </a:rPr>
              <a:t> checks the actual destination.</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Visibility:</a:t>
            </a:r>
            <a:r>
              <a:rPr sz="1875" b="0" i="0">
                <a:solidFill>
                  <a:srgbClr val="1C1C1C"/>
                </a:solidFill>
                <a:latin typeface="Helvetica Neue"/>
                <a:ea typeface="Helvetica Neue"/>
                <a:cs typeface="Helvetica Neue"/>
              </a:rPr>
              <a:t> makes the private/public choice explicit.</a:t>
            </a:r>
          </a:p>
        </p:txBody>
      </p:sp>
      <p:sp>
        <p:nvSpPr>
          <p:cNvPr id="8" name="panel-536">
            <a:extLst xmlns:a="http://schemas.openxmlformats.org/drawingml/2006/main">
              <a:ext uri="{FF2B5EF4-FFF2-40B4-BE49-F238E27FC236}">
                <a16:creationId xmlns:a16="http://schemas.microsoft.com/office/drawing/2014/main" id="{AC9D2059-20D2-4DFB-B166-691270BB39DA}"/>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537">
            <a:extLst xmlns:a="http://schemas.openxmlformats.org/drawingml/2006/main">
              <a:ext uri="{FF2B5EF4-FFF2-40B4-BE49-F238E27FC236}">
                <a16:creationId xmlns:a16="http://schemas.microsoft.com/office/drawing/2014/main" id="{0E67BEA9-EED8-4D48-AC83-459BC5F6AFDC}"/>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browser shows the intended private repository and reviewed files.</a:t>
            </a:r>
          </a:p>
        </p:txBody>
      </p:sp>
      <p:sp>
        <p:nvSpPr>
          <p:cNvPr id="10" name="text-538">
            <a:extLst xmlns:a="http://schemas.openxmlformats.org/drawingml/2006/main">
              <a:ext uri="{FF2B5EF4-FFF2-40B4-BE49-F238E27FC236}">
                <a16:creationId xmlns:a16="http://schemas.microsoft.com/office/drawing/2014/main" id="{4DB5331A-7BD5-45CB-898F-25048AD5830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57</a:t>
            </a:r>
          </a:p>
        </p:txBody>
      </p:sp>
    </p:spTree>
    <p:extLst>
      <p:ext uri="{BB962C8B-B14F-4D97-AF65-F5344CB8AC3E}">
        <p14:creationId xmlns:p14="http://schemas.microsoft.com/office/powerpoint/2010/main" val="2361016"/>
      </p:ext>
    </p:extLst>
  </p:cSld>
</p:sld>
</file>

<file path=ppt/slides/slide5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539">
            <a:extLst xmlns:a="http://schemas.openxmlformats.org/drawingml/2006/main">
              <a:ext uri="{FF2B5EF4-FFF2-40B4-BE49-F238E27FC236}">
                <a16:creationId xmlns:a16="http://schemas.microsoft.com/office/drawing/2014/main" id="{470355E3-0AD9-44A4-A52B-EA941DA949ED}"/>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Give the build a visual direction</a:t>
            </a:r>
          </a:p>
        </p:txBody>
      </p:sp>
      <p:sp>
        <p:nvSpPr>
          <p:cNvPr id="2" name="panel-540">
            <a:extLst xmlns:a="http://schemas.openxmlformats.org/drawingml/2006/main">
              <a:ext uri="{FF2B5EF4-FFF2-40B4-BE49-F238E27FC236}">
                <a16:creationId xmlns:a16="http://schemas.microsoft.com/office/drawing/2014/main" id="{D4036C3F-C92E-4B1E-9F26-A7470DCEF07F}"/>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541">
            <a:extLst xmlns:a="http://schemas.openxmlformats.org/drawingml/2006/main">
              <a:ext uri="{FF2B5EF4-FFF2-40B4-BE49-F238E27FC236}">
                <a16:creationId xmlns:a16="http://schemas.microsoft.com/office/drawing/2014/main" id="{17E1B411-2BF8-4BF2-ACF5-3438955059AA}"/>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542">
            <a:extLst xmlns:a="http://schemas.openxmlformats.org/drawingml/2006/main">
              <a:ext uri="{FF2B5EF4-FFF2-40B4-BE49-F238E27FC236}">
                <a16:creationId xmlns:a16="http://schemas.microsoft.com/office/drawing/2014/main" id="{E8AC8102-9F90-405F-86AE-2B8526544A55}"/>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543">
            <a:extLst xmlns:a="http://schemas.openxmlformats.org/drawingml/2006/main">
              <a:ext uri="{FF2B5EF4-FFF2-40B4-BE49-F238E27FC236}">
                <a16:creationId xmlns:a16="http://schemas.microsoft.com/office/drawing/2014/main" id="{3A3AD771-A9FA-4171-9E5F-5079027D4C31}"/>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544">
            <a:extLst xmlns:a="http://schemas.openxmlformats.org/drawingml/2006/main">
              <a:ext uri="{FF2B5EF4-FFF2-40B4-BE49-F238E27FC236}">
                <a16:creationId xmlns:a16="http://schemas.microsoft.com/office/drawing/2014/main" id="{79441B5B-E3CF-4AC4-BBB7-8081AF841DC1}"/>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Read 02-design/DESIGN.md and its assets. Use deep navy, quiet surfaces, Manrope headings and DM Sans body text. Make meeting evidence and the next action easy to find. Show the desktop and phone layout plan before implementation.</a:t>
            </a:r>
          </a:p>
        </p:txBody>
      </p:sp>
      <p:sp>
        <p:nvSpPr>
          <p:cNvPr id="7" name="text-545">
            <a:extLst xmlns:a="http://schemas.openxmlformats.org/drawingml/2006/main">
              <a:ext uri="{FF2B5EF4-FFF2-40B4-BE49-F238E27FC236}">
                <a16:creationId xmlns:a16="http://schemas.microsoft.com/office/drawing/2014/main" id="{FE40DC6E-6D8D-4FA0-920D-23F74394DDF6}"/>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Specificity:</a:t>
            </a:r>
            <a:r>
              <a:rPr sz="1875" b="0" i="0">
                <a:solidFill>
                  <a:srgbClr val="1C1C1C"/>
                </a:solidFill>
                <a:latin typeface="Helvetica Neue"/>
                <a:ea typeface="Helvetica Neue"/>
                <a:cs typeface="Helvetica Neue"/>
              </a:rPr>
              <a:t> names hierarchy, fonts and color.</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Continuity:</a:t>
            </a:r>
            <a:r>
              <a:rPr sz="1875" b="0" i="0">
                <a:solidFill>
                  <a:srgbClr val="1C1C1C"/>
                </a:solidFill>
                <a:latin typeface="Helvetica Neue"/>
                <a:ea typeface="Helvetica Neue"/>
                <a:cs typeface="Helvetica Neue"/>
              </a:rPr>
              <a:t> reuses saved design decisions.</a:t>
            </a:r>
          </a:p>
        </p:txBody>
      </p:sp>
      <p:sp>
        <p:nvSpPr>
          <p:cNvPr id="8" name="panel-546">
            <a:extLst xmlns:a="http://schemas.openxmlformats.org/drawingml/2006/main">
              <a:ext uri="{FF2B5EF4-FFF2-40B4-BE49-F238E27FC236}">
                <a16:creationId xmlns:a16="http://schemas.microsoft.com/office/drawing/2014/main" id="{99ACC7DC-0B80-4BD9-9A5D-A2998824AD78}"/>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547">
            <a:extLst xmlns:a="http://schemas.openxmlformats.org/drawingml/2006/main">
              <a:ext uri="{FF2B5EF4-FFF2-40B4-BE49-F238E27FC236}">
                <a16:creationId xmlns:a16="http://schemas.microsoft.com/office/drawing/2014/main" id="{95C065FD-98C1-4E4A-9309-93F69A76FD4F}"/>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layout has a clear reading order and a phone plan.</a:t>
            </a:r>
          </a:p>
        </p:txBody>
      </p:sp>
      <p:sp>
        <p:nvSpPr>
          <p:cNvPr id="10" name="text-548">
            <a:extLst xmlns:a="http://schemas.openxmlformats.org/drawingml/2006/main">
              <a:ext uri="{FF2B5EF4-FFF2-40B4-BE49-F238E27FC236}">
                <a16:creationId xmlns:a16="http://schemas.microsoft.com/office/drawing/2014/main" id="{26BE0661-2C69-41C5-B17E-9949851459C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58</a:t>
            </a:r>
          </a:p>
        </p:txBody>
      </p:sp>
    </p:spTree>
    <p:extLst>
      <p:ext uri="{BB962C8B-B14F-4D97-AF65-F5344CB8AC3E}">
        <p14:creationId xmlns:p14="http://schemas.microsoft.com/office/powerpoint/2010/main" val="1687043430"/>
      </p:ext>
    </p:extLst>
  </p:cSld>
</p:sld>
</file>

<file path=ppt/slides/slide5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549">
            <a:extLst xmlns:a="http://schemas.openxmlformats.org/drawingml/2006/main">
              <a:ext uri="{FF2B5EF4-FFF2-40B4-BE49-F238E27FC236}">
                <a16:creationId xmlns:a16="http://schemas.microsoft.com/office/drawing/2014/main" id="{2C36B3C2-02C0-44DD-916A-BD1F13D5D6A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Create the app’s starting structure</a:t>
            </a:r>
          </a:p>
        </p:txBody>
      </p:sp>
      <p:sp>
        <p:nvSpPr>
          <p:cNvPr id="2" name="panel-550">
            <a:extLst xmlns:a="http://schemas.openxmlformats.org/drawingml/2006/main">
              <a:ext uri="{FF2B5EF4-FFF2-40B4-BE49-F238E27FC236}">
                <a16:creationId xmlns:a16="http://schemas.microsoft.com/office/drawing/2014/main" id="{863C74F6-88E6-4F88-AC49-6BA960C6AB6B}"/>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551">
            <a:extLst xmlns:a="http://schemas.openxmlformats.org/drawingml/2006/main">
              <a:ext uri="{FF2B5EF4-FFF2-40B4-BE49-F238E27FC236}">
                <a16:creationId xmlns:a16="http://schemas.microsoft.com/office/drawing/2014/main" id="{F1E99070-231C-4740-962E-1C85FF4914E7}"/>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552">
            <a:extLst xmlns:a="http://schemas.openxmlformats.org/drawingml/2006/main">
              <a:ext uri="{FF2B5EF4-FFF2-40B4-BE49-F238E27FC236}">
                <a16:creationId xmlns:a16="http://schemas.microsoft.com/office/drawing/2014/main" id="{23E226B5-2CC3-4B18-816A-7DD7AD3CFE1A}"/>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553">
            <a:extLst xmlns:a="http://schemas.openxmlformats.org/drawingml/2006/main">
              <a:ext uri="{FF2B5EF4-FFF2-40B4-BE49-F238E27FC236}">
                <a16:creationId xmlns:a16="http://schemas.microsoft.com/office/drawing/2014/main" id="{B4438BF5-8F23-43C9-A58F-C040DB6CB825}"/>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554">
            <a:extLst xmlns:a="http://schemas.openxmlformats.org/drawingml/2006/main">
              <a:ext uri="{FF2B5EF4-FFF2-40B4-BE49-F238E27FC236}">
                <a16:creationId xmlns:a16="http://schemas.microsoft.com/office/drawing/2014/main" id="{104FBE84-EB4A-4824-8DB8-57BC13244C12}"/>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In this rebuild, create 03-build/clientdesk using Next.js, TypeScript and Node 24. Add the documented dependencies and scripts. Create the page, server routes and sample storage structure from SPEC.md. Start it on port 4310 and show a working page.</a:t>
            </a:r>
          </a:p>
        </p:txBody>
      </p:sp>
      <p:sp>
        <p:nvSpPr>
          <p:cNvPr id="7" name="text-555">
            <a:extLst xmlns:a="http://schemas.openxmlformats.org/drawingml/2006/main">
              <a:ext uri="{FF2B5EF4-FFF2-40B4-BE49-F238E27FC236}">
                <a16:creationId xmlns:a16="http://schemas.microsoft.com/office/drawing/2014/main" id="{A3469103-6FBD-4359-99B2-F01F142288E8}"/>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Foundation:</a:t>
            </a:r>
            <a:r>
              <a:rPr sz="1875" b="0" i="0">
                <a:solidFill>
                  <a:srgbClr val="1C1C1C"/>
                </a:solidFill>
                <a:latin typeface="Helvetica Neue"/>
                <a:ea typeface="Helvetica Neue"/>
                <a:cs typeface="Helvetica Neue"/>
              </a:rPr>
              <a:t> makes the project runnable.</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proves setup before adding features.</a:t>
            </a:r>
          </a:p>
        </p:txBody>
      </p:sp>
      <p:sp>
        <p:nvSpPr>
          <p:cNvPr id="8" name="panel-556">
            <a:extLst xmlns:a="http://schemas.openxmlformats.org/drawingml/2006/main">
              <a:ext uri="{FF2B5EF4-FFF2-40B4-BE49-F238E27FC236}">
                <a16:creationId xmlns:a16="http://schemas.microsoft.com/office/drawing/2014/main" id="{2D064BED-ECF0-45DD-B0F5-AFCD921E3D60}"/>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557">
            <a:extLst xmlns:a="http://schemas.openxmlformats.org/drawingml/2006/main">
              <a:ext uri="{FF2B5EF4-FFF2-40B4-BE49-F238E27FC236}">
                <a16:creationId xmlns:a16="http://schemas.microsoft.com/office/drawing/2014/main" id="{47BAA123-FF30-42DB-A51C-FB8B3A75A59A}"/>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page opens locally and the build and type checks pass.</a:t>
            </a:r>
          </a:p>
        </p:txBody>
      </p:sp>
      <p:sp>
        <p:nvSpPr>
          <p:cNvPr id="10" name="text-558">
            <a:extLst xmlns:a="http://schemas.openxmlformats.org/drawingml/2006/main">
              <a:ext uri="{FF2B5EF4-FFF2-40B4-BE49-F238E27FC236}">
                <a16:creationId xmlns:a16="http://schemas.microsoft.com/office/drawing/2014/main" id="{7EA0FFE7-1556-438A-BBF6-E671F77E535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59</a:t>
            </a:r>
          </a:p>
        </p:txBody>
      </p:sp>
    </p:spTree>
    <p:extLst>
      <p:ext uri="{BB962C8B-B14F-4D97-AF65-F5344CB8AC3E}">
        <p14:creationId xmlns:p14="http://schemas.microsoft.com/office/powerpoint/2010/main" val="2092654895"/>
      </p:ext>
    </p:extLst>
  </p:cSld>
</p:sld>
</file>

<file path=ppt/slides/slide6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text-559">
            <a:extLst xmlns:a="http://schemas.openxmlformats.org/drawingml/2006/main">
              <a:ext uri="{FF2B5EF4-FFF2-40B4-BE49-F238E27FC236}">
                <a16:creationId xmlns:a16="http://schemas.microsoft.com/office/drawing/2014/main" id="{CA84539A-5E49-454B-BB06-9B572A77DC7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first implementation request</a:t>
            </a:r>
          </a:p>
        </p:txBody>
      </p:sp>
      <p:sp>
        <p:nvSpPr>
          <p:cNvPr id="2" name="panel-560">
            <a:extLst xmlns:a="http://schemas.openxmlformats.org/drawingml/2006/main">
              <a:ext uri="{FF2B5EF4-FFF2-40B4-BE49-F238E27FC236}">
                <a16:creationId xmlns:a16="http://schemas.microsoft.com/office/drawing/2014/main" id="{F7B9E54E-A0B3-4F85-A5BF-5A5BE9DC3279}"/>
              </a:ext>
            </a:extLst>
          </p:cNvPr>
          <p:cNvSpPr>
            <a:spLocks xmlns:a="http://schemas.openxmlformats.org/drawingml/2006/main" noGrp="1"/>
          </p:cNvSpPr>
          <p:nvPr/>
        </p:nvSpPr>
        <p:spPr>
          <a:xfrm xmlns:a="http://schemas.openxmlformats.org/drawingml/2006/main">
            <a:off x="609600" y="1981200"/>
            <a:ext cx="10972800" cy="211455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panel-561">
            <a:extLst xmlns:a="http://schemas.openxmlformats.org/drawingml/2006/main">
              <a:ext uri="{FF2B5EF4-FFF2-40B4-BE49-F238E27FC236}">
                <a16:creationId xmlns:a16="http://schemas.microsoft.com/office/drawing/2014/main" id="{0D64872C-A8CF-4FB7-99F1-6C1A235FD832}"/>
              </a:ext>
            </a:extLst>
          </p:cNvPr>
          <p:cNvSpPr>
            <a:spLocks xmlns:a="http://schemas.openxmlformats.org/drawingml/2006/main" noGrp="1"/>
          </p:cNvSpPr>
          <p:nvPr/>
        </p:nvSpPr>
        <p:spPr>
          <a:xfrm xmlns:a="http://schemas.openxmlformats.org/drawingml/2006/main">
            <a:off x="609600" y="1981200"/>
            <a:ext cx="38100" cy="211455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4" name="text-562">
            <a:extLst xmlns:a="http://schemas.openxmlformats.org/drawingml/2006/main">
              <a:ext uri="{FF2B5EF4-FFF2-40B4-BE49-F238E27FC236}">
                <a16:creationId xmlns:a16="http://schemas.microsoft.com/office/drawing/2014/main" id="{B98A0541-1DFE-43F9-9578-4D1B5CF48016}"/>
              </a:ext>
            </a:extLst>
          </p:cNvPr>
          <p:cNvSpPr>
            <a:spLocks xmlns:a="http://schemas.openxmlformats.org/drawingml/2006/main" noGrp="1"/>
          </p:cNvSpPr>
          <p:nvPr/>
        </p:nvSpPr>
        <p:spPr>
          <a:xfrm xmlns:a="http://schemas.openxmlformats.org/drawingml/2006/main">
            <a:off x="876300" y="2209800"/>
            <a:ext cx="1038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Read 01-planning/SPEC.md and 01-planning/MILESTONES.md. Build the first client workflow in 03-build/clientdesk with fictional records: meeting evidence, an editable follow-up, review, and save. Run the agreed checks and show the result in the browser. Stop before adding live services.</a:t>
            </a:r>
          </a:p>
        </p:txBody>
      </p:sp>
      <p:sp>
        <p:nvSpPr>
          <p:cNvPr id="5" name="text-563">
            <a:extLst xmlns:a="http://schemas.openxmlformats.org/drawingml/2006/main">
              <a:ext uri="{FF2B5EF4-FFF2-40B4-BE49-F238E27FC236}">
                <a16:creationId xmlns:a16="http://schemas.microsoft.com/office/drawing/2014/main" id="{F8EF5777-0AF9-49B3-9606-82E624182FFD}"/>
              </a:ext>
            </a:extLst>
          </p:cNvPr>
          <p:cNvSpPr>
            <a:spLocks xmlns:a="http://schemas.openxmlformats.org/drawingml/2006/main" noGrp="1"/>
          </p:cNvSpPr>
          <p:nvPr/>
        </p:nvSpPr>
        <p:spPr>
          <a:xfrm xmlns:a="http://schemas.openxmlformats.org/drawingml/2006/main">
            <a:off x="609600" y="528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686868"/>
                </a:solidFill>
                <a:latin typeface="Helvetica Neue"/>
                <a:ea typeface="Helvetica Neue"/>
                <a:cs typeface="Helvetica Neue"/>
              </a:defRPr>
            </a:pPr>
            <a:r>
              <a:rPr sz="1875" b="0" i="0">
                <a:solidFill>
                  <a:srgbClr val="686868"/>
                </a:solidFill>
                <a:latin typeface="Helvetica Neue"/>
                <a:ea typeface="Helvetica Neue"/>
                <a:cs typeface="Helvetica Neue"/>
              </a:rPr>
              <a:t>While Claude works, inspect the acceptance checks and prepared reference.</a:t>
            </a:r>
          </a:p>
        </p:txBody>
      </p:sp>
      <p:sp>
        <p:nvSpPr>
          <p:cNvPr id="6" name="text-564">
            <a:extLst xmlns:a="http://schemas.openxmlformats.org/drawingml/2006/main">
              <a:ext uri="{FF2B5EF4-FFF2-40B4-BE49-F238E27FC236}">
                <a16:creationId xmlns:a16="http://schemas.microsoft.com/office/drawing/2014/main" id="{EAC9C8C4-3DBE-444B-AD30-46101DF3C19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60</a:t>
            </a:r>
          </a:p>
        </p:txBody>
      </p:sp>
    </p:spTree>
    <p:extLst>
      <p:ext uri="{BB962C8B-B14F-4D97-AF65-F5344CB8AC3E}">
        <p14:creationId xmlns:p14="http://schemas.microsoft.com/office/powerpoint/2010/main" val="251865646"/>
      </p:ext>
    </p:extLst>
  </p:cSld>
</p:sld>
</file>

<file path=ppt/slides/slide6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565">
            <a:extLst xmlns:a="http://schemas.openxmlformats.org/drawingml/2006/main">
              <a:ext uri="{FF2B5EF4-FFF2-40B4-BE49-F238E27FC236}">
                <a16:creationId xmlns:a16="http://schemas.microsoft.com/office/drawing/2014/main" id="{D53C682C-818B-466E-8E4B-75C79081148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Read the build result like a reviewer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21d18e974194d68"/>
          <a:stretch xmlns:a="http://schemas.openxmlformats.org/drawingml/2006/main"/>
        </p:blipFill>
        <p:spPr>
          <a:xfrm xmlns:a="http://schemas.openxmlformats.org/drawingml/2006/main">
            <a:off x="609600" y="1868091"/>
            <a:ext cx="7429500" cy="4179094"/>
          </a:xfrm>
          <a:prstGeom xmlns:a="http://schemas.openxmlformats.org/drawingml/2006/main" prst="rect">
            <a:avLst/>
          </a:prstGeom>
        </p:spPr>
      </p:pic>
      <p:sp>
        <p:nvSpPr>
          <p:cNvPr id="3" name="text-566">
            <a:extLst xmlns:a="http://schemas.openxmlformats.org/drawingml/2006/main">
              <a:ext uri="{FF2B5EF4-FFF2-40B4-BE49-F238E27FC236}">
                <a16:creationId xmlns:a16="http://schemas.microsoft.com/office/drawing/2014/main" id="{7C39E905-742B-4D19-BBD9-D35F99210011}"/>
              </a:ext>
            </a:extLst>
          </p:cNvPr>
          <p:cNvSpPr>
            <a:spLocks xmlns:a="http://schemas.openxmlformats.org/drawingml/2006/main" noGrp="1"/>
          </p:cNvSpPr>
          <p:nvPr/>
        </p:nvSpPr>
        <p:spPr>
          <a:xfrm xmlns:a="http://schemas.openxmlformats.org/drawingml/2006/main">
            <a:off x="8477250" y="20764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01</a:t>
            </a:r>
          </a:p>
        </p:txBody>
      </p:sp>
      <p:sp>
        <p:nvSpPr>
          <p:cNvPr id="4" name="text-567">
            <a:extLst xmlns:a="http://schemas.openxmlformats.org/drawingml/2006/main">
              <a:ext uri="{FF2B5EF4-FFF2-40B4-BE49-F238E27FC236}">
                <a16:creationId xmlns:a16="http://schemas.microsoft.com/office/drawing/2014/main" id="{A47F1D4A-A914-4092-896D-6571EE288751}"/>
              </a:ext>
            </a:extLst>
          </p:cNvPr>
          <p:cNvSpPr>
            <a:spLocks xmlns:a="http://schemas.openxmlformats.org/drawingml/2006/main" noGrp="1"/>
          </p:cNvSpPr>
          <p:nvPr/>
        </p:nvSpPr>
        <p:spPr>
          <a:xfrm xmlns:a="http://schemas.openxmlformats.org/drawingml/2006/main">
            <a:off x="9172575" y="207645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Compare with the approved scope</a:t>
            </a:r>
          </a:p>
        </p:txBody>
      </p:sp>
      <p:sp>
        <p:nvSpPr>
          <p:cNvPr id="5" name="text-568">
            <a:extLst xmlns:a="http://schemas.openxmlformats.org/drawingml/2006/main">
              <a:ext uri="{FF2B5EF4-FFF2-40B4-BE49-F238E27FC236}">
                <a16:creationId xmlns:a16="http://schemas.microsoft.com/office/drawing/2014/main" id="{B1573A1F-67B2-42A9-96F2-0E1F21FA0041}"/>
              </a:ext>
            </a:extLst>
          </p:cNvPr>
          <p:cNvSpPr>
            <a:spLocks xmlns:a="http://schemas.openxmlformats.org/drawingml/2006/main" noGrp="1"/>
          </p:cNvSpPr>
          <p:nvPr/>
        </p:nvSpPr>
        <p:spPr>
          <a:xfrm xmlns:a="http://schemas.openxmlformats.org/drawingml/2006/main">
            <a:off x="8477250" y="334327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02</a:t>
            </a:r>
          </a:p>
        </p:txBody>
      </p:sp>
      <p:sp>
        <p:nvSpPr>
          <p:cNvPr id="6" name="text-569">
            <a:extLst xmlns:a="http://schemas.openxmlformats.org/drawingml/2006/main">
              <a:ext uri="{FF2B5EF4-FFF2-40B4-BE49-F238E27FC236}">
                <a16:creationId xmlns:a16="http://schemas.microsoft.com/office/drawing/2014/main" id="{8E67B2C5-7F30-42AE-8F20-18A39D0F3A27}"/>
              </a:ext>
            </a:extLst>
          </p:cNvPr>
          <p:cNvSpPr>
            <a:spLocks xmlns:a="http://schemas.openxmlformats.org/drawingml/2006/main" noGrp="1"/>
          </p:cNvSpPr>
          <p:nvPr/>
        </p:nvSpPr>
        <p:spPr>
          <a:xfrm xmlns:a="http://schemas.openxmlformats.org/drawingml/2006/main">
            <a:off x="9172575" y="3343275"/>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Open the source beside the summary</a:t>
            </a:r>
          </a:p>
        </p:txBody>
      </p:sp>
      <p:sp>
        <p:nvSpPr>
          <p:cNvPr id="7" name="text-570">
            <a:extLst xmlns:a="http://schemas.openxmlformats.org/drawingml/2006/main">
              <a:ext uri="{FF2B5EF4-FFF2-40B4-BE49-F238E27FC236}">
                <a16:creationId xmlns:a16="http://schemas.microsoft.com/office/drawing/2014/main" id="{E653CD20-5F09-42F9-8042-C52D1C22AF62}"/>
              </a:ext>
            </a:extLst>
          </p:cNvPr>
          <p:cNvSpPr>
            <a:spLocks xmlns:a="http://schemas.openxmlformats.org/drawingml/2006/main" noGrp="1"/>
          </p:cNvSpPr>
          <p:nvPr/>
        </p:nvSpPr>
        <p:spPr>
          <a:xfrm xmlns:a="http://schemas.openxmlformats.org/drawingml/2006/main">
            <a:off x="8477250" y="46101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03</a:t>
            </a:r>
          </a:p>
        </p:txBody>
      </p:sp>
      <p:sp>
        <p:nvSpPr>
          <p:cNvPr id="8" name="text-571">
            <a:extLst xmlns:a="http://schemas.openxmlformats.org/drawingml/2006/main">
              <a:ext uri="{FF2B5EF4-FFF2-40B4-BE49-F238E27FC236}">
                <a16:creationId xmlns:a16="http://schemas.microsoft.com/office/drawing/2014/main" id="{31DE61AC-80F2-40B7-8CA6-2F3D322A8DB6}"/>
              </a:ext>
            </a:extLst>
          </p:cNvPr>
          <p:cNvSpPr>
            <a:spLocks xmlns:a="http://schemas.openxmlformats.org/drawingml/2006/main" noGrp="1"/>
          </p:cNvSpPr>
          <p:nvPr/>
        </p:nvSpPr>
        <p:spPr>
          <a:xfrm xmlns:a="http://schemas.openxmlformats.org/drawingml/2006/main">
            <a:off x="9172575" y="461010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Read the checks before continuing</a:t>
            </a:r>
          </a:p>
        </p:txBody>
      </p:sp>
      <p:sp>
        <p:nvSpPr>
          <p:cNvPr id="9" name="text-572">
            <a:extLst xmlns:a="http://schemas.openxmlformats.org/drawingml/2006/main">
              <a:ext uri="{FF2B5EF4-FFF2-40B4-BE49-F238E27FC236}">
                <a16:creationId xmlns:a16="http://schemas.microsoft.com/office/drawing/2014/main" id="{0E873CDE-2664-41AA-9BAC-91C64CFDFA3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61</a:t>
            </a:r>
          </a:p>
        </p:txBody>
      </p:sp>
    </p:spTree>
    <p:extLst>
      <p:ext uri="{BB962C8B-B14F-4D97-AF65-F5344CB8AC3E}">
        <p14:creationId xmlns:p14="http://schemas.microsoft.com/office/powerpoint/2010/main" val="1759106357"/>
      </p:ext>
    </p:extLst>
  </p:cSld>
</p:sld>
</file>

<file path=ppt/slides/slide6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573">
            <a:extLst xmlns:a="http://schemas.openxmlformats.org/drawingml/2006/main">
              <a:ext uri="{FF2B5EF4-FFF2-40B4-BE49-F238E27FC236}">
                <a16:creationId xmlns:a16="http://schemas.microsoft.com/office/drawing/2014/main" id="{394CE6FC-CE80-4388-B70A-FCE73DC7B53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Complete the CRM around the first loop</a:t>
            </a:r>
          </a:p>
        </p:txBody>
      </p:sp>
      <p:sp>
        <p:nvSpPr>
          <p:cNvPr id="2" name="panel-574">
            <a:extLst xmlns:a="http://schemas.openxmlformats.org/drawingml/2006/main">
              <a:ext uri="{FF2B5EF4-FFF2-40B4-BE49-F238E27FC236}">
                <a16:creationId xmlns:a16="http://schemas.microsoft.com/office/drawing/2014/main" id="{C4F9C8C0-41A2-48FB-AC31-685EB2D4E82B}"/>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575">
            <a:extLst xmlns:a="http://schemas.openxmlformats.org/drawingml/2006/main">
              <a:ext uri="{FF2B5EF4-FFF2-40B4-BE49-F238E27FC236}">
                <a16:creationId xmlns:a16="http://schemas.microsoft.com/office/drawing/2014/main" id="{D70579A4-6116-44CC-B158-931E9DBBF5CA}"/>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576">
            <a:extLst xmlns:a="http://schemas.openxmlformats.org/drawingml/2006/main">
              <a:ext uri="{FF2B5EF4-FFF2-40B4-BE49-F238E27FC236}">
                <a16:creationId xmlns:a16="http://schemas.microsoft.com/office/drawing/2014/main" id="{A581F298-707D-4889-B480-54BA00CBD6FE}"/>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577">
            <a:extLst xmlns:a="http://schemas.openxmlformats.org/drawingml/2006/main">
              <a:ext uri="{FF2B5EF4-FFF2-40B4-BE49-F238E27FC236}">
                <a16:creationId xmlns:a16="http://schemas.microsoft.com/office/drawing/2014/main" id="{E8449B35-A60C-4926-994B-8D63690760E3}"/>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578">
            <a:extLst xmlns:a="http://schemas.openxmlformats.org/drawingml/2006/main">
              <a:ext uri="{FF2B5EF4-FFF2-40B4-BE49-F238E27FC236}">
                <a16:creationId xmlns:a16="http://schemas.microsoft.com/office/drawing/2014/main" id="{37428A93-C1A6-4FBA-95DC-A5864A9330BC}"/>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Now add the remaining SPEC.md screens: client list and details, meetings, upcoming calls, follow-ups, Connections and brief export. Include client creation, task review, completion and reload behavior. Work in milestones and show the test result for each.</a:t>
            </a:r>
          </a:p>
        </p:txBody>
      </p:sp>
      <p:sp>
        <p:nvSpPr>
          <p:cNvPr id="7" name="text-579">
            <a:extLst xmlns:a="http://schemas.openxmlformats.org/drawingml/2006/main">
              <a:ext uri="{FF2B5EF4-FFF2-40B4-BE49-F238E27FC236}">
                <a16:creationId xmlns:a16="http://schemas.microsoft.com/office/drawing/2014/main" id="{9ABF90F9-4E65-458B-A0DD-95A0EB47A94C}"/>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Coverage:</a:t>
            </a:r>
            <a:r>
              <a:rPr sz="1875" b="0" i="0">
                <a:solidFill>
                  <a:srgbClr val="1C1C1C"/>
                </a:solidFill>
                <a:latin typeface="Helvetica Neue"/>
                <a:ea typeface="Helvetica Neue"/>
                <a:cs typeface="Helvetica Neue"/>
              </a:rPr>
              <a:t> names the remaining screens.</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Milestones:</a:t>
            </a:r>
            <a:r>
              <a:rPr sz="1875" b="0" i="0">
                <a:solidFill>
                  <a:srgbClr val="1C1C1C"/>
                </a:solidFill>
                <a:latin typeface="Helvetica Neue"/>
                <a:ea typeface="Helvetica Neue"/>
                <a:cs typeface="Helvetica Neue"/>
              </a:rPr>
              <a:t> exposes unfinished behavior early.</a:t>
            </a:r>
          </a:p>
        </p:txBody>
      </p:sp>
      <p:sp>
        <p:nvSpPr>
          <p:cNvPr id="8" name="panel-580">
            <a:extLst xmlns:a="http://schemas.openxmlformats.org/drawingml/2006/main">
              <a:ext uri="{FF2B5EF4-FFF2-40B4-BE49-F238E27FC236}">
                <a16:creationId xmlns:a16="http://schemas.microsoft.com/office/drawing/2014/main" id="{6B94EBCA-0FB8-4F40-BE75-33CBD57A55B5}"/>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581">
            <a:extLst xmlns:a="http://schemas.openxmlformats.org/drawingml/2006/main">
              <a:ext uri="{FF2B5EF4-FFF2-40B4-BE49-F238E27FC236}">
                <a16:creationId xmlns:a16="http://schemas.microsoft.com/office/drawing/2014/main" id="{84814502-CF2C-43C7-BBD4-AD9A96BFEC0B}"/>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Every required screen works; saved changes survive reload.</a:t>
            </a:r>
          </a:p>
        </p:txBody>
      </p:sp>
      <p:sp>
        <p:nvSpPr>
          <p:cNvPr id="10" name="text-582">
            <a:extLst xmlns:a="http://schemas.openxmlformats.org/drawingml/2006/main">
              <a:ext uri="{FF2B5EF4-FFF2-40B4-BE49-F238E27FC236}">
                <a16:creationId xmlns:a16="http://schemas.microsoft.com/office/drawing/2014/main" id="{8AB1215D-D12D-4537-83C5-6E3B1CDAE44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62</a:t>
            </a:r>
          </a:p>
        </p:txBody>
      </p:sp>
    </p:spTree>
    <p:extLst>
      <p:ext uri="{BB962C8B-B14F-4D97-AF65-F5344CB8AC3E}">
        <p14:creationId xmlns:p14="http://schemas.microsoft.com/office/powerpoint/2010/main" val="2037313596"/>
      </p:ext>
    </p:extLst>
  </p:cSld>
</p:sld>
</file>

<file path=ppt/slides/slide6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30" name="text-583">
            <a:extLst xmlns:a="http://schemas.openxmlformats.org/drawingml/2006/main">
              <a:ext uri="{FF2B5EF4-FFF2-40B4-BE49-F238E27FC236}">
                <a16:creationId xmlns:a16="http://schemas.microsoft.com/office/drawing/2014/main" id="{A177D346-EEE7-4126-BC6B-214978F0A491}"/>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data model stays small</a:t>
            </a:r>
          </a:p>
        </p:txBody>
      </p:sp>
      <p:sp>
        <p:nvSpPr>
          <p:cNvPr id="2" name="panel-584">
            <a:extLst xmlns:a="http://schemas.openxmlformats.org/drawingml/2006/main">
              <a:ext uri="{FF2B5EF4-FFF2-40B4-BE49-F238E27FC236}">
                <a16:creationId xmlns:a16="http://schemas.microsoft.com/office/drawing/2014/main" id="{02AC6387-A4D3-4EF4-AA8B-A2DD1CE9899D}"/>
              </a:ext>
            </a:extLst>
          </p:cNvPr>
          <p:cNvSpPr>
            <a:spLocks xmlns:a="http://schemas.openxmlformats.org/drawingml/2006/main" noGrp="1"/>
          </p:cNvSpPr>
          <p:nvPr/>
        </p:nvSpPr>
        <p:spPr>
          <a:xfrm xmlns:a="http://schemas.openxmlformats.org/drawingml/2006/main">
            <a:off x="609600" y="2095500"/>
            <a:ext cx="3352800" cy="235267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text-585">
            <a:extLst xmlns:a="http://schemas.openxmlformats.org/drawingml/2006/main">
              <a:ext uri="{FF2B5EF4-FFF2-40B4-BE49-F238E27FC236}">
                <a16:creationId xmlns:a16="http://schemas.microsoft.com/office/drawing/2014/main" id="{AB6790FA-95F4-4C37-B7E8-71BE99DA91AA}"/>
              </a:ext>
            </a:extLst>
          </p:cNvPr>
          <p:cNvSpPr>
            <a:spLocks xmlns:a="http://schemas.openxmlformats.org/drawingml/2006/main" noGrp="1"/>
          </p:cNvSpPr>
          <p:nvPr/>
        </p:nvSpPr>
        <p:spPr>
          <a:xfrm xmlns:a="http://schemas.openxmlformats.org/drawingml/2006/main">
            <a:off x="819150" y="2314575"/>
            <a:ext cx="2933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Client</a:t>
            </a:r>
          </a:p>
        </p:txBody>
      </p:sp>
      <p:sp>
        <p:nvSpPr>
          <p:cNvPr id="4" name="text-586">
            <a:extLst xmlns:a="http://schemas.openxmlformats.org/drawingml/2006/main">
              <a:ext uri="{FF2B5EF4-FFF2-40B4-BE49-F238E27FC236}">
                <a16:creationId xmlns:a16="http://schemas.microsoft.com/office/drawing/2014/main" id="{366DF0E6-6EF2-4E3C-A28F-B621590E9181}"/>
              </a:ext>
            </a:extLst>
          </p:cNvPr>
          <p:cNvSpPr>
            <a:spLocks xmlns:a="http://schemas.openxmlformats.org/drawingml/2006/main" noGrp="1"/>
          </p:cNvSpPr>
          <p:nvPr/>
        </p:nvSpPr>
        <p:spPr>
          <a:xfrm xmlns:a="http://schemas.openxmlformats.org/drawingml/2006/main">
            <a:off x="819150" y="3038475"/>
            <a:ext cx="2952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Northstar</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Owner:</a:t>
            </a:r>
            <a:r>
              <a:rPr sz="1875" b="0" i="0">
                <a:solidFill>
                  <a:srgbClr val="1C1C1C"/>
                </a:solidFill>
                <a:latin typeface="Helvetica Neue"/>
                <a:ea typeface="Helvetica Neue"/>
                <a:cs typeface="Helvetica Neue"/>
              </a:rPr>
              <a:t> Alex</a:t>
            </a:r>
          </a:p>
        </p:txBody>
      </p:sp>
      <p:sp>
        <p:nvSpPr>
          <p:cNvPr id="5" name="panel-587">
            <a:extLst xmlns:a="http://schemas.openxmlformats.org/drawingml/2006/main">
              <a:ext uri="{FF2B5EF4-FFF2-40B4-BE49-F238E27FC236}">
                <a16:creationId xmlns:a16="http://schemas.microsoft.com/office/drawing/2014/main" id="{62923CE0-8EE4-43AE-BB35-60BB78C67AA6}"/>
              </a:ext>
            </a:extLst>
          </p:cNvPr>
          <p:cNvSpPr>
            <a:spLocks xmlns:a="http://schemas.openxmlformats.org/drawingml/2006/main" noGrp="1"/>
          </p:cNvSpPr>
          <p:nvPr/>
        </p:nvSpPr>
        <p:spPr>
          <a:xfrm xmlns:a="http://schemas.openxmlformats.org/drawingml/2006/main">
            <a:off x="2281238" y="4443413"/>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588">
            <a:extLst xmlns:a="http://schemas.openxmlformats.org/drawingml/2006/main">
              <a:ext uri="{FF2B5EF4-FFF2-40B4-BE49-F238E27FC236}">
                <a16:creationId xmlns:a16="http://schemas.microsoft.com/office/drawing/2014/main" id="{CECA1967-B7FF-4B47-884E-88EE80B92960}"/>
              </a:ext>
            </a:extLst>
          </p:cNvPr>
          <p:cNvSpPr>
            <a:spLocks xmlns:a="http://schemas.openxmlformats.org/drawingml/2006/main" noGrp="1"/>
          </p:cNvSpPr>
          <p:nvPr/>
        </p:nvSpPr>
        <p:spPr>
          <a:xfrm xmlns:a="http://schemas.openxmlformats.org/drawingml/2006/main">
            <a:off x="2281238" y="50339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6" name=""/>
          <p:cNvCxnSpPr>
            <a:stCxn xmlns:a="http://schemas.openxmlformats.org/drawingml/2006/main" id="5" idx="2"/>
            <a:endCxn xmlns:a="http://schemas.openxmlformats.org/drawingml/2006/main" id="6" idx="0"/>
          </p:cNvCxnSpPr>
          <p:nvPr/>
        </p:nvCxnSpPr>
        <p:spPr>
          <a:xfrm xmlns:a="http://schemas.openxmlformats.org/drawingml/2006/main">
            <a:off x="2286001" y="4452938"/>
            <a:ext cx="0" cy="581025"/>
          </a:xfrm>
          <a:prstGeom xmlns:a="http://schemas.openxmlformats.org/drawingml/2006/main" prst="straightConnector1">
            <a:avLst/>
          </a:prstGeom>
          <a:ln xmlns:a="http://schemas.openxmlformats.org/drawingml/2006/main" w="14288">
            <a:solidFill>
              <a:srgbClr val="686868"/>
            </a:solidFill>
          </a:ln>
        </p:spPr>
      </p:cxnSp>
      <p:sp>
        <p:nvSpPr>
          <p:cNvPr id="8" name="panel-589">
            <a:extLst xmlns:a="http://schemas.openxmlformats.org/drawingml/2006/main">
              <a:ext uri="{FF2B5EF4-FFF2-40B4-BE49-F238E27FC236}">
                <a16:creationId xmlns:a16="http://schemas.microsoft.com/office/drawing/2014/main" id="{DF5B8901-861A-4E94-BA79-41A23D35E62B}"/>
              </a:ext>
            </a:extLst>
          </p:cNvPr>
          <p:cNvSpPr>
            <a:spLocks xmlns:a="http://schemas.openxmlformats.org/drawingml/2006/main" noGrp="1"/>
          </p:cNvSpPr>
          <p:nvPr/>
        </p:nvSpPr>
        <p:spPr>
          <a:xfrm xmlns:a="http://schemas.openxmlformats.org/drawingml/2006/main">
            <a:off x="4419600" y="2095500"/>
            <a:ext cx="3352800" cy="235267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9" name="text-590">
            <a:extLst xmlns:a="http://schemas.openxmlformats.org/drawingml/2006/main">
              <a:ext uri="{FF2B5EF4-FFF2-40B4-BE49-F238E27FC236}">
                <a16:creationId xmlns:a16="http://schemas.microsoft.com/office/drawing/2014/main" id="{294E2939-1BDF-411E-8AE5-348F4EBBC7BC}"/>
              </a:ext>
            </a:extLst>
          </p:cNvPr>
          <p:cNvSpPr>
            <a:spLocks xmlns:a="http://schemas.openxmlformats.org/drawingml/2006/main" noGrp="1"/>
          </p:cNvSpPr>
          <p:nvPr/>
        </p:nvSpPr>
        <p:spPr>
          <a:xfrm xmlns:a="http://schemas.openxmlformats.org/drawingml/2006/main">
            <a:off x="4629150" y="2314575"/>
            <a:ext cx="2933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Meeting</a:t>
            </a:r>
          </a:p>
        </p:txBody>
      </p:sp>
      <p:sp>
        <p:nvSpPr>
          <p:cNvPr id="10" name="text-591">
            <a:extLst xmlns:a="http://schemas.openxmlformats.org/drawingml/2006/main">
              <a:ext uri="{FF2B5EF4-FFF2-40B4-BE49-F238E27FC236}">
                <a16:creationId xmlns:a16="http://schemas.microsoft.com/office/drawing/2014/main" id="{E50D39FF-1629-4640-8553-8D02C8180D61}"/>
              </a:ext>
            </a:extLst>
          </p:cNvPr>
          <p:cNvSpPr>
            <a:spLocks xmlns:a="http://schemas.openxmlformats.org/drawingml/2006/main" noGrp="1"/>
          </p:cNvSpPr>
          <p:nvPr/>
        </p:nvSpPr>
        <p:spPr>
          <a:xfrm xmlns:a="http://schemas.openxmlformats.org/drawingml/2006/main">
            <a:off x="4629150" y="3038475"/>
            <a:ext cx="2952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meeting-001</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Client:</a:t>
            </a:r>
            <a:r>
              <a:rPr sz="1875" b="0" i="0">
                <a:solidFill>
                  <a:srgbClr val="1C1C1C"/>
                </a:solidFill>
                <a:latin typeface="Helvetica Neue"/>
                <a:ea typeface="Helvetica Neue"/>
                <a:cs typeface="Helvetica Neue"/>
              </a:rPr>
              <a:t> Northstar</a:t>
            </a:r>
          </a:p>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Links to source evidence</a:t>
            </a:r>
          </a:p>
        </p:txBody>
      </p:sp>
      <p:sp>
        <p:nvSpPr>
          <p:cNvPr id="11" name="panel-592">
            <a:extLst xmlns:a="http://schemas.openxmlformats.org/drawingml/2006/main">
              <a:ext uri="{FF2B5EF4-FFF2-40B4-BE49-F238E27FC236}">
                <a16:creationId xmlns:a16="http://schemas.microsoft.com/office/drawing/2014/main" id="{09F93740-3435-49EC-BC7C-FE64FEE57E0D}"/>
              </a:ext>
            </a:extLst>
          </p:cNvPr>
          <p:cNvSpPr>
            <a:spLocks xmlns:a="http://schemas.openxmlformats.org/drawingml/2006/main" noGrp="1"/>
          </p:cNvSpPr>
          <p:nvPr/>
        </p:nvSpPr>
        <p:spPr>
          <a:xfrm xmlns:a="http://schemas.openxmlformats.org/drawingml/2006/main">
            <a:off x="6091238" y="4443413"/>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593">
            <a:extLst xmlns:a="http://schemas.openxmlformats.org/drawingml/2006/main">
              <a:ext uri="{FF2B5EF4-FFF2-40B4-BE49-F238E27FC236}">
                <a16:creationId xmlns:a16="http://schemas.microsoft.com/office/drawing/2014/main" id="{C86111AE-52A3-47E1-AEAC-00B402C17397}"/>
              </a:ext>
            </a:extLst>
          </p:cNvPr>
          <p:cNvSpPr>
            <a:spLocks xmlns:a="http://schemas.openxmlformats.org/drawingml/2006/main" noGrp="1"/>
          </p:cNvSpPr>
          <p:nvPr/>
        </p:nvSpPr>
        <p:spPr>
          <a:xfrm xmlns:a="http://schemas.openxmlformats.org/drawingml/2006/main">
            <a:off x="6091238" y="50339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2" name=""/>
          <p:cNvCxnSpPr>
            <a:stCxn xmlns:a="http://schemas.openxmlformats.org/drawingml/2006/main" id="11" idx="2"/>
            <a:endCxn xmlns:a="http://schemas.openxmlformats.org/drawingml/2006/main" id="12" idx="0"/>
          </p:cNvCxnSpPr>
          <p:nvPr/>
        </p:nvCxnSpPr>
        <p:spPr>
          <a:xfrm xmlns:a="http://schemas.openxmlformats.org/drawingml/2006/main">
            <a:off x="6096001" y="4452938"/>
            <a:ext cx="0" cy="581025"/>
          </a:xfrm>
          <a:prstGeom xmlns:a="http://schemas.openxmlformats.org/drawingml/2006/main" prst="straightConnector1">
            <a:avLst/>
          </a:prstGeom>
          <a:ln xmlns:a="http://schemas.openxmlformats.org/drawingml/2006/main" w="14288">
            <a:solidFill>
              <a:srgbClr val="686868"/>
            </a:solidFill>
          </a:ln>
        </p:spPr>
      </p:cxnSp>
      <p:sp>
        <p:nvSpPr>
          <p:cNvPr id="14" name="panel-594">
            <a:extLst xmlns:a="http://schemas.openxmlformats.org/drawingml/2006/main">
              <a:ext uri="{FF2B5EF4-FFF2-40B4-BE49-F238E27FC236}">
                <a16:creationId xmlns:a16="http://schemas.microsoft.com/office/drawing/2014/main" id="{A378B8C5-0038-4A20-B33F-CCC683293DAB}"/>
              </a:ext>
            </a:extLst>
          </p:cNvPr>
          <p:cNvSpPr>
            <a:spLocks xmlns:a="http://schemas.openxmlformats.org/drawingml/2006/main" noGrp="1"/>
          </p:cNvSpPr>
          <p:nvPr/>
        </p:nvSpPr>
        <p:spPr>
          <a:xfrm xmlns:a="http://schemas.openxmlformats.org/drawingml/2006/main">
            <a:off x="8229600" y="2095500"/>
            <a:ext cx="3352800" cy="235267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15" name="text-595">
            <a:extLst xmlns:a="http://schemas.openxmlformats.org/drawingml/2006/main">
              <a:ext uri="{FF2B5EF4-FFF2-40B4-BE49-F238E27FC236}">
                <a16:creationId xmlns:a16="http://schemas.microsoft.com/office/drawing/2014/main" id="{ACC20E1A-A3CB-4770-A131-CA4BCBE1D247}"/>
              </a:ext>
            </a:extLst>
          </p:cNvPr>
          <p:cNvSpPr>
            <a:spLocks xmlns:a="http://schemas.openxmlformats.org/drawingml/2006/main" noGrp="1"/>
          </p:cNvSpPr>
          <p:nvPr/>
        </p:nvSpPr>
        <p:spPr>
          <a:xfrm xmlns:a="http://schemas.openxmlformats.org/drawingml/2006/main">
            <a:off x="8439150" y="2314575"/>
            <a:ext cx="2933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Task</a:t>
            </a:r>
          </a:p>
        </p:txBody>
      </p:sp>
      <p:sp>
        <p:nvSpPr>
          <p:cNvPr id="16" name="text-596">
            <a:extLst xmlns:a="http://schemas.openxmlformats.org/drawingml/2006/main">
              <a:ext uri="{FF2B5EF4-FFF2-40B4-BE49-F238E27FC236}">
                <a16:creationId xmlns:a16="http://schemas.microsoft.com/office/drawing/2014/main" id="{8F6065BA-53C5-46CB-B66E-95B1471BFE6A}"/>
              </a:ext>
            </a:extLst>
          </p:cNvPr>
          <p:cNvSpPr>
            <a:spLocks xmlns:a="http://schemas.openxmlformats.org/drawingml/2006/main" noGrp="1"/>
          </p:cNvSpPr>
          <p:nvPr/>
        </p:nvSpPr>
        <p:spPr>
          <a:xfrm xmlns:a="http://schemas.openxmlformats.org/drawingml/2006/main">
            <a:off x="8439150" y="3038475"/>
            <a:ext cx="2952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task-001</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Client:</a:t>
            </a:r>
            <a:r>
              <a:rPr sz="1875" b="0" i="0">
                <a:solidFill>
                  <a:srgbClr val="1C1C1C"/>
                </a:solidFill>
                <a:latin typeface="Helvetica Neue"/>
                <a:ea typeface="Helvetica Neue"/>
                <a:cs typeface="Helvetica Neue"/>
              </a:rPr>
              <a:t> Northstar</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Meeting:</a:t>
            </a:r>
            <a:r>
              <a:rPr sz="1875" b="0" i="0">
                <a:solidFill>
                  <a:srgbClr val="1C1C1C"/>
                </a:solidFill>
                <a:latin typeface="Helvetica Neue"/>
                <a:ea typeface="Helvetica Neue"/>
                <a:cs typeface="Helvetica Neue"/>
              </a:rPr>
              <a:t> meeting-001</a:t>
            </a:r>
          </a:p>
        </p:txBody>
      </p:sp>
      <p:sp>
        <p:nvSpPr>
          <p:cNvPr id="17" name="panel-597">
            <a:extLst xmlns:a="http://schemas.openxmlformats.org/drawingml/2006/main">
              <a:ext uri="{FF2B5EF4-FFF2-40B4-BE49-F238E27FC236}">
                <a16:creationId xmlns:a16="http://schemas.microsoft.com/office/drawing/2014/main" id="{E2155A09-4110-44F3-BA96-AD20FCF3438A}"/>
              </a:ext>
            </a:extLst>
          </p:cNvPr>
          <p:cNvSpPr>
            <a:spLocks xmlns:a="http://schemas.openxmlformats.org/drawingml/2006/main" noGrp="1"/>
          </p:cNvSpPr>
          <p:nvPr/>
        </p:nvSpPr>
        <p:spPr>
          <a:xfrm xmlns:a="http://schemas.openxmlformats.org/drawingml/2006/main">
            <a:off x="9901238" y="4443413"/>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598">
            <a:extLst xmlns:a="http://schemas.openxmlformats.org/drawingml/2006/main">
              <a:ext uri="{FF2B5EF4-FFF2-40B4-BE49-F238E27FC236}">
                <a16:creationId xmlns:a16="http://schemas.microsoft.com/office/drawing/2014/main" id="{B38B6D96-E97A-4990-8310-39AB8BE3ECCE}"/>
              </a:ext>
            </a:extLst>
          </p:cNvPr>
          <p:cNvSpPr>
            <a:spLocks xmlns:a="http://schemas.openxmlformats.org/drawingml/2006/main" noGrp="1"/>
          </p:cNvSpPr>
          <p:nvPr/>
        </p:nvSpPr>
        <p:spPr>
          <a:xfrm xmlns:a="http://schemas.openxmlformats.org/drawingml/2006/main">
            <a:off x="9901238" y="50339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8" name=""/>
          <p:cNvCxnSpPr>
            <a:stCxn xmlns:a="http://schemas.openxmlformats.org/drawingml/2006/main" id="17" idx="2"/>
            <a:endCxn xmlns:a="http://schemas.openxmlformats.org/drawingml/2006/main" id="18" idx="0"/>
          </p:cNvCxnSpPr>
          <p:nvPr/>
        </p:nvCxnSpPr>
        <p:spPr>
          <a:xfrm xmlns:a="http://schemas.openxmlformats.org/drawingml/2006/main">
            <a:off x="9906001" y="4452938"/>
            <a:ext cx="0" cy="581025"/>
          </a:xfrm>
          <a:prstGeom xmlns:a="http://schemas.openxmlformats.org/drawingml/2006/main" prst="straightConnector1">
            <a:avLst/>
          </a:prstGeom>
          <a:ln xmlns:a="http://schemas.openxmlformats.org/drawingml/2006/main" w="14288">
            <a:solidFill>
              <a:srgbClr val="686868"/>
            </a:solidFill>
          </a:ln>
        </p:spPr>
      </p:cxnSp>
      <p:sp>
        <p:nvSpPr>
          <p:cNvPr id="20" name="panel-599">
            <a:extLst xmlns:a="http://schemas.openxmlformats.org/drawingml/2006/main">
              <a:ext uri="{FF2B5EF4-FFF2-40B4-BE49-F238E27FC236}">
                <a16:creationId xmlns:a16="http://schemas.microsoft.com/office/drawing/2014/main" id="{C44BC784-A4AD-4BA7-9B4C-78D53B82696C}"/>
              </a:ext>
            </a:extLst>
          </p:cNvPr>
          <p:cNvSpPr>
            <a:spLocks xmlns:a="http://schemas.openxmlformats.org/drawingml/2006/main" noGrp="1"/>
          </p:cNvSpPr>
          <p:nvPr/>
        </p:nvSpPr>
        <p:spPr>
          <a:xfrm xmlns:a="http://schemas.openxmlformats.org/drawingml/2006/main">
            <a:off x="6091238" y="5033963"/>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panel-600">
            <a:extLst xmlns:a="http://schemas.openxmlformats.org/drawingml/2006/main">
              <a:ext uri="{FF2B5EF4-FFF2-40B4-BE49-F238E27FC236}">
                <a16:creationId xmlns:a16="http://schemas.microsoft.com/office/drawing/2014/main" id="{F8C45BA1-4FBB-417F-8B0C-71598E9C1689}"/>
              </a:ext>
            </a:extLst>
          </p:cNvPr>
          <p:cNvSpPr>
            <a:spLocks xmlns:a="http://schemas.openxmlformats.org/drawingml/2006/main" noGrp="1"/>
          </p:cNvSpPr>
          <p:nvPr/>
        </p:nvSpPr>
        <p:spPr>
          <a:xfrm xmlns:a="http://schemas.openxmlformats.org/drawingml/2006/main">
            <a:off x="2281238" y="50339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1" name=""/>
          <p:cNvCxnSpPr>
            <a:stCxn xmlns:a="http://schemas.openxmlformats.org/drawingml/2006/main" id="20" idx="1"/>
            <a:endCxn xmlns:a="http://schemas.openxmlformats.org/drawingml/2006/main" id="21" idx="3"/>
          </p:cNvCxnSpPr>
          <p:nvPr/>
        </p:nvCxnSpPr>
        <p:spPr>
          <a:xfrm xmlns:a="http://schemas.openxmlformats.org/drawingml/2006/main" flipH="1">
            <a:off x="2290763" y="5038726"/>
            <a:ext cx="380047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3" name="panel-601">
            <a:extLst xmlns:a="http://schemas.openxmlformats.org/drawingml/2006/main">
              <a:ext uri="{FF2B5EF4-FFF2-40B4-BE49-F238E27FC236}">
                <a16:creationId xmlns:a16="http://schemas.microsoft.com/office/drawing/2014/main" id="{D8FD4D63-383D-4D1F-86C2-ACB20A6A6BF4}"/>
              </a:ext>
            </a:extLst>
          </p:cNvPr>
          <p:cNvSpPr>
            <a:spLocks xmlns:a="http://schemas.openxmlformats.org/drawingml/2006/main" noGrp="1"/>
          </p:cNvSpPr>
          <p:nvPr/>
        </p:nvSpPr>
        <p:spPr>
          <a:xfrm xmlns:a="http://schemas.openxmlformats.org/drawingml/2006/main">
            <a:off x="9901238" y="5033963"/>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panel-602">
            <a:extLst xmlns:a="http://schemas.openxmlformats.org/drawingml/2006/main">
              <a:ext uri="{FF2B5EF4-FFF2-40B4-BE49-F238E27FC236}">
                <a16:creationId xmlns:a16="http://schemas.microsoft.com/office/drawing/2014/main" id="{872D80DB-845E-4197-8479-E877BF847051}"/>
              </a:ext>
            </a:extLst>
          </p:cNvPr>
          <p:cNvSpPr>
            <a:spLocks xmlns:a="http://schemas.openxmlformats.org/drawingml/2006/main" noGrp="1"/>
          </p:cNvSpPr>
          <p:nvPr/>
        </p:nvSpPr>
        <p:spPr>
          <a:xfrm xmlns:a="http://schemas.openxmlformats.org/drawingml/2006/main">
            <a:off x="6091238" y="50339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4" name=""/>
          <p:cNvCxnSpPr>
            <a:stCxn xmlns:a="http://schemas.openxmlformats.org/drawingml/2006/main" id="23" idx="1"/>
            <a:endCxn xmlns:a="http://schemas.openxmlformats.org/drawingml/2006/main" id="24" idx="3"/>
          </p:cNvCxnSpPr>
          <p:nvPr/>
        </p:nvCxnSpPr>
        <p:spPr>
          <a:xfrm xmlns:a="http://schemas.openxmlformats.org/drawingml/2006/main" flipH="1">
            <a:off x="6100763" y="5038726"/>
            <a:ext cx="380047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6" name="text-603">
            <a:extLst xmlns:a="http://schemas.openxmlformats.org/drawingml/2006/main">
              <a:ext uri="{FF2B5EF4-FFF2-40B4-BE49-F238E27FC236}">
                <a16:creationId xmlns:a16="http://schemas.microsoft.com/office/drawing/2014/main" id="{ACC3AAEC-050A-4ECC-AD90-13F746D0E676}"/>
              </a:ext>
            </a:extLst>
          </p:cNvPr>
          <p:cNvSpPr>
            <a:spLocks xmlns:a="http://schemas.openxmlformats.org/drawingml/2006/main" noGrp="1"/>
          </p:cNvSpPr>
          <p:nvPr/>
        </p:nvSpPr>
        <p:spPr>
          <a:xfrm xmlns:a="http://schemas.openxmlformats.org/drawingml/2006/main">
            <a:off x="2743200" y="52197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1C1C1C"/>
                </a:solidFill>
                <a:latin typeface="Helvetica Neue"/>
                <a:ea typeface="Helvetica Neue"/>
                <a:cs typeface="Helvetica Neue"/>
              </a:defRPr>
            </a:pPr>
            <a:r>
              <a:rPr sz="1800" b="0" i="0">
                <a:solidFill>
                  <a:srgbClr val="1C1C1C"/>
                </a:solidFill>
                <a:latin typeface="Helvetica Neue"/>
                <a:ea typeface="Helvetica Neue"/>
                <a:cs typeface="Helvetica Neue"/>
              </a:rPr>
              <a:t>Belongs to client</a:t>
            </a:r>
          </a:p>
        </p:txBody>
      </p:sp>
      <p:sp>
        <p:nvSpPr>
          <p:cNvPr id="27" name="text-604">
            <a:extLst xmlns:a="http://schemas.openxmlformats.org/drawingml/2006/main">
              <a:ext uri="{FF2B5EF4-FFF2-40B4-BE49-F238E27FC236}">
                <a16:creationId xmlns:a16="http://schemas.microsoft.com/office/drawing/2014/main" id="{5268178F-0E00-4E94-AA44-41E13B7AFA0F}"/>
              </a:ext>
            </a:extLst>
          </p:cNvPr>
          <p:cNvSpPr>
            <a:spLocks xmlns:a="http://schemas.openxmlformats.org/drawingml/2006/main" noGrp="1"/>
          </p:cNvSpPr>
          <p:nvPr/>
        </p:nvSpPr>
        <p:spPr>
          <a:xfrm xmlns:a="http://schemas.openxmlformats.org/drawingml/2006/main">
            <a:off x="6553200" y="52197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1C1C1C"/>
                </a:solidFill>
                <a:latin typeface="Helvetica Neue"/>
                <a:ea typeface="Helvetica Neue"/>
                <a:cs typeface="Helvetica Neue"/>
              </a:defRPr>
            </a:pPr>
            <a:r>
              <a:rPr sz="1800" b="0" i="0">
                <a:solidFill>
                  <a:srgbClr val="1C1C1C"/>
                </a:solidFill>
                <a:latin typeface="Helvetica Neue"/>
                <a:ea typeface="Helvetica Neue"/>
                <a:cs typeface="Helvetica Neue"/>
              </a:rPr>
              <a:t>Based on meeting</a:t>
            </a:r>
          </a:p>
        </p:txBody>
      </p:sp>
      <p:sp>
        <p:nvSpPr>
          <p:cNvPr id="28" name="text-605">
            <a:extLst xmlns:a="http://schemas.openxmlformats.org/drawingml/2006/main">
              <a:ext uri="{FF2B5EF4-FFF2-40B4-BE49-F238E27FC236}">
                <a16:creationId xmlns:a16="http://schemas.microsoft.com/office/drawing/2014/main" id="{5D45D3A5-B688-4FD6-817D-2EF1E4DA6F89}"/>
              </a:ext>
            </a:extLst>
          </p:cNvPr>
          <p:cNvSpPr>
            <a:spLocks xmlns:a="http://schemas.openxmlformats.org/drawingml/2006/main" noGrp="1"/>
          </p:cNvSpPr>
          <p:nvPr/>
        </p:nvSpPr>
        <p:spPr>
          <a:xfrm xmlns:a="http://schemas.openxmlformats.org/drawingml/2006/main">
            <a:off x="609600" y="5905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Each meeting identifies its client. Each task retains its supporting meeting.</a:t>
            </a:r>
          </a:p>
        </p:txBody>
      </p:sp>
      <p:sp>
        <p:nvSpPr>
          <p:cNvPr id="29" name="text-606">
            <a:extLst xmlns:a="http://schemas.openxmlformats.org/drawingml/2006/main">
              <a:ext uri="{FF2B5EF4-FFF2-40B4-BE49-F238E27FC236}">
                <a16:creationId xmlns:a16="http://schemas.microsoft.com/office/drawing/2014/main" id="{819276F5-4169-4FA3-AA49-2108C2EB9E5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63</a:t>
            </a:r>
          </a:p>
        </p:txBody>
      </p:sp>
    </p:spTree>
    <p:extLst>
      <p:ext uri="{BB962C8B-B14F-4D97-AF65-F5344CB8AC3E}">
        <p14:creationId xmlns:p14="http://schemas.microsoft.com/office/powerpoint/2010/main" val="728677237"/>
      </p:ext>
    </p:extLst>
  </p:cSld>
</p:sld>
</file>

<file path=ppt/slides/slide6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607">
            <a:extLst xmlns:a="http://schemas.openxmlformats.org/drawingml/2006/main">
              <a:ext uri="{FF2B5EF4-FFF2-40B4-BE49-F238E27FC236}">
                <a16:creationId xmlns:a16="http://schemas.microsoft.com/office/drawing/2014/main" id="{DBCEB379-FB7D-4483-AF3F-6F37C123DCB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classroom connection path</a:t>
            </a:r>
          </a:p>
        </p:txBody>
      </p:sp>
      <p:sp>
        <p:nvSpPr>
          <p:cNvPr id="2" name="panel-608">
            <a:extLst xmlns:a="http://schemas.openxmlformats.org/drawingml/2006/main">
              <a:ext uri="{FF2B5EF4-FFF2-40B4-BE49-F238E27FC236}">
                <a16:creationId xmlns:a16="http://schemas.microsoft.com/office/drawing/2014/main" id="{0C7CAA43-4949-41F7-840C-FFE3C28FBB37}"/>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609">
            <a:extLst xmlns:a="http://schemas.openxmlformats.org/drawingml/2006/main">
              <a:ext uri="{FF2B5EF4-FFF2-40B4-BE49-F238E27FC236}">
                <a16:creationId xmlns:a16="http://schemas.microsoft.com/office/drawing/2014/main" id="{EBA6F5F8-6A68-44DB-8F3E-029507A803AF}"/>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610">
            <a:extLst xmlns:a="http://schemas.openxmlformats.org/drawingml/2006/main">
              <a:ext uri="{FF2B5EF4-FFF2-40B4-BE49-F238E27FC236}">
                <a16:creationId xmlns:a16="http://schemas.microsoft.com/office/drawing/2014/main" id="{27CBA235-71EE-4654-85E7-2813E8DE9B5A}"/>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Today: fictional import</a:t>
            </a:r>
          </a:p>
        </p:txBody>
      </p:sp>
      <p:sp>
        <p:nvSpPr>
          <p:cNvPr id="5" name="text-611">
            <a:extLst xmlns:a="http://schemas.openxmlformats.org/drawingml/2006/main">
              <a:ext uri="{FF2B5EF4-FFF2-40B4-BE49-F238E27FC236}">
                <a16:creationId xmlns:a16="http://schemas.microsoft.com/office/drawing/2014/main" id="{F989A2E6-EA83-43B0-93E8-352E04810958}"/>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No provider login required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One known source record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Repeat the import and inspect</a:t>
            </a:r>
          </a:p>
        </p:txBody>
      </p:sp>
      <p:sp>
        <p:nvSpPr>
          <p:cNvPr id="6" name="text-612">
            <a:extLst xmlns:a="http://schemas.openxmlformats.org/drawingml/2006/main">
              <a:ext uri="{FF2B5EF4-FFF2-40B4-BE49-F238E27FC236}">
                <a16:creationId xmlns:a16="http://schemas.microsoft.com/office/drawing/2014/main" id="{D9142183-E339-4051-97B3-778760B67639}"/>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Optional: live read</a:t>
            </a:r>
          </a:p>
        </p:txBody>
      </p:sp>
      <p:sp>
        <p:nvSpPr>
          <p:cNvPr id="7" name="text-613">
            <a:extLst xmlns:a="http://schemas.openxmlformats.org/drawingml/2006/main">
              <a:ext uri="{FF2B5EF4-FFF2-40B4-BE49-F238E27FC236}">
                <a16:creationId xmlns:a16="http://schemas.microsoft.com/office/drawing/2014/main" id="{63A65F65-02F8-403E-B42C-8C7343E1F91F}"/>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Dedicated teaching account</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One authorized record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Separate verification receipt</a:t>
            </a:r>
          </a:p>
        </p:txBody>
      </p:sp>
      <p:sp>
        <p:nvSpPr>
          <p:cNvPr id="8" name="text-614">
            <a:extLst xmlns:a="http://schemas.openxmlformats.org/drawingml/2006/main">
              <a:ext uri="{FF2B5EF4-FFF2-40B4-BE49-F238E27FC236}">
                <a16:creationId xmlns:a16="http://schemas.microsoft.com/office/drawing/2014/main" id="{4B5BFEB9-6E57-4238-8785-77F74C3211F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64</a:t>
            </a:r>
          </a:p>
        </p:txBody>
      </p:sp>
    </p:spTree>
    <p:extLst>
      <p:ext uri="{BB962C8B-B14F-4D97-AF65-F5344CB8AC3E}">
        <p14:creationId xmlns:p14="http://schemas.microsoft.com/office/powerpoint/2010/main" val="920227785"/>
      </p:ext>
    </p:extLst>
  </p:cSld>
</p:sld>
</file>

<file path=ppt/slides/slide6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615">
            <a:extLst xmlns:a="http://schemas.openxmlformats.org/drawingml/2006/main">
              <a:ext uri="{FF2B5EF4-FFF2-40B4-BE49-F238E27FC236}">
                <a16:creationId xmlns:a16="http://schemas.microsoft.com/office/drawing/2014/main" id="{DD2993C9-BD7D-45D2-9699-C2480688298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Inspect the source connection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0be13ab4bc741a2"/>
          <a:stretch xmlns:a="http://schemas.openxmlformats.org/drawingml/2006/main"/>
        </p:blipFill>
        <p:spPr>
          <a:xfrm xmlns:a="http://schemas.openxmlformats.org/drawingml/2006/main">
            <a:off x="609600" y="1868091"/>
            <a:ext cx="7429500" cy="4179094"/>
          </a:xfrm>
          <a:prstGeom xmlns:a="http://schemas.openxmlformats.org/drawingml/2006/main" prst="rect">
            <a:avLst/>
          </a:prstGeom>
        </p:spPr>
      </p:pic>
      <p:sp>
        <p:nvSpPr>
          <p:cNvPr id="3" name="text-616">
            <a:extLst xmlns:a="http://schemas.openxmlformats.org/drawingml/2006/main">
              <a:ext uri="{FF2B5EF4-FFF2-40B4-BE49-F238E27FC236}">
                <a16:creationId xmlns:a16="http://schemas.microsoft.com/office/drawing/2014/main" id="{9B809F98-3C1A-4758-95C4-1B7949FE8A0D}"/>
              </a:ext>
            </a:extLst>
          </p:cNvPr>
          <p:cNvSpPr>
            <a:spLocks xmlns:a="http://schemas.openxmlformats.org/drawingml/2006/main" noGrp="1"/>
          </p:cNvSpPr>
          <p:nvPr/>
        </p:nvSpPr>
        <p:spPr>
          <a:xfrm xmlns:a="http://schemas.openxmlformats.org/drawingml/2006/main">
            <a:off x="8477250" y="20764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01</a:t>
            </a:r>
          </a:p>
        </p:txBody>
      </p:sp>
      <p:sp>
        <p:nvSpPr>
          <p:cNvPr id="4" name="text-617">
            <a:extLst xmlns:a="http://schemas.openxmlformats.org/drawingml/2006/main">
              <a:ext uri="{FF2B5EF4-FFF2-40B4-BE49-F238E27FC236}">
                <a16:creationId xmlns:a16="http://schemas.microsoft.com/office/drawing/2014/main" id="{F68874AA-1884-4679-8DE7-9CBAE0AF6E42}"/>
              </a:ext>
            </a:extLst>
          </p:cNvPr>
          <p:cNvSpPr>
            <a:spLocks xmlns:a="http://schemas.openxmlformats.org/drawingml/2006/main" noGrp="1"/>
          </p:cNvSpPr>
          <p:nvPr/>
        </p:nvSpPr>
        <p:spPr>
          <a:xfrm xmlns:a="http://schemas.openxmlformats.org/drawingml/2006/main">
            <a:off x="9172575" y="207645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Sample source is labeled</a:t>
            </a:r>
          </a:p>
        </p:txBody>
      </p:sp>
      <p:sp>
        <p:nvSpPr>
          <p:cNvPr id="5" name="text-618">
            <a:extLst xmlns:a="http://schemas.openxmlformats.org/drawingml/2006/main">
              <a:ext uri="{FF2B5EF4-FFF2-40B4-BE49-F238E27FC236}">
                <a16:creationId xmlns:a16="http://schemas.microsoft.com/office/drawing/2014/main" id="{13E2EFCB-D30A-4FD4-8163-3988913F3055}"/>
              </a:ext>
            </a:extLst>
          </p:cNvPr>
          <p:cNvSpPr>
            <a:spLocks xmlns:a="http://schemas.openxmlformats.org/drawingml/2006/main" noGrp="1"/>
          </p:cNvSpPr>
          <p:nvPr/>
        </p:nvSpPr>
        <p:spPr>
          <a:xfrm xmlns:a="http://schemas.openxmlformats.org/drawingml/2006/main">
            <a:off x="8477250" y="334327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02</a:t>
            </a:r>
          </a:p>
        </p:txBody>
      </p:sp>
      <p:sp>
        <p:nvSpPr>
          <p:cNvPr id="6" name="text-619">
            <a:extLst xmlns:a="http://schemas.openxmlformats.org/drawingml/2006/main">
              <a:ext uri="{FF2B5EF4-FFF2-40B4-BE49-F238E27FC236}">
                <a16:creationId xmlns:a16="http://schemas.microsoft.com/office/drawing/2014/main" id="{B4362509-6902-4D08-A087-BFF586007EEC}"/>
              </a:ext>
            </a:extLst>
          </p:cNvPr>
          <p:cNvSpPr>
            <a:spLocks xmlns:a="http://schemas.openxmlformats.org/drawingml/2006/main" noGrp="1"/>
          </p:cNvSpPr>
          <p:nvPr/>
        </p:nvSpPr>
        <p:spPr>
          <a:xfrm xmlns:a="http://schemas.openxmlformats.org/drawingml/2006/main">
            <a:off x="9172575" y="3343275"/>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Choose the client explicitly</a:t>
            </a:r>
          </a:p>
        </p:txBody>
      </p:sp>
      <p:sp>
        <p:nvSpPr>
          <p:cNvPr id="7" name="text-620">
            <a:extLst xmlns:a="http://schemas.openxmlformats.org/drawingml/2006/main">
              <a:ext uri="{FF2B5EF4-FFF2-40B4-BE49-F238E27FC236}">
                <a16:creationId xmlns:a16="http://schemas.microsoft.com/office/drawing/2014/main" id="{01646028-8CE5-4B95-82F4-8CF28CA409D6}"/>
              </a:ext>
            </a:extLst>
          </p:cNvPr>
          <p:cNvSpPr>
            <a:spLocks xmlns:a="http://schemas.openxmlformats.org/drawingml/2006/main" noGrp="1"/>
          </p:cNvSpPr>
          <p:nvPr/>
        </p:nvSpPr>
        <p:spPr>
          <a:xfrm xmlns:a="http://schemas.openxmlformats.org/drawingml/2006/main">
            <a:off x="8477250" y="46101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03</a:t>
            </a:r>
          </a:p>
        </p:txBody>
      </p:sp>
      <p:sp>
        <p:nvSpPr>
          <p:cNvPr id="8" name="text-621">
            <a:extLst xmlns:a="http://schemas.openxmlformats.org/drawingml/2006/main">
              <a:ext uri="{FF2B5EF4-FFF2-40B4-BE49-F238E27FC236}">
                <a16:creationId xmlns:a16="http://schemas.microsoft.com/office/drawing/2014/main" id="{AFF937DD-D44C-421F-B76B-DFFE2A0A976D}"/>
              </a:ext>
            </a:extLst>
          </p:cNvPr>
          <p:cNvSpPr>
            <a:spLocks xmlns:a="http://schemas.openxmlformats.org/drawingml/2006/main" noGrp="1"/>
          </p:cNvSpPr>
          <p:nvPr/>
        </p:nvSpPr>
        <p:spPr>
          <a:xfrm xmlns:a="http://schemas.openxmlformats.org/drawingml/2006/main">
            <a:off x="9172575" y="461010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Preserve the original source ID</a:t>
            </a:r>
          </a:p>
        </p:txBody>
      </p:sp>
      <p:sp>
        <p:nvSpPr>
          <p:cNvPr id="9" name="text-622">
            <a:extLst xmlns:a="http://schemas.openxmlformats.org/drawingml/2006/main">
              <a:ext uri="{FF2B5EF4-FFF2-40B4-BE49-F238E27FC236}">
                <a16:creationId xmlns:a16="http://schemas.microsoft.com/office/drawing/2014/main" id="{2753F1C7-5978-4252-ACAF-97FF4D1DA6B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65</a:t>
            </a:r>
          </a:p>
        </p:txBody>
      </p:sp>
    </p:spTree>
    <p:extLst>
      <p:ext uri="{BB962C8B-B14F-4D97-AF65-F5344CB8AC3E}">
        <p14:creationId xmlns:p14="http://schemas.microsoft.com/office/powerpoint/2010/main" val="157706793"/>
      </p:ext>
    </p:extLst>
  </p:cSld>
</p:sld>
</file>

<file path=ppt/slides/slide6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623">
            <a:extLst xmlns:a="http://schemas.openxmlformats.org/drawingml/2006/main">
              <a:ext uri="{FF2B5EF4-FFF2-40B4-BE49-F238E27FC236}">
                <a16:creationId xmlns:a16="http://schemas.microsoft.com/office/drawing/2014/main" id="{A19184AF-291D-4F94-A766-DA05C2E5995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meeting record the app needs</a:t>
            </a:r>
          </a:p>
        </p:txBody>
      </p:sp>
      <p:sp>
        <p:nvSpPr>
          <p:cNvPr id="2" name="panel-624">
            <a:extLst xmlns:a="http://schemas.openxmlformats.org/drawingml/2006/main">
              <a:ext uri="{FF2B5EF4-FFF2-40B4-BE49-F238E27FC236}">
                <a16:creationId xmlns:a16="http://schemas.microsoft.com/office/drawing/2014/main" id="{744200D2-FE2A-4F2E-9547-6511CBBA35D3}"/>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625">
            <a:extLst xmlns:a="http://schemas.openxmlformats.org/drawingml/2006/main">
              <a:ext uri="{FF2B5EF4-FFF2-40B4-BE49-F238E27FC236}">
                <a16:creationId xmlns:a16="http://schemas.microsoft.com/office/drawing/2014/main" id="{95EA6C14-B1C6-4383-8C88-7FEE6A15ECAC}"/>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One meeting, in plain English</a:t>
            </a:r>
          </a:p>
        </p:txBody>
      </p:sp>
      <p:sp>
        <p:nvSpPr>
          <p:cNvPr id="4" name="text-626">
            <a:extLst xmlns:a="http://schemas.openxmlformats.org/drawingml/2006/main">
              <a:ext uri="{FF2B5EF4-FFF2-40B4-BE49-F238E27FC236}">
                <a16:creationId xmlns:a16="http://schemas.microsoft.com/office/drawing/2014/main" id="{AF11F4B4-FC6C-41F7-A96E-85E3B1129340}"/>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Client:</a:t>
            </a:r>
            <a:r>
              <a:rPr sz="2025" b="0" i="0">
                <a:solidFill>
                  <a:srgbClr val="1C1C1C"/>
                </a:solidFill>
                <a:latin typeface="Helvetica Neue"/>
                <a:ea typeface="Helvetica Neue"/>
                <a:cs typeface="Helvetica Neue"/>
              </a:rPr>
              <a:t> Northstar</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Fireflies</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 ID:</a:t>
            </a:r>
            <a:r>
              <a:rPr sz="2025" b="0" i="0">
                <a:solidFill>
                  <a:srgbClr val="1C1C1C"/>
                </a:solidFill>
                <a:latin typeface="Helvetica Neue"/>
                <a:ea typeface="Helvetica Neue"/>
                <a:cs typeface="Helvetica Neue"/>
              </a:rPr>
              <a:t> demo-transcript-001</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When:</a:t>
            </a:r>
            <a:r>
              <a:rPr sz="2025" b="0" i="0">
                <a:solidFill>
                  <a:srgbClr val="1C1C1C"/>
                </a:solidFill>
                <a:latin typeface="Helvetica Neue"/>
                <a:ea typeface="Helvetica Neue"/>
                <a:cs typeface="Helvetica Neue"/>
              </a:rPr>
              <a:t> three days before the demo</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Summary:</a:t>
            </a:r>
            <a:r>
              <a:rPr sz="2025" b="0" i="0">
                <a:solidFill>
                  <a:srgbClr val="1C1C1C"/>
                </a:solidFill>
                <a:latin typeface="Helvetica Neue"/>
                <a:ea typeface="Helvetica Neue"/>
                <a:cs typeface="Helvetica Neue"/>
              </a:rPr>
              <a:t> Maya requested a checklist.</a:t>
            </a:r>
          </a:p>
        </p:txBody>
      </p:sp>
      <p:sp>
        <p:nvSpPr>
          <p:cNvPr id="5" name="panel-627">
            <a:extLst xmlns:a="http://schemas.openxmlformats.org/drawingml/2006/main">
              <a:ext uri="{FF2B5EF4-FFF2-40B4-BE49-F238E27FC236}">
                <a16:creationId xmlns:a16="http://schemas.microsoft.com/office/drawing/2014/main" id="{FFCF0FFC-5E94-4076-A00F-3CC9B4A02726}"/>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628">
            <a:extLst xmlns:a="http://schemas.openxmlformats.org/drawingml/2006/main">
              <a:ext uri="{FF2B5EF4-FFF2-40B4-BE49-F238E27FC236}">
                <a16:creationId xmlns:a16="http://schemas.microsoft.com/office/drawing/2014/main" id="{6D2D73C1-5679-4191-A333-948CB0E25826}"/>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1">
                <a:solidFill>
                  <a:srgbClr val="1C1C1C"/>
                </a:solidFill>
                <a:latin typeface="Avenir Next"/>
                <a:ea typeface="Avenir Next"/>
                <a:cs typeface="Avenir Next"/>
              </a:defRPr>
            </a:pPr>
            <a:r>
              <a:rPr sz="2250" b="1" i="1">
                <a:solidFill>
                  <a:srgbClr val="1C1C1C"/>
                </a:solidFill>
                <a:latin typeface="Avenir Next"/>
                <a:ea typeface="Avenir Next"/>
                <a:cs typeface="Avenir Next"/>
              </a:rPr>
              <a:t>Why translate it?</a:t>
            </a:r>
          </a:p>
        </p:txBody>
      </p:sp>
      <p:sp>
        <p:nvSpPr>
          <p:cNvPr id="7" name="text-629">
            <a:extLst xmlns:a="http://schemas.openxmlformats.org/drawingml/2006/main">
              <a:ext uri="{FF2B5EF4-FFF2-40B4-BE49-F238E27FC236}">
                <a16:creationId xmlns:a16="http://schemas.microsoft.com/office/drawing/2014/main" id="{FFB7BFD1-6949-45D1-9613-E1F8588471C5}"/>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Each service returns a different format. The app gives those fields consistent names so the screen can use them.</a:t>
            </a:r>
          </a:p>
        </p:txBody>
      </p:sp>
      <p:sp>
        <p:nvSpPr>
          <p:cNvPr id="8" name="text-630">
            <a:extLst xmlns:a="http://schemas.openxmlformats.org/drawingml/2006/main">
              <a:ext uri="{FF2B5EF4-FFF2-40B4-BE49-F238E27FC236}">
                <a16:creationId xmlns:a16="http://schemas.microsoft.com/office/drawing/2014/main" id="{B59DF5D8-D533-4432-AA39-0C318D23573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66</a:t>
            </a:r>
          </a:p>
        </p:txBody>
      </p:sp>
    </p:spTree>
    <p:extLst>
      <p:ext uri="{BB962C8B-B14F-4D97-AF65-F5344CB8AC3E}">
        <p14:creationId xmlns:p14="http://schemas.microsoft.com/office/powerpoint/2010/main" val="1363494365"/>
      </p:ext>
    </p:extLst>
  </p:cSld>
</p:sld>
</file>

<file path=ppt/slides/slide6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6" name="text-631">
            <a:extLst xmlns:a="http://schemas.openxmlformats.org/drawingml/2006/main">
              <a:ext uri="{FF2B5EF4-FFF2-40B4-BE49-F238E27FC236}">
                <a16:creationId xmlns:a16="http://schemas.microsoft.com/office/drawing/2014/main" id="{09C24F3B-24D5-475C-AE90-A3081B4DDFD3}"/>
              </a:ext>
            </a:extLst>
          </p:cNvPr>
          <p:cNvSpPr>
            <a:spLocks xmlns:a="http://schemas.openxmlformats.org/drawingml/2006/main" noGrp="1"/>
          </p:cNvSpPr>
          <p:nvPr/>
        </p:nvSpPr>
        <p:spPr>
          <a:xfrm xmlns:a="http://schemas.openxmlformats.org/drawingml/2006/main">
            <a:off x="609600" y="457200"/>
            <a:ext cx="8839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Fireflies records retain their source</a:t>
            </a:r>
          </a:p>
        </p:txBody>
      </p:sp>
      <p:sp>
        <p:nvSpPr>
          <p:cNvPr id="2" name="text-632">
            <a:extLst xmlns:a="http://schemas.openxmlformats.org/drawingml/2006/main">
              <a:ext uri="{FF2B5EF4-FFF2-40B4-BE49-F238E27FC236}">
                <a16:creationId xmlns:a16="http://schemas.microsoft.com/office/drawing/2014/main" id="{18EA36C6-C86B-4827-ABAE-CB2E08DE3431}"/>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633">
            <a:extLst xmlns:a="http://schemas.openxmlformats.org/drawingml/2006/main">
              <a:ext uri="{FF2B5EF4-FFF2-40B4-BE49-F238E27FC236}">
                <a16:creationId xmlns:a16="http://schemas.microsoft.com/office/drawing/2014/main" id="{3C1D8310-E46E-4904-A589-ABFD84053718}"/>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634">
            <a:extLst xmlns:a="http://schemas.openxmlformats.org/drawingml/2006/main">
              <a:ext uri="{FF2B5EF4-FFF2-40B4-BE49-F238E27FC236}">
                <a16:creationId xmlns:a16="http://schemas.microsoft.com/office/drawing/2014/main" id="{EAE80AE6-F2A7-492A-A522-277C25B99CB2}"/>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Read the sample</a:t>
            </a:r>
          </a:p>
        </p:txBody>
      </p:sp>
      <p:sp>
        <p:nvSpPr>
          <p:cNvPr id="5" name="panel-635">
            <a:extLst xmlns:a="http://schemas.openxmlformats.org/drawingml/2006/main">
              <a:ext uri="{FF2B5EF4-FFF2-40B4-BE49-F238E27FC236}">
                <a16:creationId xmlns:a16="http://schemas.microsoft.com/office/drawing/2014/main" id="{96AA1446-247A-4ABB-981C-CC2F5E71B12A}"/>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636">
            <a:extLst xmlns:a="http://schemas.openxmlformats.org/drawingml/2006/main">
              <a:ext uri="{FF2B5EF4-FFF2-40B4-BE49-F238E27FC236}">
                <a16:creationId xmlns:a16="http://schemas.microsoft.com/office/drawing/2014/main" id="{7FD9FB9E-6B1A-467E-8A29-620D121CB624}"/>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637">
            <a:extLst xmlns:a="http://schemas.openxmlformats.org/drawingml/2006/main">
              <a:ext uri="{FF2B5EF4-FFF2-40B4-BE49-F238E27FC236}">
                <a16:creationId xmlns:a16="http://schemas.microsoft.com/office/drawing/2014/main" id="{0DF1AD24-4D6D-4BFC-8E1A-324FD3F56705}"/>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638">
            <a:extLst xmlns:a="http://schemas.openxmlformats.org/drawingml/2006/main">
              <a:ext uri="{FF2B5EF4-FFF2-40B4-BE49-F238E27FC236}">
                <a16:creationId xmlns:a16="http://schemas.microsoft.com/office/drawing/2014/main" id="{54129DC8-E5C7-4ADF-B5B0-B587B7ABBCD2}"/>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639">
            <a:extLst xmlns:a="http://schemas.openxmlformats.org/drawingml/2006/main">
              <a:ext uri="{FF2B5EF4-FFF2-40B4-BE49-F238E27FC236}">
                <a16:creationId xmlns:a16="http://schemas.microsoft.com/office/drawing/2014/main" id="{24EC1713-D640-44DB-8BFC-4C4BE95FDA45}"/>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Name the client</a:t>
            </a:r>
          </a:p>
        </p:txBody>
      </p:sp>
      <p:sp>
        <p:nvSpPr>
          <p:cNvPr id="11" name="panel-640">
            <a:extLst xmlns:a="http://schemas.openxmlformats.org/drawingml/2006/main">
              <a:ext uri="{FF2B5EF4-FFF2-40B4-BE49-F238E27FC236}">
                <a16:creationId xmlns:a16="http://schemas.microsoft.com/office/drawing/2014/main" id="{C87FC4F9-7358-4DA2-BC07-E729234FAF06}"/>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641">
            <a:extLst xmlns:a="http://schemas.openxmlformats.org/drawingml/2006/main">
              <a:ext uri="{FF2B5EF4-FFF2-40B4-BE49-F238E27FC236}">
                <a16:creationId xmlns:a16="http://schemas.microsoft.com/office/drawing/2014/main" id="{C9DB23C7-96BC-4CF4-A5BE-25FF097E9F29}"/>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642">
            <a:extLst xmlns:a="http://schemas.openxmlformats.org/drawingml/2006/main">
              <a:ext uri="{FF2B5EF4-FFF2-40B4-BE49-F238E27FC236}">
                <a16:creationId xmlns:a16="http://schemas.microsoft.com/office/drawing/2014/main" id="{7E5BBF05-4AE4-42B1-8963-8D13153751BC}"/>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643">
            <a:extLst xmlns:a="http://schemas.openxmlformats.org/drawingml/2006/main">
              <a:ext uri="{FF2B5EF4-FFF2-40B4-BE49-F238E27FC236}">
                <a16:creationId xmlns:a16="http://schemas.microsoft.com/office/drawing/2014/main" id="{8DE8EB44-B1AB-47D5-BB8E-4D980F93F806}"/>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644">
            <a:extLst xmlns:a="http://schemas.openxmlformats.org/drawingml/2006/main">
              <a:ext uri="{FF2B5EF4-FFF2-40B4-BE49-F238E27FC236}">
                <a16:creationId xmlns:a16="http://schemas.microsoft.com/office/drawing/2014/main" id="{DE0CE6B5-29DE-4FCB-9453-47271BAA7D34}"/>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Keep source ID</a:t>
            </a:r>
          </a:p>
        </p:txBody>
      </p:sp>
      <p:sp>
        <p:nvSpPr>
          <p:cNvPr id="17" name="panel-645">
            <a:extLst xmlns:a="http://schemas.openxmlformats.org/drawingml/2006/main">
              <a:ext uri="{FF2B5EF4-FFF2-40B4-BE49-F238E27FC236}">
                <a16:creationId xmlns:a16="http://schemas.microsoft.com/office/drawing/2014/main" id="{27C796DF-2457-47AD-83A7-AB4A0B1BA700}"/>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646">
            <a:extLst xmlns:a="http://schemas.openxmlformats.org/drawingml/2006/main">
              <a:ext uri="{FF2B5EF4-FFF2-40B4-BE49-F238E27FC236}">
                <a16:creationId xmlns:a16="http://schemas.microsoft.com/office/drawing/2014/main" id="{B9755981-556B-4AE2-9EA7-6EE56C32D5F1}"/>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647">
            <a:extLst xmlns:a="http://schemas.openxmlformats.org/drawingml/2006/main">
              <a:ext uri="{FF2B5EF4-FFF2-40B4-BE49-F238E27FC236}">
                <a16:creationId xmlns:a16="http://schemas.microsoft.com/office/drawing/2014/main" id="{92D66091-7A25-4778-9B8D-9C5F1BD7102E}"/>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648">
            <a:extLst xmlns:a="http://schemas.openxmlformats.org/drawingml/2006/main">
              <a:ext uri="{FF2B5EF4-FFF2-40B4-BE49-F238E27FC236}">
                <a16:creationId xmlns:a16="http://schemas.microsoft.com/office/drawing/2014/main" id="{345EC25A-B0B9-4D44-8F90-9FF6610A80F6}"/>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649">
            <a:extLst xmlns:a="http://schemas.openxmlformats.org/drawingml/2006/main">
              <a:ext uri="{FF2B5EF4-FFF2-40B4-BE49-F238E27FC236}">
                <a16:creationId xmlns:a16="http://schemas.microsoft.com/office/drawing/2014/main" id="{19CB64C4-3266-4628-9CB8-3D451EC02DD7}"/>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Import once</a:t>
            </a:r>
          </a:p>
        </p:txBody>
      </p:sp>
      <p:sp>
        <p:nvSpPr>
          <p:cNvPr id="23" name="text-650">
            <a:extLst xmlns:a="http://schemas.openxmlformats.org/drawingml/2006/main">
              <a:ext uri="{FF2B5EF4-FFF2-40B4-BE49-F238E27FC236}">
                <a16:creationId xmlns:a16="http://schemas.microsoft.com/office/drawing/2014/main" id="{810996BC-3956-47F5-BFC3-6FE326B10DE7}"/>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1" i="0">
                <a:solidFill>
                  <a:srgbClr val="1C1C1C"/>
                </a:solidFill>
                <a:latin typeface="Helvetica Neue"/>
                <a:ea typeface="Helvetica Neue"/>
                <a:cs typeface="Helvetica Neue"/>
              </a:rPr>
              <a:t>Classroom source:</a:t>
            </a:r>
            <a:r>
              <a:rPr sz="2250" b="0" i="0">
                <a:solidFill>
                  <a:srgbClr val="1C1C1C"/>
                </a:solidFill>
                <a:latin typeface="Helvetica Neue"/>
                <a:ea typeface="Helvetica Neue"/>
                <a:cs typeface="Helvetica Neue"/>
              </a:rPr>
              <a:t> 01-planning/sample-data/meeting.json. Live API reads are optional.</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a974108547c4cc1"/>
          <a:stretch xmlns:a="http://schemas.openxmlformats.org/drawingml/2006/main"/>
        </p:blipFill>
        <p:spPr>
          <a:xfrm xmlns:a="http://schemas.openxmlformats.org/drawingml/2006/main">
            <a:off x="9829800" y="554270"/>
            <a:ext cx="1752600" cy="358309"/>
          </a:xfrm>
          <a:prstGeom xmlns:a="http://schemas.openxmlformats.org/drawingml/2006/main" prst="rect">
            <a:avLst/>
          </a:prstGeom>
        </p:spPr>
      </p:pic>
      <p:sp>
        <p:nvSpPr>
          <p:cNvPr id="25" name="text-651">
            <a:extLst xmlns:a="http://schemas.openxmlformats.org/drawingml/2006/main">
              <a:ext uri="{FF2B5EF4-FFF2-40B4-BE49-F238E27FC236}">
                <a16:creationId xmlns:a16="http://schemas.microsoft.com/office/drawing/2014/main" id="{85E80901-6D0B-44B5-8580-C4498752ACF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67</a:t>
            </a:r>
          </a:p>
        </p:txBody>
      </p:sp>
    </p:spTree>
    <p:extLst>
      <p:ext uri="{BB962C8B-B14F-4D97-AF65-F5344CB8AC3E}">
        <p14:creationId xmlns:p14="http://schemas.microsoft.com/office/powerpoint/2010/main" val="473299079"/>
      </p:ext>
    </p:extLst>
  </p:cSld>
</p:sld>
</file>

<file path=ppt/slides/slide6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652">
            <a:extLst xmlns:a="http://schemas.openxmlformats.org/drawingml/2006/main">
              <a:ext uri="{FF2B5EF4-FFF2-40B4-BE49-F238E27FC236}">
                <a16:creationId xmlns:a16="http://schemas.microsoft.com/office/drawing/2014/main" id="{10093ED0-A482-4FBE-B8E3-376FFF2B4B4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Import the meeting and prove it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fd37cdd2f064b8b"/>
          <a:stretch xmlns:a="http://schemas.openxmlformats.org/drawingml/2006/main"/>
        </p:blipFill>
        <p:spPr>
          <a:xfrm xmlns:a="http://schemas.openxmlformats.org/drawingml/2006/main">
            <a:off x="609600" y="1868091"/>
            <a:ext cx="7429500" cy="4179094"/>
          </a:xfrm>
          <a:prstGeom xmlns:a="http://schemas.openxmlformats.org/drawingml/2006/main" prst="rect">
            <a:avLst/>
          </a:prstGeom>
        </p:spPr>
      </p:pic>
      <p:sp>
        <p:nvSpPr>
          <p:cNvPr id="3" name="text-653">
            <a:extLst xmlns:a="http://schemas.openxmlformats.org/drawingml/2006/main">
              <a:ext uri="{FF2B5EF4-FFF2-40B4-BE49-F238E27FC236}">
                <a16:creationId xmlns:a16="http://schemas.microsoft.com/office/drawing/2014/main" id="{46387CF4-9CB9-45AD-BE6A-D51A53BEDDA3}"/>
              </a:ext>
            </a:extLst>
          </p:cNvPr>
          <p:cNvSpPr>
            <a:spLocks xmlns:a="http://schemas.openxmlformats.org/drawingml/2006/main" noGrp="1"/>
          </p:cNvSpPr>
          <p:nvPr/>
        </p:nvSpPr>
        <p:spPr>
          <a:xfrm xmlns:a="http://schemas.openxmlformats.org/drawingml/2006/main">
            <a:off x="8477250" y="20764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01</a:t>
            </a:r>
          </a:p>
        </p:txBody>
      </p:sp>
      <p:sp>
        <p:nvSpPr>
          <p:cNvPr id="4" name="text-654">
            <a:extLst xmlns:a="http://schemas.openxmlformats.org/drawingml/2006/main">
              <a:ext uri="{FF2B5EF4-FFF2-40B4-BE49-F238E27FC236}">
                <a16:creationId xmlns:a16="http://schemas.microsoft.com/office/drawing/2014/main" id="{42A13FEC-5FAB-49EF-A501-69CD87294798}"/>
              </a:ext>
            </a:extLst>
          </p:cNvPr>
          <p:cNvSpPr>
            <a:spLocks xmlns:a="http://schemas.openxmlformats.org/drawingml/2006/main" noGrp="1"/>
          </p:cNvSpPr>
          <p:nvPr/>
        </p:nvSpPr>
        <p:spPr>
          <a:xfrm xmlns:a="http://schemas.openxmlformats.org/drawingml/2006/main">
            <a:off x="9172575" y="207645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Northstar is chosen explicitly</a:t>
            </a:r>
          </a:p>
        </p:txBody>
      </p:sp>
      <p:sp>
        <p:nvSpPr>
          <p:cNvPr id="5" name="text-655">
            <a:extLst xmlns:a="http://schemas.openxmlformats.org/drawingml/2006/main">
              <a:ext uri="{FF2B5EF4-FFF2-40B4-BE49-F238E27FC236}">
                <a16:creationId xmlns:a16="http://schemas.microsoft.com/office/drawing/2014/main" id="{E6FECF49-938C-4C02-9246-CEC250517174}"/>
              </a:ext>
            </a:extLst>
          </p:cNvPr>
          <p:cNvSpPr>
            <a:spLocks xmlns:a="http://schemas.openxmlformats.org/drawingml/2006/main" noGrp="1"/>
          </p:cNvSpPr>
          <p:nvPr/>
        </p:nvSpPr>
        <p:spPr>
          <a:xfrm xmlns:a="http://schemas.openxmlformats.org/drawingml/2006/main">
            <a:off x="8477250" y="334327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02</a:t>
            </a:r>
          </a:p>
        </p:txBody>
      </p:sp>
      <p:sp>
        <p:nvSpPr>
          <p:cNvPr id="6" name="text-656">
            <a:extLst xmlns:a="http://schemas.openxmlformats.org/drawingml/2006/main">
              <a:ext uri="{FF2B5EF4-FFF2-40B4-BE49-F238E27FC236}">
                <a16:creationId xmlns:a16="http://schemas.microsoft.com/office/drawing/2014/main" id="{1A011742-373A-4FE6-9DC2-AF81AF08B777}"/>
              </a:ext>
            </a:extLst>
          </p:cNvPr>
          <p:cNvSpPr>
            <a:spLocks xmlns:a="http://schemas.openxmlformats.org/drawingml/2006/main" noGrp="1"/>
          </p:cNvSpPr>
          <p:nvPr/>
        </p:nvSpPr>
        <p:spPr>
          <a:xfrm xmlns:a="http://schemas.openxmlformats.org/drawingml/2006/main">
            <a:off x="9172575" y="3343275"/>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The original source ID remains</a:t>
            </a:r>
          </a:p>
        </p:txBody>
      </p:sp>
      <p:sp>
        <p:nvSpPr>
          <p:cNvPr id="7" name="text-657">
            <a:extLst xmlns:a="http://schemas.openxmlformats.org/drawingml/2006/main">
              <a:ext uri="{FF2B5EF4-FFF2-40B4-BE49-F238E27FC236}">
                <a16:creationId xmlns:a16="http://schemas.microsoft.com/office/drawing/2014/main" id="{4E44D316-AC51-425E-BCE9-71990278F66B}"/>
              </a:ext>
            </a:extLst>
          </p:cNvPr>
          <p:cNvSpPr>
            <a:spLocks xmlns:a="http://schemas.openxmlformats.org/drawingml/2006/main" noGrp="1"/>
          </p:cNvSpPr>
          <p:nvPr/>
        </p:nvSpPr>
        <p:spPr>
          <a:xfrm xmlns:a="http://schemas.openxmlformats.org/drawingml/2006/main">
            <a:off x="8477250" y="46101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03</a:t>
            </a:r>
          </a:p>
        </p:txBody>
      </p:sp>
      <p:sp>
        <p:nvSpPr>
          <p:cNvPr id="8" name="text-658">
            <a:extLst xmlns:a="http://schemas.openxmlformats.org/drawingml/2006/main">
              <a:ext uri="{FF2B5EF4-FFF2-40B4-BE49-F238E27FC236}">
                <a16:creationId xmlns:a16="http://schemas.microsoft.com/office/drawing/2014/main" id="{0B8AE0E0-C07D-45FB-BDB2-28E2F6DE9B8D}"/>
              </a:ext>
            </a:extLst>
          </p:cNvPr>
          <p:cNvSpPr>
            <a:spLocks xmlns:a="http://schemas.openxmlformats.org/drawingml/2006/main" noGrp="1"/>
          </p:cNvSpPr>
          <p:nvPr/>
        </p:nvSpPr>
        <p:spPr>
          <a:xfrm xmlns:a="http://schemas.openxmlformats.org/drawingml/2006/main">
            <a:off x="9172575" y="461010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A repeated import updates one record</a:t>
            </a:r>
          </a:p>
        </p:txBody>
      </p:sp>
      <p:sp>
        <p:nvSpPr>
          <p:cNvPr id="9" name="text-659">
            <a:extLst xmlns:a="http://schemas.openxmlformats.org/drawingml/2006/main">
              <a:ext uri="{FF2B5EF4-FFF2-40B4-BE49-F238E27FC236}">
                <a16:creationId xmlns:a16="http://schemas.microsoft.com/office/drawing/2014/main" id="{289968D4-78F5-4A6D-9950-AB9C79E1A676}"/>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68</a:t>
            </a:r>
          </a:p>
        </p:txBody>
      </p:sp>
    </p:spTree>
    <p:extLst>
      <p:ext uri="{BB962C8B-B14F-4D97-AF65-F5344CB8AC3E}">
        <p14:creationId xmlns:p14="http://schemas.microsoft.com/office/powerpoint/2010/main" val="793451204"/>
      </p:ext>
    </p:extLst>
  </p:cSld>
</p:sld>
</file>

<file path=ppt/slides/slide6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6" name="text-660">
            <a:extLst xmlns:a="http://schemas.openxmlformats.org/drawingml/2006/main">
              <a:ext uri="{FF2B5EF4-FFF2-40B4-BE49-F238E27FC236}">
                <a16:creationId xmlns:a16="http://schemas.microsoft.com/office/drawing/2014/main" id="{550DE8BA-F87B-471E-9215-5C2453278921}"/>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Calendly records keep time and status</a:t>
            </a:r>
          </a:p>
        </p:txBody>
      </p:sp>
      <p:sp>
        <p:nvSpPr>
          <p:cNvPr id="2" name="text-661">
            <a:extLst xmlns:a="http://schemas.openxmlformats.org/drawingml/2006/main">
              <a:ext uri="{FF2B5EF4-FFF2-40B4-BE49-F238E27FC236}">
                <a16:creationId xmlns:a16="http://schemas.microsoft.com/office/drawing/2014/main" id="{26100830-3320-4CF8-A48B-E1C9B4DD6DA6}"/>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662">
            <a:extLst xmlns:a="http://schemas.openxmlformats.org/drawingml/2006/main">
              <a:ext uri="{FF2B5EF4-FFF2-40B4-BE49-F238E27FC236}">
                <a16:creationId xmlns:a16="http://schemas.microsoft.com/office/drawing/2014/main" id="{00812002-E280-43C4-B470-15FAD6C27CC0}"/>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663">
            <a:extLst xmlns:a="http://schemas.openxmlformats.org/drawingml/2006/main">
              <a:ext uri="{FF2B5EF4-FFF2-40B4-BE49-F238E27FC236}">
                <a16:creationId xmlns:a16="http://schemas.microsoft.com/office/drawing/2014/main" id="{4D211D6B-E433-4660-974C-DF98D4520B70}"/>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Read the sample</a:t>
            </a:r>
          </a:p>
        </p:txBody>
      </p:sp>
      <p:sp>
        <p:nvSpPr>
          <p:cNvPr id="5" name="panel-664">
            <a:extLst xmlns:a="http://schemas.openxmlformats.org/drawingml/2006/main">
              <a:ext uri="{FF2B5EF4-FFF2-40B4-BE49-F238E27FC236}">
                <a16:creationId xmlns:a16="http://schemas.microsoft.com/office/drawing/2014/main" id="{B411324C-BAA4-4212-BEEB-980A29178C6E}"/>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665">
            <a:extLst xmlns:a="http://schemas.openxmlformats.org/drawingml/2006/main">
              <a:ext uri="{FF2B5EF4-FFF2-40B4-BE49-F238E27FC236}">
                <a16:creationId xmlns:a16="http://schemas.microsoft.com/office/drawing/2014/main" id="{CB893C95-8500-4CD7-A33B-55012042D3B0}"/>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666">
            <a:extLst xmlns:a="http://schemas.openxmlformats.org/drawingml/2006/main">
              <a:ext uri="{FF2B5EF4-FFF2-40B4-BE49-F238E27FC236}">
                <a16:creationId xmlns:a16="http://schemas.microsoft.com/office/drawing/2014/main" id="{13175D6A-F11E-4C39-AD20-58B4C746ABC9}"/>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667">
            <a:extLst xmlns:a="http://schemas.openxmlformats.org/drawingml/2006/main">
              <a:ext uri="{FF2B5EF4-FFF2-40B4-BE49-F238E27FC236}">
                <a16:creationId xmlns:a16="http://schemas.microsoft.com/office/drawing/2014/main" id="{F26B58A9-24DF-45F6-BCE7-3DEF7A819651}"/>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668">
            <a:extLst xmlns:a="http://schemas.openxmlformats.org/drawingml/2006/main">
              <a:ext uri="{FF2B5EF4-FFF2-40B4-BE49-F238E27FC236}">
                <a16:creationId xmlns:a16="http://schemas.microsoft.com/office/drawing/2014/main" id="{2B9A3717-AAAB-4AF2-82AA-89BEB77BE810}"/>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Keep timezone</a:t>
            </a:r>
          </a:p>
        </p:txBody>
      </p:sp>
      <p:sp>
        <p:nvSpPr>
          <p:cNvPr id="11" name="panel-669">
            <a:extLst xmlns:a="http://schemas.openxmlformats.org/drawingml/2006/main">
              <a:ext uri="{FF2B5EF4-FFF2-40B4-BE49-F238E27FC236}">
                <a16:creationId xmlns:a16="http://schemas.microsoft.com/office/drawing/2014/main" id="{8D17C2AF-9752-4B34-9F53-2F13CB76C6E7}"/>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670">
            <a:extLst xmlns:a="http://schemas.openxmlformats.org/drawingml/2006/main">
              <a:ext uri="{FF2B5EF4-FFF2-40B4-BE49-F238E27FC236}">
                <a16:creationId xmlns:a16="http://schemas.microsoft.com/office/drawing/2014/main" id="{5B019E72-A6A6-40B6-B426-0A5C23584D23}"/>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671">
            <a:extLst xmlns:a="http://schemas.openxmlformats.org/drawingml/2006/main">
              <a:ext uri="{FF2B5EF4-FFF2-40B4-BE49-F238E27FC236}">
                <a16:creationId xmlns:a16="http://schemas.microsoft.com/office/drawing/2014/main" id="{99F8A38A-BE33-436A-8E36-614B83B2247D}"/>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672">
            <a:extLst xmlns:a="http://schemas.openxmlformats.org/drawingml/2006/main">
              <a:ext uri="{FF2B5EF4-FFF2-40B4-BE49-F238E27FC236}">
                <a16:creationId xmlns:a16="http://schemas.microsoft.com/office/drawing/2014/main" id="{BD195F42-50D2-411D-B956-97FE13228A33}"/>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673">
            <a:extLst xmlns:a="http://schemas.openxmlformats.org/drawingml/2006/main">
              <a:ext uri="{FF2B5EF4-FFF2-40B4-BE49-F238E27FC236}">
                <a16:creationId xmlns:a16="http://schemas.microsoft.com/office/drawing/2014/main" id="{9BB87DCF-4E58-45DE-AFF3-64320B4B2C0E}"/>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Keep event ID</a:t>
            </a:r>
          </a:p>
        </p:txBody>
      </p:sp>
      <p:sp>
        <p:nvSpPr>
          <p:cNvPr id="17" name="panel-674">
            <a:extLst xmlns:a="http://schemas.openxmlformats.org/drawingml/2006/main">
              <a:ext uri="{FF2B5EF4-FFF2-40B4-BE49-F238E27FC236}">
                <a16:creationId xmlns:a16="http://schemas.microsoft.com/office/drawing/2014/main" id="{E2E62106-EC74-433B-A214-17CDF9DC706D}"/>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675">
            <a:extLst xmlns:a="http://schemas.openxmlformats.org/drawingml/2006/main">
              <a:ext uri="{FF2B5EF4-FFF2-40B4-BE49-F238E27FC236}">
                <a16:creationId xmlns:a16="http://schemas.microsoft.com/office/drawing/2014/main" id="{5E258FFD-9870-4A8F-AD80-F17D08CF99AF}"/>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676">
            <a:extLst xmlns:a="http://schemas.openxmlformats.org/drawingml/2006/main">
              <a:ext uri="{FF2B5EF4-FFF2-40B4-BE49-F238E27FC236}">
                <a16:creationId xmlns:a16="http://schemas.microsoft.com/office/drawing/2014/main" id="{C152822C-F1C6-4466-9CA4-E5E52559E834}"/>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677">
            <a:extLst xmlns:a="http://schemas.openxmlformats.org/drawingml/2006/main">
              <a:ext uri="{FF2B5EF4-FFF2-40B4-BE49-F238E27FC236}">
                <a16:creationId xmlns:a16="http://schemas.microsoft.com/office/drawing/2014/main" id="{CDFF09AB-06ED-464B-8BC1-A604DB09FE0F}"/>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678">
            <a:extLst xmlns:a="http://schemas.openxmlformats.org/drawingml/2006/main">
              <a:ext uri="{FF2B5EF4-FFF2-40B4-BE49-F238E27FC236}">
                <a16:creationId xmlns:a16="http://schemas.microsoft.com/office/drawing/2014/main" id="{0E8094F8-9DE4-440D-A182-0CF3F9E1D547}"/>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Show next call</a:t>
            </a:r>
          </a:p>
        </p:txBody>
      </p:sp>
      <p:sp>
        <p:nvSpPr>
          <p:cNvPr id="23" name="text-679">
            <a:extLst xmlns:a="http://schemas.openxmlformats.org/drawingml/2006/main">
              <a:ext uri="{FF2B5EF4-FFF2-40B4-BE49-F238E27FC236}">
                <a16:creationId xmlns:a16="http://schemas.microsoft.com/office/drawing/2014/main" id="{B2E7FE77-C382-4EC5-9118-3AA3C60C19E5}"/>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1" i="0">
                <a:solidFill>
                  <a:srgbClr val="1C1C1C"/>
                </a:solidFill>
                <a:latin typeface="Helvetica Neue"/>
                <a:ea typeface="Helvetica Neue"/>
                <a:cs typeface="Helvetica Neue"/>
              </a:rPr>
              <a:t>Classroom source:</a:t>
            </a:r>
            <a:r>
              <a:rPr sz="2250" b="0" i="0">
                <a:solidFill>
                  <a:srgbClr val="1C1C1C"/>
                </a:solidFill>
                <a:latin typeface="Helvetica Neue"/>
                <a:ea typeface="Helvetica Neue"/>
                <a:cs typeface="Helvetica Neue"/>
              </a:rPr>
              <a:t> 01-planning/sample-data/event.json. Canceled events must not become the next call.</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a4dfd8c157cf40a6"/>
          <a:stretch xmlns:a="http://schemas.openxmlformats.org/drawingml/2006/main"/>
        </p:blipFill>
        <p:spPr>
          <a:xfrm xmlns:a="http://schemas.openxmlformats.org/drawingml/2006/main">
            <a:off x="10972800" y="466725"/>
            <a:ext cx="533400" cy="533400"/>
          </a:xfrm>
          <a:prstGeom xmlns:a="http://schemas.openxmlformats.org/drawingml/2006/main" prst="rect">
            <a:avLst/>
          </a:prstGeom>
        </p:spPr>
      </p:pic>
      <p:sp>
        <p:nvSpPr>
          <p:cNvPr id="25" name="text-680">
            <a:extLst xmlns:a="http://schemas.openxmlformats.org/drawingml/2006/main">
              <a:ext uri="{FF2B5EF4-FFF2-40B4-BE49-F238E27FC236}">
                <a16:creationId xmlns:a16="http://schemas.microsoft.com/office/drawing/2014/main" id="{2E20850C-65EF-4EAF-B645-DFBD654C915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69</a:t>
            </a:r>
          </a:p>
        </p:txBody>
      </p:sp>
    </p:spTree>
    <p:extLst>
      <p:ext uri="{BB962C8B-B14F-4D97-AF65-F5344CB8AC3E}">
        <p14:creationId xmlns:p14="http://schemas.microsoft.com/office/powerpoint/2010/main" val="1448639689"/>
      </p:ext>
    </p:extLst>
  </p:cSld>
</p:sld>
</file>

<file path=ppt/slides/slide7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681">
            <a:extLst xmlns:a="http://schemas.openxmlformats.org/drawingml/2006/main">
              <a:ext uri="{FF2B5EF4-FFF2-40B4-BE49-F238E27FC236}">
                <a16:creationId xmlns:a16="http://schemas.microsoft.com/office/drawing/2014/main" id="{FB8E7699-16E3-4AFA-B18A-DC4B21D82323}"/>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upcoming-call check</a:t>
            </a:r>
          </a:p>
        </p:txBody>
      </p:sp>
      <p:sp>
        <p:nvSpPr>
          <p:cNvPr id="2" name="panel-682">
            <a:extLst xmlns:a="http://schemas.openxmlformats.org/drawingml/2006/main">
              <a:ext uri="{FF2B5EF4-FFF2-40B4-BE49-F238E27FC236}">
                <a16:creationId xmlns:a16="http://schemas.microsoft.com/office/drawing/2014/main" id="{85803217-2BC8-4502-83B9-050535CD223D}"/>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683">
            <a:extLst xmlns:a="http://schemas.openxmlformats.org/drawingml/2006/main">
              <a:ext uri="{FF2B5EF4-FFF2-40B4-BE49-F238E27FC236}">
                <a16:creationId xmlns:a16="http://schemas.microsoft.com/office/drawing/2014/main" id="{54F0ACF0-F8AC-4E09-8FF5-6834098E6B9A}"/>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684">
            <a:extLst xmlns:a="http://schemas.openxmlformats.org/drawingml/2006/main">
              <a:ext uri="{FF2B5EF4-FFF2-40B4-BE49-F238E27FC236}">
                <a16:creationId xmlns:a16="http://schemas.microsoft.com/office/drawing/2014/main" id="{FC948753-6FD7-45AC-8880-DD0E89361A2C}"/>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Import the fictional event in 01-planning/sample-data/event.json for Northstar. Compare its source ID, timezone and status with the upcoming-call card. Explain why a scheduled call does not create an agreed task deadline.</a:t>
            </a:r>
          </a:p>
        </p:txBody>
      </p:sp>
      <p:sp>
        <p:nvSpPr>
          <p:cNvPr id="5" name="panel-685">
            <a:extLst xmlns:a="http://schemas.openxmlformats.org/drawingml/2006/main">
              <a:ext uri="{FF2B5EF4-FFF2-40B4-BE49-F238E27FC236}">
                <a16:creationId xmlns:a16="http://schemas.microsoft.com/office/drawing/2014/main" id="{38AABB97-D270-4B8B-A8BD-642BFFA17E86}"/>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686">
            <a:extLst xmlns:a="http://schemas.openxmlformats.org/drawingml/2006/main">
              <a:ext uri="{FF2B5EF4-FFF2-40B4-BE49-F238E27FC236}">
                <a16:creationId xmlns:a16="http://schemas.microsoft.com/office/drawing/2014/main" id="{6D7BF02F-25F1-4F66-BED6-AEBC7E8312B6}"/>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Two records with different meanings</a:t>
            </a:r>
          </a:p>
        </p:txBody>
      </p:sp>
      <p:sp>
        <p:nvSpPr>
          <p:cNvPr id="7" name="text-687">
            <a:extLst xmlns:a="http://schemas.openxmlformats.org/drawingml/2006/main">
              <a:ext uri="{FF2B5EF4-FFF2-40B4-BE49-F238E27FC236}">
                <a16:creationId xmlns:a16="http://schemas.microsoft.com/office/drawing/2014/main" id="{BDCDF9B3-64E7-4EF4-ABB6-A28092BE81C2}"/>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Meeting:</a:t>
            </a:r>
            <a:r>
              <a:rPr sz="2025" b="0" i="0">
                <a:solidFill>
                  <a:srgbClr val="1C1C1C"/>
                </a:solidFill>
                <a:latin typeface="Helvetica Neue"/>
                <a:ea typeface="Helvetica Neue"/>
                <a:cs typeface="Helvetica Neue"/>
              </a:rPr>
              <a:t> Maya requested a checklist.</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The meeting did not agree a deadline.</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Event:</a:t>
            </a:r>
            <a:r>
              <a:rPr sz="2025" b="0" i="0">
                <a:solidFill>
                  <a:srgbClr val="1C1C1C"/>
                </a:solidFill>
                <a:latin typeface="Helvetica Neue"/>
                <a:ea typeface="Helvetica Neue"/>
                <a:cs typeface="Helvetica Neue"/>
              </a:rPr>
              <a:t> Northstar has a next call.</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The event keeps its own time and timezone.</a:t>
            </a:r>
          </a:p>
        </p:txBody>
      </p:sp>
      <p:sp>
        <p:nvSpPr>
          <p:cNvPr id="8" name="text-688">
            <a:extLst xmlns:a="http://schemas.openxmlformats.org/drawingml/2006/main">
              <a:ext uri="{FF2B5EF4-FFF2-40B4-BE49-F238E27FC236}">
                <a16:creationId xmlns:a16="http://schemas.microsoft.com/office/drawing/2014/main" id="{86EF7502-F725-40CA-8816-0E498CDAD6D3}"/>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A calendar entry is useful context, not proof of a commitment.</a:t>
            </a:r>
          </a:p>
        </p:txBody>
      </p:sp>
      <p:sp>
        <p:nvSpPr>
          <p:cNvPr id="9" name="text-689">
            <a:extLst xmlns:a="http://schemas.openxmlformats.org/drawingml/2006/main">
              <a:ext uri="{FF2B5EF4-FFF2-40B4-BE49-F238E27FC236}">
                <a16:creationId xmlns:a16="http://schemas.microsoft.com/office/drawing/2014/main" id="{013E14AE-94FD-484F-A95C-318B5807CFC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70</a:t>
            </a:r>
          </a:p>
        </p:txBody>
      </p:sp>
    </p:spTree>
    <p:extLst>
      <p:ext uri="{BB962C8B-B14F-4D97-AF65-F5344CB8AC3E}">
        <p14:creationId xmlns:p14="http://schemas.microsoft.com/office/powerpoint/2010/main" val="850892694"/>
      </p:ext>
    </p:extLst>
  </p:cSld>
</p:sld>
</file>

<file path=ppt/slides/slide7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690">
            <a:extLst xmlns:a="http://schemas.openxmlformats.org/drawingml/2006/main">
              <a:ext uri="{FF2B5EF4-FFF2-40B4-BE49-F238E27FC236}">
                <a16:creationId xmlns:a16="http://schemas.microsoft.com/office/drawing/2014/main" id="{D2C8E69E-D0ED-4FFD-8115-32C891AC2FD0}"/>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Supabase: records and identity</a:t>
            </a:r>
          </a:p>
        </p:txBody>
      </p:sp>
      <p:sp>
        <p:nvSpPr>
          <p:cNvPr id="2" name="panel-691">
            <a:extLst xmlns:a="http://schemas.openxmlformats.org/drawingml/2006/main">
              <a:ext uri="{FF2B5EF4-FFF2-40B4-BE49-F238E27FC236}">
                <a16:creationId xmlns:a16="http://schemas.microsoft.com/office/drawing/2014/main" id="{0E103851-7756-4F5C-8A93-9D5AF378A8DC}"/>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692">
            <a:extLst xmlns:a="http://schemas.openxmlformats.org/drawingml/2006/main">
              <a:ext uri="{FF2B5EF4-FFF2-40B4-BE49-F238E27FC236}">
                <a16:creationId xmlns:a16="http://schemas.microsoft.com/office/drawing/2014/main" id="{E72D0D21-CCAF-479A-9B8F-81764CDC5962}"/>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693">
            <a:extLst xmlns:a="http://schemas.openxmlformats.org/drawingml/2006/main">
              <a:ext uri="{FF2B5EF4-FFF2-40B4-BE49-F238E27FC236}">
                <a16:creationId xmlns:a16="http://schemas.microsoft.com/office/drawing/2014/main" id="{3885F362-D35D-44D7-97C4-445A84D3CD2F}"/>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This release</a:t>
            </a:r>
          </a:p>
        </p:txBody>
      </p:sp>
      <p:sp>
        <p:nvSpPr>
          <p:cNvPr id="5" name="text-694">
            <a:extLst xmlns:a="http://schemas.openxmlformats.org/drawingml/2006/main">
              <a:ext uri="{FF2B5EF4-FFF2-40B4-BE49-F238E27FC236}">
                <a16:creationId xmlns:a16="http://schemas.microsoft.com/office/drawing/2014/main" id="{879E08D4-79CD-4F0D-B909-DEA4B48E3FD2}"/>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 visitor gets a practice identity.</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Their records stay in their workspace.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Saved records survive app restarts.</a:t>
            </a:r>
          </a:p>
        </p:txBody>
      </p:sp>
      <p:sp>
        <p:nvSpPr>
          <p:cNvPr id="6" name="text-695">
            <a:extLst xmlns:a="http://schemas.openxmlformats.org/drawingml/2006/main">
              <a:ext uri="{FF2B5EF4-FFF2-40B4-BE49-F238E27FC236}">
                <a16:creationId xmlns:a16="http://schemas.microsoft.com/office/drawing/2014/main" id="{2C2E7D68-DCDD-4851-A29E-E32690116323}"/>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A later product decision</a:t>
            </a:r>
          </a:p>
        </p:txBody>
      </p:sp>
      <p:sp>
        <p:nvSpPr>
          <p:cNvPr id="7" name="text-696">
            <a:extLst xmlns:a="http://schemas.openxmlformats.org/drawingml/2006/main">
              <a:ext uri="{FF2B5EF4-FFF2-40B4-BE49-F238E27FC236}">
                <a16:creationId xmlns:a16="http://schemas.microsoft.com/office/drawing/2014/main" id="{BA069090-6F8A-40C1-8C99-0741CD80C607}"/>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Named accounts and recovery</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Shared team workspaces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Invitations and permissions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b8e8dd9128e4f51"/>
          <a:stretch xmlns:a="http://schemas.openxmlformats.org/drawingml/2006/main"/>
        </p:blipFill>
        <p:spPr>
          <a:xfrm xmlns:a="http://schemas.openxmlformats.org/drawingml/2006/main">
            <a:off x="10982233" y="466725"/>
            <a:ext cx="514534" cy="533400"/>
          </a:xfrm>
          <a:prstGeom xmlns:a="http://schemas.openxmlformats.org/drawingml/2006/main" prst="rect">
            <a:avLst/>
          </a:prstGeom>
        </p:spPr>
      </p:pic>
      <p:sp>
        <p:nvSpPr>
          <p:cNvPr id="9" name="text-697">
            <a:extLst xmlns:a="http://schemas.openxmlformats.org/drawingml/2006/main">
              <a:ext uri="{FF2B5EF4-FFF2-40B4-BE49-F238E27FC236}">
                <a16:creationId xmlns:a16="http://schemas.microsoft.com/office/drawing/2014/main" id="{1B20B7DE-5547-4885-BEF2-F727D5BEAD5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71</a:t>
            </a:r>
          </a:p>
        </p:txBody>
      </p:sp>
    </p:spTree>
    <p:extLst>
      <p:ext uri="{BB962C8B-B14F-4D97-AF65-F5344CB8AC3E}">
        <p14:creationId xmlns:p14="http://schemas.microsoft.com/office/powerpoint/2010/main" val="1576921201"/>
      </p:ext>
    </p:extLst>
  </p:cSld>
</p:sld>
</file>

<file path=ppt/slides/slide7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698">
            <a:extLst xmlns:a="http://schemas.openxmlformats.org/drawingml/2006/main">
              <a:ext uri="{FF2B5EF4-FFF2-40B4-BE49-F238E27FC236}">
                <a16:creationId xmlns:a16="http://schemas.microsoft.com/office/drawing/2014/main" id="{CBFEC524-1673-47D6-B341-EBC2D870B61A}"/>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Local storage and hosted storage</a:t>
            </a:r>
          </a:p>
        </p:txBody>
      </p:sp>
      <p:sp>
        <p:nvSpPr>
          <p:cNvPr id="2" name="panel-699">
            <a:extLst xmlns:a="http://schemas.openxmlformats.org/drawingml/2006/main">
              <a:ext uri="{FF2B5EF4-FFF2-40B4-BE49-F238E27FC236}">
                <a16:creationId xmlns:a16="http://schemas.microsoft.com/office/drawing/2014/main" id="{DCE81746-9811-4758-823A-A484C4CE0703}"/>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700">
            <a:extLst xmlns:a="http://schemas.openxmlformats.org/drawingml/2006/main">
              <a:ext uri="{FF2B5EF4-FFF2-40B4-BE49-F238E27FC236}">
                <a16:creationId xmlns:a16="http://schemas.microsoft.com/office/drawing/2014/main" id="{C84D65D3-A787-4E1F-A673-53B6FEECD0D6}"/>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701">
            <a:extLst xmlns:a="http://schemas.openxmlformats.org/drawingml/2006/main">
              <a:ext uri="{FF2B5EF4-FFF2-40B4-BE49-F238E27FC236}">
                <a16:creationId xmlns:a16="http://schemas.microsoft.com/office/drawing/2014/main" id="{D2543A33-BD4C-4165-A0F6-9147989B3071}"/>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On your computer</a:t>
            </a:r>
          </a:p>
        </p:txBody>
      </p:sp>
      <p:sp>
        <p:nvSpPr>
          <p:cNvPr id="5" name="text-702">
            <a:extLst xmlns:a="http://schemas.openxmlformats.org/drawingml/2006/main">
              <a:ext uri="{FF2B5EF4-FFF2-40B4-BE49-F238E27FC236}">
                <a16:creationId xmlns:a16="http://schemas.microsoft.com/office/drawing/2014/main" id="{5C274D97-E6BC-419F-B6EE-DEEF6D6F4D2C}"/>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SQLite saves to a local file.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No database account is needed.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Use fictional records to practice.</a:t>
            </a:r>
          </a:p>
        </p:txBody>
      </p:sp>
      <p:sp>
        <p:nvSpPr>
          <p:cNvPr id="6" name="text-703">
            <a:extLst xmlns:a="http://schemas.openxmlformats.org/drawingml/2006/main">
              <a:ext uri="{FF2B5EF4-FFF2-40B4-BE49-F238E27FC236}">
                <a16:creationId xmlns:a16="http://schemas.microsoft.com/office/drawing/2014/main" id="{469CA67F-28C5-4D49-94CD-BD500F316ACD}"/>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On the hosted app</a:t>
            </a:r>
          </a:p>
        </p:txBody>
      </p:sp>
      <p:sp>
        <p:nvSpPr>
          <p:cNvPr id="7" name="text-704">
            <a:extLst xmlns:a="http://schemas.openxmlformats.org/drawingml/2006/main">
              <a:ext uri="{FF2B5EF4-FFF2-40B4-BE49-F238E27FC236}">
                <a16:creationId xmlns:a16="http://schemas.microsoft.com/office/drawing/2014/main" id="{3416902E-5798-4503-AF81-506B609B7531}"/>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Supabase saves records online.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Each visitor has an identity.</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Access rules separate workspaces.</a:t>
            </a:r>
          </a:p>
        </p:txBody>
      </p:sp>
      <p:sp>
        <p:nvSpPr>
          <p:cNvPr id="8" name="text-705">
            <a:extLst xmlns:a="http://schemas.openxmlformats.org/drawingml/2006/main">
              <a:ext uri="{FF2B5EF4-FFF2-40B4-BE49-F238E27FC236}">
                <a16:creationId xmlns:a16="http://schemas.microsoft.com/office/drawing/2014/main" id="{9AECEBE7-564B-4B53-BCB1-A73CBEE4346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72</a:t>
            </a:r>
          </a:p>
        </p:txBody>
      </p:sp>
    </p:spTree>
    <p:extLst>
      <p:ext uri="{BB962C8B-B14F-4D97-AF65-F5344CB8AC3E}">
        <p14:creationId xmlns:p14="http://schemas.microsoft.com/office/powerpoint/2010/main" val="229825733"/>
      </p:ext>
    </p:extLst>
  </p:cSld>
</p:sld>
</file>

<file path=ppt/slides/slide7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706">
            <a:extLst xmlns:a="http://schemas.openxmlformats.org/drawingml/2006/main">
              <a:ext uri="{FF2B5EF4-FFF2-40B4-BE49-F238E27FC236}">
                <a16:creationId xmlns:a16="http://schemas.microsoft.com/office/drawing/2014/main" id="{09EF5ED2-6081-4D96-9332-EBFC1C30A3A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Create your Supabase project</a:t>
            </a:r>
          </a:p>
        </p:txBody>
      </p:sp>
      <p:sp>
        <p:nvSpPr>
          <p:cNvPr id="2" name="panel-707">
            <a:extLst xmlns:a="http://schemas.openxmlformats.org/drawingml/2006/main">
              <a:ext uri="{FF2B5EF4-FFF2-40B4-BE49-F238E27FC236}">
                <a16:creationId xmlns:a16="http://schemas.microsoft.com/office/drawing/2014/main" id="{57FB1951-E1AA-4193-BD68-1BF119FFD39F}"/>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708">
            <a:extLst xmlns:a="http://schemas.openxmlformats.org/drawingml/2006/main">
              <a:ext uri="{FF2B5EF4-FFF2-40B4-BE49-F238E27FC236}">
                <a16:creationId xmlns:a16="http://schemas.microsoft.com/office/drawing/2014/main" id="{E15CC4B8-0498-4669-B4D1-E4B065DE9456}"/>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709">
            <a:extLst xmlns:a="http://schemas.openxmlformats.org/drawingml/2006/main">
              <a:ext uri="{FF2B5EF4-FFF2-40B4-BE49-F238E27FC236}">
                <a16:creationId xmlns:a16="http://schemas.microsoft.com/office/drawing/2014/main" id="{1AF383B7-E44A-474C-9412-C31CFD77CE0D}"/>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710">
            <a:extLst xmlns:a="http://schemas.openxmlformats.org/drawingml/2006/main">
              <a:ext uri="{FF2B5EF4-FFF2-40B4-BE49-F238E27FC236}">
                <a16:creationId xmlns:a16="http://schemas.microsoft.com/office/drawing/2014/main" id="{70779D61-CCE0-4816-BD44-0B7D0B61E50F}"/>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711">
            <a:extLst xmlns:a="http://schemas.openxmlformats.org/drawingml/2006/main">
              <a:ext uri="{FF2B5EF4-FFF2-40B4-BE49-F238E27FC236}">
                <a16:creationId xmlns:a16="http://schemas.microsoft.com/office/drawing/2014/main" id="{68C1778B-6978-48DB-A382-14E28C811583}"/>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 me create a dedicated Supabase project for this fictional CRM. Apply both SQL migration files from the app’s supabase/migrations folder in filename order. Enable anonymous sign-ins. Verify that two visitor identities cannot read or change each other’s workspace.</a:t>
            </a:r>
          </a:p>
        </p:txBody>
      </p:sp>
      <p:sp>
        <p:nvSpPr>
          <p:cNvPr id="7" name="text-712">
            <a:extLst xmlns:a="http://schemas.openxmlformats.org/drawingml/2006/main">
              <a:ext uri="{FF2B5EF4-FFF2-40B4-BE49-F238E27FC236}">
                <a16:creationId xmlns:a16="http://schemas.microsoft.com/office/drawing/2014/main" id="{AAEABBE0-6E9D-4C43-9566-E091331BC7CE}"/>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Order:</a:t>
            </a:r>
            <a:r>
              <a:rPr sz="1875" b="0" i="0">
                <a:solidFill>
                  <a:srgbClr val="1C1C1C"/>
                </a:solidFill>
                <a:latin typeface="Helvetica Neue"/>
                <a:ea typeface="Helvetica Neue"/>
                <a:cs typeface="Helvetica Neue"/>
              </a:rPr>
              <a:t> applies the recorded database setup.</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Isolation:</a:t>
            </a:r>
            <a:r>
              <a:rPr sz="1875" b="0" i="0">
                <a:solidFill>
                  <a:srgbClr val="1C1C1C"/>
                </a:solidFill>
                <a:latin typeface="Helvetica Neue"/>
                <a:ea typeface="Helvetica Neue"/>
                <a:cs typeface="Helvetica Neue"/>
              </a:rPr>
              <a:t> checks who can access records.</a:t>
            </a:r>
          </a:p>
        </p:txBody>
      </p:sp>
      <p:sp>
        <p:nvSpPr>
          <p:cNvPr id="8" name="panel-713">
            <a:extLst xmlns:a="http://schemas.openxmlformats.org/drawingml/2006/main">
              <a:ext uri="{FF2B5EF4-FFF2-40B4-BE49-F238E27FC236}">
                <a16:creationId xmlns:a16="http://schemas.microsoft.com/office/drawing/2014/main" id="{D176CB59-1B4D-4152-B009-3F2FAE2A5F85}"/>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714">
            <a:extLst xmlns:a="http://schemas.openxmlformats.org/drawingml/2006/main">
              <a:ext uri="{FF2B5EF4-FFF2-40B4-BE49-F238E27FC236}">
                <a16:creationId xmlns:a16="http://schemas.microsoft.com/office/drawing/2014/main" id="{A537E44B-E43E-4594-AE36-8BE88B74EDDB}"/>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Both migrations succeed and the two-identity access check passes.</a:t>
            </a:r>
          </a:p>
        </p:txBody>
      </p:sp>
      <p:sp>
        <p:nvSpPr>
          <p:cNvPr id="10" name="text-715">
            <a:extLst xmlns:a="http://schemas.openxmlformats.org/drawingml/2006/main">
              <a:ext uri="{FF2B5EF4-FFF2-40B4-BE49-F238E27FC236}">
                <a16:creationId xmlns:a16="http://schemas.microsoft.com/office/drawing/2014/main" id="{37AB6381-A6B7-4F16-BA76-2C0B8F75003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73</a:t>
            </a:r>
          </a:p>
        </p:txBody>
      </p:sp>
    </p:spTree>
    <p:extLst>
      <p:ext uri="{BB962C8B-B14F-4D97-AF65-F5344CB8AC3E}">
        <p14:creationId xmlns:p14="http://schemas.microsoft.com/office/powerpoint/2010/main" val="1345218048"/>
      </p:ext>
    </p:extLst>
  </p:cSld>
</p:sld>
</file>

<file path=ppt/slides/slide7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716">
            <a:extLst xmlns:a="http://schemas.openxmlformats.org/drawingml/2006/main">
              <a:ext uri="{FF2B5EF4-FFF2-40B4-BE49-F238E27FC236}">
                <a16:creationId xmlns:a16="http://schemas.microsoft.com/office/drawing/2014/main" id="{70EC0202-522D-4662-81CD-8A27CBFE480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Ask for an access check in plain English</a:t>
            </a:r>
          </a:p>
        </p:txBody>
      </p:sp>
      <p:sp>
        <p:nvSpPr>
          <p:cNvPr id="2" name="panel-717">
            <a:extLst xmlns:a="http://schemas.openxmlformats.org/drawingml/2006/main">
              <a:ext uri="{FF2B5EF4-FFF2-40B4-BE49-F238E27FC236}">
                <a16:creationId xmlns:a16="http://schemas.microsoft.com/office/drawing/2014/main" id="{D36EA2E5-4D63-402D-ABAA-84FF9D54FD23}"/>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718">
            <a:extLst xmlns:a="http://schemas.openxmlformats.org/drawingml/2006/main">
              <a:ext uri="{FF2B5EF4-FFF2-40B4-BE49-F238E27FC236}">
                <a16:creationId xmlns:a16="http://schemas.microsoft.com/office/drawing/2014/main" id="{CF2DBB96-03CA-44B8-B35D-CDBAB4575C0A}"/>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719">
            <a:extLst xmlns:a="http://schemas.openxmlformats.org/drawingml/2006/main">
              <a:ext uri="{FF2B5EF4-FFF2-40B4-BE49-F238E27FC236}">
                <a16:creationId xmlns:a16="http://schemas.microsoft.com/office/drawing/2014/main" id="{8DC09644-0984-4404-A504-061536A0185B}"/>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720">
            <a:extLst xmlns:a="http://schemas.openxmlformats.org/drawingml/2006/main">
              <a:ext uri="{FF2B5EF4-FFF2-40B4-BE49-F238E27FC236}">
                <a16:creationId xmlns:a16="http://schemas.microsoft.com/office/drawing/2014/main" id="{E652AC31-F20A-47C0-AEA6-ECA594CE5AF8}"/>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721">
            <a:extLst xmlns:a="http://schemas.openxmlformats.org/drawingml/2006/main">
              <a:ext uri="{FF2B5EF4-FFF2-40B4-BE49-F238E27FC236}">
                <a16:creationId xmlns:a16="http://schemas.microsoft.com/office/drawing/2014/main" id="{D2CD8708-FA38-40CC-A352-DC38C4EC7DCE}"/>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Read the existing access tests. Run the documented check with two isolated practice identities. Show that one can access its records and the other cannot. Explain the enforced boundary and any untested deployment condition.</a:t>
            </a:r>
          </a:p>
        </p:txBody>
      </p:sp>
      <p:sp>
        <p:nvSpPr>
          <p:cNvPr id="7" name="text-722">
            <a:extLst xmlns:a="http://schemas.openxmlformats.org/drawingml/2006/main">
              <a:ext uri="{FF2B5EF4-FFF2-40B4-BE49-F238E27FC236}">
                <a16:creationId xmlns:a16="http://schemas.microsoft.com/office/drawing/2014/main" id="{82F3FF18-334F-4B1A-83B2-A3446264ACA1}"/>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Enforcement:</a:t>
            </a:r>
            <a:r>
              <a:rPr sz="1875" b="0" i="0">
                <a:solidFill>
                  <a:srgbClr val="1C1C1C"/>
                </a:solidFill>
                <a:latin typeface="Helvetica Neue"/>
                <a:ea typeface="Helvetica Neue"/>
                <a:cs typeface="Helvetica Neue"/>
              </a:rPr>
              <a:t> tests the actual data boundary.</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Contrast:</a:t>
            </a:r>
            <a:r>
              <a:rPr sz="1875" b="0" i="0">
                <a:solidFill>
                  <a:srgbClr val="1C1C1C"/>
                </a:solidFill>
                <a:latin typeface="Helvetica Neue"/>
                <a:ea typeface="Helvetica Neue"/>
                <a:cs typeface="Helvetica Neue"/>
              </a:rPr>
              <a:t> one allowed and one denied case prove different things.</a:t>
            </a:r>
          </a:p>
        </p:txBody>
      </p:sp>
      <p:sp>
        <p:nvSpPr>
          <p:cNvPr id="8" name="panel-723">
            <a:extLst xmlns:a="http://schemas.openxmlformats.org/drawingml/2006/main">
              <a:ext uri="{FF2B5EF4-FFF2-40B4-BE49-F238E27FC236}">
                <a16:creationId xmlns:a16="http://schemas.microsoft.com/office/drawing/2014/main" id="{C784E5D2-1CD2-4B1B-A806-C52F6884EB6A}"/>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724">
            <a:extLst xmlns:a="http://schemas.openxmlformats.org/drawingml/2006/main">
              <a:ext uri="{FF2B5EF4-FFF2-40B4-BE49-F238E27FC236}">
                <a16:creationId xmlns:a16="http://schemas.microsoft.com/office/drawing/2014/main" id="{ACECBB30-27FC-4D73-B034-B65383373CCF}"/>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Allowed and denied results are visible. Distinguish local repository tests from database-policy tests.</a:t>
            </a:r>
          </a:p>
        </p:txBody>
      </p:sp>
      <p:sp>
        <p:nvSpPr>
          <p:cNvPr id="10" name="text-725">
            <a:extLst xmlns:a="http://schemas.openxmlformats.org/drawingml/2006/main">
              <a:ext uri="{FF2B5EF4-FFF2-40B4-BE49-F238E27FC236}">
                <a16:creationId xmlns:a16="http://schemas.microsoft.com/office/drawing/2014/main" id="{9E27F2D5-9F8F-46FC-B504-AA13A98D01C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74</a:t>
            </a:r>
          </a:p>
        </p:txBody>
      </p:sp>
    </p:spTree>
    <p:extLst>
      <p:ext uri="{BB962C8B-B14F-4D97-AF65-F5344CB8AC3E}">
        <p14:creationId xmlns:p14="http://schemas.microsoft.com/office/powerpoint/2010/main" val="1559867650"/>
      </p:ext>
    </p:extLst>
  </p:cSld>
</p:sld>
</file>

<file path=ppt/slides/slide7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5" name="text-726">
            <a:extLst xmlns:a="http://schemas.openxmlformats.org/drawingml/2006/main">
              <a:ext uri="{FF2B5EF4-FFF2-40B4-BE49-F238E27FC236}">
                <a16:creationId xmlns:a16="http://schemas.microsoft.com/office/drawing/2014/main" id="{D1DFA849-29C3-4828-91F9-BFDC996BA16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repeatable connection check</a:t>
            </a:r>
          </a:p>
        </p:txBody>
      </p:sp>
      <p:sp>
        <p:nvSpPr>
          <p:cNvPr id="2" name="text-727">
            <a:extLst xmlns:a="http://schemas.openxmlformats.org/drawingml/2006/main">
              <a:ext uri="{FF2B5EF4-FFF2-40B4-BE49-F238E27FC236}">
                <a16:creationId xmlns:a16="http://schemas.microsoft.com/office/drawing/2014/main" id="{26633938-8176-40CF-A49B-F717EFD20CDA}"/>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728">
            <a:extLst xmlns:a="http://schemas.openxmlformats.org/drawingml/2006/main">
              <a:ext uri="{FF2B5EF4-FFF2-40B4-BE49-F238E27FC236}">
                <a16:creationId xmlns:a16="http://schemas.microsoft.com/office/drawing/2014/main" id="{F61B3856-D097-4AC3-BDE0-530EE2C7377A}"/>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729">
            <a:extLst xmlns:a="http://schemas.openxmlformats.org/drawingml/2006/main">
              <a:ext uri="{FF2B5EF4-FFF2-40B4-BE49-F238E27FC236}">
                <a16:creationId xmlns:a16="http://schemas.microsoft.com/office/drawing/2014/main" id="{DD000192-28E3-47D8-BB37-4E23DB6921CC}"/>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Name the workspace</a:t>
            </a:r>
          </a:p>
        </p:txBody>
      </p:sp>
      <p:sp>
        <p:nvSpPr>
          <p:cNvPr id="5" name="panel-730">
            <a:extLst xmlns:a="http://schemas.openxmlformats.org/drawingml/2006/main">
              <a:ext uri="{FF2B5EF4-FFF2-40B4-BE49-F238E27FC236}">
                <a16:creationId xmlns:a16="http://schemas.microsoft.com/office/drawing/2014/main" id="{65B43E14-FAF7-4932-B175-DDF8680112D6}"/>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731">
            <a:extLst xmlns:a="http://schemas.openxmlformats.org/drawingml/2006/main">
              <a:ext uri="{FF2B5EF4-FFF2-40B4-BE49-F238E27FC236}">
                <a16:creationId xmlns:a16="http://schemas.microsoft.com/office/drawing/2014/main" id="{52AE09AA-4FBF-4459-B8E7-28DA88CB2AE5}"/>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732">
            <a:extLst xmlns:a="http://schemas.openxmlformats.org/drawingml/2006/main">
              <a:ext uri="{FF2B5EF4-FFF2-40B4-BE49-F238E27FC236}">
                <a16:creationId xmlns:a16="http://schemas.microsoft.com/office/drawing/2014/main" id="{A7ABA9FA-7F33-41D8-B6FC-8FB567ED3733}"/>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733">
            <a:extLst xmlns:a="http://schemas.openxmlformats.org/drawingml/2006/main">
              <a:ext uri="{FF2B5EF4-FFF2-40B4-BE49-F238E27FC236}">
                <a16:creationId xmlns:a16="http://schemas.microsoft.com/office/drawing/2014/main" id="{DF5A15EF-3B30-4397-98CC-0529342A8519}"/>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734">
            <a:extLst xmlns:a="http://schemas.openxmlformats.org/drawingml/2006/main">
              <a:ext uri="{FF2B5EF4-FFF2-40B4-BE49-F238E27FC236}">
                <a16:creationId xmlns:a16="http://schemas.microsoft.com/office/drawing/2014/main" id="{5622A994-DF69-4C08-BCF6-1D040C67E678}"/>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Read one record</a:t>
            </a:r>
          </a:p>
        </p:txBody>
      </p:sp>
      <p:sp>
        <p:nvSpPr>
          <p:cNvPr id="11" name="panel-735">
            <a:extLst xmlns:a="http://schemas.openxmlformats.org/drawingml/2006/main">
              <a:ext uri="{FF2B5EF4-FFF2-40B4-BE49-F238E27FC236}">
                <a16:creationId xmlns:a16="http://schemas.microsoft.com/office/drawing/2014/main" id="{2B373325-1E82-4F23-8246-9E3EE59C12E9}"/>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736">
            <a:extLst xmlns:a="http://schemas.openxmlformats.org/drawingml/2006/main">
              <a:ext uri="{FF2B5EF4-FFF2-40B4-BE49-F238E27FC236}">
                <a16:creationId xmlns:a16="http://schemas.microsoft.com/office/drawing/2014/main" id="{F3F39073-9990-4F44-977D-6DA863AD5213}"/>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737">
            <a:extLst xmlns:a="http://schemas.openxmlformats.org/drawingml/2006/main">
              <a:ext uri="{FF2B5EF4-FFF2-40B4-BE49-F238E27FC236}">
                <a16:creationId xmlns:a16="http://schemas.microsoft.com/office/drawing/2014/main" id="{F4C16ED6-A5E3-4EB2-B39F-2E42028AF104}"/>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738">
            <a:extLst xmlns:a="http://schemas.openxmlformats.org/drawingml/2006/main">
              <a:ext uri="{FF2B5EF4-FFF2-40B4-BE49-F238E27FC236}">
                <a16:creationId xmlns:a16="http://schemas.microsoft.com/office/drawing/2014/main" id="{650FA930-0A97-4094-80A4-A96837E27FA4}"/>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739">
            <a:extLst xmlns:a="http://schemas.openxmlformats.org/drawingml/2006/main">
              <a:ext uri="{FF2B5EF4-FFF2-40B4-BE49-F238E27FC236}">
                <a16:creationId xmlns:a16="http://schemas.microsoft.com/office/drawing/2014/main" id="{98FE8396-6D2D-464A-87DC-7E9FCD27B5C7}"/>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Compare fields</a:t>
            </a:r>
          </a:p>
        </p:txBody>
      </p:sp>
      <p:sp>
        <p:nvSpPr>
          <p:cNvPr id="17" name="panel-740">
            <a:extLst xmlns:a="http://schemas.openxmlformats.org/drawingml/2006/main">
              <a:ext uri="{FF2B5EF4-FFF2-40B4-BE49-F238E27FC236}">
                <a16:creationId xmlns:a16="http://schemas.microsoft.com/office/drawing/2014/main" id="{C3584360-1E56-428B-9F3B-D23522DE8D7B}"/>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741">
            <a:extLst xmlns:a="http://schemas.openxmlformats.org/drawingml/2006/main">
              <a:ext uri="{FF2B5EF4-FFF2-40B4-BE49-F238E27FC236}">
                <a16:creationId xmlns:a16="http://schemas.microsoft.com/office/drawing/2014/main" id="{41751F80-182B-4763-A1BD-C94C69937F9C}"/>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742">
            <a:extLst xmlns:a="http://schemas.openxmlformats.org/drawingml/2006/main">
              <a:ext uri="{FF2B5EF4-FFF2-40B4-BE49-F238E27FC236}">
                <a16:creationId xmlns:a16="http://schemas.microsoft.com/office/drawing/2014/main" id="{0D0BFA30-35CE-45A4-BADF-87914A441D05}"/>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743">
            <a:extLst xmlns:a="http://schemas.openxmlformats.org/drawingml/2006/main">
              <a:ext uri="{FF2B5EF4-FFF2-40B4-BE49-F238E27FC236}">
                <a16:creationId xmlns:a16="http://schemas.microsoft.com/office/drawing/2014/main" id="{431FC35E-D3AE-41E7-9A0D-BC13081C0247}"/>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744">
            <a:extLst xmlns:a="http://schemas.openxmlformats.org/drawingml/2006/main">
              <a:ext uri="{FF2B5EF4-FFF2-40B4-BE49-F238E27FC236}">
                <a16:creationId xmlns:a16="http://schemas.microsoft.com/office/drawing/2014/main" id="{7AC2B1EE-BECF-4B3D-9295-67653DDEE097}"/>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Inspect the screen</a:t>
            </a:r>
          </a:p>
        </p:txBody>
      </p:sp>
      <p:sp>
        <p:nvSpPr>
          <p:cNvPr id="23" name="text-745">
            <a:extLst xmlns:a="http://schemas.openxmlformats.org/drawingml/2006/main">
              <a:ext uri="{FF2B5EF4-FFF2-40B4-BE49-F238E27FC236}">
                <a16:creationId xmlns:a16="http://schemas.microsoft.com/office/drawing/2014/main" id="{ACDC11F7-D9FD-4669-AF1E-559135D57636}"/>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CLI and MCP share their own practice identity. The browser has a separate one; compare within the same workspace.</a:t>
            </a:r>
          </a:p>
        </p:txBody>
      </p:sp>
      <p:sp>
        <p:nvSpPr>
          <p:cNvPr id="24" name="text-746">
            <a:extLst xmlns:a="http://schemas.openxmlformats.org/drawingml/2006/main">
              <a:ext uri="{FF2B5EF4-FFF2-40B4-BE49-F238E27FC236}">
                <a16:creationId xmlns:a16="http://schemas.microsoft.com/office/drawing/2014/main" id="{E7D83B7B-78CD-4DB8-9244-03B192BC6EEE}"/>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75</a:t>
            </a:r>
          </a:p>
        </p:txBody>
      </p:sp>
    </p:spTree>
    <p:extLst>
      <p:ext uri="{BB962C8B-B14F-4D97-AF65-F5344CB8AC3E}">
        <p14:creationId xmlns:p14="http://schemas.microsoft.com/office/powerpoint/2010/main" val="1065314150"/>
      </p:ext>
    </p:extLst>
  </p:cSld>
</p:sld>
</file>

<file path=ppt/slides/slide7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9" name="text-747">
            <a:extLst xmlns:a="http://schemas.openxmlformats.org/drawingml/2006/main">
              <a:ext uri="{FF2B5EF4-FFF2-40B4-BE49-F238E27FC236}">
                <a16:creationId xmlns:a16="http://schemas.microsoft.com/office/drawing/2014/main" id="{34080AAC-71C9-463B-9548-6D7181197A5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MCP connects Claude to tools</a:t>
            </a:r>
          </a:p>
        </p:txBody>
      </p:sp>
      <p:sp>
        <p:nvSpPr>
          <p:cNvPr id="2" name="panel-748">
            <a:extLst xmlns:a="http://schemas.openxmlformats.org/drawingml/2006/main">
              <a:ext uri="{FF2B5EF4-FFF2-40B4-BE49-F238E27FC236}">
                <a16:creationId xmlns:a16="http://schemas.microsoft.com/office/drawing/2014/main" id="{5FB79058-9282-4C86-BC77-2ACD764F7614}"/>
              </a:ext>
            </a:extLst>
          </p:cNvPr>
          <p:cNvSpPr>
            <a:spLocks xmlns:a="http://schemas.openxmlformats.org/drawingml/2006/main" noGrp="1"/>
          </p:cNvSpPr>
          <p:nvPr/>
        </p:nvSpPr>
        <p:spPr>
          <a:xfrm xmlns:a="http://schemas.openxmlformats.org/drawingml/2006/main">
            <a:off x="609600" y="2705100"/>
            <a:ext cx="2781300" cy="19431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text-749">
            <a:extLst xmlns:a="http://schemas.openxmlformats.org/drawingml/2006/main">
              <a:ext uri="{FF2B5EF4-FFF2-40B4-BE49-F238E27FC236}">
                <a16:creationId xmlns:a16="http://schemas.microsoft.com/office/drawing/2014/main" id="{DAAB90D3-95D8-481B-A561-7B566DDF60D8}"/>
              </a:ext>
            </a:extLst>
          </p:cNvPr>
          <p:cNvSpPr>
            <a:spLocks xmlns:a="http://schemas.openxmlformats.org/drawingml/2006/main" noGrp="1"/>
          </p:cNvSpPr>
          <p:nvPr/>
        </p:nvSpPr>
        <p:spPr>
          <a:xfrm xmlns:a="http://schemas.openxmlformats.org/drawingml/2006/main">
            <a:off x="819150" y="3019425"/>
            <a:ext cx="2362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i="0">
                <a:solidFill>
                  <a:srgbClr val="1C1C1C"/>
                </a:solidFill>
                <a:latin typeface="Avenir Next"/>
                <a:ea typeface="Avenir Next"/>
                <a:cs typeface="Avenir Next"/>
              </a:defRPr>
            </a:pPr>
            <a:r>
              <a:rPr sz="2475" b="1" i="0">
                <a:solidFill>
                  <a:srgbClr val="1C1C1C"/>
                </a:solidFill>
                <a:latin typeface="Avenir Next"/>
                <a:ea typeface="Avenir Next"/>
                <a:cs typeface="Avenir Next"/>
              </a:rPr>
              <a:t>Claude Code</a:t>
            </a:r>
          </a:p>
        </p:txBody>
      </p:sp>
      <p:sp>
        <p:nvSpPr>
          <p:cNvPr id="4" name="text-750">
            <a:extLst xmlns:a="http://schemas.openxmlformats.org/drawingml/2006/main">
              <a:ext uri="{FF2B5EF4-FFF2-40B4-BE49-F238E27FC236}">
                <a16:creationId xmlns:a16="http://schemas.microsoft.com/office/drawing/2014/main" id="{A2DB8990-5268-4EC5-801C-E77688569B5C}"/>
              </a:ext>
            </a:extLst>
          </p:cNvPr>
          <p:cNvSpPr>
            <a:spLocks xmlns:a="http://schemas.openxmlformats.org/drawingml/2006/main" noGrp="1"/>
          </p:cNvSpPr>
          <p:nvPr/>
        </p:nvSpPr>
        <p:spPr>
          <a:xfrm xmlns:a="http://schemas.openxmlformats.org/drawingml/2006/main">
            <a:off x="819150" y="380047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Chooses a tool</a:t>
            </a:r>
          </a:p>
        </p:txBody>
      </p:sp>
      <p:sp>
        <p:nvSpPr>
          <p:cNvPr id="5" name="panel-751">
            <a:extLst xmlns:a="http://schemas.openxmlformats.org/drawingml/2006/main">
              <a:ext uri="{FF2B5EF4-FFF2-40B4-BE49-F238E27FC236}">
                <a16:creationId xmlns:a16="http://schemas.microsoft.com/office/drawing/2014/main" id="{D2D677AE-8C1F-40BA-B870-20049C15A380}"/>
              </a:ext>
            </a:extLst>
          </p:cNvPr>
          <p:cNvSpPr>
            <a:spLocks xmlns:a="http://schemas.openxmlformats.org/drawingml/2006/main" noGrp="1"/>
          </p:cNvSpPr>
          <p:nvPr/>
        </p:nvSpPr>
        <p:spPr>
          <a:xfrm xmlns:a="http://schemas.openxmlformats.org/drawingml/2006/main">
            <a:off x="4705350" y="2705100"/>
            <a:ext cx="2781300" cy="19431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752">
            <a:extLst xmlns:a="http://schemas.openxmlformats.org/drawingml/2006/main">
              <a:ext uri="{FF2B5EF4-FFF2-40B4-BE49-F238E27FC236}">
                <a16:creationId xmlns:a16="http://schemas.microsoft.com/office/drawing/2014/main" id="{735CAC72-BDAE-4EC1-A90F-F90EFFDA3813}"/>
              </a:ext>
            </a:extLst>
          </p:cNvPr>
          <p:cNvSpPr>
            <a:spLocks xmlns:a="http://schemas.openxmlformats.org/drawingml/2006/main" noGrp="1"/>
          </p:cNvSpPr>
          <p:nvPr/>
        </p:nvSpPr>
        <p:spPr>
          <a:xfrm xmlns:a="http://schemas.openxmlformats.org/drawingml/2006/main">
            <a:off x="4914900" y="3019425"/>
            <a:ext cx="2362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i="0">
                <a:solidFill>
                  <a:srgbClr val="1C1C1C"/>
                </a:solidFill>
                <a:latin typeface="Avenir Next"/>
                <a:ea typeface="Avenir Next"/>
                <a:cs typeface="Avenir Next"/>
              </a:defRPr>
            </a:pPr>
            <a:r>
              <a:rPr sz="2475" b="1" i="0">
                <a:solidFill>
                  <a:srgbClr val="1C1C1C"/>
                </a:solidFill>
                <a:latin typeface="Avenir Next"/>
                <a:ea typeface="Avenir Next"/>
                <a:cs typeface="Avenir Next"/>
              </a:rPr>
              <a:t>MCP server</a:t>
            </a:r>
          </a:p>
        </p:txBody>
      </p:sp>
      <p:sp>
        <p:nvSpPr>
          <p:cNvPr id="7" name="text-753">
            <a:extLst xmlns:a="http://schemas.openxmlformats.org/drawingml/2006/main">
              <a:ext uri="{FF2B5EF4-FFF2-40B4-BE49-F238E27FC236}">
                <a16:creationId xmlns:a16="http://schemas.microsoft.com/office/drawing/2014/main" id="{85EAC86A-459D-49A9-B382-89CBD2224D2F}"/>
              </a:ext>
            </a:extLst>
          </p:cNvPr>
          <p:cNvSpPr>
            <a:spLocks xmlns:a="http://schemas.openxmlformats.org/drawingml/2006/main" noGrp="1"/>
          </p:cNvSpPr>
          <p:nvPr/>
        </p:nvSpPr>
        <p:spPr>
          <a:xfrm xmlns:a="http://schemas.openxmlformats.org/drawingml/2006/main">
            <a:off x="4914900" y="380047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Calls the service</a:t>
            </a:r>
          </a:p>
        </p:txBody>
      </p:sp>
      <p:sp>
        <p:nvSpPr>
          <p:cNvPr id="8" name="panel-754">
            <a:extLst xmlns:a="http://schemas.openxmlformats.org/drawingml/2006/main">
              <a:ext uri="{FF2B5EF4-FFF2-40B4-BE49-F238E27FC236}">
                <a16:creationId xmlns:a16="http://schemas.microsoft.com/office/drawing/2014/main" id="{97480FAF-AABE-44CB-87F0-27DA848F93DB}"/>
              </a:ext>
            </a:extLst>
          </p:cNvPr>
          <p:cNvSpPr>
            <a:spLocks xmlns:a="http://schemas.openxmlformats.org/drawingml/2006/main" noGrp="1"/>
          </p:cNvSpPr>
          <p:nvPr/>
        </p:nvSpPr>
        <p:spPr>
          <a:xfrm xmlns:a="http://schemas.openxmlformats.org/drawingml/2006/main">
            <a:off x="8801100" y="2705100"/>
            <a:ext cx="2781300" cy="19431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9" name="text-755">
            <a:extLst xmlns:a="http://schemas.openxmlformats.org/drawingml/2006/main">
              <a:ext uri="{FF2B5EF4-FFF2-40B4-BE49-F238E27FC236}">
                <a16:creationId xmlns:a16="http://schemas.microsoft.com/office/drawing/2014/main" id="{E94F295C-A545-4C76-B94A-706E84CF6865}"/>
              </a:ext>
            </a:extLst>
          </p:cNvPr>
          <p:cNvSpPr>
            <a:spLocks xmlns:a="http://schemas.openxmlformats.org/drawingml/2006/main" noGrp="1"/>
          </p:cNvSpPr>
          <p:nvPr/>
        </p:nvSpPr>
        <p:spPr>
          <a:xfrm xmlns:a="http://schemas.openxmlformats.org/drawingml/2006/main">
            <a:off x="9010650" y="3019425"/>
            <a:ext cx="2362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i="0">
                <a:solidFill>
                  <a:srgbClr val="1C1C1C"/>
                </a:solidFill>
                <a:latin typeface="Avenir Next"/>
                <a:ea typeface="Avenir Next"/>
                <a:cs typeface="Avenir Next"/>
              </a:defRPr>
            </a:pPr>
            <a:r>
              <a:rPr sz="2475" b="1" i="0">
                <a:solidFill>
                  <a:srgbClr val="1C1C1C"/>
                </a:solidFill>
                <a:latin typeface="Avenir Next"/>
                <a:ea typeface="Avenir Next"/>
                <a:cs typeface="Avenir Next"/>
              </a:rPr>
              <a:t>Service API</a:t>
            </a:r>
          </a:p>
        </p:txBody>
      </p:sp>
      <p:sp>
        <p:nvSpPr>
          <p:cNvPr id="10" name="text-756">
            <a:extLst xmlns:a="http://schemas.openxmlformats.org/drawingml/2006/main">
              <a:ext uri="{FF2B5EF4-FFF2-40B4-BE49-F238E27FC236}">
                <a16:creationId xmlns:a16="http://schemas.microsoft.com/office/drawing/2014/main" id="{F004A842-F963-4439-9731-D48B6D2B4575}"/>
              </a:ext>
            </a:extLst>
          </p:cNvPr>
          <p:cNvSpPr>
            <a:spLocks xmlns:a="http://schemas.openxmlformats.org/drawingml/2006/main" noGrp="1"/>
          </p:cNvSpPr>
          <p:nvPr/>
        </p:nvSpPr>
        <p:spPr>
          <a:xfrm xmlns:a="http://schemas.openxmlformats.org/drawingml/2006/main">
            <a:off x="9010650" y="380047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Returns service data</a:t>
            </a:r>
          </a:p>
        </p:txBody>
      </p:sp>
      <p:sp>
        <p:nvSpPr>
          <p:cNvPr id="11" name="panel-757">
            <a:extLst xmlns:a="http://schemas.openxmlformats.org/drawingml/2006/main">
              <a:ext uri="{FF2B5EF4-FFF2-40B4-BE49-F238E27FC236}">
                <a16:creationId xmlns:a16="http://schemas.microsoft.com/office/drawing/2014/main" id="{6836A76E-8CC8-48B7-8898-E4C4184D00B0}"/>
              </a:ext>
            </a:extLst>
          </p:cNvPr>
          <p:cNvSpPr>
            <a:spLocks xmlns:a="http://schemas.openxmlformats.org/drawingml/2006/main" noGrp="1"/>
          </p:cNvSpPr>
          <p:nvPr/>
        </p:nvSpPr>
        <p:spPr>
          <a:xfrm xmlns:a="http://schemas.openxmlformats.org/drawingml/2006/main">
            <a:off x="3538538" y="3167063"/>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758">
            <a:extLst xmlns:a="http://schemas.openxmlformats.org/drawingml/2006/main">
              <a:ext uri="{FF2B5EF4-FFF2-40B4-BE49-F238E27FC236}">
                <a16:creationId xmlns:a16="http://schemas.microsoft.com/office/drawing/2014/main" id="{2FB1F4F8-9BD4-4382-9299-E02EFE7FE070}"/>
              </a:ext>
            </a:extLst>
          </p:cNvPr>
          <p:cNvSpPr>
            <a:spLocks xmlns:a="http://schemas.openxmlformats.org/drawingml/2006/main" noGrp="1"/>
          </p:cNvSpPr>
          <p:nvPr/>
        </p:nvSpPr>
        <p:spPr>
          <a:xfrm xmlns:a="http://schemas.openxmlformats.org/drawingml/2006/main">
            <a:off x="4548188" y="31670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1" name=""/>
          <p:cNvCxnSpPr>
            <a:stCxn xmlns:a="http://schemas.openxmlformats.org/drawingml/2006/main" id="11" idx="3"/>
            <a:endCxn xmlns:a="http://schemas.openxmlformats.org/drawingml/2006/main" id="12" idx="1"/>
          </p:cNvCxnSpPr>
          <p:nvPr/>
        </p:nvCxnSpPr>
        <p:spPr>
          <a:xfrm xmlns:a="http://schemas.openxmlformats.org/drawingml/2006/main">
            <a:off x="3548063" y="3171826"/>
            <a:ext cx="1000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panel-759">
            <a:extLst xmlns:a="http://schemas.openxmlformats.org/drawingml/2006/main">
              <a:ext uri="{FF2B5EF4-FFF2-40B4-BE49-F238E27FC236}">
                <a16:creationId xmlns:a16="http://schemas.microsoft.com/office/drawing/2014/main" id="{0A20F89E-F601-44D6-BC37-0DEFE167754D}"/>
              </a:ext>
            </a:extLst>
          </p:cNvPr>
          <p:cNvSpPr>
            <a:spLocks xmlns:a="http://schemas.openxmlformats.org/drawingml/2006/main" noGrp="1"/>
          </p:cNvSpPr>
          <p:nvPr/>
        </p:nvSpPr>
        <p:spPr>
          <a:xfrm xmlns:a="http://schemas.openxmlformats.org/drawingml/2006/main">
            <a:off x="4548188" y="4090988"/>
            <a:ext cx="9525" cy="9525"/>
          </a:xfrm>
          <a:prstGeom xmlns:a="http://schemas.openxmlformats.org/drawingml/2006/main" prst="rect">
            <a:avLst/>
          </a:prstGeom>
          <a:noFill xmlns:a="http://schemas.openxmlformats.org/drawingml/2006/main"/>
          <a:ln xmlns:a="http://schemas.openxmlformats.org/drawingml/2006/main" w="0">
            <a:noFill/>
          </a:ln>
        </p:spPr>
      </p:sp>
      <p:sp>
        <p:nvSpPr>
          <p:cNvPr id="15" name="panel-760">
            <a:extLst xmlns:a="http://schemas.openxmlformats.org/drawingml/2006/main">
              <a:ext uri="{FF2B5EF4-FFF2-40B4-BE49-F238E27FC236}">
                <a16:creationId xmlns:a16="http://schemas.microsoft.com/office/drawing/2014/main" id="{D37E8517-DA83-478D-BA9B-4275BBA82CCE}"/>
              </a:ext>
            </a:extLst>
          </p:cNvPr>
          <p:cNvSpPr>
            <a:spLocks xmlns:a="http://schemas.openxmlformats.org/drawingml/2006/main" noGrp="1"/>
          </p:cNvSpPr>
          <p:nvPr/>
        </p:nvSpPr>
        <p:spPr>
          <a:xfrm xmlns:a="http://schemas.openxmlformats.org/drawingml/2006/main">
            <a:off x="3538538" y="40909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14" idx="1"/>
            <a:endCxn xmlns:a="http://schemas.openxmlformats.org/drawingml/2006/main" id="15" idx="3"/>
          </p:cNvCxnSpPr>
          <p:nvPr/>
        </p:nvCxnSpPr>
        <p:spPr>
          <a:xfrm xmlns:a="http://schemas.openxmlformats.org/drawingml/2006/main" flipH="1">
            <a:off x="3548063" y="4095751"/>
            <a:ext cx="1000125" cy="0"/>
          </a:xfrm>
          <a:prstGeom xmlns:a="http://schemas.openxmlformats.org/drawingml/2006/main" prst="straightConnector1">
            <a:avLst/>
          </a:prstGeom>
          <a:ln xmlns:a="http://schemas.openxmlformats.org/drawingml/2006/main" w="23813">
            <a:solidFill>
              <a:srgbClr val="686868"/>
            </a:solidFill>
            <a:tailEnd type="triangle" w="med" len="med"/>
          </a:ln>
        </p:spPr>
      </p:cxnSp>
      <p:sp>
        <p:nvSpPr>
          <p:cNvPr id="17" name="text-761">
            <a:extLst xmlns:a="http://schemas.openxmlformats.org/drawingml/2006/main">
              <a:ext uri="{FF2B5EF4-FFF2-40B4-BE49-F238E27FC236}">
                <a16:creationId xmlns:a16="http://schemas.microsoft.com/office/drawing/2014/main" id="{025072B7-2A24-452C-9D59-0B5079CC483E}"/>
              </a:ext>
            </a:extLst>
          </p:cNvPr>
          <p:cNvSpPr>
            <a:spLocks xmlns:a="http://schemas.openxmlformats.org/drawingml/2006/main" noGrp="1"/>
          </p:cNvSpPr>
          <p:nvPr/>
        </p:nvSpPr>
        <p:spPr>
          <a:xfrm xmlns:a="http://schemas.openxmlformats.org/drawingml/2006/main">
            <a:off x="3505200" y="2800350"/>
            <a:ext cx="116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1C1C1C"/>
                </a:solidFill>
                <a:latin typeface="Helvetica Neue"/>
                <a:ea typeface="Helvetica Neue"/>
                <a:cs typeface="Helvetica Neue"/>
              </a:defRPr>
            </a:pPr>
            <a:r>
              <a:rPr sz="1575" b="0" i="0">
                <a:solidFill>
                  <a:srgbClr val="1C1C1C"/>
                </a:solidFill>
                <a:latin typeface="Helvetica Neue"/>
                <a:ea typeface="Helvetica Neue"/>
                <a:cs typeface="Helvetica Neue"/>
              </a:rPr>
              <a:t>Request</a:t>
            </a:r>
          </a:p>
        </p:txBody>
      </p:sp>
      <p:sp>
        <p:nvSpPr>
          <p:cNvPr id="18" name="text-762">
            <a:extLst xmlns:a="http://schemas.openxmlformats.org/drawingml/2006/main">
              <a:ext uri="{FF2B5EF4-FFF2-40B4-BE49-F238E27FC236}">
                <a16:creationId xmlns:a16="http://schemas.microsoft.com/office/drawing/2014/main" id="{2AAE4044-B859-4F57-902E-59F1535BD2E5}"/>
              </a:ext>
            </a:extLst>
          </p:cNvPr>
          <p:cNvSpPr>
            <a:spLocks xmlns:a="http://schemas.openxmlformats.org/drawingml/2006/main" noGrp="1"/>
          </p:cNvSpPr>
          <p:nvPr/>
        </p:nvSpPr>
        <p:spPr>
          <a:xfrm xmlns:a="http://schemas.openxmlformats.org/drawingml/2006/main">
            <a:off x="3467100" y="42386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1C1C1C"/>
                </a:solidFill>
                <a:latin typeface="Helvetica Neue"/>
                <a:ea typeface="Helvetica Neue"/>
                <a:cs typeface="Helvetica Neue"/>
              </a:defRPr>
            </a:pPr>
            <a:r>
              <a:rPr sz="1575" b="0" i="0">
                <a:solidFill>
                  <a:srgbClr val="1C1C1C"/>
                </a:solidFill>
                <a:latin typeface="Helvetica Neue"/>
                <a:ea typeface="Helvetica Neue"/>
                <a:cs typeface="Helvetica Neue"/>
              </a:rPr>
              <a:t>Response</a:t>
            </a:r>
          </a:p>
        </p:txBody>
      </p:sp>
      <p:sp>
        <p:nvSpPr>
          <p:cNvPr id="19" name="panel-763">
            <a:extLst xmlns:a="http://schemas.openxmlformats.org/drawingml/2006/main">
              <a:ext uri="{FF2B5EF4-FFF2-40B4-BE49-F238E27FC236}">
                <a16:creationId xmlns:a16="http://schemas.microsoft.com/office/drawing/2014/main" id="{D7CBC5E3-7EA0-4941-8B6C-D4FE026C901E}"/>
              </a:ext>
            </a:extLst>
          </p:cNvPr>
          <p:cNvSpPr>
            <a:spLocks xmlns:a="http://schemas.openxmlformats.org/drawingml/2006/main" noGrp="1"/>
          </p:cNvSpPr>
          <p:nvPr/>
        </p:nvSpPr>
        <p:spPr>
          <a:xfrm xmlns:a="http://schemas.openxmlformats.org/drawingml/2006/main">
            <a:off x="7634288" y="3167063"/>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panel-764">
            <a:extLst xmlns:a="http://schemas.openxmlformats.org/drawingml/2006/main">
              <a:ext uri="{FF2B5EF4-FFF2-40B4-BE49-F238E27FC236}">
                <a16:creationId xmlns:a16="http://schemas.microsoft.com/office/drawing/2014/main" id="{6190BC70-1EB8-4CCF-A49C-0B302D98610C}"/>
              </a:ext>
            </a:extLst>
          </p:cNvPr>
          <p:cNvSpPr>
            <a:spLocks xmlns:a="http://schemas.openxmlformats.org/drawingml/2006/main" noGrp="1"/>
          </p:cNvSpPr>
          <p:nvPr/>
        </p:nvSpPr>
        <p:spPr>
          <a:xfrm xmlns:a="http://schemas.openxmlformats.org/drawingml/2006/main">
            <a:off x="8643938" y="3167063"/>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9" name=""/>
          <p:cNvCxnSpPr>
            <a:stCxn xmlns:a="http://schemas.openxmlformats.org/drawingml/2006/main" id="19" idx="3"/>
            <a:endCxn xmlns:a="http://schemas.openxmlformats.org/drawingml/2006/main" id="20" idx="1"/>
          </p:cNvCxnSpPr>
          <p:nvPr/>
        </p:nvCxnSpPr>
        <p:spPr>
          <a:xfrm xmlns:a="http://schemas.openxmlformats.org/drawingml/2006/main">
            <a:off x="7643813" y="3171826"/>
            <a:ext cx="1000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2" name="panel-765">
            <a:extLst xmlns:a="http://schemas.openxmlformats.org/drawingml/2006/main">
              <a:ext uri="{FF2B5EF4-FFF2-40B4-BE49-F238E27FC236}">
                <a16:creationId xmlns:a16="http://schemas.microsoft.com/office/drawing/2014/main" id="{8320A1E7-ED39-47F1-BC74-D089D87CA369}"/>
              </a:ext>
            </a:extLst>
          </p:cNvPr>
          <p:cNvSpPr>
            <a:spLocks xmlns:a="http://schemas.openxmlformats.org/drawingml/2006/main" noGrp="1"/>
          </p:cNvSpPr>
          <p:nvPr/>
        </p:nvSpPr>
        <p:spPr>
          <a:xfrm xmlns:a="http://schemas.openxmlformats.org/drawingml/2006/main">
            <a:off x="8643938" y="4090988"/>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panel-766">
            <a:extLst xmlns:a="http://schemas.openxmlformats.org/drawingml/2006/main">
              <a:ext uri="{FF2B5EF4-FFF2-40B4-BE49-F238E27FC236}">
                <a16:creationId xmlns:a16="http://schemas.microsoft.com/office/drawing/2014/main" id="{003A4521-2D9E-4242-865D-F7E55B86A955}"/>
              </a:ext>
            </a:extLst>
          </p:cNvPr>
          <p:cNvSpPr>
            <a:spLocks xmlns:a="http://schemas.openxmlformats.org/drawingml/2006/main" noGrp="1"/>
          </p:cNvSpPr>
          <p:nvPr/>
        </p:nvSpPr>
        <p:spPr>
          <a:xfrm xmlns:a="http://schemas.openxmlformats.org/drawingml/2006/main">
            <a:off x="7634288" y="409098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2" name=""/>
          <p:cNvCxnSpPr>
            <a:stCxn xmlns:a="http://schemas.openxmlformats.org/drawingml/2006/main" id="22" idx="1"/>
            <a:endCxn xmlns:a="http://schemas.openxmlformats.org/drawingml/2006/main" id="23" idx="3"/>
          </p:cNvCxnSpPr>
          <p:nvPr/>
        </p:nvCxnSpPr>
        <p:spPr>
          <a:xfrm xmlns:a="http://schemas.openxmlformats.org/drawingml/2006/main" flipH="1">
            <a:off x="7643813" y="4095751"/>
            <a:ext cx="1000125" cy="0"/>
          </a:xfrm>
          <a:prstGeom xmlns:a="http://schemas.openxmlformats.org/drawingml/2006/main" prst="straightConnector1">
            <a:avLst/>
          </a:prstGeom>
          <a:ln xmlns:a="http://schemas.openxmlformats.org/drawingml/2006/main" w="23813">
            <a:solidFill>
              <a:srgbClr val="686868"/>
            </a:solidFill>
            <a:tailEnd type="triangle" w="med" len="med"/>
          </a:ln>
        </p:spPr>
      </p:cxnSp>
      <p:sp>
        <p:nvSpPr>
          <p:cNvPr id="25" name="text-767">
            <a:extLst xmlns:a="http://schemas.openxmlformats.org/drawingml/2006/main">
              <a:ext uri="{FF2B5EF4-FFF2-40B4-BE49-F238E27FC236}">
                <a16:creationId xmlns:a16="http://schemas.microsoft.com/office/drawing/2014/main" id="{BD4190CF-0A79-41A2-A78F-7E5F2ABF3748}"/>
              </a:ext>
            </a:extLst>
          </p:cNvPr>
          <p:cNvSpPr>
            <a:spLocks xmlns:a="http://schemas.openxmlformats.org/drawingml/2006/main" noGrp="1"/>
          </p:cNvSpPr>
          <p:nvPr/>
        </p:nvSpPr>
        <p:spPr>
          <a:xfrm xmlns:a="http://schemas.openxmlformats.org/drawingml/2006/main">
            <a:off x="7600950" y="2800350"/>
            <a:ext cx="1162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1C1C1C"/>
                </a:solidFill>
                <a:latin typeface="Helvetica Neue"/>
                <a:ea typeface="Helvetica Neue"/>
                <a:cs typeface="Helvetica Neue"/>
              </a:defRPr>
            </a:pPr>
            <a:r>
              <a:rPr sz="1575" b="0" i="0">
                <a:solidFill>
                  <a:srgbClr val="1C1C1C"/>
                </a:solidFill>
                <a:latin typeface="Helvetica Neue"/>
                <a:ea typeface="Helvetica Neue"/>
                <a:cs typeface="Helvetica Neue"/>
              </a:rPr>
              <a:t>Request</a:t>
            </a:r>
          </a:p>
        </p:txBody>
      </p:sp>
      <p:sp>
        <p:nvSpPr>
          <p:cNvPr id="26" name="text-768">
            <a:extLst xmlns:a="http://schemas.openxmlformats.org/drawingml/2006/main">
              <a:ext uri="{FF2B5EF4-FFF2-40B4-BE49-F238E27FC236}">
                <a16:creationId xmlns:a16="http://schemas.microsoft.com/office/drawing/2014/main" id="{518F9F9E-DA5A-4603-B163-A3A982C462CE}"/>
              </a:ext>
            </a:extLst>
          </p:cNvPr>
          <p:cNvSpPr>
            <a:spLocks xmlns:a="http://schemas.openxmlformats.org/drawingml/2006/main" noGrp="1"/>
          </p:cNvSpPr>
          <p:nvPr/>
        </p:nvSpPr>
        <p:spPr>
          <a:xfrm xmlns:a="http://schemas.openxmlformats.org/drawingml/2006/main">
            <a:off x="7562850" y="42386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1C1C1C"/>
                </a:solidFill>
                <a:latin typeface="Helvetica Neue"/>
                <a:ea typeface="Helvetica Neue"/>
                <a:cs typeface="Helvetica Neue"/>
              </a:defRPr>
            </a:pPr>
            <a:r>
              <a:rPr sz="1575" b="0" i="0">
                <a:solidFill>
                  <a:srgbClr val="1C1C1C"/>
                </a:solidFill>
                <a:latin typeface="Helvetica Neue"/>
                <a:ea typeface="Helvetica Neue"/>
                <a:cs typeface="Helvetica Neue"/>
              </a:rPr>
              <a:t>Response</a:t>
            </a:r>
          </a:p>
        </p:txBody>
      </p:sp>
      <p:sp>
        <p:nvSpPr>
          <p:cNvPr id="27" name="text-769">
            <a:extLst xmlns:a="http://schemas.openxmlformats.org/drawingml/2006/main">
              <a:ext uri="{FF2B5EF4-FFF2-40B4-BE49-F238E27FC236}">
                <a16:creationId xmlns:a16="http://schemas.microsoft.com/office/drawing/2014/main" id="{AC8CE318-DFEE-4ADF-88D9-881169741AFA}"/>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Claude requests a tool call. The server returns structured evidence from the service.</a:t>
            </a:r>
          </a:p>
        </p:txBody>
      </p:sp>
      <p:sp>
        <p:nvSpPr>
          <p:cNvPr id="28" name="text-770">
            <a:extLst xmlns:a="http://schemas.openxmlformats.org/drawingml/2006/main">
              <a:ext uri="{FF2B5EF4-FFF2-40B4-BE49-F238E27FC236}">
                <a16:creationId xmlns:a16="http://schemas.microsoft.com/office/drawing/2014/main" id="{340D9328-AF86-4197-88F7-225742F3AC6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76</a:t>
            </a:r>
          </a:p>
        </p:txBody>
      </p:sp>
    </p:spTree>
    <p:extLst>
      <p:ext uri="{BB962C8B-B14F-4D97-AF65-F5344CB8AC3E}">
        <p14:creationId xmlns:p14="http://schemas.microsoft.com/office/powerpoint/2010/main" val="1704366603"/>
      </p:ext>
    </p:extLst>
  </p:cSld>
</p:sld>
</file>

<file path=ppt/slides/slide7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771">
            <a:extLst xmlns:a="http://schemas.openxmlformats.org/drawingml/2006/main">
              <a:ext uri="{FF2B5EF4-FFF2-40B4-BE49-F238E27FC236}">
                <a16:creationId xmlns:a16="http://schemas.microsoft.com/office/drawing/2014/main" id="{B098BCA8-E236-46B0-A54F-B4045F573BCF}"/>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Give Claude a CLI and an MCP interface</a:t>
            </a:r>
          </a:p>
        </p:txBody>
      </p:sp>
      <p:sp>
        <p:nvSpPr>
          <p:cNvPr id="2" name="panel-772">
            <a:extLst xmlns:a="http://schemas.openxmlformats.org/drawingml/2006/main">
              <a:ext uri="{FF2B5EF4-FFF2-40B4-BE49-F238E27FC236}">
                <a16:creationId xmlns:a16="http://schemas.microsoft.com/office/drawing/2014/main" id="{195D920A-B2C2-46C6-989B-7B6C365B5736}"/>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773">
            <a:extLst xmlns:a="http://schemas.openxmlformats.org/drawingml/2006/main">
              <a:ext uri="{FF2B5EF4-FFF2-40B4-BE49-F238E27FC236}">
                <a16:creationId xmlns:a16="http://schemas.microsoft.com/office/drawing/2014/main" id="{83E37307-671C-4636-8851-48D6E380757C}"/>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774">
            <a:extLst xmlns:a="http://schemas.openxmlformats.org/drawingml/2006/main">
              <a:ext uri="{FF2B5EF4-FFF2-40B4-BE49-F238E27FC236}">
                <a16:creationId xmlns:a16="http://schemas.microsoft.com/office/drawing/2014/main" id="{DAB5955E-CB23-48BD-826A-66843529CEC0}"/>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775">
            <a:extLst xmlns:a="http://schemas.openxmlformats.org/drawingml/2006/main">
              <a:ext uri="{FF2B5EF4-FFF2-40B4-BE49-F238E27FC236}">
                <a16:creationId xmlns:a16="http://schemas.microsoft.com/office/drawing/2014/main" id="{A1C54CF9-2B6F-49EA-B8BC-DDE0D7AA5348}"/>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776">
            <a:extLst xmlns:a="http://schemas.openxmlformats.org/drawingml/2006/main">
              <a:ext uri="{FF2B5EF4-FFF2-40B4-BE49-F238E27FC236}">
                <a16:creationId xmlns:a16="http://schemas.microsoft.com/office/drawing/2014/main" id="{F038677B-B7C1-4E8A-9750-E1F8FEC6D2F1}"/>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Build the ClientDesk CLI and MCP server described in the spec. Reuse the app’s workspace API and identity handling. Support reading client evidence and preparing a sourced brief. Test the normal case, an unknown client and missing meeting data.</a:t>
            </a:r>
          </a:p>
        </p:txBody>
      </p:sp>
      <p:sp>
        <p:nvSpPr>
          <p:cNvPr id="7" name="text-777">
            <a:extLst xmlns:a="http://schemas.openxmlformats.org/drawingml/2006/main">
              <a:ext uri="{FF2B5EF4-FFF2-40B4-BE49-F238E27FC236}">
                <a16:creationId xmlns:a16="http://schemas.microsoft.com/office/drawing/2014/main" id="{C8ADE292-431F-4B18-A8EB-C00B735AD2B4}"/>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Reuse:</a:t>
            </a:r>
            <a:r>
              <a:rPr sz="1875" b="0" i="0">
                <a:solidFill>
                  <a:srgbClr val="1C1C1C"/>
                </a:solidFill>
                <a:latin typeface="Helvetica Neue"/>
                <a:ea typeface="Helvetica Neue"/>
                <a:cs typeface="Helvetica Neue"/>
              </a:rPr>
              <a:t> keeps one source of app behavior.</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Cases:</a:t>
            </a:r>
            <a:r>
              <a:rPr sz="1875" b="0" i="0">
                <a:solidFill>
                  <a:srgbClr val="1C1C1C"/>
                </a:solidFill>
                <a:latin typeface="Helvetica Neue"/>
                <a:ea typeface="Helvetica Neue"/>
                <a:cs typeface="Helvetica Neue"/>
              </a:rPr>
              <a:t> proves the interface handles uncertainty.</a:t>
            </a:r>
          </a:p>
        </p:txBody>
      </p:sp>
      <p:sp>
        <p:nvSpPr>
          <p:cNvPr id="8" name="panel-778">
            <a:extLst xmlns:a="http://schemas.openxmlformats.org/drawingml/2006/main">
              <a:ext uri="{FF2B5EF4-FFF2-40B4-BE49-F238E27FC236}">
                <a16:creationId xmlns:a16="http://schemas.microsoft.com/office/drawing/2014/main" id="{12ABFAE6-8BCA-4BA2-8B00-B5AA33664562}"/>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779">
            <a:extLst xmlns:a="http://schemas.openxmlformats.org/drawingml/2006/main">
              <a:ext uri="{FF2B5EF4-FFF2-40B4-BE49-F238E27FC236}">
                <a16:creationId xmlns:a16="http://schemas.microsoft.com/office/drawing/2014/main" id="{67C4C0FC-1648-4BB1-9EF4-2CF97535879C}"/>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CLI and MCP return the same evidence in their shared practice workspace.</a:t>
            </a:r>
          </a:p>
        </p:txBody>
      </p:sp>
      <p:sp>
        <p:nvSpPr>
          <p:cNvPr id="10" name="text-780">
            <a:extLst xmlns:a="http://schemas.openxmlformats.org/drawingml/2006/main">
              <a:ext uri="{FF2B5EF4-FFF2-40B4-BE49-F238E27FC236}">
                <a16:creationId xmlns:a16="http://schemas.microsoft.com/office/drawing/2014/main" id="{96072E41-011F-4002-A62A-363BC2AB56D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77</a:t>
            </a:r>
          </a:p>
        </p:txBody>
      </p:sp>
    </p:spTree>
    <p:extLst>
      <p:ext uri="{BB962C8B-B14F-4D97-AF65-F5344CB8AC3E}">
        <p14:creationId xmlns:p14="http://schemas.microsoft.com/office/powerpoint/2010/main" val="2015340612"/>
      </p:ext>
    </p:extLst>
  </p:cSld>
</p:sld>
</file>

<file path=ppt/slides/slide7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781">
            <a:extLst xmlns:a="http://schemas.openxmlformats.org/drawingml/2006/main">
              <a:ext uri="{FF2B5EF4-FFF2-40B4-BE49-F238E27FC236}">
                <a16:creationId xmlns:a16="http://schemas.microsoft.com/office/drawing/2014/main" id="{070C4861-4957-4CF3-AF46-EFB0DAB2E75B}"/>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Connect the project’s MCP server</a:t>
            </a:r>
          </a:p>
        </p:txBody>
      </p:sp>
      <p:sp>
        <p:nvSpPr>
          <p:cNvPr id="2" name="panel-782">
            <a:extLst xmlns:a="http://schemas.openxmlformats.org/drawingml/2006/main">
              <a:ext uri="{FF2B5EF4-FFF2-40B4-BE49-F238E27FC236}">
                <a16:creationId xmlns:a16="http://schemas.microsoft.com/office/drawing/2014/main" id="{1921C709-EDEB-4F0B-8249-2714871C6D3E}"/>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783">
            <a:extLst xmlns:a="http://schemas.openxmlformats.org/drawingml/2006/main">
              <a:ext uri="{FF2B5EF4-FFF2-40B4-BE49-F238E27FC236}">
                <a16:creationId xmlns:a16="http://schemas.microsoft.com/office/drawing/2014/main" id="{E9CDD5FC-EC2A-4E25-96AB-3963F965E0ED}"/>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784">
            <a:extLst xmlns:a="http://schemas.openxmlformats.org/drawingml/2006/main">
              <a:ext uri="{FF2B5EF4-FFF2-40B4-BE49-F238E27FC236}">
                <a16:creationId xmlns:a16="http://schemas.microsoft.com/office/drawing/2014/main" id="{7C2ACC1C-BE93-48F0-9155-EA3EAB495B0F}"/>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785">
            <a:extLst xmlns:a="http://schemas.openxmlformats.org/drawingml/2006/main">
              <a:ext uri="{FF2B5EF4-FFF2-40B4-BE49-F238E27FC236}">
                <a16:creationId xmlns:a16="http://schemas.microsoft.com/office/drawing/2014/main" id="{67AF5A77-C5B6-4E93-AEF2-C8A85D5964E1}"/>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786">
            <a:extLst xmlns:a="http://schemas.openxmlformats.org/drawingml/2006/main">
              <a:ext uri="{FF2B5EF4-FFF2-40B4-BE49-F238E27FC236}">
                <a16:creationId xmlns:a16="http://schemas.microsoft.com/office/drawing/2014/main" id="{98353AE7-B925-43F7-B348-5C2FE9DD8C25}"/>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Check that the app is running. Review the project-root .mcp.json and point its ClientDesk entry at our app’s scripts/mcp.mjs. Start Claude Code from this project root, approve the trusted server, and verify ClientDesk is connected in /mcp.</a:t>
            </a:r>
          </a:p>
        </p:txBody>
      </p:sp>
      <p:sp>
        <p:nvSpPr>
          <p:cNvPr id="7" name="text-787">
            <a:extLst xmlns:a="http://schemas.openxmlformats.org/drawingml/2006/main">
              <a:ext uri="{FF2B5EF4-FFF2-40B4-BE49-F238E27FC236}">
                <a16:creationId xmlns:a16="http://schemas.microsoft.com/office/drawing/2014/main" id="{AD11C3FB-C8B4-4F38-99F3-FD1573183801}"/>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Location:</a:t>
            </a:r>
            <a:r>
              <a:rPr sz="1875" b="0" i="0">
                <a:solidFill>
                  <a:srgbClr val="1C1C1C"/>
                </a:solidFill>
                <a:latin typeface="Helvetica Neue"/>
                <a:ea typeface="Helvetica Neue"/>
                <a:cs typeface="Helvetica Neue"/>
              </a:rPr>
              <a:t> makes relative paths resolve.</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Verify:</a:t>
            </a:r>
            <a:r>
              <a:rPr sz="1875" b="0" i="0">
                <a:solidFill>
                  <a:srgbClr val="1C1C1C"/>
                </a:solidFill>
                <a:latin typeface="Helvetica Neue"/>
                <a:ea typeface="Helvetica Neue"/>
                <a:cs typeface="Helvetica Neue"/>
              </a:rPr>
              <a:t> tests the connection before a question.</a:t>
            </a:r>
          </a:p>
        </p:txBody>
      </p:sp>
      <p:sp>
        <p:nvSpPr>
          <p:cNvPr id="8" name="panel-788">
            <a:extLst xmlns:a="http://schemas.openxmlformats.org/drawingml/2006/main">
              <a:ext uri="{FF2B5EF4-FFF2-40B4-BE49-F238E27FC236}">
                <a16:creationId xmlns:a16="http://schemas.microsoft.com/office/drawing/2014/main" id="{B485AE63-8405-4B4A-819D-02066A5761F1}"/>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789">
            <a:extLst xmlns:a="http://schemas.openxmlformats.org/drawingml/2006/main">
              <a:ext uri="{FF2B5EF4-FFF2-40B4-BE49-F238E27FC236}">
                <a16:creationId xmlns:a16="http://schemas.microsoft.com/office/drawing/2014/main" id="{A4D61D8C-46D2-463A-B74F-53F005ED6365}"/>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/mcp lists ClientDesk as connected and exposes client_evidence.</a:t>
            </a:r>
          </a:p>
        </p:txBody>
      </p:sp>
      <p:sp>
        <p:nvSpPr>
          <p:cNvPr id="10" name="text-790">
            <a:extLst xmlns:a="http://schemas.openxmlformats.org/drawingml/2006/main">
              <a:ext uri="{FF2B5EF4-FFF2-40B4-BE49-F238E27FC236}">
                <a16:creationId xmlns:a16="http://schemas.microsoft.com/office/drawing/2014/main" id="{8783787D-57A3-44BB-A89B-AF5BCE637F5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78</a:t>
            </a:r>
          </a:p>
        </p:txBody>
      </p:sp>
    </p:spTree>
    <p:extLst>
      <p:ext uri="{BB962C8B-B14F-4D97-AF65-F5344CB8AC3E}">
        <p14:creationId xmlns:p14="http://schemas.microsoft.com/office/powerpoint/2010/main" val="1229693096"/>
      </p:ext>
    </p:extLst>
  </p:cSld>
</p:sld>
</file>

<file path=ppt/slides/slide7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text-791">
            <a:extLst xmlns:a="http://schemas.openxmlformats.org/drawingml/2006/main">
              <a:ext uri="{FF2B5EF4-FFF2-40B4-BE49-F238E27FC236}">
                <a16:creationId xmlns:a16="http://schemas.microsoft.com/office/drawing/2014/main" id="{BDDEB2A1-665C-4823-B249-D32D6354BDB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useful MCP question</a:t>
            </a:r>
          </a:p>
        </p:txBody>
      </p:sp>
      <p:sp>
        <p:nvSpPr>
          <p:cNvPr id="2" name="panel-792">
            <a:extLst xmlns:a="http://schemas.openxmlformats.org/drawingml/2006/main">
              <a:ext uri="{FF2B5EF4-FFF2-40B4-BE49-F238E27FC236}">
                <a16:creationId xmlns:a16="http://schemas.microsoft.com/office/drawing/2014/main" id="{0CE0B45F-3AE0-4DB7-BAE7-C392EB6B56F4}"/>
              </a:ext>
            </a:extLst>
          </p:cNvPr>
          <p:cNvSpPr>
            <a:spLocks xmlns:a="http://schemas.openxmlformats.org/drawingml/2006/main" noGrp="1"/>
          </p:cNvSpPr>
          <p:nvPr/>
        </p:nvSpPr>
        <p:spPr>
          <a:xfrm xmlns:a="http://schemas.openxmlformats.org/drawingml/2006/main">
            <a:off x="609600" y="1981200"/>
            <a:ext cx="10972800" cy="17145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panel-793">
            <a:extLst xmlns:a="http://schemas.openxmlformats.org/drawingml/2006/main">
              <a:ext uri="{FF2B5EF4-FFF2-40B4-BE49-F238E27FC236}">
                <a16:creationId xmlns:a16="http://schemas.microsoft.com/office/drawing/2014/main" id="{7433DA96-9651-4862-A80B-4074BFD330DE}"/>
              </a:ext>
            </a:extLst>
          </p:cNvPr>
          <p:cNvSpPr>
            <a:spLocks xmlns:a="http://schemas.openxmlformats.org/drawingml/2006/main" noGrp="1"/>
          </p:cNvSpPr>
          <p:nvPr/>
        </p:nvSpPr>
        <p:spPr>
          <a:xfrm xmlns:a="http://schemas.openxmlformats.org/drawingml/2006/main">
            <a:off x="609600" y="1981200"/>
            <a:ext cx="38100" cy="171450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4" name="text-794">
            <a:extLst xmlns:a="http://schemas.openxmlformats.org/drawingml/2006/main">
              <a:ext uri="{FF2B5EF4-FFF2-40B4-BE49-F238E27FC236}">
                <a16:creationId xmlns:a16="http://schemas.microsoft.com/office/drawing/2014/main" id="{4B783A6B-AF6C-41F5-8020-6DCDE6E43A45}"/>
              </a:ext>
            </a:extLst>
          </p:cNvPr>
          <p:cNvSpPr>
            <a:spLocks xmlns:a="http://schemas.openxmlformats.org/drawingml/2006/main" noGrp="1"/>
          </p:cNvSpPr>
          <p:nvPr/>
        </p:nvSpPr>
        <p:spPr>
          <a:xfrm xmlns:a="http://schemas.openxmlformats.org/drawingml/2006/main">
            <a:off x="876300" y="2209800"/>
            <a:ext cx="1038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Use the ClientDesk tools to find Northstar’s latest meeting. Show the source ID and explain which follow-up the meeting supports. If the evidence is missing, say so. Do not save a task.</a:t>
            </a:r>
          </a:p>
        </p:txBody>
      </p:sp>
      <p:sp>
        <p:nvSpPr>
          <p:cNvPr id="5" name="text-795">
            <a:extLst xmlns:a="http://schemas.openxmlformats.org/drawingml/2006/main">
              <a:ext uri="{FF2B5EF4-FFF2-40B4-BE49-F238E27FC236}">
                <a16:creationId xmlns:a16="http://schemas.microsoft.com/office/drawing/2014/main" id="{C9B9C204-C723-4E76-9F6D-CB1B1441DE8A}"/>
              </a:ext>
            </a:extLst>
          </p:cNvPr>
          <p:cNvSpPr>
            <a:spLocks xmlns:a="http://schemas.openxmlformats.org/drawingml/2006/main" noGrp="1"/>
          </p:cNvSpPr>
          <p:nvPr/>
        </p:nvSpPr>
        <p:spPr>
          <a:xfrm xmlns:a="http://schemas.openxmlformats.org/drawingml/2006/main">
            <a:off x="609600" y="528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686868"/>
                </a:solidFill>
                <a:latin typeface="Helvetica Neue"/>
                <a:ea typeface="Helvetica Neue"/>
                <a:cs typeface="Helvetica Neue"/>
              </a:defRPr>
            </a:pPr>
            <a:r>
              <a:rPr sz="1875" b="1" i="0">
                <a:solidFill>
                  <a:srgbClr val="686868"/>
                </a:solidFill>
                <a:latin typeface="Helvetica Neue"/>
                <a:ea typeface="Helvetica Neue"/>
                <a:cs typeface="Helvetica Neue"/>
              </a:rPr>
              <a:t>Before the prompt:</a:t>
            </a:r>
            <a:r>
              <a:rPr sz="1875" b="0" i="0">
                <a:solidFill>
                  <a:srgbClr val="686868"/>
                </a:solidFill>
                <a:latin typeface="Helvetica Neue"/>
                <a:ea typeface="Helvetica Neue"/>
                <a:cs typeface="Helvetica Neue"/>
              </a:rPr>
              <a:t> use /mcp to check that the ClientDesk server and tools are available.</a:t>
            </a:r>
          </a:p>
        </p:txBody>
      </p:sp>
      <p:sp>
        <p:nvSpPr>
          <p:cNvPr id="6" name="text-796">
            <a:extLst xmlns:a="http://schemas.openxmlformats.org/drawingml/2006/main">
              <a:ext uri="{FF2B5EF4-FFF2-40B4-BE49-F238E27FC236}">
                <a16:creationId xmlns:a16="http://schemas.microsoft.com/office/drawing/2014/main" id="{FF3D0163-799D-423D-AE8A-61E32130B2A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79</a:t>
            </a:r>
          </a:p>
        </p:txBody>
      </p:sp>
    </p:spTree>
    <p:extLst>
      <p:ext uri="{BB962C8B-B14F-4D97-AF65-F5344CB8AC3E}">
        <p14:creationId xmlns:p14="http://schemas.microsoft.com/office/powerpoint/2010/main" val="726971699"/>
      </p:ext>
    </p:extLst>
  </p:cSld>
</p:sld>
</file>

<file path=ppt/slides/slide8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797">
            <a:extLst xmlns:a="http://schemas.openxmlformats.org/drawingml/2006/main">
              <a:ext uri="{FF2B5EF4-FFF2-40B4-BE49-F238E27FC236}">
                <a16:creationId xmlns:a16="http://schemas.microsoft.com/office/drawing/2014/main" id="{D32AF72A-67DE-42DF-82AF-9C453029C515}"/>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What to inspect in the MCP answer</a:t>
            </a:r>
          </a:p>
        </p:txBody>
      </p:sp>
      <p:sp>
        <p:nvSpPr>
          <p:cNvPr id="2" name="panel-798">
            <a:extLst xmlns:a="http://schemas.openxmlformats.org/drawingml/2006/main">
              <a:ext uri="{FF2B5EF4-FFF2-40B4-BE49-F238E27FC236}">
                <a16:creationId xmlns:a16="http://schemas.microsoft.com/office/drawing/2014/main" id="{E334C4B3-AED6-4053-ADBC-F0BB7368121A}"/>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799">
            <a:extLst xmlns:a="http://schemas.openxmlformats.org/drawingml/2006/main">
              <a:ext uri="{FF2B5EF4-FFF2-40B4-BE49-F238E27FC236}">
                <a16:creationId xmlns:a16="http://schemas.microsoft.com/office/drawing/2014/main" id="{73A069E4-C978-47BC-BBD9-01D40456C500}"/>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800">
            <a:extLst xmlns:a="http://schemas.openxmlformats.org/drawingml/2006/main">
              <a:ext uri="{FF2B5EF4-FFF2-40B4-BE49-F238E27FC236}">
                <a16:creationId xmlns:a16="http://schemas.microsoft.com/office/drawing/2014/main" id="{C19A1567-68AD-4CEE-96DA-500D35A1202B}"/>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801">
            <a:extLst xmlns:a="http://schemas.openxmlformats.org/drawingml/2006/main">
              <a:ext uri="{FF2B5EF4-FFF2-40B4-BE49-F238E27FC236}">
                <a16:creationId xmlns:a16="http://schemas.microsoft.com/office/drawing/2014/main" id="{969375E3-2E13-445E-8FA7-D114AED7F53F}"/>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802">
            <a:extLst xmlns:a="http://schemas.openxmlformats.org/drawingml/2006/main">
              <a:ext uri="{FF2B5EF4-FFF2-40B4-BE49-F238E27FC236}">
                <a16:creationId xmlns:a16="http://schemas.microsoft.com/office/drawing/2014/main" id="{2183B7CD-549A-45CC-86D1-70A9083DDF4D}"/>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Compare your answer with Northstar’s source meeting. Separate the quoted fact, any missing information, and your proposed follow-up. Show the source ID for the fact and confirm that no task was saved.</a:t>
            </a:r>
          </a:p>
        </p:txBody>
      </p:sp>
      <p:sp>
        <p:nvSpPr>
          <p:cNvPr id="7" name="text-803">
            <a:extLst xmlns:a="http://schemas.openxmlformats.org/drawingml/2006/main">
              <a:ext uri="{FF2B5EF4-FFF2-40B4-BE49-F238E27FC236}">
                <a16:creationId xmlns:a16="http://schemas.microsoft.com/office/drawing/2014/main" id="{85EA13C9-9CBF-46A9-B685-3434F430C77E}"/>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Separation:</a:t>
            </a:r>
            <a:r>
              <a:rPr sz="1875" b="0" i="0">
                <a:solidFill>
                  <a:srgbClr val="1C1C1C"/>
                </a:solidFill>
                <a:latin typeface="Helvetica Neue"/>
                <a:ea typeface="Helvetica Neue"/>
                <a:cs typeface="Helvetica Neue"/>
              </a:rPr>
              <a:t> keeps facts distinct from suggestions.</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Boundary:</a:t>
            </a:r>
            <a:r>
              <a:rPr sz="1875" b="0" i="0">
                <a:solidFill>
                  <a:srgbClr val="1C1C1C"/>
                </a:solidFill>
                <a:latin typeface="Helvetica Neue"/>
                <a:ea typeface="Helvetica Neue"/>
                <a:cs typeface="Helvetica Neue"/>
              </a:rPr>
              <a:t> proves a read request did not become a write.</a:t>
            </a:r>
          </a:p>
        </p:txBody>
      </p:sp>
      <p:sp>
        <p:nvSpPr>
          <p:cNvPr id="8" name="panel-804">
            <a:extLst xmlns:a="http://schemas.openxmlformats.org/drawingml/2006/main">
              <a:ext uri="{FF2B5EF4-FFF2-40B4-BE49-F238E27FC236}">
                <a16:creationId xmlns:a16="http://schemas.microsoft.com/office/drawing/2014/main" id="{913A91FA-EDC3-4B9A-8456-3D8849777F2E}"/>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805">
            <a:extLst xmlns:a="http://schemas.openxmlformats.org/drawingml/2006/main">
              <a:ext uri="{FF2B5EF4-FFF2-40B4-BE49-F238E27FC236}">
                <a16:creationId xmlns:a16="http://schemas.microsoft.com/office/drawing/2014/main" id="{AD722C66-1D3F-489B-9FB6-D4E351B00C9A}"/>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checklist request is sourced, the date is unknown, and the task count is unchanged.</a:t>
            </a:r>
          </a:p>
        </p:txBody>
      </p:sp>
      <p:sp>
        <p:nvSpPr>
          <p:cNvPr id="10" name="text-806">
            <a:extLst xmlns:a="http://schemas.openxmlformats.org/drawingml/2006/main">
              <a:ext uri="{FF2B5EF4-FFF2-40B4-BE49-F238E27FC236}">
                <a16:creationId xmlns:a16="http://schemas.microsoft.com/office/drawing/2014/main" id="{4A4A7F0C-B6AF-45B5-A259-0E32566B1C9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80</a:t>
            </a:r>
          </a:p>
        </p:txBody>
      </p:sp>
    </p:spTree>
    <p:extLst>
      <p:ext uri="{BB962C8B-B14F-4D97-AF65-F5344CB8AC3E}">
        <p14:creationId xmlns:p14="http://schemas.microsoft.com/office/powerpoint/2010/main" val="2108994976"/>
      </p:ext>
    </p:extLst>
  </p:cSld>
</p:sld>
</file>

<file path=ppt/slides/slide81.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14" name="text-807">
            <a:extLst xmlns:a="http://schemas.openxmlformats.org/drawingml/2006/main">
              <a:ext uri="{FF2B5EF4-FFF2-40B4-BE49-F238E27FC236}">
                <a16:creationId xmlns:a16="http://schemas.microsoft.com/office/drawing/2014/main" id="{7FF6A9BF-601F-485B-A065-DB216F59619F}"/>
              </a:ext>
            </a:extLst>
          </p:cNvPr>
          <p:cNvSpPr>
            <a:spLocks xmlns:a="http://schemas.openxmlformats.org/drawingml/2006/main" noGrp="1"/>
          </p:cNvSpPr>
          <p:nvPr/>
        </p:nvSpPr>
        <p:spPr>
          <a:xfrm xmlns:a="http://schemas.openxmlformats.org/drawingml/2006/main">
            <a:off x="609600" y="7905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i="0">
                <a:solidFill>
                  <a:srgbClr val="D1372D"/>
                </a:solidFill>
                <a:latin typeface="Avenir Next"/>
                <a:ea typeface="Avenir Next"/>
                <a:cs typeface="Avenir Next"/>
              </a:defRPr>
            </a:pPr>
            <a:r>
              <a:rPr sz="5400" b="1" i="0">
                <a:solidFill>
                  <a:srgbClr val="D1372D"/>
                </a:solidFill>
                <a:latin typeface="Avenir Next"/>
                <a:ea typeface="Avenir Next"/>
                <a:cs typeface="Avenir Next"/>
              </a:rPr>
              <a:t>LAB</a:t>
            </a:r>
          </a:p>
        </p:txBody>
      </p:sp>
      <p:sp>
        <p:nvSpPr>
          <p:cNvPr id="2" name="text-808">
            <a:extLst xmlns:a="http://schemas.openxmlformats.org/drawingml/2006/main">
              <a:ext uri="{FF2B5EF4-FFF2-40B4-BE49-F238E27FC236}">
                <a16:creationId xmlns:a16="http://schemas.microsoft.com/office/drawing/2014/main" id="{EE724C12-1F57-483C-A314-E6CEE59558C8}"/>
              </a:ext>
            </a:extLst>
          </p:cNvPr>
          <p:cNvSpPr>
            <a:spLocks xmlns:a="http://schemas.openxmlformats.org/drawingml/2006/main" noGrp="1"/>
          </p:cNvSpPr>
          <p:nvPr/>
        </p:nvSpPr>
        <p:spPr>
          <a:xfrm xmlns:a="http://schemas.openxmlformats.org/drawingml/2006/main">
            <a:off x="609600" y="1752600"/>
            <a:ext cx="2619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1" i="0">
                <a:solidFill>
                  <a:srgbClr val="D1372D"/>
                </a:solidFill>
                <a:latin typeface="Avenir Next"/>
                <a:ea typeface="Avenir Next"/>
                <a:cs typeface="Avenir Next"/>
              </a:defRPr>
            </a:pPr>
            <a:r>
              <a:rPr sz="8700" b="1" i="0">
                <a:solidFill>
                  <a:srgbClr val="D1372D"/>
                </a:solidFill>
                <a:latin typeface="Avenir Next"/>
                <a:ea typeface="Avenir Next"/>
                <a:cs typeface="Avenir Next"/>
              </a:rPr>
              <a:t>02</a:t>
            </a:r>
          </a:p>
        </p:txBody>
      </p:sp>
      <p:sp>
        <p:nvSpPr>
          <p:cNvPr id="3" name="text-809">
            <a:extLst xmlns:a="http://schemas.openxmlformats.org/drawingml/2006/main">
              <a:ext uri="{FF2B5EF4-FFF2-40B4-BE49-F238E27FC236}">
                <a16:creationId xmlns:a16="http://schemas.microsoft.com/office/drawing/2014/main" id="{CB7FD063-286B-4677-A986-E8E9F49F53B9}"/>
              </a:ext>
            </a:extLst>
          </p:cNvPr>
          <p:cNvSpPr>
            <a:spLocks xmlns:a="http://schemas.openxmlformats.org/drawingml/2006/main" noGrp="1"/>
          </p:cNvSpPr>
          <p:nvPr/>
        </p:nvSpPr>
        <p:spPr>
          <a:xfrm xmlns:a="http://schemas.openxmlformats.org/drawingml/2006/main">
            <a:off x="3600450" y="600075"/>
            <a:ext cx="7867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Import one meeting twice</a:t>
            </a:r>
          </a:p>
        </p:txBody>
      </p:sp>
      <p:sp>
        <p:nvSpPr>
          <p:cNvPr id="4" name="text-810">
            <a:extLst xmlns:a="http://schemas.openxmlformats.org/drawingml/2006/main">
              <a:ext uri="{FF2B5EF4-FFF2-40B4-BE49-F238E27FC236}">
                <a16:creationId xmlns:a16="http://schemas.microsoft.com/office/drawing/2014/main" id="{6C88FE9F-7AA3-4859-BD85-74010A15F21B}"/>
              </a:ext>
            </a:extLst>
          </p:cNvPr>
          <p:cNvSpPr>
            <a:spLocks xmlns:a="http://schemas.openxmlformats.org/drawingml/2006/main" noGrp="1"/>
          </p:cNvSpPr>
          <p:nvPr/>
        </p:nvSpPr>
        <p:spPr>
          <a:xfrm xmlns:a="http://schemas.openxmlformats.org/drawingml/2006/main">
            <a:off x="3600450" y="2114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5" name="text-811">
            <a:extLst xmlns:a="http://schemas.openxmlformats.org/drawingml/2006/main">
              <a:ext uri="{FF2B5EF4-FFF2-40B4-BE49-F238E27FC236}">
                <a16:creationId xmlns:a16="http://schemas.microsoft.com/office/drawing/2014/main" id="{73F3E7CA-F49B-4EB0-B8A9-D564057338B9}"/>
              </a:ext>
            </a:extLst>
          </p:cNvPr>
          <p:cNvSpPr>
            <a:spLocks xmlns:a="http://schemas.openxmlformats.org/drawingml/2006/main" noGrp="1"/>
          </p:cNvSpPr>
          <p:nvPr/>
        </p:nvSpPr>
        <p:spPr>
          <a:xfrm xmlns:a="http://schemas.openxmlformats.org/drawingml/2006/main">
            <a:off x="4505325" y="211455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Choose Northstar and inspect the sample record</a:t>
            </a:r>
          </a:p>
        </p:txBody>
      </p:sp>
      <p:sp>
        <p:nvSpPr>
          <p:cNvPr id="6" name="text-812">
            <a:extLst xmlns:a="http://schemas.openxmlformats.org/drawingml/2006/main">
              <a:ext uri="{FF2B5EF4-FFF2-40B4-BE49-F238E27FC236}">
                <a16:creationId xmlns:a16="http://schemas.microsoft.com/office/drawing/2014/main" id="{E494BBD9-E34F-412C-80D9-4CB233175BB9}"/>
              </a:ext>
            </a:extLst>
          </p:cNvPr>
          <p:cNvSpPr>
            <a:spLocks xmlns:a="http://schemas.openxmlformats.org/drawingml/2006/main" noGrp="1"/>
          </p:cNvSpPr>
          <p:nvPr/>
        </p:nvSpPr>
        <p:spPr>
          <a:xfrm xmlns:a="http://schemas.openxmlformats.org/drawingml/2006/main">
            <a:off x="3600450" y="30575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7" name="text-813">
            <a:extLst xmlns:a="http://schemas.openxmlformats.org/drawingml/2006/main">
              <a:ext uri="{FF2B5EF4-FFF2-40B4-BE49-F238E27FC236}">
                <a16:creationId xmlns:a16="http://schemas.microsoft.com/office/drawing/2014/main" id="{23B311C6-5CBB-4F88-90F2-F435714498EC}"/>
              </a:ext>
            </a:extLst>
          </p:cNvPr>
          <p:cNvSpPr>
            <a:spLocks xmlns:a="http://schemas.openxmlformats.org/drawingml/2006/main" noGrp="1"/>
          </p:cNvSpPr>
          <p:nvPr/>
        </p:nvSpPr>
        <p:spPr>
          <a:xfrm xmlns:a="http://schemas.openxmlformats.org/drawingml/2006/main">
            <a:off x="4505325" y="3057525"/>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Import it and find its source on the client page</a:t>
            </a:r>
          </a:p>
        </p:txBody>
      </p:sp>
      <p:sp>
        <p:nvSpPr>
          <p:cNvPr id="8" name="text-814">
            <a:extLst xmlns:a="http://schemas.openxmlformats.org/drawingml/2006/main">
              <a:ext uri="{FF2B5EF4-FFF2-40B4-BE49-F238E27FC236}">
                <a16:creationId xmlns:a16="http://schemas.microsoft.com/office/drawing/2014/main" id="{FEBFAB5D-30DE-4115-83E3-5695C22371C9}"/>
              </a:ext>
            </a:extLst>
          </p:cNvPr>
          <p:cNvSpPr>
            <a:spLocks xmlns:a="http://schemas.openxmlformats.org/drawingml/2006/main" noGrp="1"/>
          </p:cNvSpPr>
          <p:nvPr/>
        </p:nvSpPr>
        <p:spPr>
          <a:xfrm xmlns:a="http://schemas.openxmlformats.org/drawingml/2006/main">
            <a:off x="36004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9" name="text-815">
            <a:extLst xmlns:a="http://schemas.openxmlformats.org/drawingml/2006/main">
              <a:ext uri="{FF2B5EF4-FFF2-40B4-BE49-F238E27FC236}">
                <a16:creationId xmlns:a16="http://schemas.microsoft.com/office/drawing/2014/main" id="{08AEA8A5-412C-48A8-B8A4-A3DEE6281185}"/>
              </a:ext>
            </a:extLst>
          </p:cNvPr>
          <p:cNvSpPr>
            <a:spLocks xmlns:a="http://schemas.openxmlformats.org/drawingml/2006/main" noGrp="1"/>
          </p:cNvSpPr>
          <p:nvPr/>
        </p:nvSpPr>
        <p:spPr>
          <a:xfrm xmlns:a="http://schemas.openxmlformats.org/drawingml/2006/main">
            <a:off x="4505325" y="400050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Repeat the import; compare the meeting count</a:t>
            </a:r>
          </a:p>
        </p:txBody>
      </p:sp>
      <p:sp>
        <p:nvSpPr>
          <p:cNvPr id="10" name="panel-816">
            <a:extLst xmlns:a="http://schemas.openxmlformats.org/drawingml/2006/main">
              <a:ext uri="{FF2B5EF4-FFF2-40B4-BE49-F238E27FC236}">
                <a16:creationId xmlns:a16="http://schemas.microsoft.com/office/drawing/2014/main" id="{68769382-072B-4E7C-A0CB-7D495C6C12EB}"/>
              </a:ext>
            </a:extLst>
          </p:cNvPr>
          <p:cNvSpPr>
            <a:spLocks xmlns:a="http://schemas.openxmlformats.org/drawingml/2006/main" noGrp="1"/>
          </p:cNvSpPr>
          <p:nvPr/>
        </p:nvSpPr>
        <p:spPr>
          <a:xfrm xmlns:a="http://schemas.openxmlformats.org/drawingml/2006/main">
            <a:off x="3600450" y="5219700"/>
            <a:ext cx="7715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817">
            <a:extLst xmlns:a="http://schemas.openxmlformats.org/drawingml/2006/main">
              <a:ext uri="{FF2B5EF4-FFF2-40B4-BE49-F238E27FC236}">
                <a16:creationId xmlns:a16="http://schemas.microsoft.com/office/drawing/2014/main" id="{925F2900-E0E2-422B-AAFA-F5C3312E01F5}"/>
              </a:ext>
            </a:extLst>
          </p:cNvPr>
          <p:cNvSpPr>
            <a:spLocks xmlns:a="http://schemas.openxmlformats.org/drawingml/2006/main" noGrp="1"/>
          </p:cNvSpPr>
          <p:nvPr/>
        </p:nvSpPr>
        <p:spPr>
          <a:xfrm xmlns:a="http://schemas.openxmlformats.org/drawingml/2006/main">
            <a:off x="3600450" y="54959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i="0">
                <a:solidFill>
                  <a:srgbClr val="686868"/>
                </a:solidFill>
                <a:latin typeface="Helvetica Neue"/>
                <a:ea typeface="Helvetica Neue"/>
                <a:cs typeface="Helvetica Neue"/>
              </a:defRPr>
            </a:pPr>
            <a:r>
              <a:rPr sz="1650" b="0" i="0">
                <a:solidFill>
                  <a:srgbClr val="686868"/>
                </a:solidFill>
                <a:latin typeface="Helvetica Neue"/>
                <a:ea typeface="Helvetica Neue"/>
                <a:cs typeface="Helvetica Neue"/>
              </a:rPr>
              <a:t>00-course-map/labs/02-connection.md</a:t>
            </a:r>
          </a:p>
        </p:txBody>
      </p:sp>
      <p:sp>
        <p:nvSpPr>
          <p:cNvPr id="12" name="text-818">
            <a:extLst xmlns:a="http://schemas.openxmlformats.org/drawingml/2006/main">
              <a:ext uri="{FF2B5EF4-FFF2-40B4-BE49-F238E27FC236}">
                <a16:creationId xmlns:a16="http://schemas.microsoft.com/office/drawing/2014/main" id="{AA33DA51-77CE-486C-BED1-3DD28709B6AC}"/>
              </a:ext>
            </a:extLst>
          </p:cNvPr>
          <p:cNvSpPr>
            <a:spLocks xmlns:a="http://schemas.openxmlformats.org/drawingml/2006/main" noGrp="1"/>
          </p:cNvSpPr>
          <p:nvPr/>
        </p:nvSpPr>
        <p:spPr>
          <a:xfrm xmlns:a="http://schemas.openxmlformats.org/drawingml/2006/main">
            <a:off x="3600450" y="5876925"/>
            <a:ext cx="776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One source record, two imports, no duplicate</a:t>
            </a:r>
          </a:p>
        </p:txBody>
      </p:sp>
      <p:sp>
        <p:nvSpPr>
          <p:cNvPr id="13" name="text-819">
            <a:extLst xmlns:a="http://schemas.openxmlformats.org/drawingml/2006/main">
              <a:ext uri="{FF2B5EF4-FFF2-40B4-BE49-F238E27FC236}">
                <a16:creationId xmlns:a16="http://schemas.microsoft.com/office/drawing/2014/main" id="{8E001E70-7A24-46F5-B659-99A12FDA68E6}"/>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81</a:t>
            </a:r>
          </a:p>
        </p:txBody>
      </p:sp>
    </p:spTree>
    <p:extLst>
      <p:ext uri="{BB962C8B-B14F-4D97-AF65-F5344CB8AC3E}">
        <p14:creationId xmlns:p14="http://schemas.microsoft.com/office/powerpoint/2010/main" val="942292065"/>
      </p:ext>
    </p:extLst>
  </p:cSld>
</p:sld>
</file>

<file path=ppt/slides/slide8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5" name="text-820">
            <a:extLst xmlns:a="http://schemas.openxmlformats.org/drawingml/2006/main">
              <a:ext uri="{FF2B5EF4-FFF2-40B4-BE49-F238E27FC236}">
                <a16:creationId xmlns:a16="http://schemas.microsoft.com/office/drawing/2014/main" id="{7A3F107F-7745-423D-95F0-6A25169E9D02}"/>
              </a:ext>
            </a:extLst>
          </p:cNvPr>
          <p:cNvSpPr>
            <a:spLocks xmlns:a="http://schemas.openxmlformats.org/drawingml/2006/main" noGrp="1"/>
          </p:cNvSpPr>
          <p:nvPr/>
        </p:nvSpPr>
        <p:spPr>
          <a:xfrm xmlns:a="http://schemas.openxmlformats.org/drawingml/2006/main">
            <a:off x="457200" y="2286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i="0">
                <a:solidFill>
                  <a:srgbClr val="1C1C1C"/>
                </a:solidFill>
                <a:latin typeface="Avenir Next"/>
                <a:ea typeface="Avenir Next"/>
                <a:cs typeface="Avenir Next"/>
              </a:defRPr>
            </a:pPr>
            <a:r>
              <a:rPr sz="3225" b="1" i="0">
                <a:solidFill>
                  <a:srgbClr val="1C1C1C"/>
                </a:solidFill>
                <a:latin typeface="Avenir Next"/>
                <a:ea typeface="Avenir Next"/>
                <a:cs typeface="Avenir Next"/>
              </a:rPr>
              <a:t>Working checkpoint: client evidence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81afb44d5fe41df"/>
          <a:stretch xmlns:a="http://schemas.openxmlformats.org/drawingml/2006/main"/>
        </p:blipFill>
        <p:spPr>
          <a:xfrm xmlns:a="http://schemas.openxmlformats.org/drawingml/2006/main">
            <a:off x="1337733" y="1009650"/>
            <a:ext cx="9516533" cy="5353050"/>
          </a:xfrm>
          <a:prstGeom xmlns:a="http://schemas.openxmlformats.org/drawingml/2006/main" prst="rect">
            <a:avLst/>
          </a:prstGeom>
        </p:spPr>
      </p:pic>
      <p:sp>
        <p:nvSpPr>
          <p:cNvPr id="3" name="text-821">
            <a:extLst xmlns:a="http://schemas.openxmlformats.org/drawingml/2006/main">
              <a:ext uri="{FF2B5EF4-FFF2-40B4-BE49-F238E27FC236}">
                <a16:creationId xmlns:a16="http://schemas.microsoft.com/office/drawing/2014/main" id="{22678D38-E296-40DA-A7C6-B2E0C439E79C}"/>
              </a:ext>
            </a:extLst>
          </p:cNvPr>
          <p:cNvSpPr>
            <a:spLocks xmlns:a="http://schemas.openxmlformats.org/drawingml/2006/main" noGrp="1"/>
          </p:cNvSpPr>
          <p:nvPr/>
        </p:nvSpPr>
        <p:spPr>
          <a:xfrm xmlns:a="http://schemas.openxmlformats.org/drawingml/2006/main">
            <a:off x="457200" y="64579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Actual reference build · fictional practice data · dates vary with the workspace</a:t>
            </a:r>
          </a:p>
        </p:txBody>
      </p:sp>
      <p:sp>
        <p:nvSpPr>
          <p:cNvPr id="4" name="text-822">
            <a:extLst xmlns:a="http://schemas.openxmlformats.org/drawingml/2006/main">
              <a:ext uri="{FF2B5EF4-FFF2-40B4-BE49-F238E27FC236}">
                <a16:creationId xmlns:a16="http://schemas.microsoft.com/office/drawing/2014/main" id="{1B6DBC54-8884-4F05-A238-A7874CCD700E}"/>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82</a:t>
            </a:r>
          </a:p>
        </p:txBody>
      </p:sp>
    </p:spTree>
    <p:extLst>
      <p:ext uri="{BB962C8B-B14F-4D97-AF65-F5344CB8AC3E}">
        <p14:creationId xmlns:p14="http://schemas.microsoft.com/office/powerpoint/2010/main" val="990439420"/>
      </p:ext>
    </p:extLst>
  </p:cSld>
</p:sld>
</file>

<file path=ppt/slides/slide8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823">
            <a:extLst xmlns:a="http://schemas.openxmlformats.org/drawingml/2006/main">
              <a:ext uri="{FF2B5EF4-FFF2-40B4-BE49-F238E27FC236}">
                <a16:creationId xmlns:a16="http://schemas.microsoft.com/office/drawing/2014/main" id="{B7494F41-8BDE-46E0-9109-E3A561105E3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phone-sized screen, explained</a:t>
            </a:r>
          </a:p>
        </p:txBody>
      </p:sp>
      <p:sp>
        <p:nvSpPr>
          <p:cNvPr id="2" name="panel-824">
            <a:extLst xmlns:a="http://schemas.openxmlformats.org/drawingml/2006/main">
              <a:ext uri="{FF2B5EF4-FFF2-40B4-BE49-F238E27FC236}">
                <a16:creationId xmlns:a16="http://schemas.microsoft.com/office/drawing/2014/main" id="{CB5B3088-EE09-41D1-9399-DAC9FFABE286}"/>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825">
            <a:extLst xmlns:a="http://schemas.openxmlformats.org/drawingml/2006/main">
              <a:ext uri="{FF2B5EF4-FFF2-40B4-BE49-F238E27FC236}">
                <a16:creationId xmlns:a16="http://schemas.microsoft.com/office/drawing/2014/main" id="{39D5F29A-8CB2-4851-A2BC-AB0E97714B64}"/>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4" name="text-826">
            <a:extLst xmlns:a="http://schemas.openxmlformats.org/drawingml/2006/main">
              <a:ext uri="{FF2B5EF4-FFF2-40B4-BE49-F238E27FC236}">
                <a16:creationId xmlns:a16="http://schemas.microsoft.com/office/drawing/2014/main" id="{36101EE2-F2D6-4158-9604-236D90891CCC}"/>
              </a:ext>
            </a:extLst>
          </p:cNvPr>
          <p:cNvSpPr>
            <a:spLocks xmlns:a="http://schemas.openxmlformats.org/drawingml/2006/main" noGrp="1"/>
          </p:cNvSpPr>
          <p:nvPr/>
        </p:nvSpPr>
        <p:spPr>
          <a:xfrm xmlns:a="http://schemas.openxmlformats.org/drawingml/2006/main">
            <a:off x="609600" y="2657475"/>
            <a:ext cx="676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Show Northstar’s page at desktop width, then at 390 pixels wide. Explain the difference in plain English. Keep the meeting and Review control visible so we can see whether the same job still works on a small screen.</a:t>
            </a:r>
          </a:p>
        </p:txBody>
      </p:sp>
      <p:sp>
        <p:nvSpPr>
          <p:cNvPr id="5" name="text-827">
            <a:extLst xmlns:a="http://schemas.openxmlformats.org/drawingml/2006/main">
              <a:ext uri="{FF2B5EF4-FFF2-40B4-BE49-F238E27FC236}">
                <a16:creationId xmlns:a16="http://schemas.microsoft.com/office/drawing/2014/main" id="{F6B410D3-4AFA-4C60-998A-C7A5044B413E}"/>
              </a:ext>
            </a:extLst>
          </p:cNvPr>
          <p:cNvSpPr>
            <a:spLocks xmlns:a="http://schemas.openxmlformats.org/drawingml/2006/main" noGrp="1"/>
          </p:cNvSpPr>
          <p:nvPr/>
        </p:nvSpPr>
        <p:spPr>
          <a:xfrm xmlns:a="http://schemas.openxmlformats.org/drawingml/2006/main">
            <a:off x="609600" y="5048250"/>
            <a:ext cx="6953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Viewport:</a:t>
            </a:r>
            <a:r>
              <a:rPr sz="2025" b="0" i="0">
                <a:solidFill>
                  <a:srgbClr val="1C1C1C"/>
                </a:solidFill>
                <a:latin typeface="Helvetica Neue"/>
                <a:ea typeface="Helvetica Neue"/>
                <a:cs typeface="Helvetica Neue"/>
              </a:rPr>
              <a:t> the part of the browser that displays the page. At 390 pixels, we are testing a phone-sized space.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5ed23e08b454d6a"/>
          <a:stretch xmlns:a="http://schemas.openxmlformats.org/drawingml/2006/main"/>
        </p:blipFill>
        <p:spPr>
          <a:xfrm xmlns:a="http://schemas.openxmlformats.org/drawingml/2006/main">
            <a:off x="8753475" y="2104659"/>
            <a:ext cx="2162175" cy="3991708"/>
          </a:xfrm>
          <a:prstGeom xmlns:a="http://schemas.openxmlformats.org/drawingml/2006/main" prst="rect">
            <a:avLst/>
          </a:prstGeom>
        </p:spPr>
      </p:pic>
      <p:sp>
        <p:nvSpPr>
          <p:cNvPr id="7" name="text-828">
            <a:extLst xmlns:a="http://schemas.openxmlformats.org/drawingml/2006/main">
              <a:ext uri="{FF2B5EF4-FFF2-40B4-BE49-F238E27FC236}">
                <a16:creationId xmlns:a16="http://schemas.microsoft.com/office/drawing/2014/main" id="{0907FDB2-5F02-4BCB-A342-0021E68E6F70}"/>
              </a:ext>
            </a:extLst>
          </p:cNvPr>
          <p:cNvSpPr>
            <a:spLocks xmlns:a="http://schemas.openxmlformats.org/drawingml/2006/main" noGrp="1"/>
          </p:cNvSpPr>
          <p:nvPr/>
        </p:nvSpPr>
        <p:spPr>
          <a:xfrm xmlns:a="http://schemas.openxmlformats.org/drawingml/2006/main">
            <a:off x="8191500" y="13906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i="0">
                <a:solidFill>
                  <a:srgbClr val="1C1C1C"/>
                </a:solidFill>
                <a:latin typeface="Avenir Next"/>
                <a:ea typeface="Avenir Next"/>
                <a:cs typeface="Avenir Next"/>
              </a:defRPr>
            </a:pPr>
            <a:r>
              <a:rPr sz="1800" b="1" i="0">
                <a:solidFill>
                  <a:srgbClr val="1C1C1C"/>
                </a:solidFill>
                <a:latin typeface="Avenir Next"/>
                <a:ea typeface="Avenir Next"/>
                <a:cs typeface="Avenir Next"/>
              </a:rPr>
              <a:t>390 pixels wide</a:t>
            </a:r>
          </a:p>
        </p:txBody>
      </p:sp>
      <p:sp>
        <p:nvSpPr>
          <p:cNvPr id="8" name="text-829">
            <a:extLst xmlns:a="http://schemas.openxmlformats.org/drawingml/2006/main">
              <a:ext uri="{FF2B5EF4-FFF2-40B4-BE49-F238E27FC236}">
                <a16:creationId xmlns:a16="http://schemas.microsoft.com/office/drawing/2014/main" id="{A8EFF9E7-46DD-4C4E-9CD0-30344BA6DC7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83</a:t>
            </a:r>
          </a:p>
        </p:txBody>
      </p:sp>
    </p:spTree>
    <p:extLst>
      <p:ext uri="{BB962C8B-B14F-4D97-AF65-F5344CB8AC3E}">
        <p14:creationId xmlns:p14="http://schemas.microsoft.com/office/powerpoint/2010/main" val="1659725506"/>
      </p:ext>
    </p:extLst>
  </p:cSld>
</p:sld>
</file>

<file path=ppt/slides/slide8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830">
            <a:extLst xmlns:a="http://schemas.openxmlformats.org/drawingml/2006/main">
              <a:ext uri="{FF2B5EF4-FFF2-40B4-BE49-F238E27FC236}">
                <a16:creationId xmlns:a16="http://schemas.microsoft.com/office/drawing/2014/main" id="{F8F57DAF-2467-4E1E-A298-333ED9AA82FB}"/>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design review with visible criteria</a:t>
            </a:r>
          </a:p>
        </p:txBody>
      </p:sp>
      <p:sp>
        <p:nvSpPr>
          <p:cNvPr id="2" name="panel-831">
            <a:extLst xmlns:a="http://schemas.openxmlformats.org/drawingml/2006/main">
              <a:ext uri="{FF2B5EF4-FFF2-40B4-BE49-F238E27FC236}">
                <a16:creationId xmlns:a16="http://schemas.microsoft.com/office/drawing/2014/main" id="{BEF88F12-075D-43DA-94F0-B1C54E8045EE}"/>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832">
            <a:extLst xmlns:a="http://schemas.openxmlformats.org/drawingml/2006/main">
              <a:ext uri="{FF2B5EF4-FFF2-40B4-BE49-F238E27FC236}">
                <a16:creationId xmlns:a16="http://schemas.microsoft.com/office/drawing/2014/main" id="{8B33821A-81D0-4C34-A6C6-A8CA51D68D51}"/>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Northstar client page</a:t>
            </a:r>
          </a:p>
        </p:txBody>
      </p:sp>
      <p:sp>
        <p:nvSpPr>
          <p:cNvPr id="4" name="text-833">
            <a:extLst xmlns:a="http://schemas.openxmlformats.org/drawingml/2006/main">
              <a:ext uri="{FF2B5EF4-FFF2-40B4-BE49-F238E27FC236}">
                <a16:creationId xmlns:a16="http://schemas.microsoft.com/office/drawing/2014/main" id="{44FF5C32-9C6D-42A0-9DAD-8414FAA23FA1}"/>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1">
                <a:solidFill>
                  <a:srgbClr val="1C1C1C"/>
                </a:solidFill>
                <a:latin typeface="Helvetica Neue"/>
                <a:ea typeface="Helvetica Neue"/>
                <a:cs typeface="Helvetica Neue"/>
              </a:defRPr>
            </a:pPr>
            <a:r>
              <a:rPr sz="2025" b="0" i="1">
                <a:solidFill>
                  <a:srgbClr val="1C1C1C"/>
                </a:solidFill>
                <a:latin typeface="Helvetica Neue"/>
                <a:ea typeface="Helvetica Neue"/>
                <a:cs typeface="Helvetica Neue"/>
              </a:rPr>
              <a:t>Can I find the latest meeting?</a:t>
            </a:r>
          </a:p>
          <a:p xmlns:a="http://schemas.openxmlformats.org/drawingml/2006/main">
            <a:pPr>
              <a:defRPr sz="2025" b="0" i="1">
                <a:solidFill>
                  <a:srgbClr val="1C1C1C"/>
                </a:solidFill>
                <a:latin typeface="Helvetica Neue"/>
                <a:ea typeface="Helvetica Neue"/>
                <a:cs typeface="Helvetica Neue"/>
              </a:defRPr>
            </a:pPr>
            <a:r>
              <a:rPr sz="2025" b="0" i="1">
                <a:solidFill>
                  <a:srgbClr val="1C1C1C"/>
                </a:solidFill>
                <a:latin typeface="Helvetica Neue"/>
                <a:ea typeface="Helvetica Neue"/>
                <a:cs typeface="Helvetica Neue"/>
              </a:rPr>
              <a:t>Can I identify the next action?</a:t>
            </a:r>
          </a:p>
          <a:p xmlns:a="http://schemas.openxmlformats.org/drawingml/2006/main">
            <a:pPr>
              <a:defRPr sz="2025" b="0" i="1">
                <a:solidFill>
                  <a:srgbClr val="1C1C1C"/>
                </a:solidFill>
                <a:latin typeface="Helvetica Neue"/>
                <a:ea typeface="Helvetica Neue"/>
                <a:cs typeface="Helvetica Neue"/>
              </a:defRPr>
            </a:pPr>
            <a:r>
              <a:rPr sz="2025" b="0" i="1">
                <a:solidFill>
                  <a:srgbClr val="1C1C1C"/>
                </a:solidFill>
                <a:latin typeface="Helvetica Neue"/>
                <a:ea typeface="Helvetica Neue"/>
                <a:cs typeface="Helvetica Neue"/>
              </a:rPr>
              <a:t>Can I see where the information came from?</a:t>
            </a:r>
          </a:p>
          <a:p xmlns:a="http://schemas.openxmlformats.org/drawingml/2006/main">
            <a:pPr>
              <a:defRPr sz="2025" b="0" i="1">
                <a:solidFill>
                  <a:srgbClr val="1C1C1C"/>
                </a:solidFill>
                <a:latin typeface="Helvetica Neue"/>
                <a:ea typeface="Helvetica Neue"/>
                <a:cs typeface="Helvetica Neue"/>
              </a:defRPr>
            </a:pPr>
            <a:r>
              <a:rPr sz="2025" b="0" i="1">
                <a:solidFill>
                  <a:srgbClr val="1C1C1C"/>
                </a:solidFill>
                <a:latin typeface="Helvetica Neue"/>
                <a:ea typeface="Helvetica Neue"/>
                <a:cs typeface="Helvetica Neue"/>
              </a:rPr>
              <a:t>Can I reach Review on a phone-sized screen?</a:t>
            </a:r>
          </a:p>
          <a:p xmlns:a="http://schemas.openxmlformats.org/drawingml/2006/main">
            <a:pPr>
              <a:defRPr sz="2025" b="0" i="1">
                <a:solidFill>
                  <a:srgbClr val="1C1C1C"/>
                </a:solidFill>
                <a:latin typeface="Helvetica Neue"/>
                <a:ea typeface="Helvetica Neue"/>
                <a:cs typeface="Helvetica Neue"/>
              </a:defRPr>
            </a:pPr>
            <a:r>
              <a:rPr sz="2025" b="0" i="1">
                <a:solidFill>
                  <a:srgbClr val="1C1C1C"/>
                </a:solidFill>
                <a:latin typeface="Helvetica Neue"/>
                <a:ea typeface="Helvetica Neue"/>
                <a:cs typeface="Helvetica Neue"/>
              </a:rPr>
              <a:t>Can I use it with the keyboard?</a:t>
            </a:r>
          </a:p>
        </p:txBody>
      </p:sp>
      <p:sp>
        <p:nvSpPr>
          <p:cNvPr id="5" name="panel-834">
            <a:extLst xmlns:a="http://schemas.openxmlformats.org/drawingml/2006/main">
              <a:ext uri="{FF2B5EF4-FFF2-40B4-BE49-F238E27FC236}">
                <a16:creationId xmlns:a16="http://schemas.microsoft.com/office/drawing/2014/main" id="{2FA85C85-5C16-45BE-BD06-6DBBACA9C74C}"/>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835">
            <a:extLst xmlns:a="http://schemas.openxmlformats.org/drawingml/2006/main">
              <a:ext uri="{FF2B5EF4-FFF2-40B4-BE49-F238E27FC236}">
                <a16:creationId xmlns:a16="http://schemas.microsoft.com/office/drawing/2014/main" id="{F51B79E9-C9F8-4274-81AF-C67DE3915D7A}"/>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Example defect report</a:t>
            </a:r>
          </a:p>
        </p:txBody>
      </p:sp>
      <p:sp>
        <p:nvSpPr>
          <p:cNvPr id="7" name="text-836">
            <a:extLst xmlns:a="http://schemas.openxmlformats.org/drawingml/2006/main">
              <a:ext uri="{FF2B5EF4-FFF2-40B4-BE49-F238E27FC236}">
                <a16:creationId xmlns:a16="http://schemas.microsoft.com/office/drawing/2014/main" id="{AED3828B-DEEF-4014-95B2-8DD4B203FCF3}"/>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If Review is off screen at phone width, show the blocked action.</a:t>
            </a:r>
          </a:p>
          <a:p xmlns:a="http://schemas.openxmlformats.org/drawingml/2006/main">
            <a:r>
              <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Fix its cause and repeat the check. Report a pass if it already works.</a:t>
            </a:r>
          </a:p>
        </p:txBody>
      </p:sp>
      <p:sp>
        <p:nvSpPr>
          <p:cNvPr id="8" name="text-837">
            <a:extLst xmlns:a="http://schemas.openxmlformats.org/drawingml/2006/main">
              <a:ext uri="{FF2B5EF4-FFF2-40B4-BE49-F238E27FC236}">
                <a16:creationId xmlns:a16="http://schemas.microsoft.com/office/drawing/2014/main" id="{41140EF0-0CD9-47FE-936A-E13DE30CF01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84</a:t>
            </a:r>
          </a:p>
        </p:txBody>
      </p:sp>
    </p:spTree>
    <p:extLst>
      <p:ext uri="{BB962C8B-B14F-4D97-AF65-F5344CB8AC3E}">
        <p14:creationId xmlns:p14="http://schemas.microsoft.com/office/powerpoint/2010/main" val="1521509381"/>
      </p:ext>
    </p:extLst>
  </p:cSld>
</p:sld>
</file>

<file path=ppt/slides/slide8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838">
            <a:extLst xmlns:a="http://schemas.openxmlformats.org/drawingml/2006/main">
              <a:ext uri="{FF2B5EF4-FFF2-40B4-BE49-F238E27FC236}">
                <a16:creationId xmlns:a16="http://schemas.microsoft.com/office/drawing/2014/main" id="{E8B5865B-122A-4D5E-AED1-78905B98451A}"/>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Claude in Chrome</a:t>
            </a:r>
          </a:p>
        </p:txBody>
      </p:sp>
      <p:sp>
        <p:nvSpPr>
          <p:cNvPr id="2" name="panel-839">
            <a:extLst xmlns:a="http://schemas.openxmlformats.org/drawingml/2006/main">
              <a:ext uri="{FF2B5EF4-FFF2-40B4-BE49-F238E27FC236}">
                <a16:creationId xmlns:a16="http://schemas.microsoft.com/office/drawing/2014/main" id="{282025C8-26D5-4103-9B1D-F44A631ABCC6}"/>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840">
            <a:extLst xmlns:a="http://schemas.openxmlformats.org/drawingml/2006/main">
              <a:ext uri="{FF2B5EF4-FFF2-40B4-BE49-F238E27FC236}">
                <a16:creationId xmlns:a16="http://schemas.microsoft.com/office/drawing/2014/main" id="{7F73D4EA-F39A-4B42-9EB3-34099EB2D8BC}"/>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841">
            <a:extLst xmlns:a="http://schemas.openxmlformats.org/drawingml/2006/main">
              <a:ext uri="{FF2B5EF4-FFF2-40B4-BE49-F238E27FC236}">
                <a16:creationId xmlns:a16="http://schemas.microsoft.com/office/drawing/2014/main" id="{F8101212-5E4E-49A2-BC2E-3E437FBEFC4E}"/>
              </a:ext>
            </a:extLst>
          </p:cNvPr>
          <p:cNvSpPr>
            <a:spLocks xmlns:a="http://schemas.openxmlformats.org/drawingml/2006/main" noGrp="1"/>
          </p:cNvSpPr>
          <p:nvPr/>
        </p:nvSpPr>
        <p:spPr>
          <a:xfrm xmlns:a="http://schemas.openxmlformats.org/drawingml/2006/main">
            <a:off x="609600" y="20383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842">
            <a:extLst xmlns:a="http://schemas.openxmlformats.org/drawingml/2006/main">
              <a:ext uri="{FF2B5EF4-FFF2-40B4-BE49-F238E27FC236}">
                <a16:creationId xmlns:a16="http://schemas.microsoft.com/office/drawing/2014/main" id="{799C2341-C660-4072-BC86-2429F7AA92E4}"/>
              </a:ext>
            </a:extLst>
          </p:cNvPr>
          <p:cNvSpPr>
            <a:spLocks xmlns:a="http://schemas.openxmlformats.org/drawingml/2006/main" noGrp="1"/>
          </p:cNvSpPr>
          <p:nvPr/>
        </p:nvSpPr>
        <p:spPr>
          <a:xfrm xmlns:a="http://schemas.openxmlformats.org/drawingml/2006/main">
            <a:off x="7981950" y="2038350"/>
            <a:ext cx="3600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i="0">
                <a:solidFill>
                  <a:srgbClr val="686868"/>
                </a:solidFill>
                <a:latin typeface="Avenir Next"/>
                <a:ea typeface="Avenir Next"/>
                <a:cs typeface="Avenir Next"/>
              </a:defRPr>
            </a:pPr>
            <a:r>
              <a:rPr sz="1875" b="1" i="0">
                <a:solidFill>
                  <a:srgbClr val="686868"/>
                </a:solidFill>
                <a:latin typeface="Avenir Next"/>
                <a:ea typeface="Avenir Next"/>
                <a:cs typeface="Avenir Next"/>
              </a:rPr>
              <a:t>Technical reference</a:t>
            </a:r>
          </a:p>
        </p:txBody>
      </p:sp>
      <p:sp>
        <p:nvSpPr>
          <p:cNvPr id="6" name="text-843">
            <a:extLst xmlns:a="http://schemas.openxmlformats.org/drawingml/2006/main">
              <a:ext uri="{FF2B5EF4-FFF2-40B4-BE49-F238E27FC236}">
                <a16:creationId xmlns:a16="http://schemas.microsoft.com/office/drawing/2014/main" id="{D6882A98-387C-4049-B8B0-1EF6EC5EEEB1}"/>
              </a:ext>
            </a:extLst>
          </p:cNvPr>
          <p:cNvSpPr>
            <a:spLocks xmlns:a="http://schemas.openxmlformats.org/drawingml/2006/main" noGrp="1"/>
          </p:cNvSpPr>
          <p:nvPr/>
        </p:nvSpPr>
        <p:spPr>
          <a:xfrm xmlns:a="http://schemas.openxmlformats.org/drawingml/2006/main">
            <a:off x="609600" y="2667000"/>
            <a:ext cx="68008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 me connect this Claude Code session to Chrome. Check the current requirements and explain the setup steps I need to complete. Once connected, show the open ClientDesk page so I can confirm you have the right tab.</a:t>
            </a:r>
          </a:p>
        </p:txBody>
      </p:sp>
      <p:sp>
        <p:nvSpPr>
          <p:cNvPr id="7" name="panel-844">
            <a:extLst xmlns:a="http://schemas.openxmlformats.org/drawingml/2006/main">
              <a:ext uri="{FF2B5EF4-FFF2-40B4-BE49-F238E27FC236}">
                <a16:creationId xmlns:a16="http://schemas.microsoft.com/office/drawing/2014/main" id="{6EBFF97F-4F3A-4CA4-9563-F01E979D8E46}"/>
              </a:ext>
            </a:extLst>
          </p:cNvPr>
          <p:cNvSpPr>
            <a:spLocks xmlns:a="http://schemas.openxmlformats.org/drawingml/2006/main" noGrp="1"/>
          </p:cNvSpPr>
          <p:nvPr/>
        </p:nvSpPr>
        <p:spPr>
          <a:xfrm xmlns:a="http://schemas.openxmlformats.org/drawingml/2006/main">
            <a:off x="7981950" y="2667000"/>
            <a:ext cx="3600450" cy="1270159"/>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8" name="text-845">
            <a:extLst xmlns:a="http://schemas.openxmlformats.org/drawingml/2006/main">
              <a:ext uri="{FF2B5EF4-FFF2-40B4-BE49-F238E27FC236}">
                <a16:creationId xmlns:a16="http://schemas.microsoft.com/office/drawing/2014/main" id="{22BC6EF0-4AEC-4AE0-8B30-9444F16DE095}"/>
              </a:ext>
            </a:extLst>
          </p:cNvPr>
          <p:cNvSpPr>
            <a:spLocks xmlns:a="http://schemas.openxmlformats.org/drawingml/2006/main" noGrp="1"/>
          </p:cNvSpPr>
          <p:nvPr/>
        </p:nvSpPr>
        <p:spPr>
          <a:xfrm xmlns:a="http://schemas.openxmlformats.org/drawingml/2006/main">
            <a:off x="8172450" y="2857500"/>
            <a:ext cx="3219450" cy="9844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claude --chrome</a:t>
            </a:r>
          </a:p>
          <a:p xmlns:a="http://schemas.openxmlformats.org/drawingml/2006/main">
            <a:r>
              <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/chrome</a:t>
            </a:r>
          </a:p>
        </p:txBody>
      </p:sp>
      <p:sp>
        <p:nvSpPr>
          <p:cNvPr id="9" name="text-846">
            <a:extLst xmlns:a="http://schemas.openxmlformats.org/drawingml/2006/main">
              <a:ext uri="{FF2B5EF4-FFF2-40B4-BE49-F238E27FC236}">
                <a16:creationId xmlns:a16="http://schemas.microsoft.com/office/drawing/2014/main" id="{F4141209-7A9D-41F8-B0F0-B14710559119}"/>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686868"/>
                </a:solidFill>
                <a:latin typeface="Helvetica Neue"/>
                <a:ea typeface="Helvetica Neue"/>
                <a:cs typeface="Helvetica Neue"/>
              </a:defRPr>
            </a:pPr>
            <a:r>
              <a:rPr sz="1800" b="1" i="0">
                <a:solidFill>
                  <a:srgbClr val="686868"/>
                </a:solidFill>
                <a:latin typeface="Helvetica Neue"/>
                <a:ea typeface="Helvetica Neue"/>
                <a:cs typeface="Helvetica Neue"/>
              </a:rPr>
              <a:t>Where:</a:t>
            </a:r>
            <a:r>
              <a:rPr sz="1800" b="0" i="0">
                <a:solidFill>
                  <a:srgbClr val="686868"/>
                </a:solidFill>
                <a:latin typeface="Helvetica Neue"/>
                <a:ea typeface="Helvetica Neue"/>
                <a:cs typeface="Helvetica Neue"/>
              </a:rPr>
              <a:t> start in Claude Code. The technical reference shows the terminal launch command and the in-session status command.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d2dc40563b64f0d"/>
          <a:stretch xmlns:a="http://schemas.openxmlformats.org/drawingml/2006/main"/>
        </p:blipFill>
        <p:spPr>
          <a:xfrm xmlns:a="http://schemas.openxmlformats.org/drawingml/2006/main">
            <a:off x="10972800" y="466725"/>
            <a:ext cx="533400" cy="533400"/>
          </a:xfrm>
          <a:prstGeom xmlns:a="http://schemas.openxmlformats.org/drawingml/2006/main" prst="rect">
            <a:avLst/>
          </a:prstGeom>
        </p:spPr>
      </p:pic>
      <p:sp>
        <p:nvSpPr>
          <p:cNvPr id="11" name="text-847">
            <a:extLst xmlns:a="http://schemas.openxmlformats.org/drawingml/2006/main">
              <a:ext uri="{FF2B5EF4-FFF2-40B4-BE49-F238E27FC236}">
                <a16:creationId xmlns:a16="http://schemas.microsoft.com/office/drawing/2014/main" id="{EE90E7CE-49B9-46FA-A27B-D4A007A1BD1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85</a:t>
            </a:r>
          </a:p>
        </p:txBody>
      </p:sp>
    </p:spTree>
    <p:extLst>
      <p:ext uri="{BB962C8B-B14F-4D97-AF65-F5344CB8AC3E}">
        <p14:creationId xmlns:p14="http://schemas.microsoft.com/office/powerpoint/2010/main" val="754087977"/>
      </p:ext>
    </p:extLst>
  </p:cSld>
</p:sld>
</file>

<file path=ppt/slides/slide8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848">
            <a:extLst xmlns:a="http://schemas.openxmlformats.org/drawingml/2006/main">
              <a:ext uri="{FF2B5EF4-FFF2-40B4-BE49-F238E27FC236}">
                <a16:creationId xmlns:a16="http://schemas.microsoft.com/office/drawing/2014/main" id="{BCDD4A88-966C-422E-8187-084CCCA3C3B1}"/>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Confirm Claude can see the right page</a:t>
            </a:r>
          </a:p>
        </p:txBody>
      </p:sp>
      <p:sp>
        <p:nvSpPr>
          <p:cNvPr id="2" name="panel-849">
            <a:extLst xmlns:a="http://schemas.openxmlformats.org/drawingml/2006/main">
              <a:ext uri="{FF2B5EF4-FFF2-40B4-BE49-F238E27FC236}">
                <a16:creationId xmlns:a16="http://schemas.microsoft.com/office/drawing/2014/main" id="{418E6C7F-77BA-4745-BF29-47B3BB9777A8}"/>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850">
            <a:extLst xmlns:a="http://schemas.openxmlformats.org/drawingml/2006/main">
              <a:ext uri="{FF2B5EF4-FFF2-40B4-BE49-F238E27FC236}">
                <a16:creationId xmlns:a16="http://schemas.microsoft.com/office/drawing/2014/main" id="{48CC1FC7-FEB3-4DF4-A4F7-BA4777651C51}"/>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851">
            <a:extLst xmlns:a="http://schemas.openxmlformats.org/drawingml/2006/main">
              <a:ext uri="{FF2B5EF4-FFF2-40B4-BE49-F238E27FC236}">
                <a16:creationId xmlns:a16="http://schemas.microsoft.com/office/drawing/2014/main" id="{B634B150-BFBC-431C-ADD1-36A03F895EBA}"/>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852">
            <a:extLst xmlns:a="http://schemas.openxmlformats.org/drawingml/2006/main">
              <a:ext uri="{FF2B5EF4-FFF2-40B4-BE49-F238E27FC236}">
                <a16:creationId xmlns:a16="http://schemas.microsoft.com/office/drawing/2014/main" id="{60FDA363-17D9-4D65-BC98-4E3B09FE0FA7}"/>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853">
            <a:extLst xmlns:a="http://schemas.openxmlformats.org/drawingml/2006/main">
              <a:ext uri="{FF2B5EF4-FFF2-40B4-BE49-F238E27FC236}">
                <a16:creationId xmlns:a16="http://schemas.microsoft.com/office/drawing/2014/main" id="{5A3AB744-0004-4A4F-8282-03FC5638E191}"/>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Use the browser connection to describe the open ClientDesk page. Name the client, the latest meeting, and the primary action you can see. Do not click or change anything yet.</a:t>
            </a:r>
          </a:p>
        </p:txBody>
      </p:sp>
      <p:sp>
        <p:nvSpPr>
          <p:cNvPr id="7" name="text-854">
            <a:extLst xmlns:a="http://schemas.openxmlformats.org/drawingml/2006/main">
              <a:ext uri="{FF2B5EF4-FFF2-40B4-BE49-F238E27FC236}">
                <a16:creationId xmlns:a16="http://schemas.microsoft.com/office/drawing/2014/main" id="{FB5D4C28-9631-4A1A-8AE3-19175FFFE986}"/>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Confirmation:</a:t>
            </a:r>
            <a:r>
              <a:rPr sz="1875" b="0" i="0">
                <a:solidFill>
                  <a:srgbClr val="1C1C1C"/>
                </a:solidFill>
                <a:latin typeface="Helvetica Neue"/>
                <a:ea typeface="Helvetica Neue"/>
                <a:cs typeface="Helvetica Neue"/>
              </a:rPr>
              <a:t> establishes the correct tab.</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Observation:</a:t>
            </a:r>
            <a:r>
              <a:rPr sz="1875" b="0" i="0">
                <a:solidFill>
                  <a:srgbClr val="1C1C1C"/>
                </a:solidFill>
                <a:latin typeface="Helvetica Neue"/>
                <a:ea typeface="Helvetica Neue"/>
                <a:cs typeface="Helvetica Neue"/>
              </a:rPr>
              <a:t> distinguishes seeing the page from reading its source files.</a:t>
            </a:r>
          </a:p>
        </p:txBody>
      </p:sp>
      <p:sp>
        <p:nvSpPr>
          <p:cNvPr id="8" name="panel-855">
            <a:extLst xmlns:a="http://schemas.openxmlformats.org/drawingml/2006/main">
              <a:ext uri="{FF2B5EF4-FFF2-40B4-BE49-F238E27FC236}">
                <a16:creationId xmlns:a16="http://schemas.microsoft.com/office/drawing/2014/main" id="{A1027479-C666-4A85-A21C-5B35C7F86C74}"/>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856">
            <a:extLst xmlns:a="http://schemas.openxmlformats.org/drawingml/2006/main">
              <a:ext uri="{FF2B5EF4-FFF2-40B4-BE49-F238E27FC236}">
                <a16:creationId xmlns:a16="http://schemas.microsoft.com/office/drawing/2014/main" id="{65DF9FC3-FE92-4222-9F96-7DE6C693081A}"/>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Claude correctly identifies Northstar and Review task.</a:t>
            </a:r>
          </a:p>
        </p:txBody>
      </p:sp>
      <p:sp>
        <p:nvSpPr>
          <p:cNvPr id="10" name="text-857">
            <a:extLst xmlns:a="http://schemas.openxmlformats.org/drawingml/2006/main">
              <a:ext uri="{FF2B5EF4-FFF2-40B4-BE49-F238E27FC236}">
                <a16:creationId xmlns:a16="http://schemas.microsoft.com/office/drawing/2014/main" id="{78058DEC-6DA5-4701-8EB3-364E7ED060E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86</a:t>
            </a:r>
          </a:p>
        </p:txBody>
      </p:sp>
    </p:spTree>
    <p:extLst>
      <p:ext uri="{BB962C8B-B14F-4D97-AF65-F5344CB8AC3E}">
        <p14:creationId xmlns:p14="http://schemas.microsoft.com/office/powerpoint/2010/main" val="1315759727"/>
      </p:ext>
    </p:extLst>
  </p:cSld>
</p:sld>
</file>

<file path=ppt/slides/slide8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text-858">
            <a:extLst xmlns:a="http://schemas.openxmlformats.org/drawingml/2006/main">
              <a:ext uri="{FF2B5EF4-FFF2-40B4-BE49-F238E27FC236}">
                <a16:creationId xmlns:a16="http://schemas.microsoft.com/office/drawing/2014/main" id="{C832630D-2B18-4D3A-AD8B-5CF7FCD9406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browser review request</a:t>
            </a:r>
          </a:p>
        </p:txBody>
      </p:sp>
      <p:sp>
        <p:nvSpPr>
          <p:cNvPr id="2" name="panel-859">
            <a:extLst xmlns:a="http://schemas.openxmlformats.org/drawingml/2006/main">
              <a:ext uri="{FF2B5EF4-FFF2-40B4-BE49-F238E27FC236}">
                <a16:creationId xmlns:a16="http://schemas.microsoft.com/office/drawing/2014/main" id="{5FED69E7-1688-4B8D-8E8C-063D75C2B9AA}"/>
              </a:ext>
            </a:extLst>
          </p:cNvPr>
          <p:cNvSpPr>
            <a:spLocks xmlns:a="http://schemas.openxmlformats.org/drawingml/2006/main" noGrp="1"/>
          </p:cNvSpPr>
          <p:nvPr/>
        </p:nvSpPr>
        <p:spPr>
          <a:xfrm xmlns:a="http://schemas.openxmlformats.org/drawingml/2006/main">
            <a:off x="609600" y="1981200"/>
            <a:ext cx="10972800" cy="251460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panel-860">
            <a:extLst xmlns:a="http://schemas.openxmlformats.org/drawingml/2006/main">
              <a:ext uri="{FF2B5EF4-FFF2-40B4-BE49-F238E27FC236}">
                <a16:creationId xmlns:a16="http://schemas.microsoft.com/office/drawing/2014/main" id="{5DB221EB-B1E3-4605-A7D3-37177CAADD09}"/>
              </a:ext>
            </a:extLst>
          </p:cNvPr>
          <p:cNvSpPr>
            <a:spLocks xmlns:a="http://schemas.openxmlformats.org/drawingml/2006/main" noGrp="1"/>
          </p:cNvSpPr>
          <p:nvPr/>
        </p:nvSpPr>
        <p:spPr>
          <a:xfrm xmlns:a="http://schemas.openxmlformats.org/drawingml/2006/main">
            <a:off x="609600" y="1981200"/>
            <a:ext cx="38100" cy="251460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4" name="text-861">
            <a:extLst xmlns:a="http://schemas.openxmlformats.org/drawingml/2006/main">
              <a:ext uri="{FF2B5EF4-FFF2-40B4-BE49-F238E27FC236}">
                <a16:creationId xmlns:a16="http://schemas.microsoft.com/office/drawing/2014/main" id="{57647737-EC3C-4B81-B2B2-3454FF00A665}"/>
              </a:ext>
            </a:extLst>
          </p:cNvPr>
          <p:cNvSpPr>
            <a:spLocks xmlns:a="http://schemas.openxmlformats.org/drawingml/2006/main" noGrp="1"/>
          </p:cNvSpPr>
          <p:nvPr/>
        </p:nvSpPr>
        <p:spPr>
          <a:xfrm xmlns:a="http://schemas.openxmlformats.org/drawingml/2006/main">
            <a:off x="876300" y="2209800"/>
            <a:ext cx="10382250"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Open Northstar in the running ClientDesk app. Set the browser’s content area to 390 pixels wide, roughly a phone screen. Find the latest meeting and reach Review using the keyboard. Record what happens. If a control is clipped, explain the cause, fix it and repeat the same journey. Otherwise, document the passing result.</a:t>
            </a:r>
          </a:p>
        </p:txBody>
      </p:sp>
      <p:sp>
        <p:nvSpPr>
          <p:cNvPr id="5" name="text-862">
            <a:extLst xmlns:a="http://schemas.openxmlformats.org/drawingml/2006/main">
              <a:ext uri="{FF2B5EF4-FFF2-40B4-BE49-F238E27FC236}">
                <a16:creationId xmlns:a16="http://schemas.microsoft.com/office/drawing/2014/main" id="{3FF99EBB-0328-476C-9540-A440A0FBFD11}"/>
              </a:ext>
            </a:extLst>
          </p:cNvPr>
          <p:cNvSpPr>
            <a:spLocks xmlns:a="http://schemas.openxmlformats.org/drawingml/2006/main" noGrp="1"/>
          </p:cNvSpPr>
          <p:nvPr/>
        </p:nvSpPr>
        <p:spPr>
          <a:xfrm xmlns:a="http://schemas.openxmlformats.org/drawingml/2006/main">
            <a:off x="609600" y="528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686868"/>
                </a:solidFill>
                <a:latin typeface="Helvetica Neue"/>
                <a:ea typeface="Helvetica Neue"/>
                <a:cs typeface="Helvetica Neue"/>
              </a:defRPr>
            </a:pPr>
            <a:r>
              <a:rPr sz="1875" b="1" i="0">
                <a:solidFill>
                  <a:srgbClr val="686868"/>
                </a:solidFill>
                <a:latin typeface="Helvetica Neue"/>
                <a:ea typeface="Helvetica Neue"/>
                <a:cs typeface="Helvetica Neue"/>
              </a:rPr>
              <a:t>Evidence:</a:t>
            </a:r>
            <a:r>
              <a:rPr sz="1875" b="0" i="0">
                <a:solidFill>
                  <a:srgbClr val="686868"/>
                </a:solidFill>
                <a:latin typeface="Helvetica Neue"/>
                <a:ea typeface="Helvetica Neue"/>
                <a:cs typeface="Helvetica Neue"/>
              </a:rPr>
              <a:t> the tested width, the action and its result. For a fix, compare before and after.</a:t>
            </a:r>
          </a:p>
        </p:txBody>
      </p:sp>
      <p:sp>
        <p:nvSpPr>
          <p:cNvPr id="6" name="text-863">
            <a:extLst xmlns:a="http://schemas.openxmlformats.org/drawingml/2006/main">
              <a:ext uri="{FF2B5EF4-FFF2-40B4-BE49-F238E27FC236}">
                <a16:creationId xmlns:a16="http://schemas.microsoft.com/office/drawing/2014/main" id="{AB51566F-FD90-4B70-B36F-FAADA3EA8EE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87</a:t>
            </a:r>
          </a:p>
        </p:txBody>
      </p:sp>
    </p:spTree>
    <p:extLst>
      <p:ext uri="{BB962C8B-B14F-4D97-AF65-F5344CB8AC3E}">
        <p14:creationId xmlns:p14="http://schemas.microsoft.com/office/powerpoint/2010/main" val="1852134681"/>
      </p:ext>
    </p:extLst>
  </p:cSld>
</p:sld>
</file>

<file path=ppt/slides/slide8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864">
            <a:extLst xmlns:a="http://schemas.openxmlformats.org/drawingml/2006/main">
              <a:ext uri="{FF2B5EF4-FFF2-40B4-BE49-F238E27FC236}">
                <a16:creationId xmlns:a16="http://schemas.microsoft.com/office/drawing/2014/main" id="{19EA5511-9047-4FD6-A25D-E5A0041E9BD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defect report you can act on</a:t>
            </a:r>
          </a:p>
        </p:txBody>
      </p:sp>
      <p:sp>
        <p:nvSpPr>
          <p:cNvPr id="2" name="panel-865">
            <a:extLst xmlns:a="http://schemas.openxmlformats.org/drawingml/2006/main">
              <a:ext uri="{FF2B5EF4-FFF2-40B4-BE49-F238E27FC236}">
                <a16:creationId xmlns:a16="http://schemas.microsoft.com/office/drawing/2014/main" id="{9913AEE1-24D7-406B-9AB2-D1859247A050}"/>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866">
            <a:extLst xmlns:a="http://schemas.openxmlformats.org/drawingml/2006/main">
              <a:ext uri="{FF2B5EF4-FFF2-40B4-BE49-F238E27FC236}">
                <a16:creationId xmlns:a16="http://schemas.microsoft.com/office/drawing/2014/main" id="{B00642AC-F365-44EB-8810-0C8DB734F956}"/>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867">
            <a:extLst xmlns:a="http://schemas.openxmlformats.org/drawingml/2006/main">
              <a:ext uri="{FF2B5EF4-FFF2-40B4-BE49-F238E27FC236}">
                <a16:creationId xmlns:a16="http://schemas.microsoft.com/office/drawing/2014/main" id="{7601F013-FD7F-4897-BCEE-D45DB55F77FA}"/>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868">
            <a:extLst xmlns:a="http://schemas.openxmlformats.org/drawingml/2006/main">
              <a:ext uri="{FF2B5EF4-FFF2-40B4-BE49-F238E27FC236}">
                <a16:creationId xmlns:a16="http://schemas.microsoft.com/office/drawing/2014/main" id="{7407FF72-7E05-4870-9D4D-50C0EE46534B}"/>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869">
            <a:extLst xmlns:a="http://schemas.openxmlformats.org/drawingml/2006/main">
              <a:ext uri="{FF2B5EF4-FFF2-40B4-BE49-F238E27FC236}">
                <a16:creationId xmlns:a16="http://schemas.microsoft.com/office/drawing/2014/main" id="{6B36526C-742E-4B10-8ABE-288C991B0E04}"/>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At 390 pixels wide, inspect the Northstar page and reach Review with the keyboard. If an action is blocked, capture it, explain the cause, fix it and repeat the same path. If it works, record the passing evidence instead of inventing a defect.</a:t>
            </a:r>
          </a:p>
        </p:txBody>
      </p:sp>
      <p:sp>
        <p:nvSpPr>
          <p:cNvPr id="7" name="text-870">
            <a:extLst xmlns:a="http://schemas.openxmlformats.org/drawingml/2006/main">
              <a:ext uri="{FF2B5EF4-FFF2-40B4-BE49-F238E27FC236}">
                <a16:creationId xmlns:a16="http://schemas.microsoft.com/office/drawing/2014/main" id="{986E2D52-7EE3-48E4-8BFE-0ECA7E009C10}"/>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Reproduction:</a:t>
            </a:r>
            <a:r>
              <a:rPr sz="1875" b="0" i="0">
                <a:solidFill>
                  <a:srgbClr val="1C1C1C"/>
                </a:solidFill>
                <a:latin typeface="Helvetica Neue"/>
                <a:ea typeface="Helvetica Neue"/>
                <a:cs typeface="Helvetica Neue"/>
              </a:rPr>
              <a:t> names the condition and blocked action.</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Comparison:</a:t>
            </a:r>
            <a:r>
              <a:rPr sz="1875" b="0" i="0">
                <a:solidFill>
                  <a:srgbClr val="1C1C1C"/>
                </a:solidFill>
                <a:latin typeface="Helvetica Neue"/>
                <a:ea typeface="Helvetica Neue"/>
                <a:cs typeface="Helvetica Neue"/>
              </a:rPr>
              <a:t> holds the width and journey constant.</a:t>
            </a:r>
          </a:p>
        </p:txBody>
      </p:sp>
      <p:sp>
        <p:nvSpPr>
          <p:cNvPr id="8" name="panel-871">
            <a:extLst xmlns:a="http://schemas.openxmlformats.org/drawingml/2006/main">
              <a:ext uri="{FF2B5EF4-FFF2-40B4-BE49-F238E27FC236}">
                <a16:creationId xmlns:a16="http://schemas.microsoft.com/office/drawing/2014/main" id="{3A000D60-A644-4155-BCD9-81C2962D6205}"/>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872">
            <a:extLst xmlns:a="http://schemas.openxmlformats.org/drawingml/2006/main">
              <a:ext uri="{FF2B5EF4-FFF2-40B4-BE49-F238E27FC236}">
                <a16:creationId xmlns:a16="http://schemas.microsoft.com/office/drawing/2014/main" id="{00A012DD-CEE3-4E10-A84D-600A1821FDBB}"/>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A real defect has a before/after comparison; a passing journey has a recorded result.</a:t>
            </a:r>
          </a:p>
        </p:txBody>
      </p:sp>
      <p:sp>
        <p:nvSpPr>
          <p:cNvPr id="10" name="text-873">
            <a:extLst xmlns:a="http://schemas.openxmlformats.org/drawingml/2006/main">
              <a:ext uri="{FF2B5EF4-FFF2-40B4-BE49-F238E27FC236}">
                <a16:creationId xmlns:a16="http://schemas.microsoft.com/office/drawing/2014/main" id="{C15E98C5-EA74-46CF-8E8C-BCDA0BEA7BC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88</a:t>
            </a:r>
          </a:p>
        </p:txBody>
      </p:sp>
    </p:spTree>
    <p:extLst>
      <p:ext uri="{BB962C8B-B14F-4D97-AF65-F5344CB8AC3E}">
        <p14:creationId xmlns:p14="http://schemas.microsoft.com/office/powerpoint/2010/main" val="577466116"/>
      </p:ext>
    </p:extLst>
  </p:cSld>
</p:sld>
</file>

<file path=ppt/slides/slide8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874">
            <a:extLst xmlns:a="http://schemas.openxmlformats.org/drawingml/2006/main">
              <a:ext uri="{FF2B5EF4-FFF2-40B4-BE49-F238E27FC236}">
                <a16:creationId xmlns:a16="http://schemas.microsoft.com/office/drawing/2014/main" id="{380B1FAA-36B3-476D-BFD6-C143E9F6478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Loading, missing data, and failed saves</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727075">
                <a:tc>
                  <a:txBody>
                    <a:bodyPr>
                      <a:noAutofit/>
                    </a:bodyPr>
                    <a:lstStyle/>
                    <a:p>
                      <a:r>
                        <a:rPr sz="1800" b="1" i="0">
                          <a:solidFill>
                            <a:srgbClr val="FFFFFF"/>
                          </a:solidFill>
                          <a:latin typeface="Helvetica Neue"/>
                          <a:ea typeface="Helvetica Neue"/>
                          <a:cs typeface="Helvetica Neue"/>
                        </a:rPr>
                        <a:t>State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00" b="1" i="0">
                          <a:solidFill>
                            <a:srgbClr val="FFFFFF"/>
                          </a:solidFill>
                          <a:latin typeface="Helvetica Neue"/>
                          <a:ea typeface="Helvetica Neue"/>
                          <a:cs typeface="Helvetica Neue"/>
                        </a:rPr>
                        <a:t>What the user sees</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00" b="1" i="0">
                          <a:solidFill>
                            <a:srgbClr val="FFFFFF"/>
                          </a:solidFill>
                          <a:latin typeface="Helvetica Neue"/>
                          <a:ea typeface="Helvetica Neue"/>
                          <a:cs typeface="Helvetica Neue"/>
                        </a:rPr>
                        <a:t>What they can do</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727075">
                <a:tc>
                  <a:txBody>
                    <a:bodyPr>
                      <a:noAutofit/>
                    </a:bodyPr>
                    <a:lstStyle/>
                    <a:p>
                      <a:r>
                        <a:rPr sz="1800" b="1" i="0">
                          <a:solidFill>
                            <a:srgbClr val="1C1C1C"/>
                          </a:solidFill>
                          <a:latin typeface="Helvetica Neue"/>
                          <a:ea typeface="Helvetica Neue"/>
                          <a:cs typeface="Helvetica Neue"/>
                        </a:rPr>
                        <a:t>Loading</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An honest progress state</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Wait or leave</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Empty</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No meetings found</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Connect or import</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Unavailable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Transcript unavailable</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Retry or inspect the source</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Stale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Last sync time</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Refresh</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Error</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Action failed, task unsaved</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Retry without duplication</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875">
            <a:extLst xmlns:a="http://schemas.openxmlformats.org/drawingml/2006/main">
              <a:ext uri="{FF2B5EF4-FFF2-40B4-BE49-F238E27FC236}">
                <a16:creationId xmlns:a16="http://schemas.microsoft.com/office/drawing/2014/main" id="{0791083E-AAC2-4543-896B-73316A21F17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89</a:t>
            </a:r>
          </a:p>
        </p:txBody>
      </p:sp>
    </p:spTree>
    <p:extLst>
      <p:ext uri="{BB962C8B-B14F-4D97-AF65-F5344CB8AC3E}">
        <p14:creationId xmlns:p14="http://schemas.microsoft.com/office/powerpoint/2010/main" val="1456030516"/>
      </p:ext>
    </p:extLst>
  </p:cSld>
</p:sld>
</file>

<file path=ppt/slides/slide90.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14" name="text-876">
            <a:extLst xmlns:a="http://schemas.openxmlformats.org/drawingml/2006/main">
              <a:ext uri="{FF2B5EF4-FFF2-40B4-BE49-F238E27FC236}">
                <a16:creationId xmlns:a16="http://schemas.microsoft.com/office/drawing/2014/main" id="{EEA2210D-25D6-4FC0-AD79-EA176F918D3B}"/>
              </a:ext>
            </a:extLst>
          </p:cNvPr>
          <p:cNvSpPr>
            <a:spLocks xmlns:a="http://schemas.openxmlformats.org/drawingml/2006/main" noGrp="1"/>
          </p:cNvSpPr>
          <p:nvPr/>
        </p:nvSpPr>
        <p:spPr>
          <a:xfrm xmlns:a="http://schemas.openxmlformats.org/drawingml/2006/main">
            <a:off x="609600" y="7905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i="0">
                <a:solidFill>
                  <a:srgbClr val="D1372D"/>
                </a:solidFill>
                <a:latin typeface="Avenir Next"/>
                <a:ea typeface="Avenir Next"/>
                <a:cs typeface="Avenir Next"/>
              </a:defRPr>
            </a:pPr>
            <a:r>
              <a:rPr sz="5400" b="1" i="0">
                <a:solidFill>
                  <a:srgbClr val="D1372D"/>
                </a:solidFill>
                <a:latin typeface="Avenir Next"/>
                <a:ea typeface="Avenir Next"/>
                <a:cs typeface="Avenir Next"/>
              </a:rPr>
              <a:t>LAB</a:t>
            </a:r>
          </a:p>
        </p:txBody>
      </p:sp>
      <p:sp>
        <p:nvSpPr>
          <p:cNvPr id="2" name="text-877">
            <a:extLst xmlns:a="http://schemas.openxmlformats.org/drawingml/2006/main">
              <a:ext uri="{FF2B5EF4-FFF2-40B4-BE49-F238E27FC236}">
                <a16:creationId xmlns:a16="http://schemas.microsoft.com/office/drawing/2014/main" id="{4A271A13-9148-4073-98E0-08B7DBDE31B2}"/>
              </a:ext>
            </a:extLst>
          </p:cNvPr>
          <p:cNvSpPr>
            <a:spLocks xmlns:a="http://schemas.openxmlformats.org/drawingml/2006/main" noGrp="1"/>
          </p:cNvSpPr>
          <p:nvPr/>
        </p:nvSpPr>
        <p:spPr>
          <a:xfrm xmlns:a="http://schemas.openxmlformats.org/drawingml/2006/main">
            <a:off x="609600" y="1752600"/>
            <a:ext cx="2619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1" i="0">
                <a:solidFill>
                  <a:srgbClr val="D1372D"/>
                </a:solidFill>
                <a:latin typeface="Avenir Next"/>
                <a:ea typeface="Avenir Next"/>
                <a:cs typeface="Avenir Next"/>
              </a:defRPr>
            </a:pPr>
            <a:r>
              <a:rPr sz="8700" b="1" i="0">
                <a:solidFill>
                  <a:srgbClr val="D1372D"/>
                </a:solidFill>
                <a:latin typeface="Avenir Next"/>
                <a:ea typeface="Avenir Next"/>
                <a:cs typeface="Avenir Next"/>
              </a:rPr>
              <a:t>03</a:t>
            </a:r>
          </a:p>
        </p:txBody>
      </p:sp>
      <p:sp>
        <p:nvSpPr>
          <p:cNvPr id="3" name="text-878">
            <a:extLst xmlns:a="http://schemas.openxmlformats.org/drawingml/2006/main">
              <a:ext uri="{FF2B5EF4-FFF2-40B4-BE49-F238E27FC236}">
                <a16:creationId xmlns:a16="http://schemas.microsoft.com/office/drawing/2014/main" id="{2108F7CF-F91C-4171-BF59-F3B5B46C3E43}"/>
              </a:ext>
            </a:extLst>
          </p:cNvPr>
          <p:cNvSpPr>
            <a:spLocks xmlns:a="http://schemas.openxmlformats.org/drawingml/2006/main" noGrp="1"/>
          </p:cNvSpPr>
          <p:nvPr/>
        </p:nvSpPr>
        <p:spPr>
          <a:xfrm xmlns:a="http://schemas.openxmlformats.org/drawingml/2006/main">
            <a:off x="3600450" y="600075"/>
            <a:ext cx="7867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Test the journey on a phone-sized screen</a:t>
            </a:r>
          </a:p>
        </p:txBody>
      </p:sp>
      <p:sp>
        <p:nvSpPr>
          <p:cNvPr id="4" name="text-879">
            <a:extLst xmlns:a="http://schemas.openxmlformats.org/drawingml/2006/main">
              <a:ext uri="{FF2B5EF4-FFF2-40B4-BE49-F238E27FC236}">
                <a16:creationId xmlns:a16="http://schemas.microsoft.com/office/drawing/2014/main" id="{FD625CE2-BA5E-4CE4-A299-6EAA0130BCEE}"/>
              </a:ext>
            </a:extLst>
          </p:cNvPr>
          <p:cNvSpPr>
            <a:spLocks xmlns:a="http://schemas.openxmlformats.org/drawingml/2006/main" noGrp="1"/>
          </p:cNvSpPr>
          <p:nvPr/>
        </p:nvSpPr>
        <p:spPr>
          <a:xfrm xmlns:a="http://schemas.openxmlformats.org/drawingml/2006/main">
            <a:off x="3600450" y="2114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5" name="text-880">
            <a:extLst xmlns:a="http://schemas.openxmlformats.org/drawingml/2006/main">
              <a:ext uri="{FF2B5EF4-FFF2-40B4-BE49-F238E27FC236}">
                <a16:creationId xmlns:a16="http://schemas.microsoft.com/office/drawing/2014/main" id="{5B1E1650-1A94-472B-B7D9-022B1F5D300E}"/>
              </a:ext>
            </a:extLst>
          </p:cNvPr>
          <p:cNvSpPr>
            <a:spLocks xmlns:a="http://schemas.openxmlformats.org/drawingml/2006/main" noGrp="1"/>
          </p:cNvSpPr>
          <p:nvPr/>
        </p:nvSpPr>
        <p:spPr>
          <a:xfrm xmlns:a="http://schemas.openxmlformats.org/drawingml/2006/main">
            <a:off x="4505325" y="211455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Open Northstar at a 390-pixel content width</a:t>
            </a:r>
          </a:p>
        </p:txBody>
      </p:sp>
      <p:sp>
        <p:nvSpPr>
          <p:cNvPr id="6" name="text-881">
            <a:extLst xmlns:a="http://schemas.openxmlformats.org/drawingml/2006/main">
              <a:ext uri="{FF2B5EF4-FFF2-40B4-BE49-F238E27FC236}">
                <a16:creationId xmlns:a16="http://schemas.microsoft.com/office/drawing/2014/main" id="{E0483EFE-D55E-4297-AF21-FFDF534FA386}"/>
              </a:ext>
            </a:extLst>
          </p:cNvPr>
          <p:cNvSpPr>
            <a:spLocks xmlns:a="http://schemas.openxmlformats.org/drawingml/2006/main" noGrp="1"/>
          </p:cNvSpPr>
          <p:nvPr/>
        </p:nvSpPr>
        <p:spPr>
          <a:xfrm xmlns:a="http://schemas.openxmlformats.org/drawingml/2006/main">
            <a:off x="3600450" y="30575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7" name="text-882">
            <a:extLst xmlns:a="http://schemas.openxmlformats.org/drawingml/2006/main">
              <a:ext uri="{FF2B5EF4-FFF2-40B4-BE49-F238E27FC236}">
                <a16:creationId xmlns:a16="http://schemas.microsoft.com/office/drawing/2014/main" id="{F8AEE638-576E-43D1-9B6A-64F9C5C0700A}"/>
              </a:ext>
            </a:extLst>
          </p:cNvPr>
          <p:cNvSpPr>
            <a:spLocks xmlns:a="http://schemas.openxmlformats.org/drawingml/2006/main" noGrp="1"/>
          </p:cNvSpPr>
          <p:nvPr/>
        </p:nvSpPr>
        <p:spPr>
          <a:xfrm xmlns:a="http://schemas.openxmlformats.org/drawingml/2006/main">
            <a:off x="4505325" y="3057525"/>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Reach Review with the keyboard; record evidence</a:t>
            </a:r>
          </a:p>
        </p:txBody>
      </p:sp>
      <p:sp>
        <p:nvSpPr>
          <p:cNvPr id="8" name="text-883">
            <a:extLst xmlns:a="http://schemas.openxmlformats.org/drawingml/2006/main">
              <a:ext uri="{FF2B5EF4-FFF2-40B4-BE49-F238E27FC236}">
                <a16:creationId xmlns:a16="http://schemas.microsoft.com/office/drawing/2014/main" id="{2BA146D3-FE79-483A-9373-171718057A47}"/>
              </a:ext>
            </a:extLst>
          </p:cNvPr>
          <p:cNvSpPr>
            <a:spLocks xmlns:a="http://schemas.openxmlformats.org/drawingml/2006/main" noGrp="1"/>
          </p:cNvSpPr>
          <p:nvPr/>
        </p:nvSpPr>
        <p:spPr>
          <a:xfrm xmlns:a="http://schemas.openxmlformats.org/drawingml/2006/main">
            <a:off x="36004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9" name="text-884">
            <a:extLst xmlns:a="http://schemas.openxmlformats.org/drawingml/2006/main">
              <a:ext uri="{FF2B5EF4-FFF2-40B4-BE49-F238E27FC236}">
                <a16:creationId xmlns:a16="http://schemas.microsoft.com/office/drawing/2014/main" id="{BA0C10F8-8A08-418E-B10C-37BC327EB4F8}"/>
              </a:ext>
            </a:extLst>
          </p:cNvPr>
          <p:cNvSpPr>
            <a:spLocks xmlns:a="http://schemas.openxmlformats.org/drawingml/2006/main" noGrp="1"/>
          </p:cNvSpPr>
          <p:nvPr/>
        </p:nvSpPr>
        <p:spPr>
          <a:xfrm xmlns:a="http://schemas.openxmlformats.org/drawingml/2006/main">
            <a:off x="4505325" y="400050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Fix an observed problem or document the pass</a:t>
            </a:r>
          </a:p>
        </p:txBody>
      </p:sp>
      <p:sp>
        <p:nvSpPr>
          <p:cNvPr id="10" name="panel-885">
            <a:extLst xmlns:a="http://schemas.openxmlformats.org/drawingml/2006/main">
              <a:ext uri="{FF2B5EF4-FFF2-40B4-BE49-F238E27FC236}">
                <a16:creationId xmlns:a16="http://schemas.microsoft.com/office/drawing/2014/main" id="{F3E5D834-DA18-475C-9AFE-2892D6040D2C}"/>
              </a:ext>
            </a:extLst>
          </p:cNvPr>
          <p:cNvSpPr>
            <a:spLocks xmlns:a="http://schemas.openxmlformats.org/drawingml/2006/main" noGrp="1"/>
          </p:cNvSpPr>
          <p:nvPr/>
        </p:nvSpPr>
        <p:spPr>
          <a:xfrm xmlns:a="http://schemas.openxmlformats.org/drawingml/2006/main">
            <a:off x="3600450" y="5219700"/>
            <a:ext cx="7715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886">
            <a:extLst xmlns:a="http://schemas.openxmlformats.org/drawingml/2006/main">
              <a:ext uri="{FF2B5EF4-FFF2-40B4-BE49-F238E27FC236}">
                <a16:creationId xmlns:a16="http://schemas.microsoft.com/office/drawing/2014/main" id="{6ACCFE08-41C9-45B2-AAF9-AABC0623FC99}"/>
              </a:ext>
            </a:extLst>
          </p:cNvPr>
          <p:cNvSpPr>
            <a:spLocks xmlns:a="http://schemas.openxmlformats.org/drawingml/2006/main" noGrp="1"/>
          </p:cNvSpPr>
          <p:nvPr/>
        </p:nvSpPr>
        <p:spPr>
          <a:xfrm xmlns:a="http://schemas.openxmlformats.org/drawingml/2006/main">
            <a:off x="3600450" y="54959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i="0">
                <a:solidFill>
                  <a:srgbClr val="686868"/>
                </a:solidFill>
                <a:latin typeface="Helvetica Neue"/>
                <a:ea typeface="Helvetica Neue"/>
                <a:cs typeface="Helvetica Neue"/>
              </a:defRPr>
            </a:pPr>
            <a:r>
              <a:rPr sz="1650" b="0" i="0">
                <a:solidFill>
                  <a:srgbClr val="686868"/>
                </a:solidFill>
                <a:latin typeface="Helvetica Neue"/>
                <a:ea typeface="Helvetica Neue"/>
                <a:cs typeface="Helvetica Neue"/>
              </a:rPr>
              <a:t>00-course-map/labs/03-browser.md</a:t>
            </a:r>
          </a:p>
        </p:txBody>
      </p:sp>
      <p:sp>
        <p:nvSpPr>
          <p:cNvPr id="12" name="text-887">
            <a:extLst xmlns:a="http://schemas.openxmlformats.org/drawingml/2006/main">
              <a:ext uri="{FF2B5EF4-FFF2-40B4-BE49-F238E27FC236}">
                <a16:creationId xmlns:a16="http://schemas.microsoft.com/office/drawing/2014/main" id="{D61954DC-F5D3-4B35-81DF-422FE666252D}"/>
              </a:ext>
            </a:extLst>
          </p:cNvPr>
          <p:cNvSpPr>
            <a:spLocks xmlns:a="http://schemas.openxmlformats.org/drawingml/2006/main" noGrp="1"/>
          </p:cNvSpPr>
          <p:nvPr/>
        </p:nvSpPr>
        <p:spPr>
          <a:xfrm xmlns:a="http://schemas.openxmlformats.org/drawingml/2006/main">
            <a:off x="3600450" y="5876925"/>
            <a:ext cx="776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A reproducible defect report or a verified passing journey</a:t>
            </a:r>
          </a:p>
        </p:txBody>
      </p:sp>
      <p:sp>
        <p:nvSpPr>
          <p:cNvPr id="13" name="text-888">
            <a:extLst xmlns:a="http://schemas.openxmlformats.org/drawingml/2006/main">
              <a:ext uri="{FF2B5EF4-FFF2-40B4-BE49-F238E27FC236}">
                <a16:creationId xmlns:a16="http://schemas.microsoft.com/office/drawing/2014/main" id="{1D75FC06-7F9C-4024-8A98-2372127461A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90</a:t>
            </a:r>
          </a:p>
        </p:txBody>
      </p:sp>
    </p:spTree>
    <p:extLst>
      <p:ext uri="{BB962C8B-B14F-4D97-AF65-F5344CB8AC3E}">
        <p14:creationId xmlns:p14="http://schemas.microsoft.com/office/powerpoint/2010/main" val="1775095866"/>
      </p:ext>
    </p:extLst>
  </p:cSld>
</p:sld>
</file>

<file path=ppt/slides/slide9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889">
            <a:extLst xmlns:a="http://schemas.openxmlformats.org/drawingml/2006/main">
              <a:ext uri="{FF2B5EF4-FFF2-40B4-BE49-F238E27FC236}">
                <a16:creationId xmlns:a16="http://schemas.microsoft.com/office/drawing/2014/main" id="{39CF70B3-90FF-40DD-B3B0-A36AF3C85E5F}"/>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Chrome and computer use</a:t>
            </a:r>
          </a:p>
        </p:txBody>
      </p:sp>
      <p:sp>
        <p:nvSpPr>
          <p:cNvPr id="2" name="panel-890">
            <a:extLst xmlns:a="http://schemas.openxmlformats.org/drawingml/2006/main">
              <a:ext uri="{FF2B5EF4-FFF2-40B4-BE49-F238E27FC236}">
                <a16:creationId xmlns:a16="http://schemas.microsoft.com/office/drawing/2014/main" id="{62D15031-7BD9-41F5-A212-A2C5B6C8B37A}"/>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891">
            <a:extLst xmlns:a="http://schemas.openxmlformats.org/drawingml/2006/main">
              <a:ext uri="{FF2B5EF4-FFF2-40B4-BE49-F238E27FC236}">
                <a16:creationId xmlns:a16="http://schemas.microsoft.com/office/drawing/2014/main" id="{46666E2F-97EA-40AF-B21A-C0916E0A4403}"/>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892">
            <a:extLst xmlns:a="http://schemas.openxmlformats.org/drawingml/2006/main">
              <a:ext uri="{FF2B5EF4-FFF2-40B4-BE49-F238E27FC236}">
                <a16:creationId xmlns:a16="http://schemas.microsoft.com/office/drawing/2014/main" id="{0B958541-DCBA-4CF3-B172-F022FA642729}"/>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Chrome review</a:t>
            </a:r>
          </a:p>
        </p:txBody>
      </p:sp>
      <p:sp>
        <p:nvSpPr>
          <p:cNvPr id="5" name="text-893">
            <a:extLst xmlns:a="http://schemas.openxmlformats.org/drawingml/2006/main">
              <a:ext uri="{FF2B5EF4-FFF2-40B4-BE49-F238E27FC236}">
                <a16:creationId xmlns:a16="http://schemas.microsoft.com/office/drawing/2014/main" id="{3E8CF7AD-1BE9-4472-908E-A2A070379367}"/>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Open the local client page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Inspect its rendered elements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Test the reviewed task flow</a:t>
            </a:r>
          </a:p>
        </p:txBody>
      </p:sp>
      <p:sp>
        <p:nvSpPr>
          <p:cNvPr id="6" name="text-894">
            <a:extLst xmlns:a="http://schemas.openxmlformats.org/drawingml/2006/main">
              <a:ext uri="{FF2B5EF4-FFF2-40B4-BE49-F238E27FC236}">
                <a16:creationId xmlns:a16="http://schemas.microsoft.com/office/drawing/2014/main" id="{A85EA7D7-5A8A-4372-A540-1846B35F0AB9}"/>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Native-app review</a:t>
            </a:r>
          </a:p>
        </p:txBody>
      </p:sp>
      <p:sp>
        <p:nvSpPr>
          <p:cNvPr id="7" name="text-895">
            <a:extLst xmlns:a="http://schemas.openxmlformats.org/drawingml/2006/main">
              <a:ext uri="{FF2B5EF4-FFF2-40B4-BE49-F238E27FC236}">
                <a16:creationId xmlns:a16="http://schemas.microsoft.com/office/drawing/2014/main" id="{D681D91C-DB8D-4AE5-8063-17DDCA81C720}"/>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Open the exported client brief</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Inspect the file in its viewer</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Check clipping and readability</a:t>
            </a:r>
          </a:p>
        </p:txBody>
      </p:sp>
      <p:sp>
        <p:nvSpPr>
          <p:cNvPr id="8" name="text-896">
            <a:extLst xmlns:a="http://schemas.openxmlformats.org/drawingml/2006/main">
              <a:ext uri="{FF2B5EF4-FFF2-40B4-BE49-F238E27FC236}">
                <a16:creationId xmlns:a16="http://schemas.microsoft.com/office/drawing/2014/main" id="{EB92A1DE-DA31-4070-818E-4F91E20BF92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91</a:t>
            </a:r>
          </a:p>
        </p:txBody>
      </p:sp>
    </p:spTree>
    <p:extLst>
      <p:ext uri="{BB962C8B-B14F-4D97-AF65-F5344CB8AC3E}">
        <p14:creationId xmlns:p14="http://schemas.microsoft.com/office/powerpoint/2010/main" val="798501408"/>
      </p:ext>
    </p:extLst>
  </p:cSld>
</p:sld>
</file>

<file path=ppt/slides/slide9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897">
            <a:extLst xmlns:a="http://schemas.openxmlformats.org/drawingml/2006/main">
              <a:ext uri="{FF2B5EF4-FFF2-40B4-BE49-F238E27FC236}">
                <a16:creationId xmlns:a16="http://schemas.microsoft.com/office/drawing/2014/main" id="{3053622E-97FA-4F5B-BC71-D3EE04E1884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Computer use setup</a:t>
            </a:r>
          </a:p>
        </p:txBody>
      </p:sp>
      <p:sp>
        <p:nvSpPr>
          <p:cNvPr id="2" name="panel-898">
            <a:extLst xmlns:a="http://schemas.openxmlformats.org/drawingml/2006/main">
              <a:ext uri="{FF2B5EF4-FFF2-40B4-BE49-F238E27FC236}">
                <a16:creationId xmlns:a16="http://schemas.microsoft.com/office/drawing/2014/main" id="{5CE44BC6-1176-46E0-8639-C6D7FA1F9021}"/>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899">
            <a:extLst xmlns:a="http://schemas.openxmlformats.org/drawingml/2006/main">
              <a:ext uri="{FF2B5EF4-FFF2-40B4-BE49-F238E27FC236}">
                <a16:creationId xmlns:a16="http://schemas.microsoft.com/office/drawing/2014/main" id="{93BE1233-32EA-4209-9F38-08936224F871}"/>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900">
            <a:extLst xmlns:a="http://schemas.openxmlformats.org/drawingml/2006/main">
              <a:ext uri="{FF2B5EF4-FFF2-40B4-BE49-F238E27FC236}">
                <a16:creationId xmlns:a16="http://schemas.microsoft.com/office/drawing/2014/main" id="{5EAADAA3-C0E5-4700-AC94-DC5956D05EFF}"/>
              </a:ext>
            </a:extLst>
          </p:cNvPr>
          <p:cNvSpPr>
            <a:spLocks xmlns:a="http://schemas.openxmlformats.org/drawingml/2006/main" noGrp="1"/>
          </p:cNvSpPr>
          <p:nvPr/>
        </p:nvSpPr>
        <p:spPr>
          <a:xfrm xmlns:a="http://schemas.openxmlformats.org/drawingml/2006/main">
            <a:off x="609600" y="20383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901">
            <a:extLst xmlns:a="http://schemas.openxmlformats.org/drawingml/2006/main">
              <a:ext uri="{FF2B5EF4-FFF2-40B4-BE49-F238E27FC236}">
                <a16:creationId xmlns:a16="http://schemas.microsoft.com/office/drawing/2014/main" id="{773D1714-BBFC-4381-BB82-73BB877BF175}"/>
              </a:ext>
            </a:extLst>
          </p:cNvPr>
          <p:cNvSpPr>
            <a:spLocks xmlns:a="http://schemas.openxmlformats.org/drawingml/2006/main" noGrp="1"/>
          </p:cNvSpPr>
          <p:nvPr/>
        </p:nvSpPr>
        <p:spPr>
          <a:xfrm xmlns:a="http://schemas.openxmlformats.org/drawingml/2006/main">
            <a:off x="7981950" y="2038350"/>
            <a:ext cx="3600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i="0">
                <a:solidFill>
                  <a:srgbClr val="686868"/>
                </a:solidFill>
                <a:latin typeface="Avenir Next"/>
                <a:ea typeface="Avenir Next"/>
                <a:cs typeface="Avenir Next"/>
              </a:defRPr>
            </a:pPr>
            <a:r>
              <a:rPr sz="1875" b="1" i="0">
                <a:solidFill>
                  <a:srgbClr val="686868"/>
                </a:solidFill>
                <a:latin typeface="Avenir Next"/>
                <a:ea typeface="Avenir Next"/>
                <a:cs typeface="Avenir Next"/>
              </a:rPr>
              <a:t>Technical reference</a:t>
            </a:r>
          </a:p>
        </p:txBody>
      </p:sp>
      <p:sp>
        <p:nvSpPr>
          <p:cNvPr id="6" name="text-902">
            <a:extLst xmlns:a="http://schemas.openxmlformats.org/drawingml/2006/main">
              <a:ext uri="{FF2B5EF4-FFF2-40B4-BE49-F238E27FC236}">
                <a16:creationId xmlns:a16="http://schemas.microsoft.com/office/drawing/2014/main" id="{2B7DE379-8A7E-4B45-97F9-A5741664D11A}"/>
              </a:ext>
            </a:extLst>
          </p:cNvPr>
          <p:cNvSpPr>
            <a:spLocks xmlns:a="http://schemas.openxmlformats.org/drawingml/2006/main" noGrp="1"/>
          </p:cNvSpPr>
          <p:nvPr/>
        </p:nvSpPr>
        <p:spPr>
          <a:xfrm xmlns:a="http://schemas.openxmlformats.org/drawingml/2006/main">
            <a:off x="609600" y="2667000"/>
            <a:ext cx="68008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 me enable computer use in this Claude Code session. Check whether my device and account support it. Explain the permissions I need to grant, then wait while I enable access to the document viewer.</a:t>
            </a:r>
          </a:p>
        </p:txBody>
      </p:sp>
      <p:sp>
        <p:nvSpPr>
          <p:cNvPr id="7" name="panel-903">
            <a:extLst xmlns:a="http://schemas.openxmlformats.org/drawingml/2006/main">
              <a:ext uri="{FF2B5EF4-FFF2-40B4-BE49-F238E27FC236}">
                <a16:creationId xmlns:a16="http://schemas.microsoft.com/office/drawing/2014/main" id="{56454C03-2CDB-4F2B-953B-7A27D3CBB2DF}"/>
              </a:ext>
            </a:extLst>
          </p:cNvPr>
          <p:cNvSpPr>
            <a:spLocks xmlns:a="http://schemas.openxmlformats.org/drawingml/2006/main" noGrp="1"/>
          </p:cNvSpPr>
          <p:nvPr/>
        </p:nvSpPr>
        <p:spPr>
          <a:xfrm xmlns:a="http://schemas.openxmlformats.org/drawingml/2006/main">
            <a:off x="7981950" y="2667000"/>
            <a:ext cx="3600450" cy="980123"/>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8" name="text-904">
            <a:extLst xmlns:a="http://schemas.openxmlformats.org/drawingml/2006/main">
              <a:ext uri="{FF2B5EF4-FFF2-40B4-BE49-F238E27FC236}">
                <a16:creationId xmlns:a16="http://schemas.microsoft.com/office/drawing/2014/main" id="{795A5E5B-2A06-4A2E-B213-087BC7D228FB}"/>
              </a:ext>
            </a:extLst>
          </p:cNvPr>
          <p:cNvSpPr>
            <a:spLocks xmlns:a="http://schemas.openxmlformats.org/drawingml/2006/main" noGrp="1"/>
          </p:cNvSpPr>
          <p:nvPr/>
        </p:nvSpPr>
        <p:spPr>
          <a:xfrm xmlns:a="http://schemas.openxmlformats.org/drawingml/2006/main">
            <a:off x="8172450" y="2857500"/>
            <a:ext cx="3219450" cy="6943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/mcp</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computer-use: Enable</a:t>
            </a:r>
          </a:p>
        </p:txBody>
      </p:sp>
      <p:sp>
        <p:nvSpPr>
          <p:cNvPr id="9" name="text-905">
            <a:extLst xmlns:a="http://schemas.openxmlformats.org/drawingml/2006/main">
              <a:ext uri="{FF2B5EF4-FFF2-40B4-BE49-F238E27FC236}">
                <a16:creationId xmlns:a16="http://schemas.microsoft.com/office/drawing/2014/main" id="{1613B0F7-EB77-4B0F-8546-D4C01DF5A7F2}"/>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686868"/>
                </a:solidFill>
                <a:latin typeface="Helvetica Neue"/>
                <a:ea typeface="Helvetica Neue"/>
                <a:cs typeface="Helvetica Neue"/>
              </a:defRPr>
            </a:pPr>
            <a:r>
              <a:rPr sz="1800" b="1" i="0">
                <a:solidFill>
                  <a:srgbClr val="686868"/>
                </a:solidFill>
                <a:latin typeface="Helvetica Neue"/>
                <a:ea typeface="Helvetica Neue"/>
                <a:cs typeface="Helvetica Neue"/>
              </a:rPr>
              <a:t>Requires:</a:t>
            </a:r>
            <a:r>
              <a:rPr sz="1800" b="0" i="0">
                <a:solidFill>
                  <a:srgbClr val="686868"/>
                </a:solidFill>
                <a:latin typeface="Helvetica Neue"/>
                <a:ea typeface="Helvetica Neue"/>
                <a:cs typeface="Helvetica Neue"/>
              </a:rPr>
              <a:t> an eligible macOS setup and interactive Claude Code session. Check current requirements before class.</a:t>
            </a:r>
          </a:p>
        </p:txBody>
      </p:sp>
      <p:sp>
        <p:nvSpPr>
          <p:cNvPr id="10" name="text-906">
            <a:extLst xmlns:a="http://schemas.openxmlformats.org/drawingml/2006/main">
              <a:ext uri="{FF2B5EF4-FFF2-40B4-BE49-F238E27FC236}">
                <a16:creationId xmlns:a16="http://schemas.microsoft.com/office/drawing/2014/main" id="{EEFA0A03-B12A-4A19-A9A0-33BBC57926B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92</a:t>
            </a:r>
          </a:p>
        </p:txBody>
      </p:sp>
    </p:spTree>
    <p:extLst>
      <p:ext uri="{BB962C8B-B14F-4D97-AF65-F5344CB8AC3E}">
        <p14:creationId xmlns:p14="http://schemas.microsoft.com/office/powerpoint/2010/main" val="1476588091"/>
      </p:ext>
    </p:extLst>
  </p:cSld>
</p:sld>
</file>

<file path=ppt/slides/slide9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907">
            <a:extLst xmlns:a="http://schemas.openxmlformats.org/drawingml/2006/main">
              <a:ext uri="{FF2B5EF4-FFF2-40B4-BE49-F238E27FC236}">
                <a16:creationId xmlns:a16="http://schemas.microsoft.com/office/drawing/2014/main" id="{830341CD-390E-4826-9863-1D3904752FE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native document review prompt</a:t>
            </a:r>
          </a:p>
        </p:txBody>
      </p:sp>
      <p:sp>
        <p:nvSpPr>
          <p:cNvPr id="2" name="panel-908">
            <a:extLst xmlns:a="http://schemas.openxmlformats.org/drawingml/2006/main">
              <a:ext uri="{FF2B5EF4-FFF2-40B4-BE49-F238E27FC236}">
                <a16:creationId xmlns:a16="http://schemas.microsoft.com/office/drawing/2014/main" id="{FAC1A648-AB91-465F-B9DF-41D48A6BBCB6}"/>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909">
            <a:extLst xmlns:a="http://schemas.openxmlformats.org/drawingml/2006/main">
              <a:ext uri="{FF2B5EF4-FFF2-40B4-BE49-F238E27FC236}">
                <a16:creationId xmlns:a16="http://schemas.microsoft.com/office/drawing/2014/main" id="{E6CBB27F-AB12-40ED-B67D-551E79890269}"/>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910">
            <a:extLst xmlns:a="http://schemas.openxmlformats.org/drawingml/2006/main">
              <a:ext uri="{FF2B5EF4-FFF2-40B4-BE49-F238E27FC236}">
                <a16:creationId xmlns:a16="http://schemas.microsoft.com/office/drawing/2014/main" id="{0D4E45AB-FEA6-4AEA-9221-098E901E2227}"/>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911">
            <a:extLst xmlns:a="http://schemas.openxmlformats.org/drawingml/2006/main">
              <a:ext uri="{FF2B5EF4-FFF2-40B4-BE49-F238E27FC236}">
                <a16:creationId xmlns:a16="http://schemas.microsoft.com/office/drawing/2014/main" id="{263070F4-EACE-486F-82DE-0423D5AB5FAF}"/>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912">
            <a:extLst xmlns:a="http://schemas.openxmlformats.org/drawingml/2006/main">
              <a:ext uri="{FF2B5EF4-FFF2-40B4-BE49-F238E27FC236}">
                <a16:creationId xmlns:a16="http://schemas.microsoft.com/office/drawing/2014/main" id="{601FB815-1996-4FFE-928F-412C13EEAF54}"/>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Open the exported Northstar brief in the approved document viewer. Check that every section is readable, sources stay beside facts, and proposed actions are clearly labeled. Capture any clipped text and identify its section. Do not send or upload the document.</a:t>
            </a:r>
          </a:p>
        </p:txBody>
      </p:sp>
      <p:sp>
        <p:nvSpPr>
          <p:cNvPr id="7" name="text-913">
            <a:extLst xmlns:a="http://schemas.openxmlformats.org/drawingml/2006/main">
              <a:ext uri="{FF2B5EF4-FFF2-40B4-BE49-F238E27FC236}">
                <a16:creationId xmlns:a16="http://schemas.microsoft.com/office/drawing/2014/main" id="{D281960E-685E-4D5C-AAB8-DA53E553B232}"/>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Surface:</a:t>
            </a:r>
            <a:r>
              <a:rPr sz="1875" b="0" i="0">
                <a:solidFill>
                  <a:srgbClr val="1C1C1C"/>
                </a:solidFill>
                <a:latin typeface="Helvetica Neue"/>
                <a:ea typeface="Helvetica Neue"/>
                <a:cs typeface="Helvetica Neue"/>
              </a:rPr>
              <a:t> tests the file in the app people will use.</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Specificity:</a:t>
            </a:r>
            <a:r>
              <a:rPr sz="1875" b="0" i="0">
                <a:solidFill>
                  <a:srgbClr val="1C1C1C"/>
                </a:solidFill>
                <a:latin typeface="Helvetica Neue"/>
                <a:ea typeface="Helvetica Neue"/>
                <a:cs typeface="Helvetica Neue"/>
              </a:rPr>
              <a:t> gives the review observable criteria.</a:t>
            </a:r>
          </a:p>
        </p:txBody>
      </p:sp>
      <p:sp>
        <p:nvSpPr>
          <p:cNvPr id="8" name="panel-914">
            <a:extLst xmlns:a="http://schemas.openxmlformats.org/drawingml/2006/main">
              <a:ext uri="{FF2B5EF4-FFF2-40B4-BE49-F238E27FC236}">
                <a16:creationId xmlns:a16="http://schemas.microsoft.com/office/drawing/2014/main" id="{A115FCBB-5308-44AE-8094-0A91E3C8AA0E}"/>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915">
            <a:extLst xmlns:a="http://schemas.openxmlformats.org/drawingml/2006/main">
              <a:ext uri="{FF2B5EF4-FFF2-40B4-BE49-F238E27FC236}">
                <a16:creationId xmlns:a16="http://schemas.microsoft.com/office/drawing/2014/main" id="{0D83529D-9F6A-4830-8830-D478321CE916}"/>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A screenshot and section-level findings support the review.</a:t>
            </a:r>
          </a:p>
        </p:txBody>
      </p:sp>
      <p:sp>
        <p:nvSpPr>
          <p:cNvPr id="10" name="text-916">
            <a:extLst xmlns:a="http://schemas.openxmlformats.org/drawingml/2006/main">
              <a:ext uri="{FF2B5EF4-FFF2-40B4-BE49-F238E27FC236}">
                <a16:creationId xmlns:a16="http://schemas.microsoft.com/office/drawing/2014/main" id="{A1A065DE-6B62-428A-A070-27C71EE4BDD6}"/>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93</a:t>
            </a:r>
          </a:p>
        </p:txBody>
      </p:sp>
    </p:spTree>
    <p:extLst>
      <p:ext uri="{BB962C8B-B14F-4D97-AF65-F5344CB8AC3E}">
        <p14:creationId xmlns:p14="http://schemas.microsoft.com/office/powerpoint/2010/main" val="870580616"/>
      </p:ext>
    </p:extLst>
  </p:cSld>
</p:sld>
</file>

<file path=ppt/slides/slide9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917">
            <a:extLst xmlns:a="http://schemas.openxmlformats.org/drawingml/2006/main">
              <a:ext uri="{FF2B5EF4-FFF2-40B4-BE49-F238E27FC236}">
                <a16:creationId xmlns:a16="http://schemas.microsoft.com/office/drawing/2014/main" id="{CBFC3356-811C-4AF0-AB6D-6699EBDC2EF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Export the brief, then inspect it</a:t>
            </a:r>
          </a:p>
        </p:txBody>
      </p:sp>
      <p:sp>
        <p:nvSpPr>
          <p:cNvPr id="2" name="panel-918">
            <a:extLst xmlns:a="http://schemas.openxmlformats.org/drawingml/2006/main">
              <a:ext uri="{FF2B5EF4-FFF2-40B4-BE49-F238E27FC236}">
                <a16:creationId xmlns:a16="http://schemas.microsoft.com/office/drawing/2014/main" id="{1EA4C35F-D1D8-4816-8A49-246FED694AEA}"/>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919">
            <a:extLst xmlns:a="http://schemas.openxmlformats.org/drawingml/2006/main">
              <a:ext uri="{FF2B5EF4-FFF2-40B4-BE49-F238E27FC236}">
                <a16:creationId xmlns:a16="http://schemas.microsoft.com/office/drawing/2014/main" id="{E2185DDA-62C2-41FA-AB16-20B4D6005B53}"/>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The exported brief · what to inspect</a:t>
            </a:r>
          </a:p>
        </p:txBody>
      </p:sp>
      <p:sp>
        <p:nvSpPr>
          <p:cNvPr id="4" name="text-920">
            <a:extLst xmlns:a="http://schemas.openxmlformats.org/drawingml/2006/main">
              <a:ext uri="{FF2B5EF4-FFF2-40B4-BE49-F238E27FC236}">
                <a16:creationId xmlns:a16="http://schemas.microsoft.com/office/drawing/2014/main" id="{C151A713-A53C-43A7-A4FC-4E72E2FBF521}"/>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Fact:</a:t>
            </a:r>
            <a:r>
              <a:rPr sz="2025" b="0" i="0">
                <a:solidFill>
                  <a:srgbClr val="1C1C1C"/>
                </a:solidFill>
                <a:latin typeface="Helvetica Neue"/>
                <a:ea typeface="Helvetica Neue"/>
                <a:cs typeface="Helvetica Neue"/>
              </a:rPr>
              <a:t> Maya requested an onboarding checklist.</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demo-transcript-001</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Unknown:</a:t>
            </a:r>
            <a:r>
              <a:rPr sz="2025" b="0" i="0">
                <a:solidFill>
                  <a:srgbClr val="1C1C1C"/>
                </a:solidFill>
                <a:latin typeface="Helvetica Neue"/>
                <a:ea typeface="Helvetica Neue"/>
                <a:cs typeface="Helvetica Neue"/>
              </a:rPr>
              <a:t> no delivery date was agreed.</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Proposed:</a:t>
            </a:r>
            <a:r>
              <a:rPr sz="2025" b="0" i="0">
                <a:solidFill>
                  <a:srgbClr val="1C1C1C"/>
                </a:solidFill>
                <a:latin typeface="Helvetica Neue"/>
                <a:ea typeface="Helvetica Neue"/>
                <a:cs typeface="Helvetica Neue"/>
              </a:rPr>
              <a:t> choose an owner and deadline before saving.</a:t>
            </a:r>
          </a:p>
        </p:txBody>
      </p:sp>
      <p:sp>
        <p:nvSpPr>
          <p:cNvPr id="5" name="panel-921">
            <a:extLst xmlns:a="http://schemas.openxmlformats.org/drawingml/2006/main">
              <a:ext uri="{FF2B5EF4-FFF2-40B4-BE49-F238E27FC236}">
                <a16:creationId xmlns:a16="http://schemas.microsoft.com/office/drawing/2014/main" id="{FCB8388F-CD97-4A32-B35A-B9763386CE34}"/>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922">
            <a:extLst xmlns:a="http://schemas.openxmlformats.org/drawingml/2006/main">
              <a:ext uri="{FF2B5EF4-FFF2-40B4-BE49-F238E27FC236}">
                <a16:creationId xmlns:a16="http://schemas.microsoft.com/office/drawing/2014/main" id="{8CCC2584-6222-46CA-89B3-F83A2739BBDB}"/>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Review the file</a:t>
            </a:r>
          </a:p>
        </p:txBody>
      </p:sp>
      <p:sp>
        <p:nvSpPr>
          <p:cNvPr id="7" name="text-923">
            <a:extLst xmlns:a="http://schemas.openxmlformats.org/drawingml/2006/main">
              <a:ext uri="{FF2B5EF4-FFF2-40B4-BE49-F238E27FC236}">
                <a16:creationId xmlns:a16="http://schemas.microsoft.com/office/drawing/2014/main" id="{1B7D96E6-D61F-4697-BA65-FFC906C734D5}"/>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Export to Markdown.</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Open the saved file.</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Check each section.</a:t>
            </a:r>
          </a:p>
          <a:p xmlns:a="http://schemas.openxmlformats.org/drawingml/2006/main">
            <a:r>
              <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Facts retain sources. Suggestions stay labeled.</a:t>
            </a:r>
          </a:p>
        </p:txBody>
      </p:sp>
      <p:sp>
        <p:nvSpPr>
          <p:cNvPr id="8" name="text-924">
            <a:extLst xmlns:a="http://schemas.openxmlformats.org/drawingml/2006/main">
              <a:ext uri="{FF2B5EF4-FFF2-40B4-BE49-F238E27FC236}">
                <a16:creationId xmlns:a16="http://schemas.microsoft.com/office/drawing/2014/main" id="{4843CCAC-D4BD-49A9-879F-0EA274F0418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94</a:t>
            </a:r>
          </a:p>
        </p:txBody>
      </p:sp>
    </p:spTree>
    <p:extLst>
      <p:ext uri="{BB962C8B-B14F-4D97-AF65-F5344CB8AC3E}">
        <p14:creationId xmlns:p14="http://schemas.microsoft.com/office/powerpoint/2010/main" val="194510272"/>
      </p:ext>
    </p:extLst>
  </p:cSld>
</p:sld>
</file>

<file path=ppt/slides/slide9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925">
            <a:extLst xmlns:a="http://schemas.openxmlformats.org/drawingml/2006/main">
              <a:ext uri="{FF2B5EF4-FFF2-40B4-BE49-F238E27FC236}">
                <a16:creationId xmlns:a16="http://schemas.microsoft.com/office/drawing/2014/main" id="{4025983D-8067-459D-B268-36851288253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task is reviewed before it is saved</a:t>
            </a:r>
          </a:p>
        </p:txBody>
      </p:sp>
      <p:sp>
        <p:nvSpPr>
          <p:cNvPr id="2" name="panel-926">
            <a:extLst xmlns:a="http://schemas.openxmlformats.org/drawingml/2006/main">
              <a:ext uri="{FF2B5EF4-FFF2-40B4-BE49-F238E27FC236}">
                <a16:creationId xmlns:a16="http://schemas.microsoft.com/office/drawing/2014/main" id="{E2F7555B-2C58-4EF9-B095-CE9C72572530}"/>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927">
            <a:extLst xmlns:a="http://schemas.openxmlformats.org/drawingml/2006/main">
              <a:ext uri="{FF2B5EF4-FFF2-40B4-BE49-F238E27FC236}">
                <a16:creationId xmlns:a16="http://schemas.microsoft.com/office/drawing/2014/main" id="{04B791D0-A4A1-4018-BFBD-A63FE48FF943}"/>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Read the exact proposal</a:t>
            </a:r>
          </a:p>
        </p:txBody>
      </p:sp>
      <p:sp>
        <p:nvSpPr>
          <p:cNvPr id="4" name="text-928">
            <a:extLst xmlns:a="http://schemas.openxmlformats.org/drawingml/2006/main">
              <a:ext uri="{FF2B5EF4-FFF2-40B4-BE49-F238E27FC236}">
                <a16:creationId xmlns:a16="http://schemas.microsoft.com/office/drawing/2014/main" id="{D40AD439-387A-4763-9136-E88DACF2A74D}"/>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Client:</a:t>
            </a:r>
            <a:r>
              <a:rPr sz="2025" b="0" i="0">
                <a:solidFill>
                  <a:srgbClr val="1C1C1C"/>
                </a:solidFill>
                <a:latin typeface="Helvetica Neue"/>
                <a:ea typeface="Helvetica Neue"/>
                <a:cs typeface="Helvetica Neue"/>
              </a:rPr>
              <a:t> Northstar Studio</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Task:</a:t>
            </a:r>
            <a:r>
              <a:rPr sz="2025" b="0" i="0">
                <a:solidFill>
                  <a:srgbClr val="1C1C1C"/>
                </a:solidFill>
                <a:latin typeface="Helvetica Neue"/>
                <a:ea typeface="Helvetica Neue"/>
                <a:cs typeface="Helvetica Neue"/>
              </a:rPr>
              <a:t> prepare the onboarding checklist</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Owner:</a:t>
            </a:r>
            <a:r>
              <a:rPr sz="2025" b="0" i="0">
                <a:solidFill>
                  <a:srgbClr val="1C1C1C"/>
                </a:solidFill>
                <a:latin typeface="Helvetica Neue"/>
                <a:ea typeface="Helvetica Neue"/>
                <a:cs typeface="Helvetica Neue"/>
              </a:rPr>
              <a:t> Alex Morgan</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Due date:</a:t>
            </a:r>
            <a:r>
              <a:rPr sz="2025" b="0" i="0">
                <a:solidFill>
                  <a:srgbClr val="1C1C1C"/>
                </a:solidFill>
                <a:latin typeface="Helvetica Neue"/>
                <a:ea typeface="Helvetica Neue"/>
                <a:cs typeface="Helvetica Neue"/>
              </a:rPr>
              <a:t> chosen in the review</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demo-transcript-001</a:t>
            </a:r>
          </a:p>
        </p:txBody>
      </p:sp>
      <p:sp>
        <p:nvSpPr>
          <p:cNvPr id="5" name="panel-929">
            <a:extLst xmlns:a="http://schemas.openxmlformats.org/drawingml/2006/main">
              <a:ext uri="{FF2B5EF4-FFF2-40B4-BE49-F238E27FC236}">
                <a16:creationId xmlns:a16="http://schemas.microsoft.com/office/drawing/2014/main" id="{05F04434-B5E4-46D8-A159-9494D875717F}"/>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930">
            <a:extLst xmlns:a="http://schemas.openxmlformats.org/drawingml/2006/main">
              <a:ext uri="{FF2B5EF4-FFF2-40B4-BE49-F238E27FC236}">
                <a16:creationId xmlns:a16="http://schemas.microsoft.com/office/drawing/2014/main" id="{41EAB43B-8F8C-4EF8-BA3C-B8F8570A9EBA}"/>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Confirm, then save</a:t>
            </a:r>
          </a:p>
        </p:txBody>
      </p:sp>
      <p:sp>
        <p:nvSpPr>
          <p:cNvPr id="7" name="text-931">
            <a:extLst xmlns:a="http://schemas.openxmlformats.org/drawingml/2006/main">
              <a:ext uri="{FF2B5EF4-FFF2-40B4-BE49-F238E27FC236}">
                <a16:creationId xmlns:a16="http://schemas.microsoft.com/office/drawing/2014/main" id="{7A6F51D1-23FD-455A-AABA-0BFF0B04BB89}"/>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Compare with the meeting.</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Read the owner and date.</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Save the task.</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Reload and read it back.</a:t>
            </a:r>
          </a:p>
          <a:p xmlns:a="http://schemas.openxmlformats.org/drawingml/2006/main">
            <a:r>
              <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The app does not send a message.</a:t>
            </a:r>
          </a:p>
        </p:txBody>
      </p:sp>
      <p:sp>
        <p:nvSpPr>
          <p:cNvPr id="8" name="text-932">
            <a:extLst xmlns:a="http://schemas.openxmlformats.org/drawingml/2006/main">
              <a:ext uri="{FF2B5EF4-FFF2-40B4-BE49-F238E27FC236}">
                <a16:creationId xmlns:a16="http://schemas.microsoft.com/office/drawing/2014/main" id="{75D4A3DB-1160-4F55-B595-CD8825D13E2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95</a:t>
            </a:r>
          </a:p>
        </p:txBody>
      </p:sp>
    </p:spTree>
    <p:extLst>
      <p:ext uri="{BB962C8B-B14F-4D97-AF65-F5344CB8AC3E}">
        <p14:creationId xmlns:p14="http://schemas.microsoft.com/office/powerpoint/2010/main" val="1580104395"/>
      </p:ext>
    </p:extLst>
  </p:cSld>
</p:sld>
</file>

<file path=ppt/slides/slide9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933">
            <a:extLst xmlns:a="http://schemas.openxmlformats.org/drawingml/2006/main">
              <a:ext uri="{FF2B5EF4-FFF2-40B4-BE49-F238E27FC236}">
                <a16:creationId xmlns:a16="http://schemas.microsoft.com/office/drawing/2014/main" id="{20AB108B-56D1-4E8C-AF99-EB752F3FAB9A}"/>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Recovery is part of the build</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872490">
                <a:tc>
                  <a:txBody>
                    <a:bodyPr>
                      <a:noAutofit/>
                    </a:bodyPr>
                    <a:lstStyle/>
                    <a:p>
                      <a:r>
                        <a:rPr sz="1875" b="1" i="0">
                          <a:solidFill>
                            <a:srgbClr val="FFFFFF"/>
                          </a:solidFill>
                          <a:latin typeface="Helvetica Neue"/>
                          <a:ea typeface="Helvetica Neue"/>
                          <a:cs typeface="Helvetica Neue"/>
                        </a:rPr>
                        <a:t>Failure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Expected behavior</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872490">
                <a:tc>
                  <a:txBody>
                    <a:bodyPr>
                      <a:noAutofit/>
                    </a:bodyPr>
                    <a:lstStyle/>
                    <a:p>
                      <a:r>
                        <a:rPr sz="1875" b="1" i="0">
                          <a:solidFill>
                            <a:srgbClr val="1C1C1C"/>
                          </a:solidFill>
                          <a:latin typeface="Helvetica Neue"/>
                          <a:ea typeface="Helvetica Neue"/>
                          <a:cs typeface="Helvetica Neue"/>
                        </a:rPr>
                        <a:t>Repeated import</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Update the record with the same source and source ID</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Duplicate task request</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Return the existing task for that operation</a:t>
                      </a:r>
                    </a:p>
                  </a:txBody>
                  <a:tcPr marL="171450" marR="171450" marT="114300" marB="114300" anchor="ctr">
                    <a:lnR w="19050">
                      <a:solidFill>
                        <a:srgbClr val="F8F5F0"/>
                      </a:solidFill>
                    </a:lnR>
                    <a:lnB w="19050">
                      <a:solidFill>
                        <a:srgbClr val="F8F5F0"/>
                      </a:solidFill>
                    </a:lnB>
                    <a:solidFill>
                      <a:srgbClr val="F8F5F0"/>
                    </a:solidFill>
                  </a:tcPr>
                </a:tc>
              </a:tr>
              <a:tr h="872490">
                <a:tc>
                  <a:txBody>
                    <a:bodyPr>
                      <a:noAutofit/>
                    </a:bodyPr>
                    <a:lstStyle/>
                    <a:p>
                      <a:r>
                        <a:rPr sz="1875" b="1" i="0">
                          <a:solidFill>
                            <a:srgbClr val="1C1C1C"/>
                          </a:solidFill>
                          <a:latin typeface="Helvetica Neue"/>
                          <a:ea typeface="Helvetica Neue"/>
                          <a:cs typeface="Helvetica Neue"/>
                        </a:rPr>
                        <a:t>Network interruption</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Preserve the draft and allow a safe retry</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Missing owner or date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Ask for confirmation before saving</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934">
            <a:extLst xmlns:a="http://schemas.openxmlformats.org/drawingml/2006/main">
              <a:ext uri="{FF2B5EF4-FFF2-40B4-BE49-F238E27FC236}">
                <a16:creationId xmlns:a16="http://schemas.microsoft.com/office/drawing/2014/main" id="{184E7E9E-A8F6-43CA-8A9D-088BB311549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96</a:t>
            </a:r>
          </a:p>
        </p:txBody>
      </p:sp>
    </p:spTree>
    <p:extLst>
      <p:ext uri="{BB962C8B-B14F-4D97-AF65-F5344CB8AC3E}">
        <p14:creationId xmlns:p14="http://schemas.microsoft.com/office/powerpoint/2010/main" val="1614459498"/>
      </p:ext>
    </p:extLst>
  </p:cSld>
</p:sld>
</file>

<file path=ppt/slides/slide9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935">
            <a:extLst xmlns:a="http://schemas.openxmlformats.org/drawingml/2006/main">
              <a:ext uri="{FF2B5EF4-FFF2-40B4-BE49-F238E27FC236}">
                <a16:creationId xmlns:a16="http://schemas.microsoft.com/office/drawing/2014/main" id="{0BBF5088-24EA-4E41-B145-E2795827CDF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Evidence that the build works</a:t>
            </a:r>
          </a:p>
        </p:txBody>
      </p:sp>
      <p:sp>
        <p:nvSpPr>
          <p:cNvPr id="2" name="text-936">
            <a:extLst xmlns:a="http://schemas.openxmlformats.org/drawingml/2006/main">
              <a:ext uri="{FF2B5EF4-FFF2-40B4-BE49-F238E27FC236}">
                <a16:creationId xmlns:a16="http://schemas.microsoft.com/office/drawing/2014/main" id="{2BB71BF3-10C2-4E3F-B274-871C99C510A8}"/>
              </a:ext>
            </a:extLst>
          </p:cNvPr>
          <p:cNvSpPr>
            <a:spLocks xmlns:a="http://schemas.openxmlformats.org/drawingml/2006/main" noGrp="1"/>
          </p:cNvSpPr>
          <p:nvPr/>
        </p:nvSpPr>
        <p:spPr>
          <a:xfrm xmlns:a="http://schemas.openxmlformats.org/drawingml/2006/main">
            <a:off x="609600" y="19335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3" name="text-937">
            <a:extLst xmlns:a="http://schemas.openxmlformats.org/drawingml/2006/main">
              <a:ext uri="{FF2B5EF4-FFF2-40B4-BE49-F238E27FC236}">
                <a16:creationId xmlns:a16="http://schemas.microsoft.com/office/drawing/2014/main" id="{DD027AFB-FFF5-4632-84A2-0DBDA4CD64DE}"/>
              </a:ext>
            </a:extLst>
          </p:cNvPr>
          <p:cNvSpPr>
            <a:spLocks xmlns:a="http://schemas.openxmlformats.org/drawingml/2006/main" noGrp="1"/>
          </p:cNvSpPr>
          <p:nvPr/>
        </p:nvSpPr>
        <p:spPr>
          <a:xfrm xmlns:a="http://schemas.openxmlformats.org/drawingml/2006/main">
            <a:off x="1514475" y="193357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1" i="0">
                <a:solidFill>
                  <a:srgbClr val="1C1C1C"/>
                </a:solidFill>
                <a:latin typeface="Helvetica Neue"/>
                <a:ea typeface="Helvetica Neue"/>
                <a:cs typeface="Helvetica Neue"/>
              </a:rPr>
              <a:t>Data checks:</a:t>
            </a:r>
            <a:r>
              <a:rPr sz="2400" b="0" i="0">
                <a:solidFill>
                  <a:srgbClr val="1C1C1C"/>
                </a:solidFill>
                <a:latin typeface="Helvetica Neue"/>
                <a:ea typeface="Helvetica Neue"/>
                <a:cs typeface="Helvetica Neue"/>
              </a:rPr>
              <a:t> dates, source IDs and duplicate handling</a:t>
            </a:r>
          </a:p>
        </p:txBody>
      </p:sp>
      <p:sp>
        <p:nvSpPr>
          <p:cNvPr id="4" name="text-938">
            <a:extLst xmlns:a="http://schemas.openxmlformats.org/drawingml/2006/main">
              <a:ext uri="{FF2B5EF4-FFF2-40B4-BE49-F238E27FC236}">
                <a16:creationId xmlns:a16="http://schemas.microsoft.com/office/drawing/2014/main" id="{72893E5A-C1CF-4FCF-B74F-458AE5406C62}"/>
              </a:ext>
            </a:extLst>
          </p:cNvPr>
          <p:cNvSpPr>
            <a:spLocks xmlns:a="http://schemas.openxmlformats.org/drawingml/2006/main" noGrp="1"/>
          </p:cNvSpPr>
          <p:nvPr/>
        </p:nvSpPr>
        <p:spPr>
          <a:xfrm xmlns:a="http://schemas.openxmlformats.org/drawingml/2006/main">
            <a:off x="609600" y="28003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5" name="text-939">
            <a:extLst xmlns:a="http://schemas.openxmlformats.org/drawingml/2006/main">
              <a:ext uri="{FF2B5EF4-FFF2-40B4-BE49-F238E27FC236}">
                <a16:creationId xmlns:a16="http://schemas.microsoft.com/office/drawing/2014/main" id="{B0AA353C-9798-4E55-B25A-768547365728}"/>
              </a:ext>
            </a:extLst>
          </p:cNvPr>
          <p:cNvSpPr>
            <a:spLocks xmlns:a="http://schemas.openxmlformats.org/drawingml/2006/main" noGrp="1"/>
          </p:cNvSpPr>
          <p:nvPr/>
        </p:nvSpPr>
        <p:spPr>
          <a:xfrm xmlns:a="http://schemas.openxmlformats.org/drawingml/2006/main">
            <a:off x="1514475" y="2800350"/>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1" i="0">
                <a:solidFill>
                  <a:srgbClr val="1C1C1C"/>
                </a:solidFill>
                <a:latin typeface="Helvetica Neue"/>
                <a:ea typeface="Helvetica Neue"/>
                <a:cs typeface="Helvetica Neue"/>
              </a:rPr>
              <a:t>Save checks:</a:t>
            </a:r>
            <a:r>
              <a:rPr sz="2400" b="0" i="0">
                <a:solidFill>
                  <a:srgbClr val="1C1C1C"/>
                </a:solidFill>
                <a:latin typeface="Helvetica Neue"/>
                <a:ea typeface="Helvetica Neue"/>
                <a:cs typeface="Helvetica Neue"/>
              </a:rPr>
              <a:t> confirmed writes and separate workspaces</a:t>
            </a:r>
          </a:p>
        </p:txBody>
      </p:sp>
      <p:sp>
        <p:nvSpPr>
          <p:cNvPr id="6" name="text-940">
            <a:extLst xmlns:a="http://schemas.openxmlformats.org/drawingml/2006/main">
              <a:ext uri="{FF2B5EF4-FFF2-40B4-BE49-F238E27FC236}">
                <a16:creationId xmlns:a16="http://schemas.microsoft.com/office/drawing/2014/main" id="{A7095C78-EE8F-4FDA-A8BE-26B94EAEBB82}"/>
              </a:ext>
            </a:extLst>
          </p:cNvPr>
          <p:cNvSpPr>
            <a:spLocks xmlns:a="http://schemas.openxmlformats.org/drawingml/2006/main" noGrp="1"/>
          </p:cNvSpPr>
          <p:nvPr/>
        </p:nvSpPr>
        <p:spPr>
          <a:xfrm xmlns:a="http://schemas.openxmlformats.org/drawingml/2006/main">
            <a:off x="609600" y="36671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7" name="text-941">
            <a:extLst xmlns:a="http://schemas.openxmlformats.org/drawingml/2006/main">
              <a:ext uri="{FF2B5EF4-FFF2-40B4-BE49-F238E27FC236}">
                <a16:creationId xmlns:a16="http://schemas.microsoft.com/office/drawing/2014/main" id="{B3D8A9B8-2217-4603-BF65-7FE221B2183C}"/>
              </a:ext>
            </a:extLst>
          </p:cNvPr>
          <p:cNvSpPr>
            <a:spLocks xmlns:a="http://schemas.openxmlformats.org/drawingml/2006/main" noGrp="1"/>
          </p:cNvSpPr>
          <p:nvPr/>
        </p:nvSpPr>
        <p:spPr>
          <a:xfrm xmlns:a="http://schemas.openxmlformats.org/drawingml/2006/main">
            <a:off x="1514475" y="366712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1" i="0">
                <a:solidFill>
                  <a:srgbClr val="1C1C1C"/>
                </a:solidFill>
                <a:latin typeface="Helvetica Neue"/>
                <a:ea typeface="Helvetica Neue"/>
                <a:cs typeface="Helvetica Neue"/>
              </a:rPr>
              <a:t>Browser checks:</a:t>
            </a:r>
            <a:r>
              <a:rPr sz="2400" b="0" i="0">
                <a:solidFill>
                  <a:srgbClr val="1C1C1C"/>
                </a:solidFill>
                <a:latin typeface="Helvetica Neue"/>
                <a:ea typeface="Helvetica Neue"/>
                <a:cs typeface="Helvetica Neue"/>
              </a:rPr>
              <a:t> the full journey on desktop and phone</a:t>
            </a:r>
          </a:p>
        </p:txBody>
      </p:sp>
      <p:sp>
        <p:nvSpPr>
          <p:cNvPr id="8" name="text-942">
            <a:extLst xmlns:a="http://schemas.openxmlformats.org/drawingml/2006/main">
              <a:ext uri="{FF2B5EF4-FFF2-40B4-BE49-F238E27FC236}">
                <a16:creationId xmlns:a16="http://schemas.microsoft.com/office/drawing/2014/main" id="{D26EE07F-E2FE-468C-8144-6DAC1E559A2F}"/>
              </a:ext>
            </a:extLst>
          </p:cNvPr>
          <p:cNvSpPr>
            <a:spLocks xmlns:a="http://schemas.openxmlformats.org/drawingml/2006/main" noGrp="1"/>
          </p:cNvSpPr>
          <p:nvPr/>
        </p:nvSpPr>
        <p:spPr>
          <a:xfrm xmlns:a="http://schemas.openxmlformats.org/drawingml/2006/main">
            <a:off x="609600" y="4533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04</a:t>
            </a:r>
          </a:p>
        </p:txBody>
      </p:sp>
      <p:sp>
        <p:nvSpPr>
          <p:cNvPr id="9" name="text-943">
            <a:extLst xmlns:a="http://schemas.openxmlformats.org/drawingml/2006/main">
              <a:ext uri="{FF2B5EF4-FFF2-40B4-BE49-F238E27FC236}">
                <a16:creationId xmlns:a16="http://schemas.microsoft.com/office/drawing/2014/main" id="{E2E284ED-3767-470E-BC34-C99BF23B2874}"/>
              </a:ext>
            </a:extLst>
          </p:cNvPr>
          <p:cNvSpPr>
            <a:spLocks xmlns:a="http://schemas.openxmlformats.org/drawingml/2006/main" noGrp="1"/>
          </p:cNvSpPr>
          <p:nvPr/>
        </p:nvSpPr>
        <p:spPr>
          <a:xfrm xmlns:a="http://schemas.openxmlformats.org/drawingml/2006/main">
            <a:off x="1514475" y="4533900"/>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1" i="0">
                <a:solidFill>
                  <a:srgbClr val="1C1C1C"/>
                </a:solidFill>
                <a:latin typeface="Helvetica Neue"/>
                <a:ea typeface="Helvetica Neue"/>
                <a:cs typeface="Helvetica Neue"/>
              </a:rPr>
              <a:t>Live-service checks:</a:t>
            </a:r>
            <a:r>
              <a:rPr sz="2400" b="0" i="0">
                <a:solidFill>
                  <a:srgbClr val="1C1C1C"/>
                </a:solidFill>
                <a:latin typeface="Helvetica Neue"/>
                <a:ea typeface="Helvetica Neue"/>
                <a:cs typeface="Helvetica Neue"/>
              </a:rPr>
              <a:t> verify each connected account separately</a:t>
            </a:r>
          </a:p>
        </p:txBody>
      </p:sp>
      <p:sp>
        <p:nvSpPr>
          <p:cNvPr id="10" name="text-944">
            <a:extLst xmlns:a="http://schemas.openxmlformats.org/drawingml/2006/main">
              <a:ext uri="{FF2B5EF4-FFF2-40B4-BE49-F238E27FC236}">
                <a16:creationId xmlns:a16="http://schemas.microsoft.com/office/drawing/2014/main" id="{2AC586A0-175B-46EB-B9B6-135BFA773A4D}"/>
              </a:ext>
            </a:extLst>
          </p:cNvPr>
          <p:cNvSpPr>
            <a:spLocks xmlns:a="http://schemas.openxmlformats.org/drawingml/2006/main" noGrp="1"/>
          </p:cNvSpPr>
          <p:nvPr/>
        </p:nvSpPr>
        <p:spPr>
          <a:xfrm xmlns:a="http://schemas.openxmlformats.org/drawingml/2006/main">
            <a:off x="609600" y="572452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Run the documented checks. A passing fictional import does not verify a live provider account.</a:t>
            </a:r>
          </a:p>
        </p:txBody>
      </p:sp>
      <p:sp>
        <p:nvSpPr>
          <p:cNvPr id="11" name="text-945">
            <a:extLst xmlns:a="http://schemas.openxmlformats.org/drawingml/2006/main">
              <a:ext uri="{FF2B5EF4-FFF2-40B4-BE49-F238E27FC236}">
                <a16:creationId xmlns:a16="http://schemas.microsoft.com/office/drawing/2014/main" id="{76499FAC-2643-4F65-889D-04FE4A55C1C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97</a:t>
            </a:r>
          </a:p>
        </p:txBody>
      </p:sp>
    </p:spTree>
    <p:extLst>
      <p:ext uri="{BB962C8B-B14F-4D97-AF65-F5344CB8AC3E}">
        <p14:creationId xmlns:p14="http://schemas.microsoft.com/office/powerpoint/2010/main" val="1889446300"/>
      </p:ext>
    </p:extLst>
  </p:cSld>
</p:sld>
</file>

<file path=ppt/slides/slide9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946">
            <a:extLst xmlns:a="http://schemas.openxmlformats.org/drawingml/2006/main">
              <a:ext uri="{FF2B5EF4-FFF2-40B4-BE49-F238E27FC236}">
                <a16:creationId xmlns:a16="http://schemas.microsoft.com/office/drawing/2014/main" id="{57F4CB36-441B-42E5-AEBE-3FD610AB56E1}"/>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Settings that stay outside the source</a:t>
            </a:r>
          </a:p>
        </p:txBody>
      </p:sp>
      <p:sp>
        <p:nvSpPr>
          <p:cNvPr id="2" name="panel-947">
            <a:extLst xmlns:a="http://schemas.openxmlformats.org/drawingml/2006/main">
              <a:ext uri="{FF2B5EF4-FFF2-40B4-BE49-F238E27FC236}">
                <a16:creationId xmlns:a16="http://schemas.microsoft.com/office/drawing/2014/main" id="{97BF04D2-2889-495A-900D-FE37DD59519D}"/>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948">
            <a:extLst xmlns:a="http://schemas.openxmlformats.org/drawingml/2006/main">
              <a:ext uri="{FF2B5EF4-FFF2-40B4-BE49-F238E27FC236}">
                <a16:creationId xmlns:a16="http://schemas.microsoft.com/office/drawing/2014/main" id="{63AD2243-C2F8-4827-B3F7-F80146C265F3}"/>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949">
            <a:extLst xmlns:a="http://schemas.openxmlformats.org/drawingml/2006/main">
              <a:ext uri="{FF2B5EF4-FFF2-40B4-BE49-F238E27FC236}">
                <a16:creationId xmlns:a16="http://schemas.microsoft.com/office/drawing/2014/main" id="{9F17B032-D9F2-4018-A871-3A9FE8D579C3}"/>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An environment variable</a:t>
            </a:r>
          </a:p>
        </p:txBody>
      </p:sp>
      <p:sp>
        <p:nvSpPr>
          <p:cNvPr id="5" name="text-950">
            <a:extLst xmlns:a="http://schemas.openxmlformats.org/drawingml/2006/main">
              <a:ext uri="{FF2B5EF4-FFF2-40B4-BE49-F238E27FC236}">
                <a16:creationId xmlns:a16="http://schemas.microsoft.com/office/drawing/2014/main" id="{8B7A147E-53C0-4C67-93CD-2741FE8972DF}"/>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 named setting the app reads.</a:t>
            </a:r>
          </a:p>
          <a:p xmlns:a="http://schemas.openxmlformats.org/drawingml/2006/main">
            <a:pPr>
              <a:defRPr sz="2325" b="0" i="0">
                <a:solidFill>
                  <a:srgbClr val="1C1C1C"/>
                </a:solidFill>
                <a:latin typeface="Helvetica Neue"/>
                <a:ea typeface="Helvetica Neue"/>
                <a:cs typeface="Helvetica Neue"/>
              </a:defRPr>
            </a:pPr>
            <a:r>
              <a:rPr sz="2325" b="1" i="0">
                <a:solidFill>
                  <a:srgbClr val="1C1C1C"/>
                </a:solidFill>
                <a:latin typeface="Helvetica Neue"/>
                <a:ea typeface="Helvetica Neue"/>
                <a:cs typeface="Helvetica Neue"/>
              </a:rPr>
              <a:t>Example:</a:t>
            </a:r>
            <a:r>
              <a:rPr sz="2325" b="0" i="0">
                <a:solidFill>
                  <a:srgbClr val="1C1C1C"/>
                </a:solidFill>
                <a:latin typeface="Helvetica Neue"/>
                <a:ea typeface="Helvetica Neue"/>
                <a:cs typeface="Helvetica Neue"/>
              </a:rPr>
              <a:t> SUPABASE_URL</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Local values go in .env.local.</a:t>
            </a:r>
          </a:p>
        </p:txBody>
      </p:sp>
      <p:sp>
        <p:nvSpPr>
          <p:cNvPr id="6" name="text-951">
            <a:extLst xmlns:a="http://schemas.openxmlformats.org/drawingml/2006/main">
              <a:ext uri="{FF2B5EF4-FFF2-40B4-BE49-F238E27FC236}">
                <a16:creationId xmlns:a16="http://schemas.microsoft.com/office/drawing/2014/main" id="{FD8DE9C5-2B1B-41DF-A146-80DD5DE758DA}"/>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On a hosting service</a:t>
            </a:r>
          </a:p>
        </p:txBody>
      </p:sp>
      <p:sp>
        <p:nvSpPr>
          <p:cNvPr id="7" name="text-952">
            <a:extLst xmlns:a="http://schemas.openxmlformats.org/drawingml/2006/main">
              <a:ext uri="{FF2B5EF4-FFF2-40B4-BE49-F238E27FC236}">
                <a16:creationId xmlns:a16="http://schemas.microsoft.com/office/drawing/2014/main" id="{D4D0607E-F33E-4F1F-84DE-DB21FD81B2C6}"/>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Enter values in project settings.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Use the exact documented names.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Redeploy after changing them.</a:t>
            </a:r>
          </a:p>
        </p:txBody>
      </p:sp>
      <p:sp>
        <p:nvSpPr>
          <p:cNvPr id="8" name="text-953">
            <a:extLst xmlns:a="http://schemas.openxmlformats.org/drawingml/2006/main">
              <a:ext uri="{FF2B5EF4-FFF2-40B4-BE49-F238E27FC236}">
                <a16:creationId xmlns:a16="http://schemas.microsoft.com/office/drawing/2014/main" id="{950D4868-4305-4787-A504-769792D9FD9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98</a:t>
            </a:r>
          </a:p>
        </p:txBody>
      </p:sp>
    </p:spTree>
    <p:extLst>
      <p:ext uri="{BB962C8B-B14F-4D97-AF65-F5344CB8AC3E}">
        <p14:creationId xmlns:p14="http://schemas.microsoft.com/office/powerpoint/2010/main" val="278587648"/>
      </p:ext>
    </p:extLst>
  </p:cSld>
</p:sld>
</file>

<file path=ppt/slides/slide9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954">
            <a:extLst xmlns:a="http://schemas.openxmlformats.org/drawingml/2006/main">
              <a:ext uri="{FF2B5EF4-FFF2-40B4-BE49-F238E27FC236}">
                <a16:creationId xmlns:a16="http://schemas.microsoft.com/office/drawing/2014/main" id="{5FD702EF-082A-4373-9CCF-0D89BC09A35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Connect the app to Vercel</a:t>
            </a:r>
          </a:p>
        </p:txBody>
      </p:sp>
      <p:sp>
        <p:nvSpPr>
          <p:cNvPr id="2" name="panel-955">
            <a:extLst xmlns:a="http://schemas.openxmlformats.org/drawingml/2006/main">
              <a:ext uri="{FF2B5EF4-FFF2-40B4-BE49-F238E27FC236}">
                <a16:creationId xmlns:a16="http://schemas.microsoft.com/office/drawing/2014/main" id="{B0989775-ABD1-4538-B070-E302E2C5A418}"/>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956">
            <a:extLst xmlns:a="http://schemas.openxmlformats.org/drawingml/2006/main">
              <a:ext uri="{FF2B5EF4-FFF2-40B4-BE49-F238E27FC236}">
                <a16:creationId xmlns:a16="http://schemas.microsoft.com/office/drawing/2014/main" id="{A23566D9-1C04-44B0-8D63-26F9D7A627C6}"/>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957">
            <a:extLst xmlns:a="http://schemas.openxmlformats.org/drawingml/2006/main">
              <a:ext uri="{FF2B5EF4-FFF2-40B4-BE49-F238E27FC236}">
                <a16:creationId xmlns:a16="http://schemas.microsoft.com/office/drawing/2014/main" id="{FDCC4F1E-F7DD-4621-AD87-4A320CBAFC8D}"/>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958">
            <a:extLst xmlns:a="http://schemas.openxmlformats.org/drawingml/2006/main">
              <a:ext uri="{FF2B5EF4-FFF2-40B4-BE49-F238E27FC236}">
                <a16:creationId xmlns:a16="http://schemas.microsoft.com/office/drawing/2014/main" id="{B3FDEBE6-C112-484D-AB96-764D689331E7}"/>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959">
            <a:extLst xmlns:a="http://schemas.openxmlformats.org/drawingml/2006/main">
              <a:ext uri="{FF2B5EF4-FFF2-40B4-BE49-F238E27FC236}">
                <a16:creationId xmlns:a16="http://schemas.microsoft.com/office/drawing/2014/main" id="{62D245C2-850E-4ADA-A06F-50EBF4204DC3}"/>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 me import my reviewed GitHub repository into Vercel. Set the root directory to 03-build/clientdesk and Node to 24. Add my SUPABASE_URL and SUPABASE_ANON_KEY in server settings for the deployment environment. Show the destination and build settings before deploying.</a:t>
            </a:r>
          </a:p>
        </p:txBody>
      </p:sp>
      <p:sp>
        <p:nvSpPr>
          <p:cNvPr id="7" name="text-960">
            <a:extLst xmlns:a="http://schemas.openxmlformats.org/drawingml/2006/main">
              <a:ext uri="{FF2B5EF4-FFF2-40B4-BE49-F238E27FC236}">
                <a16:creationId xmlns:a16="http://schemas.microsoft.com/office/drawing/2014/main" id="{60F1C0DF-B087-4BD7-B90F-138331FB0BD4}"/>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Root:</a:t>
            </a:r>
            <a:r>
              <a:rPr sz="1875" b="0" i="0">
                <a:solidFill>
                  <a:srgbClr val="1C1C1C"/>
                </a:solidFill>
                <a:latin typeface="Helvetica Neue"/>
                <a:ea typeface="Helvetica Neue"/>
                <a:cs typeface="Helvetica Neue"/>
              </a:rPr>
              <a:t> deploys the app folder, not the whole kit.</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Configuration:</a:t>
            </a:r>
            <a:r>
              <a:rPr sz="1875" b="0" i="0">
                <a:solidFill>
                  <a:srgbClr val="1C1C1C"/>
                </a:solidFill>
                <a:latin typeface="Helvetica Neue"/>
                <a:ea typeface="Helvetica Neue"/>
                <a:cs typeface="Helvetica Neue"/>
              </a:rPr>
              <a:t> connects the prepared database.</a:t>
            </a:r>
          </a:p>
        </p:txBody>
      </p:sp>
      <p:sp>
        <p:nvSpPr>
          <p:cNvPr id="8" name="panel-961">
            <a:extLst xmlns:a="http://schemas.openxmlformats.org/drawingml/2006/main">
              <a:ext uri="{FF2B5EF4-FFF2-40B4-BE49-F238E27FC236}">
                <a16:creationId xmlns:a16="http://schemas.microsoft.com/office/drawing/2014/main" id="{0E2A8E9E-CC89-49F8-89F7-8E842DE6026B}"/>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962">
            <a:extLst xmlns:a="http://schemas.openxmlformats.org/drawingml/2006/main">
              <a:ext uri="{FF2B5EF4-FFF2-40B4-BE49-F238E27FC236}">
                <a16:creationId xmlns:a16="http://schemas.microsoft.com/office/drawing/2014/main" id="{9964FEC5-777F-4221-A826-6A78333747B9}"/>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deployment builds and the hosted app reports Supabase storage.</a:t>
            </a:r>
          </a:p>
        </p:txBody>
      </p:sp>
      <p:sp>
        <p:nvSpPr>
          <p:cNvPr id="10" name="text-963">
            <a:extLst xmlns:a="http://schemas.openxmlformats.org/drawingml/2006/main">
              <a:ext uri="{FF2B5EF4-FFF2-40B4-BE49-F238E27FC236}">
                <a16:creationId xmlns:a16="http://schemas.microsoft.com/office/drawing/2014/main" id="{480B840E-9E25-4883-A7B6-9F5B2F08A9B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99</a:t>
            </a:r>
          </a:p>
        </p:txBody>
      </p:sp>
    </p:spTree>
    <p:extLst>
      <p:ext uri="{BB962C8B-B14F-4D97-AF65-F5344CB8AC3E}">
        <p14:creationId xmlns:p14="http://schemas.microsoft.com/office/powerpoint/2010/main" val="453079029"/>
      </p:ext>
    </p:extLst>
  </p:cSld>
</p:sld>
</file>

<file path=ppt/slides/slide10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964">
            <a:extLst xmlns:a="http://schemas.openxmlformats.org/drawingml/2006/main">
              <a:ext uri="{FF2B5EF4-FFF2-40B4-BE49-F238E27FC236}">
                <a16:creationId xmlns:a16="http://schemas.microsoft.com/office/drawing/2014/main" id="{491DC44F-0297-4283-9DB2-45202E0B5D5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Run the checks before deployment</a:t>
            </a:r>
          </a:p>
        </p:txBody>
      </p:sp>
      <p:sp>
        <p:nvSpPr>
          <p:cNvPr id="2" name="panel-965">
            <a:extLst xmlns:a="http://schemas.openxmlformats.org/drawingml/2006/main">
              <a:ext uri="{FF2B5EF4-FFF2-40B4-BE49-F238E27FC236}">
                <a16:creationId xmlns:a16="http://schemas.microsoft.com/office/drawing/2014/main" id="{F21EDF53-B684-4FDE-8B9E-EB8CF7A4B05D}"/>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966">
            <a:extLst xmlns:a="http://schemas.openxmlformats.org/drawingml/2006/main">
              <a:ext uri="{FF2B5EF4-FFF2-40B4-BE49-F238E27FC236}">
                <a16:creationId xmlns:a16="http://schemas.microsoft.com/office/drawing/2014/main" id="{B8B556AB-FC35-42A7-8643-51E6598ED05C}"/>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967">
            <a:extLst xmlns:a="http://schemas.openxmlformats.org/drawingml/2006/main">
              <a:ext uri="{FF2B5EF4-FFF2-40B4-BE49-F238E27FC236}">
                <a16:creationId xmlns:a16="http://schemas.microsoft.com/office/drawing/2014/main" id="{BD6E4D74-1AD8-4C40-BFF5-FF71AB7B7984}"/>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968">
            <a:extLst xmlns:a="http://schemas.openxmlformats.org/drawingml/2006/main">
              <a:ext uri="{FF2B5EF4-FFF2-40B4-BE49-F238E27FC236}">
                <a16:creationId xmlns:a16="http://schemas.microsoft.com/office/drawing/2014/main" id="{42300B64-82C4-4215-B41B-AA1C3B298B37}"/>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969">
            <a:extLst xmlns:a="http://schemas.openxmlformats.org/drawingml/2006/main">
              <a:ext uri="{FF2B5EF4-FFF2-40B4-BE49-F238E27FC236}">
                <a16:creationId xmlns:a16="http://schemas.microsoft.com/office/drawing/2014/main" id="{519DF88E-7A25-426F-AA33-4C1570A469DC}"/>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Run npm test, npm run typecheck and npm run build in the app folder. With the local app running, run npm run test:http. Explain failures, fix their cause, and repeat the affected checks before deploying.</a:t>
            </a:r>
          </a:p>
        </p:txBody>
      </p:sp>
      <p:sp>
        <p:nvSpPr>
          <p:cNvPr id="7" name="text-970">
            <a:extLst xmlns:a="http://schemas.openxmlformats.org/drawingml/2006/main">
              <a:ext uri="{FF2B5EF4-FFF2-40B4-BE49-F238E27FC236}">
                <a16:creationId xmlns:a16="http://schemas.microsoft.com/office/drawing/2014/main" id="{15D027FE-24DA-4ED3-B0C1-57B54B07DF32}"/>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Layers:</a:t>
            </a:r>
            <a:r>
              <a:rPr sz="1875" b="0" i="0">
                <a:solidFill>
                  <a:srgbClr val="1C1C1C"/>
                </a:solidFill>
                <a:latin typeface="Helvetica Neue"/>
                <a:ea typeface="Helvetica Neue"/>
                <a:cs typeface="Helvetica Neue"/>
              </a:rPr>
              <a:t> checks data, types, build and real requests.</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Evidence:</a:t>
            </a:r>
            <a:r>
              <a:rPr sz="1875" b="0" i="0">
                <a:solidFill>
                  <a:srgbClr val="1C1C1C"/>
                </a:solidFill>
                <a:latin typeface="Helvetica Neue"/>
                <a:ea typeface="Helvetica Neue"/>
                <a:cs typeface="Helvetica Neue"/>
              </a:rPr>
              <a:t> distinguishes passing code from a passing screen.</a:t>
            </a:r>
          </a:p>
        </p:txBody>
      </p:sp>
      <p:sp>
        <p:nvSpPr>
          <p:cNvPr id="8" name="panel-971">
            <a:extLst xmlns:a="http://schemas.openxmlformats.org/drawingml/2006/main">
              <a:ext uri="{FF2B5EF4-FFF2-40B4-BE49-F238E27FC236}">
                <a16:creationId xmlns:a16="http://schemas.microsoft.com/office/drawing/2014/main" id="{5DD69186-D674-4FFC-8D79-11F8CCF86D9E}"/>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972">
            <a:extLst xmlns:a="http://schemas.openxmlformats.org/drawingml/2006/main">
              <a:ext uri="{FF2B5EF4-FFF2-40B4-BE49-F238E27FC236}">
                <a16:creationId xmlns:a16="http://schemas.microsoft.com/office/drawing/2014/main" id="{0B52D7B1-3078-4588-9AF0-5857EF0B00CE}"/>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All four checks pass; the browser journey also works.</a:t>
            </a:r>
          </a:p>
        </p:txBody>
      </p:sp>
      <p:sp>
        <p:nvSpPr>
          <p:cNvPr id="10" name="text-973">
            <a:extLst xmlns:a="http://schemas.openxmlformats.org/drawingml/2006/main">
              <a:ext uri="{FF2B5EF4-FFF2-40B4-BE49-F238E27FC236}">
                <a16:creationId xmlns:a16="http://schemas.microsoft.com/office/drawing/2014/main" id="{199AF263-CB94-4CC1-9DBF-1BEC6875F42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100</a:t>
            </a:r>
          </a:p>
        </p:txBody>
      </p:sp>
    </p:spTree>
    <p:extLst>
      <p:ext uri="{BB962C8B-B14F-4D97-AF65-F5344CB8AC3E}">
        <p14:creationId xmlns:p14="http://schemas.microsoft.com/office/powerpoint/2010/main" val="773825610"/>
      </p:ext>
    </p:extLst>
  </p:cSld>
</p:sld>
</file>

<file path=ppt/slides/slide10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974">
            <a:extLst xmlns:a="http://schemas.openxmlformats.org/drawingml/2006/main">
              <a:ext uri="{FF2B5EF4-FFF2-40B4-BE49-F238E27FC236}">
                <a16:creationId xmlns:a16="http://schemas.microsoft.com/office/drawing/2014/main" id="{842310F3-8D44-462E-8D4C-A6EDC0D09FF2}"/>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hosted preview of the CRM</a:t>
            </a:r>
          </a:p>
        </p:txBody>
      </p:sp>
      <p:sp>
        <p:nvSpPr>
          <p:cNvPr id="2" name="panel-975">
            <a:extLst xmlns:a="http://schemas.openxmlformats.org/drawingml/2006/main">
              <a:ext uri="{FF2B5EF4-FFF2-40B4-BE49-F238E27FC236}">
                <a16:creationId xmlns:a16="http://schemas.microsoft.com/office/drawing/2014/main" id="{2B98F95C-BAC9-4B22-BA9A-26E48D0D15B7}"/>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976">
            <a:extLst xmlns:a="http://schemas.openxmlformats.org/drawingml/2006/main">
              <a:ext uri="{FF2B5EF4-FFF2-40B4-BE49-F238E27FC236}">
                <a16:creationId xmlns:a16="http://schemas.microsoft.com/office/drawing/2014/main" id="{1BA836D5-4879-425C-AD14-2C216CAF203E}"/>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977">
            <a:extLst xmlns:a="http://schemas.openxmlformats.org/drawingml/2006/main">
              <a:ext uri="{FF2B5EF4-FFF2-40B4-BE49-F238E27FC236}">
                <a16:creationId xmlns:a16="http://schemas.microsoft.com/office/drawing/2014/main" id="{57D4DBEC-3723-4DEE-869D-E62175736DDB}"/>
              </a:ext>
            </a:extLst>
          </p:cNvPr>
          <p:cNvSpPr>
            <a:spLocks xmlns:a="http://schemas.openxmlformats.org/drawingml/2006/main" noGrp="1"/>
          </p:cNvSpPr>
          <p:nvPr/>
        </p:nvSpPr>
        <p:spPr>
          <a:xfrm xmlns:a="http://schemas.openxmlformats.org/drawingml/2006/main">
            <a:off x="609600" y="20383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978">
            <a:extLst xmlns:a="http://schemas.openxmlformats.org/drawingml/2006/main">
              <a:ext uri="{FF2B5EF4-FFF2-40B4-BE49-F238E27FC236}">
                <a16:creationId xmlns:a16="http://schemas.microsoft.com/office/drawing/2014/main" id="{B01718D8-8B18-4CC8-AD0F-F757745E309A}"/>
              </a:ext>
            </a:extLst>
          </p:cNvPr>
          <p:cNvSpPr>
            <a:spLocks xmlns:a="http://schemas.openxmlformats.org/drawingml/2006/main" noGrp="1"/>
          </p:cNvSpPr>
          <p:nvPr/>
        </p:nvSpPr>
        <p:spPr>
          <a:xfrm xmlns:a="http://schemas.openxmlformats.org/drawingml/2006/main">
            <a:off x="7981950" y="2038350"/>
            <a:ext cx="3600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i="0">
                <a:solidFill>
                  <a:srgbClr val="686868"/>
                </a:solidFill>
                <a:latin typeface="Avenir Next"/>
                <a:ea typeface="Avenir Next"/>
                <a:cs typeface="Avenir Next"/>
              </a:defRPr>
            </a:pPr>
            <a:r>
              <a:rPr sz="1875" b="1" i="0">
                <a:solidFill>
                  <a:srgbClr val="686868"/>
                </a:solidFill>
                <a:latin typeface="Avenir Next"/>
                <a:ea typeface="Avenir Next"/>
                <a:cs typeface="Avenir Next"/>
              </a:rPr>
              <a:t>Technical reference</a:t>
            </a:r>
          </a:p>
        </p:txBody>
      </p:sp>
      <p:sp>
        <p:nvSpPr>
          <p:cNvPr id="6" name="text-979">
            <a:extLst xmlns:a="http://schemas.openxmlformats.org/drawingml/2006/main">
              <a:ext uri="{FF2B5EF4-FFF2-40B4-BE49-F238E27FC236}">
                <a16:creationId xmlns:a16="http://schemas.microsoft.com/office/drawing/2014/main" id="{0EEA35AE-B1B8-4635-A0EA-50FBEB7D45F1}"/>
              </a:ext>
            </a:extLst>
          </p:cNvPr>
          <p:cNvSpPr>
            <a:spLocks xmlns:a="http://schemas.openxmlformats.org/drawingml/2006/main" noGrp="1"/>
          </p:cNvSpPr>
          <p:nvPr/>
        </p:nvSpPr>
        <p:spPr>
          <a:xfrm xmlns:a="http://schemas.openxmlformats.org/drawingml/2006/main">
            <a:off x="609600" y="2667000"/>
            <a:ext cx="68008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Prepare a hosted preview of the reviewed CRM. Run the checks, inspect the changed files, and show me the hosting project and visibility settings. After I approve that destination, deploy the preview and record its URL and code version.</a:t>
            </a:r>
          </a:p>
        </p:txBody>
      </p:sp>
      <p:sp>
        <p:nvSpPr>
          <p:cNvPr id="7" name="panel-980">
            <a:extLst xmlns:a="http://schemas.openxmlformats.org/drawingml/2006/main">
              <a:ext uri="{FF2B5EF4-FFF2-40B4-BE49-F238E27FC236}">
                <a16:creationId xmlns:a16="http://schemas.microsoft.com/office/drawing/2014/main" id="{5BB278C7-FCCA-466E-8253-DA8287B94CCE}"/>
              </a:ext>
            </a:extLst>
          </p:cNvPr>
          <p:cNvSpPr>
            <a:spLocks xmlns:a="http://schemas.openxmlformats.org/drawingml/2006/main" noGrp="1"/>
          </p:cNvSpPr>
          <p:nvPr/>
        </p:nvSpPr>
        <p:spPr>
          <a:xfrm xmlns:a="http://schemas.openxmlformats.org/drawingml/2006/main">
            <a:off x="7981950" y="2667000"/>
            <a:ext cx="3600450" cy="980123"/>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8" name="text-981">
            <a:extLst xmlns:a="http://schemas.openxmlformats.org/drawingml/2006/main">
              <a:ext uri="{FF2B5EF4-FFF2-40B4-BE49-F238E27FC236}">
                <a16:creationId xmlns:a16="http://schemas.microsoft.com/office/drawing/2014/main" id="{C26F6649-AF78-4EEE-A962-79DA9D2FE87A}"/>
              </a:ext>
            </a:extLst>
          </p:cNvPr>
          <p:cNvSpPr>
            <a:spLocks xmlns:a="http://schemas.openxmlformats.org/drawingml/2006/main" noGrp="1"/>
          </p:cNvSpPr>
          <p:nvPr/>
        </p:nvSpPr>
        <p:spPr>
          <a:xfrm xmlns:a="http://schemas.openxmlformats.org/drawingml/2006/main">
            <a:off x="8172450" y="2857500"/>
            <a:ext cx="3219450" cy="6943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git status</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vercel deploy</a:t>
            </a:r>
          </a:p>
        </p:txBody>
      </p:sp>
      <p:sp>
        <p:nvSpPr>
          <p:cNvPr id="9" name="text-982">
            <a:extLst xmlns:a="http://schemas.openxmlformats.org/drawingml/2006/main">
              <a:ext uri="{FF2B5EF4-FFF2-40B4-BE49-F238E27FC236}">
                <a16:creationId xmlns:a16="http://schemas.microsoft.com/office/drawing/2014/main" id="{AEE1C003-1B70-45BE-989F-045268573802}"/>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686868"/>
                </a:solidFill>
                <a:latin typeface="Helvetica Neue"/>
                <a:ea typeface="Helvetica Neue"/>
                <a:cs typeface="Helvetica Neue"/>
              </a:defRPr>
            </a:pPr>
            <a:r>
              <a:rPr sz="1800" b="0" i="0">
                <a:solidFill>
                  <a:srgbClr val="686868"/>
                </a:solidFill>
                <a:latin typeface="Helvetica Neue"/>
                <a:ea typeface="Helvetica Neue"/>
                <a:cs typeface="Helvetica Neue"/>
              </a:rPr>
              <a:t>Your own Vercel project + your Supabase database. Follow 05-deployment/SETUP.md.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363ea13ef0e4041"/>
          <a:stretch xmlns:a="http://schemas.openxmlformats.org/drawingml/2006/main"/>
        </p:blipFill>
        <p:spPr>
          <a:xfrm xmlns:a="http://schemas.openxmlformats.org/drawingml/2006/main">
            <a:off x="10972800" y="466725"/>
            <a:ext cx="533400" cy="533400"/>
          </a:xfrm>
          <a:prstGeom xmlns:a="http://schemas.openxmlformats.org/drawingml/2006/main" prst="rect">
            <a:avLst/>
          </a:prstGeom>
        </p:spPr>
      </p:pic>
      <p:sp>
        <p:nvSpPr>
          <p:cNvPr id="11" name="text-983">
            <a:extLst xmlns:a="http://schemas.openxmlformats.org/drawingml/2006/main">
              <a:ext uri="{FF2B5EF4-FFF2-40B4-BE49-F238E27FC236}">
                <a16:creationId xmlns:a16="http://schemas.microsoft.com/office/drawing/2014/main" id="{1C100073-F739-465A-AC01-6B730F88903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101</a:t>
            </a:r>
          </a:p>
        </p:txBody>
      </p:sp>
    </p:spTree>
    <p:extLst>
      <p:ext uri="{BB962C8B-B14F-4D97-AF65-F5344CB8AC3E}">
        <p14:creationId xmlns:p14="http://schemas.microsoft.com/office/powerpoint/2010/main" val="1568256976"/>
      </p:ext>
    </p:extLst>
  </p:cSld>
</p:sld>
</file>

<file path=ppt/slides/slide10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984">
            <a:extLst xmlns:a="http://schemas.openxmlformats.org/drawingml/2006/main">
              <a:ext uri="{FF2B5EF4-FFF2-40B4-BE49-F238E27FC236}">
                <a16:creationId xmlns:a16="http://schemas.microsoft.com/office/drawing/2014/main" id="{5C2250F4-6AFE-4482-89E9-F8447EC58CA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Check the hosted result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ca01feea3004096"/>
          <a:stretch xmlns:a="http://schemas.openxmlformats.org/drawingml/2006/main"/>
        </p:blipFill>
        <p:spPr>
          <a:xfrm xmlns:a="http://schemas.openxmlformats.org/drawingml/2006/main">
            <a:off x="609600" y="1868091"/>
            <a:ext cx="7429500" cy="4179094"/>
          </a:xfrm>
          <a:prstGeom xmlns:a="http://schemas.openxmlformats.org/drawingml/2006/main" prst="rect">
            <a:avLst/>
          </a:prstGeom>
        </p:spPr>
      </p:pic>
      <p:sp>
        <p:nvSpPr>
          <p:cNvPr id="3" name="text-985">
            <a:extLst xmlns:a="http://schemas.openxmlformats.org/drawingml/2006/main">
              <a:ext uri="{FF2B5EF4-FFF2-40B4-BE49-F238E27FC236}">
                <a16:creationId xmlns:a16="http://schemas.microsoft.com/office/drawing/2014/main" id="{849E082D-84A0-487D-A97A-6F60EE7E2533}"/>
              </a:ext>
            </a:extLst>
          </p:cNvPr>
          <p:cNvSpPr>
            <a:spLocks xmlns:a="http://schemas.openxmlformats.org/drawingml/2006/main" noGrp="1"/>
          </p:cNvSpPr>
          <p:nvPr/>
        </p:nvSpPr>
        <p:spPr>
          <a:xfrm xmlns:a="http://schemas.openxmlformats.org/drawingml/2006/main">
            <a:off x="8477250" y="20764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01</a:t>
            </a:r>
          </a:p>
        </p:txBody>
      </p:sp>
      <p:sp>
        <p:nvSpPr>
          <p:cNvPr id="4" name="text-986">
            <a:extLst xmlns:a="http://schemas.openxmlformats.org/drawingml/2006/main">
              <a:ext uri="{FF2B5EF4-FFF2-40B4-BE49-F238E27FC236}">
                <a16:creationId xmlns:a16="http://schemas.microsoft.com/office/drawing/2014/main" id="{6EE73D4E-551C-429F-B02E-76FD60441B10}"/>
              </a:ext>
            </a:extLst>
          </p:cNvPr>
          <p:cNvSpPr>
            <a:spLocks xmlns:a="http://schemas.openxmlformats.org/drawingml/2006/main" noGrp="1"/>
          </p:cNvSpPr>
          <p:nvPr/>
        </p:nvSpPr>
        <p:spPr>
          <a:xfrm xmlns:a="http://schemas.openxmlformats.org/drawingml/2006/main">
            <a:off x="9172575" y="207645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Open the new URL in its own workspace</a:t>
            </a:r>
          </a:p>
        </p:txBody>
      </p:sp>
      <p:sp>
        <p:nvSpPr>
          <p:cNvPr id="5" name="text-987">
            <a:extLst xmlns:a="http://schemas.openxmlformats.org/drawingml/2006/main">
              <a:ext uri="{FF2B5EF4-FFF2-40B4-BE49-F238E27FC236}">
                <a16:creationId xmlns:a16="http://schemas.microsoft.com/office/drawing/2014/main" id="{35FFE141-9CB8-4CC5-BACA-13CF56AC0C48}"/>
              </a:ext>
            </a:extLst>
          </p:cNvPr>
          <p:cNvSpPr>
            <a:spLocks xmlns:a="http://schemas.openxmlformats.org/drawingml/2006/main" noGrp="1"/>
          </p:cNvSpPr>
          <p:nvPr/>
        </p:nvSpPr>
        <p:spPr>
          <a:xfrm xmlns:a="http://schemas.openxmlformats.org/drawingml/2006/main">
            <a:off x="8477250" y="3343275"/>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02</a:t>
            </a:r>
          </a:p>
        </p:txBody>
      </p:sp>
      <p:sp>
        <p:nvSpPr>
          <p:cNvPr id="6" name="text-988">
            <a:extLst xmlns:a="http://schemas.openxmlformats.org/drawingml/2006/main">
              <a:ext uri="{FF2B5EF4-FFF2-40B4-BE49-F238E27FC236}">
                <a16:creationId xmlns:a16="http://schemas.microsoft.com/office/drawing/2014/main" id="{5C1043CF-59E8-4B26-8242-4528C6AF5C50}"/>
              </a:ext>
            </a:extLst>
          </p:cNvPr>
          <p:cNvSpPr>
            <a:spLocks xmlns:a="http://schemas.openxmlformats.org/drawingml/2006/main" noGrp="1"/>
          </p:cNvSpPr>
          <p:nvPr/>
        </p:nvSpPr>
        <p:spPr>
          <a:xfrm xmlns:a="http://schemas.openxmlformats.org/drawingml/2006/main">
            <a:off x="9172575" y="3343275"/>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Save a reviewed task and reload</a:t>
            </a:r>
          </a:p>
        </p:txBody>
      </p:sp>
      <p:sp>
        <p:nvSpPr>
          <p:cNvPr id="7" name="text-989">
            <a:extLst xmlns:a="http://schemas.openxmlformats.org/drawingml/2006/main">
              <a:ext uri="{FF2B5EF4-FFF2-40B4-BE49-F238E27FC236}">
                <a16:creationId xmlns:a16="http://schemas.microsoft.com/office/drawing/2014/main" id="{64F5C800-1B9C-4C9F-8433-346F7D3FEAC4}"/>
              </a:ext>
            </a:extLst>
          </p:cNvPr>
          <p:cNvSpPr>
            <a:spLocks xmlns:a="http://schemas.openxmlformats.org/drawingml/2006/main" noGrp="1"/>
          </p:cNvSpPr>
          <p:nvPr/>
        </p:nvSpPr>
        <p:spPr>
          <a:xfrm xmlns:a="http://schemas.openxmlformats.org/drawingml/2006/main">
            <a:off x="8477250" y="46101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D1372D"/>
                </a:solidFill>
                <a:latin typeface="Avenir Next"/>
                <a:ea typeface="Avenir Next"/>
                <a:cs typeface="Avenir Next"/>
              </a:defRPr>
            </a:pPr>
            <a:r>
              <a:rPr sz="2100" b="1" i="0">
                <a:solidFill>
                  <a:srgbClr val="D1372D"/>
                </a:solidFill>
                <a:latin typeface="Avenir Next"/>
                <a:ea typeface="Avenir Next"/>
                <a:cs typeface="Avenir Next"/>
              </a:rPr>
              <a:t>03</a:t>
            </a:r>
          </a:p>
        </p:txBody>
      </p:sp>
      <p:sp>
        <p:nvSpPr>
          <p:cNvPr id="8" name="text-990">
            <a:extLst xmlns:a="http://schemas.openxmlformats.org/drawingml/2006/main">
              <a:ext uri="{FF2B5EF4-FFF2-40B4-BE49-F238E27FC236}">
                <a16:creationId xmlns:a16="http://schemas.microsoft.com/office/drawing/2014/main" id="{4BC20B7E-11AB-4791-AC36-75F6E14A8427}"/>
              </a:ext>
            </a:extLst>
          </p:cNvPr>
          <p:cNvSpPr>
            <a:spLocks xmlns:a="http://schemas.openxmlformats.org/drawingml/2006/main" noGrp="1"/>
          </p:cNvSpPr>
          <p:nvPr/>
        </p:nvSpPr>
        <p:spPr>
          <a:xfrm xmlns:a="http://schemas.openxmlformats.org/drawingml/2006/main">
            <a:off x="9172575" y="4610100"/>
            <a:ext cx="24098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Record the URL, version and result</a:t>
            </a:r>
          </a:p>
        </p:txBody>
      </p:sp>
      <p:sp>
        <p:nvSpPr>
          <p:cNvPr id="9" name="text-991">
            <a:extLst xmlns:a="http://schemas.openxmlformats.org/drawingml/2006/main">
              <a:ext uri="{FF2B5EF4-FFF2-40B4-BE49-F238E27FC236}">
                <a16:creationId xmlns:a16="http://schemas.microsoft.com/office/drawing/2014/main" id="{642276CF-BE66-43D3-B340-64A273A1B09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102</a:t>
            </a:r>
          </a:p>
        </p:txBody>
      </p:sp>
    </p:spTree>
    <p:extLst>
      <p:ext uri="{BB962C8B-B14F-4D97-AF65-F5344CB8AC3E}">
        <p14:creationId xmlns:p14="http://schemas.microsoft.com/office/powerpoint/2010/main" val="1878848056"/>
      </p:ext>
    </p:extLst>
  </p:cSld>
</p:sld>
</file>

<file path=ppt/slides/slide10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992">
            <a:extLst xmlns:a="http://schemas.openxmlformats.org/drawingml/2006/main">
              <a:ext uri="{FF2B5EF4-FFF2-40B4-BE49-F238E27FC236}">
                <a16:creationId xmlns:a16="http://schemas.microsoft.com/office/drawing/2014/main" id="{2D1621FE-50C0-48BC-9CE0-4198B6BF28E3}"/>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Ask Claude about the client</a:t>
            </a:r>
          </a:p>
        </p:txBody>
      </p:sp>
      <p:sp>
        <p:nvSpPr>
          <p:cNvPr id="2" name="text-993">
            <a:extLst xmlns:a="http://schemas.openxmlformats.org/drawingml/2006/main">
              <a:ext uri="{FF2B5EF4-FFF2-40B4-BE49-F238E27FC236}">
                <a16:creationId xmlns:a16="http://schemas.microsoft.com/office/drawing/2014/main" id="{59535F2C-B669-4276-AC32-BB8605B29892}"/>
              </a:ext>
            </a:extLst>
          </p:cNvPr>
          <p:cNvSpPr>
            <a:spLocks xmlns:a="http://schemas.openxmlformats.org/drawingml/2006/main" noGrp="1"/>
          </p:cNvSpPr>
          <p:nvPr/>
        </p:nvSpPr>
        <p:spPr>
          <a:xfrm xmlns:a="http://schemas.openxmlformats.org/drawingml/2006/main">
            <a:off x="609600" y="1800225"/>
            <a:ext cx="51339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What did Maya request? Cite the meeting source ID. What did the meeting leave undecided? Keep it to three short bullets.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26b94daea1442bf"/>
          <a:stretch xmlns:a="http://schemas.openxmlformats.org/drawingml/2006/main"/>
        </p:blipFill>
        <p:spPr>
          <a:xfrm xmlns:a="http://schemas.openxmlformats.org/drawingml/2006/main">
            <a:off x="611188" y="3476625"/>
            <a:ext cx="5130800" cy="2886075"/>
          </a:xfrm>
          <a:prstGeom xmlns:a="http://schemas.openxmlformats.org/drawingml/2006/main" prst="rect">
            <a:avLst/>
          </a:prstGeom>
        </p:spPr>
      </p:pic>
      <p:sp>
        <p:nvSpPr>
          <p:cNvPr id="4" name="panel-994">
            <a:extLst xmlns:a="http://schemas.openxmlformats.org/drawingml/2006/main">
              <a:ext uri="{FF2B5EF4-FFF2-40B4-BE49-F238E27FC236}">
                <a16:creationId xmlns:a16="http://schemas.microsoft.com/office/drawing/2014/main" id="{BFD15BE4-C1E8-42BF-875A-0A35A04A5F05}"/>
              </a:ext>
            </a:extLst>
          </p:cNvPr>
          <p:cNvSpPr>
            <a:spLocks xmlns:a="http://schemas.openxmlformats.org/drawingml/2006/main" noGrp="1"/>
          </p:cNvSpPr>
          <p:nvPr/>
        </p:nvSpPr>
        <p:spPr>
          <a:xfrm xmlns:a="http://schemas.openxmlformats.org/drawingml/2006/main">
            <a:off x="6172200" y="1828800"/>
            <a:ext cx="5410200" cy="40100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5" name="text-995">
            <a:extLst xmlns:a="http://schemas.openxmlformats.org/drawingml/2006/main">
              <a:ext uri="{FF2B5EF4-FFF2-40B4-BE49-F238E27FC236}">
                <a16:creationId xmlns:a16="http://schemas.microsoft.com/office/drawing/2014/main" id="{D9EA7F3A-9260-4E73-A75C-6B0487B4F9D4}"/>
              </a:ext>
            </a:extLst>
          </p:cNvPr>
          <p:cNvSpPr>
            <a:spLocks xmlns:a="http://schemas.openxmlformats.org/drawingml/2006/main" noGrp="1"/>
          </p:cNvSpPr>
          <p:nvPr/>
        </p:nvSpPr>
        <p:spPr>
          <a:xfrm xmlns:a="http://schemas.openxmlformats.org/drawingml/2006/main">
            <a:off x="6429375" y="2028825"/>
            <a:ext cx="4895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i="0">
                <a:solidFill>
                  <a:srgbClr val="1C1C1C"/>
                </a:solidFill>
                <a:latin typeface="Avenir Next"/>
                <a:ea typeface="Avenir Next"/>
                <a:cs typeface="Avenir Next"/>
              </a:defRPr>
            </a:pPr>
            <a:r>
              <a:rPr sz="2100" b="1" i="0">
                <a:solidFill>
                  <a:srgbClr val="1C1C1C"/>
                </a:solidFill>
                <a:latin typeface="Avenir Next"/>
                <a:ea typeface="Avenir Next"/>
                <a:cs typeface="Avenir Next"/>
              </a:rPr>
              <a:t>The returned answer</a:t>
            </a:r>
          </a:p>
        </p:txBody>
      </p:sp>
      <p:sp>
        <p:nvSpPr>
          <p:cNvPr id="6" name="text-996">
            <a:extLst xmlns:a="http://schemas.openxmlformats.org/drawingml/2006/main">
              <a:ext uri="{FF2B5EF4-FFF2-40B4-BE49-F238E27FC236}">
                <a16:creationId xmlns:a16="http://schemas.microsoft.com/office/drawing/2014/main" id="{0F1A5D91-4593-4F6D-9864-0FAFA636F66A}"/>
              </a:ext>
            </a:extLst>
          </p:cNvPr>
          <p:cNvSpPr>
            <a:spLocks xmlns:a="http://schemas.openxmlformats.org/drawingml/2006/main" noGrp="1"/>
          </p:cNvSpPr>
          <p:nvPr/>
        </p:nvSpPr>
        <p:spPr>
          <a:xfrm xmlns:a="http://schemas.openxmlformats.org/drawingml/2006/main">
            <a:off x="6429375" y="2771775"/>
            <a:ext cx="489585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Maya requested a single onboarding checklist for the team, covering who owns each step.</a:t>
            </a:r>
          </a:p>
          <a:p xmlns:a="http://schemas.openxmlformats.org/drawingml/2006/main">
            <a:pPr>
              <a:defRPr sz="2175" b="0" i="0">
                <a:solidFill>
                  <a:srgbClr val="1C1C1C"/>
                </a:solidFill>
                <a:latin typeface="Helvetica Neue"/>
                <a:ea typeface="Helvetica Neue"/>
                <a:cs typeface="Helvetica Neue"/>
              </a:defRPr>
            </a:pPr>
            <a:r>
              <a:rPr sz="2175" b="1" i="0">
                <a:solidFill>
                  <a:srgbClr val="1C1C1C"/>
                </a:solidFill>
                <a:latin typeface="Helvetica Neue"/>
                <a:ea typeface="Helvetica Neue"/>
                <a:cs typeface="Helvetica Neue"/>
              </a:rPr>
              <a:t>Source:</a:t>
            </a:r>
            <a:r>
              <a:rPr sz="2175" b="0" i="0">
                <a:solidFill>
                  <a:srgbClr val="1C1C1C"/>
                </a:solidFill>
                <a:latin typeface="Helvetica Neue"/>
                <a:ea typeface="Helvetica Neue"/>
                <a:cs typeface="Helvetica Neue"/>
              </a:rPr>
              <a:t> demo-transcript-001</a:t>
            </a:r>
          </a:p>
          <a:p xmlns:a="http://schemas.openxmlformats.org/drawingml/2006/main">
            <a:r>
              <a:t/>
            </a:r>
          </a:p>
          <a:p xmlns:a="http://schemas.openxmlformats.org/drawingml/2006/main">
            <a:pPr>
              <a:defRPr sz="2175" b="0" i="0">
                <a:solidFill>
                  <a:srgbClr val="1C1C1C"/>
                </a:solidFill>
                <a:latin typeface="Helvetica Neue"/>
                <a:ea typeface="Helvetica Neue"/>
                <a:cs typeface="Helvetica Neue"/>
              </a:defRPr>
            </a:pPr>
            <a:r>
              <a:rPr sz="2175" b="1" i="0">
                <a:solidFill>
                  <a:srgbClr val="1C1C1C"/>
                </a:solidFill>
                <a:latin typeface="Helvetica Neue"/>
                <a:ea typeface="Helvetica Neue"/>
                <a:cs typeface="Helvetica Neue"/>
              </a:rPr>
              <a:t>Still undecided:</a:t>
            </a:r>
            <a:r>
              <a:rPr sz="2175" b="0" i="0">
                <a:solidFill>
                  <a:srgbClr val="1C1C1C"/>
                </a:solidFill>
                <a:latin typeface="Helvetica Neue"/>
                <a:ea typeface="Helvetica Neue"/>
                <a:cs typeface="Helvetica Neue"/>
              </a:rPr>
              <a:t> ownership of the steps and the checklist’s delivery timing.</a:t>
            </a:r>
          </a:p>
        </p:txBody>
      </p:sp>
      <p:sp>
        <p:nvSpPr>
          <p:cNvPr id="7" name="text-997">
            <a:extLst xmlns:a="http://schemas.openxmlformats.org/drawingml/2006/main">
              <a:ext uri="{FF2B5EF4-FFF2-40B4-BE49-F238E27FC236}">
                <a16:creationId xmlns:a16="http://schemas.microsoft.com/office/drawing/2014/main" id="{B10CC00B-7F0A-4DAB-B8CA-A9AAA2CA39DB}"/>
              </a:ext>
            </a:extLst>
          </p:cNvPr>
          <p:cNvSpPr>
            <a:spLocks xmlns:a="http://schemas.openxmlformats.org/drawingml/2006/main" noGrp="1"/>
          </p:cNvSpPr>
          <p:nvPr/>
        </p:nvSpPr>
        <p:spPr>
          <a:xfrm xmlns:a="http://schemas.openxmlformats.org/drawingml/2006/main">
            <a:off x="6172200" y="6000750"/>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Actual local reply, shortened for the slide. Compare it with the transcript before using it.</a:t>
            </a:r>
          </a:p>
        </p:txBody>
      </p:sp>
      <p:sp>
        <p:nvSpPr>
          <p:cNvPr id="8" name="text-998">
            <a:extLst xmlns:a="http://schemas.openxmlformats.org/drawingml/2006/main">
              <a:ext uri="{FF2B5EF4-FFF2-40B4-BE49-F238E27FC236}">
                <a16:creationId xmlns:a16="http://schemas.microsoft.com/office/drawing/2014/main" id="{34A512FE-5F2C-4C46-8E9F-55446812B277}"/>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103</a:t>
            </a:r>
          </a:p>
        </p:txBody>
      </p:sp>
    </p:spTree>
    <p:extLst>
      <p:ext uri="{BB962C8B-B14F-4D97-AF65-F5344CB8AC3E}">
        <p14:creationId xmlns:p14="http://schemas.microsoft.com/office/powerpoint/2010/main" val="730723377"/>
      </p:ext>
    </p:extLst>
  </p:cSld>
</p:sld>
</file>

<file path=ppt/slides/slide10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999">
            <a:extLst xmlns:a="http://schemas.openxmlformats.org/drawingml/2006/main">
              <a:ext uri="{FF2B5EF4-FFF2-40B4-BE49-F238E27FC236}">
                <a16:creationId xmlns:a16="http://schemas.microsoft.com/office/drawing/2014/main" id="{ECC7706E-DBF6-4A3A-8B72-723ADE33319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Headless: Claude without its chat screen</a:t>
            </a:r>
          </a:p>
        </p:txBody>
      </p:sp>
      <p:sp>
        <p:nvSpPr>
          <p:cNvPr id="2" name="panel-1000">
            <a:extLst xmlns:a="http://schemas.openxmlformats.org/drawingml/2006/main">
              <a:ext uri="{FF2B5EF4-FFF2-40B4-BE49-F238E27FC236}">
                <a16:creationId xmlns:a16="http://schemas.microsoft.com/office/drawing/2014/main" id="{6ABBCEA7-042E-4415-941D-F1C6C2228932}"/>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001">
            <a:extLst xmlns:a="http://schemas.openxmlformats.org/drawingml/2006/main">
              <a:ext uri="{FF2B5EF4-FFF2-40B4-BE49-F238E27FC236}">
                <a16:creationId xmlns:a16="http://schemas.microsoft.com/office/drawing/2014/main" id="{E2ACC9C8-2C23-4F44-AAE9-752ACC3C1F7F}"/>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02">
            <a:extLst xmlns:a="http://schemas.openxmlformats.org/drawingml/2006/main">
              <a:ext uri="{FF2B5EF4-FFF2-40B4-BE49-F238E27FC236}">
                <a16:creationId xmlns:a16="http://schemas.microsoft.com/office/drawing/2014/main" id="{C3BC9019-B00A-4AED-A40F-E6FEB5654DF1}"/>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Interactive Claude</a:t>
            </a:r>
          </a:p>
        </p:txBody>
      </p:sp>
      <p:sp>
        <p:nvSpPr>
          <p:cNvPr id="5" name="text-1003">
            <a:extLst xmlns:a="http://schemas.openxmlformats.org/drawingml/2006/main">
              <a:ext uri="{FF2B5EF4-FFF2-40B4-BE49-F238E27FC236}">
                <a16:creationId xmlns:a16="http://schemas.microsoft.com/office/drawing/2014/main" id="{26FC224A-B8AF-448E-AD39-19EE1CC11BD0}"/>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You open Claude’s conversation.</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You work back and forth.</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You decide the next step.</a:t>
            </a:r>
          </a:p>
        </p:txBody>
      </p:sp>
      <p:sp>
        <p:nvSpPr>
          <p:cNvPr id="6" name="text-1004">
            <a:extLst xmlns:a="http://schemas.openxmlformats.org/drawingml/2006/main">
              <a:ext uri="{FF2B5EF4-FFF2-40B4-BE49-F238E27FC236}">
                <a16:creationId xmlns:a16="http://schemas.microsoft.com/office/drawing/2014/main" id="{3B37606B-3CC9-496F-9134-5F173EAFD4E1}"/>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Headless Claude</a:t>
            </a:r>
          </a:p>
        </p:txBody>
      </p:sp>
      <p:sp>
        <p:nvSpPr>
          <p:cNvPr id="7" name="text-1005">
            <a:extLst xmlns:a="http://schemas.openxmlformats.org/drawingml/2006/main">
              <a:ext uri="{FF2B5EF4-FFF2-40B4-BE49-F238E27FC236}">
                <a16:creationId xmlns:a16="http://schemas.microsoft.com/office/drawing/2014/main" id="{D8462BD7-F291-47B2-BC4D-7AF154ADDBFA}"/>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Your app supplies the request.</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Claude returns a result to the app.</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No one operates its chat screen.</a:t>
            </a:r>
          </a:p>
        </p:txBody>
      </p:sp>
      <p:sp>
        <p:nvSpPr>
          <p:cNvPr id="8" name="text-1006">
            <a:extLst xmlns:a="http://schemas.openxmlformats.org/drawingml/2006/main">
              <a:ext uri="{FF2B5EF4-FFF2-40B4-BE49-F238E27FC236}">
                <a16:creationId xmlns:a16="http://schemas.microsoft.com/office/drawing/2014/main" id="{0552643E-0E39-44B2-8A83-882884EF448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104</a:t>
            </a:r>
          </a:p>
        </p:txBody>
      </p:sp>
    </p:spTree>
    <p:extLst>
      <p:ext uri="{BB962C8B-B14F-4D97-AF65-F5344CB8AC3E}">
        <p14:creationId xmlns:p14="http://schemas.microsoft.com/office/powerpoint/2010/main" val="1934320749"/>
      </p:ext>
    </p:extLst>
  </p:cSld>
</p:sld>
</file>

<file path=ppt/slides/slide10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007">
            <a:extLst xmlns:a="http://schemas.openxmlformats.org/drawingml/2006/main">
              <a:ext uri="{FF2B5EF4-FFF2-40B4-BE49-F238E27FC236}">
                <a16:creationId xmlns:a16="http://schemas.microsoft.com/office/drawing/2014/main" id="{491F712D-77BC-48C9-AA3E-DD85A953186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small command behind the chat</a:t>
            </a:r>
          </a:p>
        </p:txBody>
      </p:sp>
      <p:sp>
        <p:nvSpPr>
          <p:cNvPr id="2" name="panel-1008">
            <a:extLst xmlns:a="http://schemas.openxmlformats.org/drawingml/2006/main">
              <a:ext uri="{FF2B5EF4-FFF2-40B4-BE49-F238E27FC236}">
                <a16:creationId xmlns:a16="http://schemas.microsoft.com/office/drawing/2014/main" id="{6890D326-4B18-400B-B8B3-395AAC5AC8A0}"/>
              </a:ext>
            </a:extLst>
          </p:cNvPr>
          <p:cNvSpPr>
            <a:spLocks xmlns:a="http://schemas.openxmlformats.org/drawingml/2006/main" noGrp="1"/>
          </p:cNvSpPr>
          <p:nvPr/>
        </p:nvSpPr>
        <p:spPr>
          <a:xfrm xmlns:a="http://schemas.openxmlformats.org/drawingml/2006/main">
            <a:off x="609600" y="1838325"/>
            <a:ext cx="10972800" cy="1304925"/>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1009">
            <a:extLst xmlns:a="http://schemas.openxmlformats.org/drawingml/2006/main">
              <a:ext uri="{FF2B5EF4-FFF2-40B4-BE49-F238E27FC236}">
                <a16:creationId xmlns:a16="http://schemas.microsoft.com/office/drawing/2014/main" id="{13FC42AD-8C16-4450-8D8B-435C58ECD172}"/>
              </a:ext>
            </a:extLst>
          </p:cNvPr>
          <p:cNvSpPr>
            <a:spLocks xmlns:a="http://schemas.openxmlformats.org/drawingml/2006/main" noGrp="1"/>
          </p:cNvSpPr>
          <p:nvPr/>
        </p:nvSpPr>
        <p:spPr>
          <a:xfrm xmlns:a="http://schemas.openxmlformats.org/drawingml/2006/main">
            <a:off x="857250" y="22193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FFFFFF"/>
                </a:solidFill>
                <a:latin typeface="Menlo"/>
                <a:ea typeface="Menlo"/>
                <a:cs typeface="Menlo"/>
              </a:defRPr>
            </a:pPr>
            <a:r>
              <a:rPr sz="2325" b="0" i="0">
                <a:solidFill>
                  <a:srgbClr val="FFFFFF"/>
                </a:solidFill>
                <a:latin typeface="Menlo"/>
                <a:ea typeface="Menlo"/>
                <a:cs typeface="Menlo"/>
              </a:rPr>
              <a:t>claude -p "Explain a CRM in one sentence."</a:t>
            </a:r>
          </a:p>
        </p:txBody>
      </p:sp>
      <p:sp>
        <p:nvSpPr>
          <p:cNvPr id="4" name="text-1010">
            <a:extLst xmlns:a="http://schemas.openxmlformats.org/drawingml/2006/main">
              <a:ext uri="{FF2B5EF4-FFF2-40B4-BE49-F238E27FC236}">
                <a16:creationId xmlns:a16="http://schemas.microsoft.com/office/drawing/2014/main" id="{D31E817E-F59C-4854-AB8F-8B858F4306B2}"/>
              </a:ext>
            </a:extLst>
          </p:cNvPr>
          <p:cNvSpPr>
            <a:spLocks xmlns:a="http://schemas.openxmlformats.org/drawingml/2006/main" noGrp="1"/>
          </p:cNvSpPr>
          <p:nvPr/>
        </p:nvSpPr>
        <p:spPr>
          <a:xfrm xmlns:a="http://schemas.openxmlformats.org/drawingml/2006/main">
            <a:off x="609600" y="3600450"/>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What happens</a:t>
            </a:r>
          </a:p>
        </p:txBody>
      </p:sp>
      <p:sp>
        <p:nvSpPr>
          <p:cNvPr id="5" name="text-1011">
            <a:extLst xmlns:a="http://schemas.openxmlformats.org/drawingml/2006/main">
              <a:ext uri="{FF2B5EF4-FFF2-40B4-BE49-F238E27FC236}">
                <a16:creationId xmlns:a16="http://schemas.microsoft.com/office/drawing/2014/main" id="{2D952822-9078-4598-B3EA-11EDFC0FE303}"/>
              </a:ext>
            </a:extLst>
          </p:cNvPr>
          <p:cNvSpPr>
            <a:spLocks xmlns:a="http://schemas.openxmlformats.org/drawingml/2006/main" noGrp="1"/>
          </p:cNvSpPr>
          <p:nvPr/>
        </p:nvSpPr>
        <p:spPr>
          <a:xfrm xmlns:a="http://schemas.openxmlformats.org/drawingml/2006/main">
            <a:off x="609600" y="4238625"/>
            <a:ext cx="51911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0" i="0">
                <a:solidFill>
                  <a:srgbClr val="1C1C1C"/>
                </a:solidFill>
                <a:latin typeface="Helvetica Neue"/>
                <a:ea typeface="Helvetica Neue"/>
                <a:cs typeface="Helvetica Neue"/>
              </a:defRPr>
            </a:pPr>
            <a:r>
              <a:rPr sz="2625" b="0" i="0">
                <a:solidFill>
                  <a:srgbClr val="1C1C1C"/>
                </a:solidFill>
                <a:latin typeface="Helvetica Neue"/>
                <a:ea typeface="Helvetica Neue"/>
                <a:cs typeface="Helvetica Neue"/>
              </a:rPr>
              <a:t>One prompt goes in.</a:t>
            </a:r>
          </a:p>
          <a:p xmlns:a="http://schemas.openxmlformats.org/drawingml/2006/main">
            <a:pPr>
              <a:defRPr sz="2625" b="0" i="0">
                <a:solidFill>
                  <a:srgbClr val="1C1C1C"/>
                </a:solidFill>
                <a:latin typeface="Helvetica Neue"/>
                <a:ea typeface="Helvetica Neue"/>
                <a:cs typeface="Helvetica Neue"/>
              </a:defRPr>
            </a:pPr>
            <a:r>
              <a:rPr sz="2625" b="0" i="0">
                <a:solidFill>
                  <a:srgbClr val="1C1C1C"/>
                </a:solidFill>
                <a:latin typeface="Helvetica Neue"/>
                <a:ea typeface="Helvetica Neue"/>
                <a:cs typeface="Helvetica Neue"/>
              </a:rPr>
              <a:t>One answer is printed.</a:t>
            </a:r>
          </a:p>
          <a:p xmlns:a="http://schemas.openxmlformats.org/drawingml/2006/main">
            <a:pPr>
              <a:defRPr sz="2625" b="0" i="0">
                <a:solidFill>
                  <a:srgbClr val="1C1C1C"/>
                </a:solidFill>
                <a:latin typeface="Helvetica Neue"/>
                <a:ea typeface="Helvetica Neue"/>
                <a:cs typeface="Helvetica Neue"/>
              </a:defRPr>
            </a:pPr>
            <a:r>
              <a:rPr sz="2625" b="0" i="0">
                <a:solidFill>
                  <a:srgbClr val="1C1C1C"/>
                </a:solidFill>
                <a:latin typeface="Helvetica Neue"/>
                <a:ea typeface="Helvetica Neue"/>
                <a:cs typeface="Helvetica Neue"/>
              </a:rPr>
              <a:t>The terminal is ready again.</a:t>
            </a:r>
          </a:p>
        </p:txBody>
      </p:sp>
      <p:sp>
        <p:nvSpPr>
          <p:cNvPr id="6" name="panel-1012">
            <a:extLst xmlns:a="http://schemas.openxmlformats.org/drawingml/2006/main">
              <a:ext uri="{FF2B5EF4-FFF2-40B4-BE49-F238E27FC236}">
                <a16:creationId xmlns:a16="http://schemas.microsoft.com/office/drawing/2014/main" id="{B56C72A9-75A7-4BD8-945D-CAC448E6CBCF}"/>
              </a:ext>
            </a:extLst>
          </p:cNvPr>
          <p:cNvSpPr>
            <a:spLocks xmlns:a="http://schemas.openxmlformats.org/drawingml/2006/main" noGrp="1"/>
          </p:cNvSpPr>
          <p:nvPr/>
        </p:nvSpPr>
        <p:spPr>
          <a:xfrm xmlns:a="http://schemas.openxmlformats.org/drawingml/2006/main">
            <a:off x="6581775" y="3657600"/>
            <a:ext cx="5000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7" name="text-1013">
            <a:extLst xmlns:a="http://schemas.openxmlformats.org/drawingml/2006/main">
              <a:ext uri="{FF2B5EF4-FFF2-40B4-BE49-F238E27FC236}">
                <a16:creationId xmlns:a16="http://schemas.microsoft.com/office/drawing/2014/main" id="{FE3ECAA6-7AAF-4BE0-9291-4084E2F40BC1}"/>
              </a:ext>
            </a:extLst>
          </p:cNvPr>
          <p:cNvSpPr>
            <a:spLocks xmlns:a="http://schemas.openxmlformats.org/drawingml/2006/main" noGrp="1"/>
          </p:cNvSpPr>
          <p:nvPr/>
        </p:nvSpPr>
        <p:spPr>
          <a:xfrm xmlns:a="http://schemas.openxmlformats.org/drawingml/2006/main">
            <a:off x="6581775" y="3971925"/>
            <a:ext cx="50006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i="0">
                <a:solidFill>
                  <a:srgbClr val="1C1C1C"/>
                </a:solidFill>
                <a:latin typeface="Helvetica Neue"/>
                <a:ea typeface="Helvetica Neue"/>
                <a:cs typeface="Helvetica Neue"/>
              </a:defRPr>
            </a:pPr>
            <a:r>
              <a:rPr sz="2550" b="0" i="0">
                <a:solidFill>
                  <a:srgbClr val="1C1C1C"/>
                </a:solidFill>
                <a:latin typeface="Helvetica Neue"/>
                <a:ea typeface="Helvetica Neue"/>
                <a:cs typeface="Helvetica Neue"/>
              </a:rPr>
              <a:t>-p is short for --print. It runs without the interactive conversation screen.</a:t>
            </a:r>
          </a:p>
        </p:txBody>
      </p:sp>
      <p:sp>
        <p:nvSpPr>
          <p:cNvPr id="8" name="text-1014">
            <a:extLst xmlns:a="http://schemas.openxmlformats.org/drawingml/2006/main">
              <a:ext uri="{FF2B5EF4-FFF2-40B4-BE49-F238E27FC236}">
                <a16:creationId xmlns:a16="http://schemas.microsoft.com/office/drawing/2014/main" id="{8F391ED6-3F04-45B6-87E5-EF399354E3B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105</a:t>
            </a:r>
          </a:p>
        </p:txBody>
      </p:sp>
    </p:spTree>
    <p:extLst>
      <p:ext uri="{BB962C8B-B14F-4D97-AF65-F5344CB8AC3E}">
        <p14:creationId xmlns:p14="http://schemas.microsoft.com/office/powerpoint/2010/main" val="406549633"/>
      </p:ext>
    </p:extLst>
  </p:cSld>
</p:sld>
</file>

<file path=ppt/slides/slide10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1015">
            <a:extLst xmlns:a="http://schemas.openxmlformats.org/drawingml/2006/main">
              <a:ext uri="{FF2B5EF4-FFF2-40B4-BE49-F238E27FC236}">
                <a16:creationId xmlns:a16="http://schemas.microsoft.com/office/drawing/2014/main" id="{0B4EC868-9115-4CF8-87F4-C752ECC6E3F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Give the request a source file</a:t>
            </a:r>
          </a:p>
        </p:txBody>
      </p:sp>
      <p:sp>
        <p:nvSpPr>
          <p:cNvPr id="2" name="panel-1016">
            <a:extLst xmlns:a="http://schemas.openxmlformats.org/drawingml/2006/main">
              <a:ext uri="{FF2B5EF4-FFF2-40B4-BE49-F238E27FC236}">
                <a16:creationId xmlns:a16="http://schemas.microsoft.com/office/drawing/2014/main" id="{7EC13C23-1379-4591-8F39-09F5CEFAFF1D}"/>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1017">
            <a:extLst xmlns:a="http://schemas.openxmlformats.org/drawingml/2006/main">
              <a:ext uri="{FF2B5EF4-FFF2-40B4-BE49-F238E27FC236}">
                <a16:creationId xmlns:a16="http://schemas.microsoft.com/office/drawing/2014/main" id="{8997A367-B28F-4026-938E-5FDEEB9F4AD0}"/>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1018">
            <a:extLst xmlns:a="http://schemas.openxmlformats.org/drawingml/2006/main">
              <a:ext uri="{FF2B5EF4-FFF2-40B4-BE49-F238E27FC236}">
                <a16:creationId xmlns:a16="http://schemas.microsoft.com/office/drawing/2014/main" id="{835AB189-7A67-4605-A358-FB3FA68C5494}"/>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Use only the supplied evidence. List facts and unknowns. Cite source IDs. Do not ask what to do.</a:t>
            </a:r>
          </a:p>
        </p:txBody>
      </p:sp>
      <p:sp>
        <p:nvSpPr>
          <p:cNvPr id="5" name="panel-1019">
            <a:extLst xmlns:a="http://schemas.openxmlformats.org/drawingml/2006/main">
              <a:ext uri="{FF2B5EF4-FFF2-40B4-BE49-F238E27FC236}">
                <a16:creationId xmlns:a16="http://schemas.microsoft.com/office/drawing/2014/main" id="{1067CF90-DAF0-470D-8B6E-02FDF61D7943}"/>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1020">
            <a:extLst xmlns:a="http://schemas.openxmlformats.org/drawingml/2006/main">
              <a:ext uri="{FF2B5EF4-FFF2-40B4-BE49-F238E27FC236}">
                <a16:creationId xmlns:a16="http://schemas.microsoft.com/office/drawing/2014/main" id="{4DE16EFC-A356-421A-B521-059B5C2ABE36}"/>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The evidence and the draft</a:t>
            </a:r>
          </a:p>
        </p:txBody>
      </p:sp>
      <p:sp>
        <p:nvSpPr>
          <p:cNvPr id="7" name="text-1021">
            <a:extLst xmlns:a="http://schemas.openxmlformats.org/drawingml/2006/main">
              <a:ext uri="{FF2B5EF4-FFF2-40B4-BE49-F238E27FC236}">
                <a16:creationId xmlns:a16="http://schemas.microsoft.com/office/drawing/2014/main" id="{1CBF4784-599C-48CD-BE48-4DC24E93FAAA}"/>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Input:</a:t>
            </a:r>
            <a:r>
              <a:rPr sz="2025" b="0" i="0">
                <a:solidFill>
                  <a:srgbClr val="1C1C1C"/>
                </a:solidFill>
                <a:latin typeface="Helvetica Neue"/>
                <a:ea typeface="Helvetica Neue"/>
                <a:cs typeface="Helvetica Neue"/>
              </a:rPr>
              <a:t> northstar-context.txt</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A fictional meeting with its source ID</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Output:</a:t>
            </a:r>
            <a:r>
              <a:rPr sz="2025" b="0" i="0">
                <a:solidFill>
                  <a:srgbClr val="1C1C1C"/>
                </a:solidFill>
                <a:latin typeface="Helvetica Neue"/>
                <a:ea typeface="Helvetica Neue"/>
                <a:cs typeface="Helvetica Neue"/>
              </a:rPr>
              <a:t> northstar-draft.txt</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Facts, sources and unresolved decisions</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Full command:</a:t>
            </a:r>
            <a:r>
              <a:rPr sz="2025" b="0" i="0">
                <a:solidFill>
                  <a:srgbClr val="1C1C1C"/>
                </a:solidFill>
                <a:latin typeface="Helvetica Neue"/>
                <a:ea typeface="Helvetica Neue"/>
                <a:cs typeface="Helvetica Neue"/>
              </a:rPr>
              <a:t> run-file.sh</a:t>
            </a:r>
          </a:p>
        </p:txBody>
      </p:sp>
      <p:sp>
        <p:nvSpPr>
          <p:cNvPr id="8" name="text-1022">
            <a:extLst xmlns:a="http://schemas.openxmlformats.org/drawingml/2006/main">
              <a:ext uri="{FF2B5EF4-FFF2-40B4-BE49-F238E27FC236}">
                <a16:creationId xmlns:a16="http://schemas.microsoft.com/office/drawing/2014/main" id="{3F123435-D42B-4FE2-8D51-E0DDBAAF9F99}"/>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The shell supplies the file and saves the reply. Open the draft before reusing it.</a:t>
            </a:r>
          </a:p>
        </p:txBody>
      </p:sp>
      <p:sp>
        <p:nvSpPr>
          <p:cNvPr id="9" name="text-1023">
            <a:extLst xmlns:a="http://schemas.openxmlformats.org/drawingml/2006/main">
              <a:ext uri="{FF2B5EF4-FFF2-40B4-BE49-F238E27FC236}">
                <a16:creationId xmlns:a16="http://schemas.microsoft.com/office/drawing/2014/main" id="{C64ECBF5-537C-4163-8152-A4F1BEB37EA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106</a:t>
            </a:r>
          </a:p>
        </p:txBody>
      </p:sp>
    </p:spTree>
    <p:extLst>
      <p:ext uri="{BB962C8B-B14F-4D97-AF65-F5344CB8AC3E}">
        <p14:creationId xmlns:p14="http://schemas.microsoft.com/office/powerpoint/2010/main" val="1129543503"/>
      </p:ext>
    </p:extLst>
  </p:cSld>
</p:sld>
</file>

<file path=ppt/slides/slide10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5" name="text-1024">
            <a:extLst xmlns:a="http://schemas.openxmlformats.org/drawingml/2006/main">
              <a:ext uri="{FF2B5EF4-FFF2-40B4-BE49-F238E27FC236}">
                <a16:creationId xmlns:a16="http://schemas.microsoft.com/office/drawing/2014/main" id="{175B8363-8774-47DD-BBAF-0ED2EA2B2C5D}"/>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chat behind ClientDesk</a:t>
            </a:r>
          </a:p>
        </p:txBody>
      </p:sp>
      <p:sp>
        <p:nvSpPr>
          <p:cNvPr id="2" name="text-1025">
            <a:extLst xmlns:a="http://schemas.openxmlformats.org/drawingml/2006/main">
              <a:ext uri="{FF2B5EF4-FFF2-40B4-BE49-F238E27FC236}">
                <a16:creationId xmlns:a16="http://schemas.microsoft.com/office/drawing/2014/main" id="{BD70C81D-CB70-43EF-BB8B-EBF3A8A8AE0E}"/>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1026">
            <a:extLst xmlns:a="http://schemas.openxmlformats.org/drawingml/2006/main">
              <a:ext uri="{FF2B5EF4-FFF2-40B4-BE49-F238E27FC236}">
                <a16:creationId xmlns:a16="http://schemas.microsoft.com/office/drawing/2014/main" id="{A384C109-6FD9-4C53-9AF8-9D9FFB1391D1}"/>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27">
            <a:extLst xmlns:a="http://schemas.openxmlformats.org/drawingml/2006/main">
              <a:ext uri="{FF2B5EF4-FFF2-40B4-BE49-F238E27FC236}">
                <a16:creationId xmlns:a16="http://schemas.microsoft.com/office/drawing/2014/main" id="{8117D2CC-2F71-4176-AA60-84DA359D38BB}"/>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Ask a</a:t>
            </a:r>
          </a:p>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question</a:t>
            </a:r>
          </a:p>
        </p:txBody>
      </p:sp>
      <p:sp>
        <p:nvSpPr>
          <p:cNvPr id="5" name="panel-1028">
            <a:extLst xmlns:a="http://schemas.openxmlformats.org/drawingml/2006/main">
              <a:ext uri="{FF2B5EF4-FFF2-40B4-BE49-F238E27FC236}">
                <a16:creationId xmlns:a16="http://schemas.microsoft.com/office/drawing/2014/main" id="{191497C7-42FC-4337-9B3A-E60E8C6FB7CF}"/>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1029">
            <a:extLst xmlns:a="http://schemas.openxmlformats.org/drawingml/2006/main">
              <a:ext uri="{FF2B5EF4-FFF2-40B4-BE49-F238E27FC236}">
                <a16:creationId xmlns:a16="http://schemas.microsoft.com/office/drawing/2014/main" id="{A2D29832-9419-482D-9977-F504ACAACA4C}"/>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1030">
            <a:extLst xmlns:a="http://schemas.openxmlformats.org/drawingml/2006/main">
              <a:ext uri="{FF2B5EF4-FFF2-40B4-BE49-F238E27FC236}">
                <a16:creationId xmlns:a16="http://schemas.microsoft.com/office/drawing/2014/main" id="{54FA122E-8AB8-4539-A73E-30D30CC3CCF1}"/>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1031">
            <a:extLst xmlns:a="http://schemas.openxmlformats.org/drawingml/2006/main">
              <a:ext uri="{FF2B5EF4-FFF2-40B4-BE49-F238E27FC236}">
                <a16:creationId xmlns:a16="http://schemas.microsoft.com/office/drawing/2014/main" id="{5DF6F636-3023-4D5D-8D86-058E6997187E}"/>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1032">
            <a:extLst xmlns:a="http://schemas.openxmlformats.org/drawingml/2006/main">
              <a:ext uri="{FF2B5EF4-FFF2-40B4-BE49-F238E27FC236}">
                <a16:creationId xmlns:a16="http://schemas.microsoft.com/office/drawing/2014/main" id="{2CAB1121-93F0-49BF-9D45-7147840EA256}"/>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Gather</a:t>
            </a:r>
          </a:p>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evidence</a:t>
            </a:r>
          </a:p>
        </p:txBody>
      </p:sp>
      <p:sp>
        <p:nvSpPr>
          <p:cNvPr id="11" name="panel-1033">
            <a:extLst xmlns:a="http://schemas.openxmlformats.org/drawingml/2006/main">
              <a:ext uri="{FF2B5EF4-FFF2-40B4-BE49-F238E27FC236}">
                <a16:creationId xmlns:a16="http://schemas.microsoft.com/office/drawing/2014/main" id="{F8A71CC1-DFA7-45E3-AAB8-A3B7C99D79BE}"/>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1034">
            <a:extLst xmlns:a="http://schemas.openxmlformats.org/drawingml/2006/main">
              <a:ext uri="{FF2B5EF4-FFF2-40B4-BE49-F238E27FC236}">
                <a16:creationId xmlns:a16="http://schemas.microsoft.com/office/drawing/2014/main" id="{D9A62253-AF32-4CB2-BF24-5D44685088D5}"/>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1035">
            <a:extLst xmlns:a="http://schemas.openxmlformats.org/drawingml/2006/main">
              <a:ext uri="{FF2B5EF4-FFF2-40B4-BE49-F238E27FC236}">
                <a16:creationId xmlns:a16="http://schemas.microsoft.com/office/drawing/2014/main" id="{813BD7AE-0BF7-4E47-A1B4-ABF43127BD4E}"/>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1036">
            <a:extLst xmlns:a="http://schemas.openxmlformats.org/drawingml/2006/main">
              <a:ext uri="{FF2B5EF4-FFF2-40B4-BE49-F238E27FC236}">
                <a16:creationId xmlns:a16="http://schemas.microsoft.com/office/drawing/2014/main" id="{90AB8BFD-67B9-4FD5-9720-1FC24B1F0443}"/>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1037">
            <a:extLst xmlns:a="http://schemas.openxmlformats.org/drawingml/2006/main">
              <a:ext uri="{FF2B5EF4-FFF2-40B4-BE49-F238E27FC236}">
                <a16:creationId xmlns:a16="http://schemas.microsoft.com/office/drawing/2014/main" id="{962F8815-ED68-430B-8946-4C9685250308}"/>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Run</a:t>
            </a:r>
          </a:p>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claude -p</a:t>
            </a:r>
          </a:p>
        </p:txBody>
      </p:sp>
      <p:sp>
        <p:nvSpPr>
          <p:cNvPr id="17" name="panel-1038">
            <a:extLst xmlns:a="http://schemas.openxmlformats.org/drawingml/2006/main">
              <a:ext uri="{FF2B5EF4-FFF2-40B4-BE49-F238E27FC236}">
                <a16:creationId xmlns:a16="http://schemas.microsoft.com/office/drawing/2014/main" id="{6FC33C7D-8778-4BA3-82DA-A031A8849B68}"/>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1039">
            <a:extLst xmlns:a="http://schemas.openxmlformats.org/drawingml/2006/main">
              <a:ext uri="{FF2B5EF4-FFF2-40B4-BE49-F238E27FC236}">
                <a16:creationId xmlns:a16="http://schemas.microsoft.com/office/drawing/2014/main" id="{A35CF912-D9D8-4DA6-9C19-E28E9DEA2F07}"/>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1040">
            <a:extLst xmlns:a="http://schemas.openxmlformats.org/drawingml/2006/main">
              <a:ext uri="{FF2B5EF4-FFF2-40B4-BE49-F238E27FC236}">
                <a16:creationId xmlns:a16="http://schemas.microsoft.com/office/drawing/2014/main" id="{2A4AF287-29C3-4824-ADE2-E81F7C61C83A}"/>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1041">
            <a:extLst xmlns:a="http://schemas.openxmlformats.org/drawingml/2006/main">
              <a:ext uri="{FF2B5EF4-FFF2-40B4-BE49-F238E27FC236}">
                <a16:creationId xmlns:a16="http://schemas.microsoft.com/office/drawing/2014/main" id="{36F4C751-7BB2-4D9A-B554-E5CD123F7C90}"/>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1042">
            <a:extLst xmlns:a="http://schemas.openxmlformats.org/drawingml/2006/main">
              <a:ext uri="{FF2B5EF4-FFF2-40B4-BE49-F238E27FC236}">
                <a16:creationId xmlns:a16="http://schemas.microsoft.com/office/drawing/2014/main" id="{27B0622D-3BE8-4EDF-8D7F-319A6FF8F243}"/>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Show the</a:t>
            </a:r>
          </a:p>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answer</a:t>
            </a:r>
          </a:p>
        </p:txBody>
      </p:sp>
      <p:sp>
        <p:nvSpPr>
          <p:cNvPr id="23" name="text-1043">
            <a:extLst xmlns:a="http://schemas.openxmlformats.org/drawingml/2006/main">
              <a:ext uri="{FF2B5EF4-FFF2-40B4-BE49-F238E27FC236}">
                <a16:creationId xmlns:a16="http://schemas.microsoft.com/office/drawing/2014/main" id="{84C033C5-D2C3-4DFE-B598-3A469A033004}"/>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1" i="0">
                <a:solidFill>
                  <a:srgbClr val="1C1C1C"/>
                </a:solidFill>
                <a:latin typeface="Helvetica Neue"/>
                <a:ea typeface="Helvetica Neue"/>
                <a:cs typeface="Helvetica Neue"/>
              </a:rPr>
              <a:t>Each turn:</a:t>
            </a:r>
            <a:r>
              <a:rPr sz="2250" b="0" i="0">
                <a:solidFill>
                  <a:srgbClr val="1C1C1C"/>
                </a:solidFill>
                <a:latin typeface="Helvetica Neue"/>
                <a:ea typeface="Helvetica Neue"/>
                <a:cs typeface="Helvetica Neue"/>
              </a:rPr>
              <a:t> selected client records + recent chat → a new request. No task is saved.</a:t>
            </a:r>
          </a:p>
        </p:txBody>
      </p:sp>
      <p:sp>
        <p:nvSpPr>
          <p:cNvPr id="24" name="text-1044">
            <a:extLst xmlns:a="http://schemas.openxmlformats.org/drawingml/2006/main">
              <a:ext uri="{FF2B5EF4-FFF2-40B4-BE49-F238E27FC236}">
                <a16:creationId xmlns:a16="http://schemas.microsoft.com/office/drawing/2014/main" id="{E9B93880-ADEC-4BBA-B0B0-E3813797541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107</a:t>
            </a:r>
          </a:p>
        </p:txBody>
      </p:sp>
    </p:spTree>
    <p:extLst>
      <p:ext uri="{BB962C8B-B14F-4D97-AF65-F5344CB8AC3E}">
        <p14:creationId xmlns:p14="http://schemas.microsoft.com/office/powerpoint/2010/main" val="1793771362"/>
      </p:ext>
    </p:extLst>
  </p:cSld>
</p:sld>
</file>

<file path=ppt/slides/slide10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045">
            <a:extLst xmlns:a="http://schemas.openxmlformats.org/drawingml/2006/main">
              <a:ext uri="{FF2B5EF4-FFF2-40B4-BE49-F238E27FC236}">
                <a16:creationId xmlns:a16="http://schemas.microsoft.com/office/drawing/2014/main" id="{F5F71DFD-3918-4097-A3F1-600DEC6BEA32}"/>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Ask Claude to build the bridge</a:t>
            </a:r>
          </a:p>
        </p:txBody>
      </p:sp>
      <p:sp>
        <p:nvSpPr>
          <p:cNvPr id="2" name="panel-1046">
            <a:extLst xmlns:a="http://schemas.openxmlformats.org/drawingml/2006/main">
              <a:ext uri="{FF2B5EF4-FFF2-40B4-BE49-F238E27FC236}">
                <a16:creationId xmlns:a16="http://schemas.microsoft.com/office/drawing/2014/main" id="{509F1C74-F63B-4000-9114-013811F1F59A}"/>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047">
            <a:extLst xmlns:a="http://schemas.openxmlformats.org/drawingml/2006/main">
              <a:ext uri="{FF2B5EF4-FFF2-40B4-BE49-F238E27FC236}">
                <a16:creationId xmlns:a16="http://schemas.microsoft.com/office/drawing/2014/main" id="{B2C123B5-5450-4894-BABA-7AD6834E64F9}"/>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48">
            <a:extLst xmlns:a="http://schemas.openxmlformats.org/drawingml/2006/main">
              <a:ext uri="{FF2B5EF4-FFF2-40B4-BE49-F238E27FC236}">
                <a16:creationId xmlns:a16="http://schemas.microsoft.com/office/drawing/2014/main" id="{B009664B-61F0-4D82-A6D4-AAA550A1462F}"/>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049">
            <a:extLst xmlns:a="http://schemas.openxmlformats.org/drawingml/2006/main">
              <a:ext uri="{FF2B5EF4-FFF2-40B4-BE49-F238E27FC236}">
                <a16:creationId xmlns:a16="http://schemas.microsoft.com/office/drawing/2014/main" id="{FFFEC6DA-D7C3-47E2-A5FA-E250A592B18A}"/>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050">
            <a:extLst xmlns:a="http://schemas.openxmlformats.org/drawingml/2006/main">
              <a:ext uri="{FF2B5EF4-FFF2-40B4-BE49-F238E27FC236}">
                <a16:creationId xmlns:a16="http://schemas.microsoft.com/office/drawing/2014/main" id="{7566A7C3-3DC9-4D82-AFF7-236A480DD758}"/>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First add a local Ask Claude panel for the selected client. Use the signed-in Claude Code CLI in print mode. Send only that client’s evidence and recent chat. Return a sourced answer with no tools or writes. Include Stop, errors and a timeout. Enable it only on localhost.</a:t>
            </a:r>
          </a:p>
        </p:txBody>
      </p:sp>
      <p:sp>
        <p:nvSpPr>
          <p:cNvPr id="7" name="text-1051">
            <a:extLst xmlns:a="http://schemas.openxmlformats.org/drawingml/2006/main">
              <a:ext uri="{FF2B5EF4-FFF2-40B4-BE49-F238E27FC236}">
                <a16:creationId xmlns:a16="http://schemas.microsoft.com/office/drawing/2014/main" id="{140928BA-E4FA-4795-920F-7F1E68CB565C}"/>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Context:</a:t>
            </a:r>
            <a:r>
              <a:rPr sz="1875" b="0" i="0">
                <a:solidFill>
                  <a:srgbClr val="1C1C1C"/>
                </a:solidFill>
                <a:latin typeface="Helvetica Neue"/>
                <a:ea typeface="Helvetica Neue"/>
                <a:cs typeface="Helvetica Neue"/>
              </a:rPr>
              <a:t> limits the request to one client.</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Behavior:</a:t>
            </a:r>
            <a:r>
              <a:rPr sz="1875" b="0" i="0">
                <a:solidFill>
                  <a:srgbClr val="1C1C1C"/>
                </a:solidFill>
                <a:latin typeface="Helvetica Neue"/>
                <a:ea typeface="Helvetica Neue"/>
                <a:cs typeface="Helvetica Neue"/>
              </a:rPr>
              <a:t> names the result and the failure states.</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Boundary:</a:t>
            </a:r>
            <a:r>
              <a:rPr sz="1875" b="0" i="0">
                <a:solidFill>
                  <a:srgbClr val="1C1C1C"/>
                </a:solidFill>
                <a:latin typeface="Helvetica Neue"/>
                <a:ea typeface="Helvetica Neue"/>
                <a:cs typeface="Helvetica Neue"/>
              </a:rPr>
              <a:t> keeps the subscription bridge local.</a:t>
            </a:r>
          </a:p>
        </p:txBody>
      </p:sp>
      <p:sp>
        <p:nvSpPr>
          <p:cNvPr id="8" name="panel-1052">
            <a:extLst xmlns:a="http://schemas.openxmlformats.org/drawingml/2006/main">
              <a:ext uri="{FF2B5EF4-FFF2-40B4-BE49-F238E27FC236}">
                <a16:creationId xmlns:a16="http://schemas.microsoft.com/office/drawing/2014/main" id="{12A66FE1-C03F-4E75-812D-1E978D05A931}"/>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053">
            <a:extLst xmlns:a="http://schemas.openxmlformats.org/drawingml/2006/main">
              <a:ext uri="{FF2B5EF4-FFF2-40B4-BE49-F238E27FC236}">
                <a16:creationId xmlns:a16="http://schemas.microsoft.com/office/drawing/2014/main" id="{EF1601E8-F7E9-4BAF-AAD8-B613C92260A5}"/>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One client’s evidence goes in; a sourced answer or a useful error comes back.</a:t>
            </a:r>
          </a:p>
        </p:txBody>
      </p:sp>
      <p:sp>
        <p:nvSpPr>
          <p:cNvPr id="10" name="text-1054">
            <a:extLst xmlns:a="http://schemas.openxmlformats.org/drawingml/2006/main">
              <a:ext uri="{FF2B5EF4-FFF2-40B4-BE49-F238E27FC236}">
                <a16:creationId xmlns:a16="http://schemas.microsoft.com/office/drawing/2014/main" id="{D26963E4-79EA-4CEA-AC93-65B719A4FA4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108</a:t>
            </a:r>
          </a:p>
        </p:txBody>
      </p:sp>
    </p:spTree>
    <p:extLst>
      <p:ext uri="{BB962C8B-B14F-4D97-AF65-F5344CB8AC3E}">
        <p14:creationId xmlns:p14="http://schemas.microsoft.com/office/powerpoint/2010/main" val="196934211"/>
      </p:ext>
    </p:extLst>
  </p:cSld>
</p:sld>
</file>

<file path=ppt/slides/slide10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055">
            <a:extLst xmlns:a="http://schemas.openxmlformats.org/drawingml/2006/main">
              <a:ext uri="{FF2B5EF4-FFF2-40B4-BE49-F238E27FC236}">
                <a16:creationId xmlns:a16="http://schemas.microsoft.com/office/drawing/2014/main" id="{6B2D0BD8-DCEF-49CA-BB17-745C2175FEF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Headless does not mean read-only</a:t>
            </a:r>
          </a:p>
        </p:txBody>
      </p:sp>
      <p:sp>
        <p:nvSpPr>
          <p:cNvPr id="2" name="panel-1056">
            <a:extLst xmlns:a="http://schemas.openxmlformats.org/drawingml/2006/main">
              <a:ext uri="{FF2B5EF4-FFF2-40B4-BE49-F238E27FC236}">
                <a16:creationId xmlns:a16="http://schemas.microsoft.com/office/drawing/2014/main" id="{AFCCB19B-C36F-4881-A64A-6859C52A7F78}"/>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057">
            <a:extLst xmlns:a="http://schemas.openxmlformats.org/drawingml/2006/main">
              <a:ext uri="{FF2B5EF4-FFF2-40B4-BE49-F238E27FC236}">
                <a16:creationId xmlns:a16="http://schemas.microsoft.com/office/drawing/2014/main" id="{021A58F3-3BF5-40B7-AD91-2C9817430466}"/>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58">
            <a:extLst xmlns:a="http://schemas.openxmlformats.org/drawingml/2006/main">
              <a:ext uri="{FF2B5EF4-FFF2-40B4-BE49-F238E27FC236}">
                <a16:creationId xmlns:a16="http://schemas.microsoft.com/office/drawing/2014/main" id="{C940A463-269B-44F2-ACAF-CBE65ADEE190}"/>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The -p flag</a:t>
            </a:r>
          </a:p>
        </p:txBody>
      </p:sp>
      <p:sp>
        <p:nvSpPr>
          <p:cNvPr id="5" name="text-1059">
            <a:extLst xmlns:a="http://schemas.openxmlformats.org/drawingml/2006/main">
              <a:ext uri="{FF2B5EF4-FFF2-40B4-BE49-F238E27FC236}">
                <a16:creationId xmlns:a16="http://schemas.microsoft.com/office/drawing/2014/main" id="{A58C014B-6127-4D8F-AD5E-944684F4922C}"/>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Changes how Claude runs.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Tools and settings may load.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It does not provide app permissions.</a:t>
            </a:r>
          </a:p>
        </p:txBody>
      </p:sp>
      <p:sp>
        <p:nvSpPr>
          <p:cNvPr id="6" name="text-1060">
            <a:extLst xmlns:a="http://schemas.openxmlformats.org/drawingml/2006/main">
              <a:ext uri="{FF2B5EF4-FFF2-40B4-BE49-F238E27FC236}">
                <a16:creationId xmlns:a16="http://schemas.microsoft.com/office/drawing/2014/main" id="{97DD23F6-D68F-4339-B5F7-C0FA8172D5CC}"/>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Our chat boundary</a:t>
            </a:r>
          </a:p>
        </p:txBody>
      </p:sp>
      <p:sp>
        <p:nvSpPr>
          <p:cNvPr id="7" name="text-1061">
            <a:extLst xmlns:a="http://schemas.openxmlformats.org/drawingml/2006/main">
              <a:ext uri="{FF2B5EF4-FFF2-40B4-BE49-F238E27FC236}">
                <a16:creationId xmlns:a16="http://schemas.microsoft.com/office/drawing/2014/main" id="{819F799D-956E-4838-87EA-3CC570A06DF9}"/>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No tools or MCP connections.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Only the selected client’s evidence.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Review suggestions before saving.</a:t>
            </a:r>
          </a:p>
        </p:txBody>
      </p:sp>
      <p:sp>
        <p:nvSpPr>
          <p:cNvPr id="8" name="text-1062">
            <a:extLst xmlns:a="http://schemas.openxmlformats.org/drawingml/2006/main">
              <a:ext uri="{FF2B5EF4-FFF2-40B4-BE49-F238E27FC236}">
                <a16:creationId xmlns:a16="http://schemas.microsoft.com/office/drawing/2014/main" id="{B0DEEAAB-902B-4125-AB0C-EB71674974D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109</a:t>
            </a:r>
          </a:p>
        </p:txBody>
      </p:sp>
    </p:spTree>
    <p:extLst>
      <p:ext uri="{BB962C8B-B14F-4D97-AF65-F5344CB8AC3E}">
        <p14:creationId xmlns:p14="http://schemas.microsoft.com/office/powerpoint/2010/main" val="219817688"/>
      </p:ext>
    </p:extLst>
  </p:cSld>
</p:sld>
</file>

<file path=ppt/slides/slide11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063">
            <a:extLst xmlns:a="http://schemas.openxmlformats.org/drawingml/2006/main">
              <a:ext uri="{FF2B5EF4-FFF2-40B4-BE49-F238E27FC236}">
                <a16:creationId xmlns:a16="http://schemas.microsoft.com/office/drawing/2014/main" id="{BA05695B-638F-419F-8AEF-CF190971AF5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Included usage still counts</a:t>
            </a:r>
          </a:p>
        </p:txBody>
      </p:sp>
      <p:sp>
        <p:nvSpPr>
          <p:cNvPr id="2" name="panel-1064">
            <a:extLst xmlns:a="http://schemas.openxmlformats.org/drawingml/2006/main">
              <a:ext uri="{FF2B5EF4-FFF2-40B4-BE49-F238E27FC236}">
                <a16:creationId xmlns:a16="http://schemas.microsoft.com/office/drawing/2014/main" id="{6F611794-874B-4F54-9F15-39E4876321B6}"/>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065">
            <a:extLst xmlns:a="http://schemas.openxmlformats.org/drawingml/2006/main">
              <a:ext uri="{FF2B5EF4-FFF2-40B4-BE49-F238E27FC236}">
                <a16:creationId xmlns:a16="http://schemas.microsoft.com/office/drawing/2014/main" id="{36D9FB74-AB90-47C7-86F3-F175E059FF1E}"/>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66">
            <a:extLst xmlns:a="http://schemas.openxmlformats.org/drawingml/2006/main">
              <a:ext uri="{FF2B5EF4-FFF2-40B4-BE49-F238E27FC236}">
                <a16:creationId xmlns:a16="http://schemas.microsoft.com/office/drawing/2014/main" id="{829BA2DB-9057-4D52-85C8-74EA11C3668D}"/>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Claude plan login</a:t>
            </a:r>
          </a:p>
        </p:txBody>
      </p:sp>
      <p:sp>
        <p:nvSpPr>
          <p:cNvPr id="5" name="text-1067">
            <a:extLst xmlns:a="http://schemas.openxmlformats.org/drawingml/2006/main">
              <a:ext uri="{FF2B5EF4-FFF2-40B4-BE49-F238E27FC236}">
                <a16:creationId xmlns:a16="http://schemas.microsoft.com/office/drawing/2014/main" id="{079039E6-5482-486E-B925-7E10F4EBB412}"/>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Local or dedicated hosted login</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Uses the plan’s allowance.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Check usage before the demo.</a:t>
            </a:r>
          </a:p>
        </p:txBody>
      </p:sp>
      <p:sp>
        <p:nvSpPr>
          <p:cNvPr id="6" name="text-1068">
            <a:extLst xmlns:a="http://schemas.openxmlformats.org/drawingml/2006/main">
              <a:ext uri="{FF2B5EF4-FFF2-40B4-BE49-F238E27FC236}">
                <a16:creationId xmlns:a16="http://schemas.microsoft.com/office/drawing/2014/main" id="{21B21BEE-F3C7-4650-B0DB-72F07E799F6E}"/>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Billing choices</a:t>
            </a:r>
          </a:p>
        </p:txBody>
      </p:sp>
      <p:sp>
        <p:nvSpPr>
          <p:cNvPr id="7" name="text-1069">
            <a:extLst xmlns:a="http://schemas.openxmlformats.org/drawingml/2006/main">
              <a:ext uri="{FF2B5EF4-FFF2-40B4-BE49-F238E27FC236}">
                <a16:creationId xmlns:a16="http://schemas.microsoft.com/office/drawing/2014/main" id="{F5926EB9-66F5-4DEF-8FD2-BEEEB07D6429}"/>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API credentials use API billing.</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Paid extra usage may add charges.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-p is not an unlimited free tier.</a:t>
            </a:r>
          </a:p>
        </p:txBody>
      </p:sp>
      <p:sp>
        <p:nvSpPr>
          <p:cNvPr id="8" name="text-1070">
            <a:extLst xmlns:a="http://schemas.openxmlformats.org/drawingml/2006/main">
              <a:ext uri="{FF2B5EF4-FFF2-40B4-BE49-F238E27FC236}">
                <a16:creationId xmlns:a16="http://schemas.microsoft.com/office/drawing/2014/main" id="{75D50BD4-A349-49C6-B2B1-3210294AC13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110</a:t>
            </a:r>
          </a:p>
        </p:txBody>
      </p:sp>
    </p:spTree>
    <p:extLst>
      <p:ext uri="{BB962C8B-B14F-4D97-AF65-F5344CB8AC3E}">
        <p14:creationId xmlns:p14="http://schemas.microsoft.com/office/powerpoint/2010/main" val="1773010397"/>
      </p:ext>
    </p:extLst>
  </p:cSld>
</p:sld>
</file>

<file path=ppt/slides/slide11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071">
            <a:extLst xmlns:a="http://schemas.openxmlformats.org/drawingml/2006/main">
              <a:ext uri="{FF2B5EF4-FFF2-40B4-BE49-F238E27FC236}">
                <a16:creationId xmlns:a16="http://schemas.microsoft.com/office/drawing/2014/main" id="{7965152B-32FB-43F6-8AD4-2BA9F331657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same chat, on two computers</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1090613">
                <a:tc>
                  <a:txBody>
                    <a:bodyPr>
                      <a:noAutofit/>
                    </a:bodyPr>
                    <a:lstStyle/>
                    <a:p>
                      <a:r>
                        <a:rPr sz="1875" b="1" i="0">
                          <a:solidFill>
                            <a:srgbClr val="FFFFFF"/>
                          </a:solidFill>
                          <a:latin typeface="Helvetica Neue"/>
                          <a:ea typeface="Helvetica Neue"/>
                          <a:cs typeface="Helvetica Neue"/>
                        </a:rPr>
                        <a:t>Mode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Where Claude Code runs</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What the visitor uses</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Local practice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Your computer</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local ClientDesk app</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Hosted course app</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 dedicated Railway service</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The Vercel URL, on desktop or phone</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Stored evidence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Supabase for the hosted app</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Only the selected client enters chat</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1072">
            <a:extLst xmlns:a="http://schemas.openxmlformats.org/drawingml/2006/main">
              <a:ext uri="{FF2B5EF4-FFF2-40B4-BE49-F238E27FC236}">
                <a16:creationId xmlns:a16="http://schemas.microsoft.com/office/drawing/2014/main" id="{F6793073-76A4-4388-8492-D79122324CB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111</a:t>
            </a:r>
          </a:p>
        </p:txBody>
      </p:sp>
    </p:spTree>
    <p:extLst>
      <p:ext uri="{BB962C8B-B14F-4D97-AF65-F5344CB8AC3E}">
        <p14:creationId xmlns:p14="http://schemas.microsoft.com/office/powerpoint/2010/main" val="1519267451"/>
      </p:ext>
    </p:extLst>
  </p:cSld>
</p:sld>
</file>

<file path=ppt/slides/slide11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073">
            <a:extLst xmlns:a="http://schemas.openxmlformats.org/drawingml/2006/main">
              <a:ext uri="{FF2B5EF4-FFF2-40B4-BE49-F238E27FC236}">
                <a16:creationId xmlns:a16="http://schemas.microsoft.com/office/drawing/2014/main" id="{5D0DBD44-73B4-444E-816F-6F2C84F5709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What the chat knows about a client</a:t>
            </a:r>
          </a:p>
        </p:txBody>
      </p:sp>
      <p:sp>
        <p:nvSpPr>
          <p:cNvPr id="2" name="panel-1074">
            <a:extLst xmlns:a="http://schemas.openxmlformats.org/drawingml/2006/main">
              <a:ext uri="{FF2B5EF4-FFF2-40B4-BE49-F238E27FC236}">
                <a16:creationId xmlns:a16="http://schemas.microsoft.com/office/drawing/2014/main" id="{848FCBE8-1396-4806-A3AB-793372CEBF8E}"/>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075">
            <a:extLst xmlns:a="http://schemas.openxmlformats.org/drawingml/2006/main">
              <a:ext uri="{FF2B5EF4-FFF2-40B4-BE49-F238E27FC236}">
                <a16:creationId xmlns:a16="http://schemas.microsoft.com/office/drawing/2014/main" id="{AEFBDC75-7A2C-4A21-83BA-FAA1051AB3B9}"/>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76">
            <a:extLst xmlns:a="http://schemas.openxmlformats.org/drawingml/2006/main">
              <a:ext uri="{FF2B5EF4-FFF2-40B4-BE49-F238E27FC236}">
                <a16:creationId xmlns:a16="http://schemas.microsoft.com/office/drawing/2014/main" id="{0A3D2AFD-1F98-4A8F-A136-C65C647D111F}"/>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Included for this question</a:t>
            </a:r>
          </a:p>
        </p:txBody>
      </p:sp>
      <p:sp>
        <p:nvSpPr>
          <p:cNvPr id="5" name="text-1077">
            <a:extLst xmlns:a="http://schemas.openxmlformats.org/drawingml/2006/main">
              <a:ext uri="{FF2B5EF4-FFF2-40B4-BE49-F238E27FC236}">
                <a16:creationId xmlns:a16="http://schemas.microsoft.com/office/drawing/2014/main" id="{9297177A-EFD2-47D5-B827-61A13B372E20}"/>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Client profile and recent chat</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Up to 4 recent meeting records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Up to 10 calls and 20 tasks</a:t>
            </a:r>
          </a:p>
        </p:txBody>
      </p:sp>
      <p:sp>
        <p:nvSpPr>
          <p:cNvPr id="6" name="text-1078">
            <a:extLst xmlns:a="http://schemas.openxmlformats.org/drawingml/2006/main">
              <a:ext uri="{FF2B5EF4-FFF2-40B4-BE49-F238E27FC236}">
                <a16:creationId xmlns:a16="http://schemas.microsoft.com/office/drawing/2014/main" id="{F106959C-F605-4ED2-B194-7CA234397054}"/>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Outside that packet</a:t>
            </a:r>
          </a:p>
        </p:txBody>
      </p:sp>
      <p:sp>
        <p:nvSpPr>
          <p:cNvPr id="7" name="text-1079">
            <a:extLst xmlns:a="http://schemas.openxmlformats.org/drawingml/2006/main">
              <a:ext uri="{FF2B5EF4-FFF2-40B4-BE49-F238E27FC236}">
                <a16:creationId xmlns:a16="http://schemas.microsoft.com/office/drawing/2014/main" id="{80D32047-FAB5-4B26-8608-8892C023373D}"/>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Other clients’ records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Arbitrary files in the course folder</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New provider data not yet imported</a:t>
            </a:r>
          </a:p>
        </p:txBody>
      </p:sp>
      <p:sp>
        <p:nvSpPr>
          <p:cNvPr id="8" name="text-1080">
            <a:extLst xmlns:a="http://schemas.openxmlformats.org/drawingml/2006/main">
              <a:ext uri="{FF2B5EF4-FFF2-40B4-BE49-F238E27FC236}">
                <a16:creationId xmlns:a16="http://schemas.microsoft.com/office/drawing/2014/main" id="{3672B6C6-AAEB-4BB5-964C-846552B818A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112</a:t>
            </a:r>
          </a:p>
        </p:txBody>
      </p:sp>
    </p:spTree>
    <p:extLst>
      <p:ext uri="{BB962C8B-B14F-4D97-AF65-F5344CB8AC3E}">
        <p14:creationId xmlns:p14="http://schemas.microsoft.com/office/powerpoint/2010/main" val="1996022666"/>
      </p:ext>
    </p:extLst>
  </p:cSld>
</p:sld>
</file>

<file path=ppt/slides/slide11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081">
            <a:extLst xmlns:a="http://schemas.openxmlformats.org/drawingml/2006/main">
              <a:ext uri="{FF2B5EF4-FFF2-40B4-BE49-F238E27FC236}">
                <a16:creationId xmlns:a16="http://schemas.microsoft.com/office/drawing/2014/main" id="{45F9CE3A-00FA-4841-ACCD-EDA9BEBF7C3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Build the hosted Claude worker</a:t>
            </a:r>
          </a:p>
        </p:txBody>
      </p:sp>
      <p:sp>
        <p:nvSpPr>
          <p:cNvPr id="2" name="panel-1082">
            <a:extLst xmlns:a="http://schemas.openxmlformats.org/drawingml/2006/main">
              <a:ext uri="{FF2B5EF4-FFF2-40B4-BE49-F238E27FC236}">
                <a16:creationId xmlns:a16="http://schemas.microsoft.com/office/drawing/2014/main" id="{BB8292B0-8955-4916-B514-D57FEEC4E584}"/>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083">
            <a:extLst xmlns:a="http://schemas.openxmlformats.org/drawingml/2006/main">
              <a:ext uri="{FF2B5EF4-FFF2-40B4-BE49-F238E27FC236}">
                <a16:creationId xmlns:a16="http://schemas.microsoft.com/office/drawing/2014/main" id="{A9D2A527-9B5C-4112-AE08-720426386942}"/>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84">
            <a:extLst xmlns:a="http://schemas.openxmlformats.org/drawingml/2006/main">
              <a:ext uri="{FF2B5EF4-FFF2-40B4-BE49-F238E27FC236}">
                <a16:creationId xmlns:a16="http://schemas.microsoft.com/office/drawing/2014/main" id="{0B523C6A-13FC-45AB-918B-E47A7068EB94}"/>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085">
            <a:extLst xmlns:a="http://schemas.openxmlformats.org/drawingml/2006/main">
              <a:ext uri="{FF2B5EF4-FFF2-40B4-BE49-F238E27FC236}">
                <a16:creationId xmlns:a16="http://schemas.microsoft.com/office/drawing/2014/main" id="{13E77A0D-5069-423B-9AEB-AF0C95AC5C73}"/>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086">
            <a:extLst xmlns:a="http://schemas.openxmlformats.org/drawingml/2006/main">
              <a:ext uri="{FF2B5EF4-FFF2-40B4-BE49-F238E27FC236}">
                <a16:creationId xmlns:a16="http://schemas.microsoft.com/office/drawing/2014/main" id="{103647F8-5457-4261-87DF-5B804DB76B30}"/>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Create 03-build/clientdesk-chat from the hosted chat guide. Install the pinned Claude Code version in its Docker image. Accept authenticated requests, run Claude with the supplied client evidence and no tools, and return a validated answer. Add Stop, timeouts and request limits.</a:t>
            </a:r>
          </a:p>
        </p:txBody>
      </p:sp>
      <p:sp>
        <p:nvSpPr>
          <p:cNvPr id="7" name="text-1087">
            <a:extLst xmlns:a="http://schemas.openxmlformats.org/drawingml/2006/main">
              <a:ext uri="{FF2B5EF4-FFF2-40B4-BE49-F238E27FC236}">
                <a16:creationId xmlns:a16="http://schemas.microsoft.com/office/drawing/2014/main" id="{3AC02309-BE53-43F2-8C49-F973FF30C74A}"/>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Separation:</a:t>
            </a:r>
            <a:r>
              <a:rPr sz="1875" b="0" i="0">
                <a:solidFill>
                  <a:srgbClr val="1C1C1C"/>
                </a:solidFill>
                <a:latin typeface="Helvetica Neue"/>
                <a:ea typeface="Helvetica Neue"/>
                <a:cs typeface="Helvetica Neue"/>
              </a:rPr>
              <a:t> keeps Claude in its own service.</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Behavior:</a:t>
            </a:r>
            <a:r>
              <a:rPr sz="1875" b="0" i="0">
                <a:solidFill>
                  <a:srgbClr val="1C1C1C"/>
                </a:solidFill>
                <a:latin typeface="Helvetica Neue"/>
                <a:ea typeface="Helvetica Neue"/>
                <a:cs typeface="Helvetica Neue"/>
              </a:rPr>
              <a:t> defines success and failure.</a:t>
            </a:r>
          </a:p>
        </p:txBody>
      </p:sp>
      <p:sp>
        <p:nvSpPr>
          <p:cNvPr id="8" name="panel-1088">
            <a:extLst xmlns:a="http://schemas.openxmlformats.org/drawingml/2006/main">
              <a:ext uri="{FF2B5EF4-FFF2-40B4-BE49-F238E27FC236}">
                <a16:creationId xmlns:a16="http://schemas.microsoft.com/office/drawing/2014/main" id="{D8398C8E-4FC7-48BB-AD32-CAAD261708D0}"/>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089">
            <a:extLst xmlns:a="http://schemas.openxmlformats.org/drawingml/2006/main">
              <a:ext uri="{FF2B5EF4-FFF2-40B4-BE49-F238E27FC236}">
                <a16:creationId xmlns:a16="http://schemas.microsoft.com/office/drawing/2014/main" id="{03DF78CF-A8BC-4A0F-B3A1-6C95192C8BB0}"/>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Worker tests and type checks pass; the restricted request is inspected.</a:t>
            </a:r>
          </a:p>
        </p:txBody>
      </p:sp>
      <p:sp>
        <p:nvSpPr>
          <p:cNvPr id="10" name="text-1090">
            <a:extLst xmlns:a="http://schemas.openxmlformats.org/drawingml/2006/main">
              <a:ext uri="{FF2B5EF4-FFF2-40B4-BE49-F238E27FC236}">
                <a16:creationId xmlns:a16="http://schemas.microsoft.com/office/drawing/2014/main" id="{F14F3E88-5AE2-451D-B715-0A77D7DF654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113</a:t>
            </a:r>
          </a:p>
        </p:txBody>
      </p:sp>
    </p:spTree>
    <p:extLst>
      <p:ext uri="{BB962C8B-B14F-4D97-AF65-F5344CB8AC3E}">
        <p14:creationId xmlns:p14="http://schemas.microsoft.com/office/powerpoint/2010/main" val="343719279"/>
      </p:ext>
    </p:extLst>
  </p:cSld>
</p:sld>
</file>

<file path=ppt/slides/slide11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091">
            <a:extLst xmlns:a="http://schemas.openxmlformats.org/drawingml/2006/main">
              <a:ext uri="{FF2B5EF4-FFF2-40B4-BE49-F238E27FC236}">
                <a16:creationId xmlns:a16="http://schemas.microsoft.com/office/drawing/2014/main" id="{5CB247BE-F115-4CF7-805F-7BCB017C4DAD}"/>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Give the worker a home on Railway</a:t>
            </a:r>
          </a:p>
        </p:txBody>
      </p:sp>
      <p:sp>
        <p:nvSpPr>
          <p:cNvPr id="2" name="panel-1092">
            <a:extLst xmlns:a="http://schemas.openxmlformats.org/drawingml/2006/main">
              <a:ext uri="{FF2B5EF4-FFF2-40B4-BE49-F238E27FC236}">
                <a16:creationId xmlns:a16="http://schemas.microsoft.com/office/drawing/2014/main" id="{6FE57CE3-8B76-4748-B7AE-AE68C22046E6}"/>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093">
            <a:extLst xmlns:a="http://schemas.openxmlformats.org/drawingml/2006/main">
              <a:ext uri="{FF2B5EF4-FFF2-40B4-BE49-F238E27FC236}">
                <a16:creationId xmlns:a16="http://schemas.microsoft.com/office/drawing/2014/main" id="{E94E98A5-D013-49D1-AF0B-B92735D5308A}"/>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094">
            <a:extLst xmlns:a="http://schemas.openxmlformats.org/drawingml/2006/main">
              <a:ext uri="{FF2B5EF4-FFF2-40B4-BE49-F238E27FC236}">
                <a16:creationId xmlns:a16="http://schemas.microsoft.com/office/drawing/2014/main" id="{BAE4007C-7DA2-45F8-86B6-BC388C2DD291}"/>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095">
            <a:extLst xmlns:a="http://schemas.openxmlformats.org/drawingml/2006/main">
              <a:ext uri="{FF2B5EF4-FFF2-40B4-BE49-F238E27FC236}">
                <a16:creationId xmlns:a16="http://schemas.microsoft.com/office/drawing/2014/main" id="{C4303363-7594-42DC-A524-BA00CE98B191}"/>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096">
            <a:extLst xmlns:a="http://schemas.openxmlformats.org/drawingml/2006/main">
              <a:ext uri="{FF2B5EF4-FFF2-40B4-BE49-F238E27FC236}">
                <a16:creationId xmlns:a16="http://schemas.microsoft.com/office/drawing/2014/main" id="{05E1FDE2-367B-49B3-B04E-7B00407EBCCE}"/>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Help me create a dedicated Railway service from 03-build/clientdesk-chat. Use its Dockerfile, add a persistent volume mounted at /data, and generate a service domain. Configure CHAT_SERVICE_TOKEN and CHAT_ACCESS_CODE with separate private values.</a:t>
            </a:r>
          </a:p>
        </p:txBody>
      </p:sp>
      <p:sp>
        <p:nvSpPr>
          <p:cNvPr id="7" name="text-1097">
            <a:extLst xmlns:a="http://schemas.openxmlformats.org/drawingml/2006/main">
              <a:ext uri="{FF2B5EF4-FFF2-40B4-BE49-F238E27FC236}">
                <a16:creationId xmlns:a16="http://schemas.microsoft.com/office/drawing/2014/main" id="{30AD4C04-EA46-4DC1-A186-805FA416E3C4}"/>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Volume:</a:t>
            </a:r>
            <a:r>
              <a:rPr sz="1875" b="0" i="0">
                <a:solidFill>
                  <a:srgbClr val="1C1C1C"/>
                </a:solidFill>
                <a:latin typeface="Helvetica Neue"/>
                <a:ea typeface="Helvetica Neue"/>
                <a:cs typeface="Helvetica Neue"/>
              </a:rPr>
              <a:t> preserves login and usage counters.</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Separation:</a:t>
            </a:r>
            <a:r>
              <a:rPr sz="1875" b="0" i="0">
                <a:solidFill>
                  <a:srgbClr val="1C1C1C"/>
                </a:solidFill>
                <a:latin typeface="Helvetica Neue"/>
                <a:ea typeface="Helvetica Neue"/>
                <a:cs typeface="Helvetica Neue"/>
              </a:rPr>
              <a:t> uses two different access credentials.</a:t>
            </a:r>
          </a:p>
        </p:txBody>
      </p:sp>
      <p:sp>
        <p:nvSpPr>
          <p:cNvPr id="8" name="panel-1098">
            <a:extLst xmlns:a="http://schemas.openxmlformats.org/drawingml/2006/main">
              <a:ext uri="{FF2B5EF4-FFF2-40B4-BE49-F238E27FC236}">
                <a16:creationId xmlns:a16="http://schemas.microsoft.com/office/drawing/2014/main" id="{DBD9F0BD-C2E1-4B00-8FCA-3ED15B01A77F}"/>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099">
            <a:extLst xmlns:a="http://schemas.openxmlformats.org/drawingml/2006/main">
              <a:ext uri="{FF2B5EF4-FFF2-40B4-BE49-F238E27FC236}">
                <a16:creationId xmlns:a16="http://schemas.microsoft.com/office/drawing/2014/main" id="{5F3F28CD-6677-4F40-A3B2-BC78EC6726DA}"/>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service is running with /data mounted and its private settings present.</a:t>
            </a:r>
          </a:p>
        </p:txBody>
      </p:sp>
      <p:sp>
        <p:nvSpPr>
          <p:cNvPr id="10" name="text-1100">
            <a:extLst xmlns:a="http://schemas.openxmlformats.org/drawingml/2006/main">
              <a:ext uri="{FF2B5EF4-FFF2-40B4-BE49-F238E27FC236}">
                <a16:creationId xmlns:a16="http://schemas.microsoft.com/office/drawing/2014/main" id="{8AD2901B-D5FA-4AD3-B4AB-C38F3974E73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114</a:t>
            </a:r>
          </a:p>
        </p:txBody>
      </p:sp>
    </p:spTree>
    <p:extLst>
      <p:ext uri="{BB962C8B-B14F-4D97-AF65-F5344CB8AC3E}">
        <p14:creationId xmlns:p14="http://schemas.microsoft.com/office/powerpoint/2010/main" val="2101745726"/>
      </p:ext>
    </p:extLst>
  </p:cSld>
</p:sld>
</file>

<file path=ppt/slides/slide11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101">
            <a:extLst xmlns:a="http://schemas.openxmlformats.org/drawingml/2006/main">
              <a:ext uri="{FF2B5EF4-FFF2-40B4-BE49-F238E27FC236}">
                <a16:creationId xmlns:a16="http://schemas.microsoft.com/office/drawing/2014/main" id="{63D16497-8029-42DA-A143-2CECD5C5FFF5}"/>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Sign Claude in on the Railway server</a:t>
            </a:r>
          </a:p>
        </p:txBody>
      </p:sp>
      <p:sp>
        <p:nvSpPr>
          <p:cNvPr id="2" name="panel-1102">
            <a:extLst xmlns:a="http://schemas.openxmlformats.org/drawingml/2006/main">
              <a:ext uri="{FF2B5EF4-FFF2-40B4-BE49-F238E27FC236}">
                <a16:creationId xmlns:a16="http://schemas.microsoft.com/office/drawing/2014/main" id="{339D5AE1-33FC-43D8-8E74-099B3BF04581}"/>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103">
            <a:extLst xmlns:a="http://schemas.openxmlformats.org/drawingml/2006/main">
              <a:ext uri="{FF2B5EF4-FFF2-40B4-BE49-F238E27FC236}">
                <a16:creationId xmlns:a16="http://schemas.microsoft.com/office/drawing/2014/main" id="{1599E529-CD43-485D-A893-D0E0FB58ACC3}"/>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104">
            <a:extLst xmlns:a="http://schemas.openxmlformats.org/drawingml/2006/main">
              <a:ext uri="{FF2B5EF4-FFF2-40B4-BE49-F238E27FC236}">
                <a16:creationId xmlns:a16="http://schemas.microsoft.com/office/drawing/2014/main" id="{A5508639-3F49-4D6E-8C0E-4ABF6B64CF45}"/>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105">
            <a:extLst xmlns:a="http://schemas.openxmlformats.org/drawingml/2006/main">
              <a:ext uri="{FF2B5EF4-FFF2-40B4-BE49-F238E27FC236}">
                <a16:creationId xmlns:a16="http://schemas.microsoft.com/office/drawing/2014/main" id="{71B8D68D-5CF2-4B37-B3AB-E67B3F00E2E7}"/>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106">
            <a:extLst xmlns:a="http://schemas.openxmlformats.org/drawingml/2006/main">
              <a:ext uri="{FF2B5EF4-FFF2-40B4-BE49-F238E27FC236}">
                <a16:creationId xmlns:a16="http://schemas.microsoft.com/office/drawing/2014/main" id="{2800AE00-9D8C-4044-B3A6-7115126DD82F}"/>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Guide me through signing the Railway worker into the intended Claude subscription. Use the supplied login helper and keep credentials on the /data volume. Verify a real answer, then redeploy the worker and verify sign-in still works.</a:t>
            </a:r>
          </a:p>
        </p:txBody>
      </p:sp>
      <p:sp>
        <p:nvSpPr>
          <p:cNvPr id="7" name="text-1107">
            <a:extLst xmlns:a="http://schemas.openxmlformats.org/drawingml/2006/main">
              <a:ext uri="{FF2B5EF4-FFF2-40B4-BE49-F238E27FC236}">
                <a16:creationId xmlns:a16="http://schemas.microsoft.com/office/drawing/2014/main" id="{73F1E7D5-9855-4F47-B87B-A1145FA832DE}"/>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Location:</a:t>
            </a:r>
            <a:r>
              <a:rPr sz="1875" b="0" i="0">
                <a:solidFill>
                  <a:srgbClr val="1C1C1C"/>
                </a:solidFill>
                <a:latin typeface="Helvetica Neue"/>
                <a:ea typeface="Helvetica Neue"/>
                <a:cs typeface="Helvetica Neue"/>
              </a:rPr>
              <a:t> signs in where Claude actually runs.</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Persistence:</a:t>
            </a:r>
            <a:r>
              <a:rPr sz="1875" b="0" i="0">
                <a:solidFill>
                  <a:srgbClr val="1C1C1C"/>
                </a:solidFill>
                <a:latin typeface="Helvetica Neue"/>
                <a:ea typeface="Helvetica Neue"/>
                <a:cs typeface="Helvetica Neue"/>
              </a:rPr>
              <a:t> tests a fresh deployment.</a:t>
            </a:r>
          </a:p>
        </p:txBody>
      </p:sp>
      <p:sp>
        <p:nvSpPr>
          <p:cNvPr id="8" name="panel-1108">
            <a:extLst xmlns:a="http://schemas.openxmlformats.org/drawingml/2006/main">
              <a:ext uri="{FF2B5EF4-FFF2-40B4-BE49-F238E27FC236}">
                <a16:creationId xmlns:a16="http://schemas.microsoft.com/office/drawing/2014/main" id="{A9051200-3BE1-4601-A994-8591F680232D}"/>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109">
            <a:extLst xmlns:a="http://schemas.openxmlformats.org/drawingml/2006/main">
              <a:ext uri="{FF2B5EF4-FFF2-40B4-BE49-F238E27FC236}">
                <a16:creationId xmlns:a16="http://schemas.microsoft.com/office/drawing/2014/main" id="{91209FD2-FAD0-4931-85D0-63B102BB8B07}"/>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A real sourced answer works before and after worker redeployment.</a:t>
            </a:r>
          </a:p>
        </p:txBody>
      </p:sp>
      <p:sp>
        <p:nvSpPr>
          <p:cNvPr id="10" name="text-1110">
            <a:extLst xmlns:a="http://schemas.openxmlformats.org/drawingml/2006/main">
              <a:ext uri="{FF2B5EF4-FFF2-40B4-BE49-F238E27FC236}">
                <a16:creationId xmlns:a16="http://schemas.microsoft.com/office/drawing/2014/main" id="{FB12043C-A9EF-43AC-B252-D247D2E29AB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115</a:t>
            </a:r>
          </a:p>
        </p:txBody>
      </p:sp>
    </p:spTree>
    <p:extLst>
      <p:ext uri="{BB962C8B-B14F-4D97-AF65-F5344CB8AC3E}">
        <p14:creationId xmlns:p14="http://schemas.microsoft.com/office/powerpoint/2010/main" val="740823177"/>
      </p:ext>
    </p:extLst>
  </p:cSld>
</p:sld>
</file>

<file path=ppt/slides/slide11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111">
            <a:extLst xmlns:a="http://schemas.openxmlformats.org/drawingml/2006/main">
              <a:ext uri="{FF2B5EF4-FFF2-40B4-BE49-F238E27FC236}">
                <a16:creationId xmlns:a16="http://schemas.microsoft.com/office/drawing/2014/main" id="{3E307A6B-8C82-4F31-A880-171A86F8761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Connect Vercel to the chat worker</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1090613">
                <a:tc>
                  <a:txBody>
                    <a:bodyPr>
                      <a:noAutofit/>
                    </a:bodyPr>
                    <a:lstStyle/>
                    <a:p>
                      <a:r>
                        <a:rPr sz="1875" b="1" i="0">
                          <a:solidFill>
                            <a:srgbClr val="FFFFFF"/>
                          </a:solidFill>
                          <a:latin typeface="Helvetica Neue"/>
                          <a:ea typeface="Helvetica Neue"/>
                          <a:cs typeface="Helvetica Neue"/>
                        </a:rPr>
                        <a:t>Vercel setting</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Use this value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1090613">
                <a:tc>
                  <a:txBody>
                    <a:bodyPr>
                      <a:noAutofit/>
                    </a:bodyPr>
                    <a:lstStyle/>
                    <a:p>
                      <a:r>
                        <a:rPr sz="1875" b="1" i="0">
                          <a:solidFill>
                            <a:srgbClr val="1C1C1C"/>
                          </a:solidFill>
                          <a:latin typeface="Helvetica Neue"/>
                          <a:ea typeface="Helvetica Neue"/>
                          <a:cs typeface="Helvetica Neue"/>
                        </a:rPr>
                        <a:t>CLIENTDESK_CHAT_URL</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Your Railway service URL</a:t>
                      </a:r>
                    </a:p>
                  </a:txBody>
                  <a:tcPr marL="171450" marR="171450" marT="114300" marB="114300" anchor="ctr">
                    <a:lnR w="19050">
                      <a:solidFill>
                        <a:srgbClr val="F8F5F0"/>
                      </a:solidFill>
                    </a:lnR>
                    <a:lnB w="19050">
                      <a:solidFill>
                        <a:srgbClr val="F8F5F0"/>
                      </a:solidFill>
                    </a:lnB>
                    <a:solidFill>
                      <a:srgbClr val="EEEAE3"/>
                    </a:solidFill>
                  </a:tcPr>
                </a:tc>
              </a:tr>
              <a:tr h="1090613">
                <a:tc>
                  <a:txBody>
                    <a:bodyPr>
                      <a:noAutofit/>
                    </a:bodyPr>
                    <a:lstStyle/>
                    <a:p>
                      <a:r>
                        <a:rPr sz="1875" b="1" i="0">
                          <a:solidFill>
                            <a:srgbClr val="1C1C1C"/>
                          </a:solidFill>
                          <a:latin typeface="Helvetica Neue"/>
                          <a:ea typeface="Helvetica Neue"/>
                          <a:cs typeface="Helvetica Neue"/>
                        </a:rPr>
                        <a:t>CLIENTDESK_CHAT_TOKEN</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The same private value as Railway CHAT_SERVICE_TOKEN</a:t>
                      </a:r>
                    </a:p>
                  </a:txBody>
                  <a:tcPr marL="171450" marR="171450" marT="114300" marB="114300" anchor="ctr">
                    <a:lnR w="19050">
                      <a:solidFill>
                        <a:srgbClr val="F8F5F0"/>
                      </a:solidFill>
                    </a:lnR>
                    <a:lnB w="19050">
                      <a:solidFill>
                        <a:srgbClr val="F8F5F0"/>
                      </a:solidFill>
                    </a:lnB>
                    <a:solidFill>
                      <a:srgbClr val="F8F5F0"/>
                    </a:solidFill>
                  </a:tcPr>
                </a:tc>
              </a:tr>
              <a:tr h="1090613">
                <a:tc>
                  <a:txBody>
                    <a:bodyPr>
                      <a:noAutofit/>
                    </a:bodyPr>
                    <a:lstStyle/>
                    <a:p>
                      <a:r>
                        <a:rPr sz="1875" b="1" i="0">
                          <a:solidFill>
                            <a:srgbClr val="1C1C1C"/>
                          </a:solidFill>
                          <a:latin typeface="Helvetica Neue"/>
                          <a:ea typeface="Helvetica Neue"/>
                          <a:cs typeface="Helvetica Neue"/>
                        </a:rPr>
                        <a:t>CLIENTDESK_APP_ORIGIN</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Your exact app origin, such as https://your-app.vercel.app</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1112">
            <a:extLst xmlns:a="http://schemas.openxmlformats.org/drawingml/2006/main">
              <a:ext uri="{FF2B5EF4-FFF2-40B4-BE49-F238E27FC236}">
                <a16:creationId xmlns:a16="http://schemas.microsoft.com/office/drawing/2014/main" id="{2963B81A-46F6-4559-B31C-D98E9706893E}"/>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116</a:t>
            </a:r>
          </a:p>
        </p:txBody>
      </p:sp>
    </p:spTree>
    <p:extLst>
      <p:ext uri="{BB962C8B-B14F-4D97-AF65-F5344CB8AC3E}">
        <p14:creationId xmlns:p14="http://schemas.microsoft.com/office/powerpoint/2010/main" val="138237618"/>
      </p:ext>
    </p:extLst>
  </p:cSld>
</p:sld>
</file>

<file path=ppt/slides/slide11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113">
            <a:extLst xmlns:a="http://schemas.openxmlformats.org/drawingml/2006/main">
              <a:ext uri="{FF2B5EF4-FFF2-40B4-BE49-F238E27FC236}">
                <a16:creationId xmlns:a16="http://schemas.microsoft.com/office/drawing/2014/main" id="{726CD84A-FFC7-4DFE-820F-6AE8403F360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Prove the full hosted conversation</a:t>
            </a:r>
          </a:p>
        </p:txBody>
      </p:sp>
      <p:sp>
        <p:nvSpPr>
          <p:cNvPr id="2" name="panel-1114">
            <a:extLst xmlns:a="http://schemas.openxmlformats.org/drawingml/2006/main">
              <a:ext uri="{FF2B5EF4-FFF2-40B4-BE49-F238E27FC236}">
                <a16:creationId xmlns:a16="http://schemas.microsoft.com/office/drawing/2014/main" id="{F543A4D4-166F-440A-9A5D-1E6E401302BA}"/>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115">
            <a:extLst xmlns:a="http://schemas.openxmlformats.org/drawingml/2006/main">
              <a:ext uri="{FF2B5EF4-FFF2-40B4-BE49-F238E27FC236}">
                <a16:creationId xmlns:a16="http://schemas.microsoft.com/office/drawing/2014/main" id="{4CAAC8DE-39D6-4B85-8378-2C64D017D722}"/>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116">
            <a:extLst xmlns:a="http://schemas.openxmlformats.org/drawingml/2006/main">
              <a:ext uri="{FF2B5EF4-FFF2-40B4-BE49-F238E27FC236}">
                <a16:creationId xmlns:a16="http://schemas.microsoft.com/office/drawing/2014/main" id="{1885AFE8-DE42-48FE-A7EC-1331E07DA936}"/>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117">
            <a:extLst xmlns:a="http://schemas.openxmlformats.org/drawingml/2006/main">
              <a:ext uri="{FF2B5EF4-FFF2-40B4-BE49-F238E27FC236}">
                <a16:creationId xmlns:a16="http://schemas.microsoft.com/office/drawing/2014/main" id="{9D8524B1-9734-4F76-9E8F-BD19235E72E5}"/>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118">
            <a:extLst xmlns:a="http://schemas.openxmlformats.org/drawingml/2006/main">
              <a:ext uri="{FF2B5EF4-FFF2-40B4-BE49-F238E27FC236}">
                <a16:creationId xmlns:a16="http://schemas.microsoft.com/office/drawing/2014/main" id="{347D407B-C690-470A-932D-56C4FD8C2A9B}"/>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At my Vercel URL, ask what Maya requested and require the meeting source ID. Switch to Atlas and check the missing-meeting response. Test a wrong course code, Stop, a retry and phone width. Save a reviewed task separately and reload it. Record each result.</a:t>
            </a:r>
          </a:p>
        </p:txBody>
      </p:sp>
      <p:sp>
        <p:nvSpPr>
          <p:cNvPr id="7" name="text-1119">
            <a:extLst xmlns:a="http://schemas.openxmlformats.org/drawingml/2006/main">
              <a:ext uri="{FF2B5EF4-FFF2-40B4-BE49-F238E27FC236}">
                <a16:creationId xmlns:a16="http://schemas.microsoft.com/office/drawing/2014/main" id="{B0B54388-204B-4DD3-BBDE-DC84DAAF29F7}"/>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End to end:</a:t>
            </a:r>
            <a:r>
              <a:rPr sz="1875" b="0" i="0">
                <a:solidFill>
                  <a:srgbClr val="1C1C1C"/>
                </a:solidFill>
                <a:latin typeface="Helvetica Neue"/>
                <a:ea typeface="Helvetica Neue"/>
                <a:cs typeface="Helvetica Neue"/>
              </a:rPr>
              <a:t> tests the deployed services together.</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Contrast:</a:t>
            </a:r>
            <a:r>
              <a:rPr sz="1875" b="0" i="0">
                <a:solidFill>
                  <a:srgbClr val="1C1C1C"/>
                </a:solidFill>
                <a:latin typeface="Helvetica Neue"/>
                <a:ea typeface="Helvetica Neue"/>
                <a:cs typeface="Helvetica Neue"/>
              </a:rPr>
              <a:t> checks evidence and missing evidence.</a:t>
            </a:r>
          </a:p>
        </p:txBody>
      </p:sp>
      <p:sp>
        <p:nvSpPr>
          <p:cNvPr id="8" name="panel-1120">
            <a:extLst xmlns:a="http://schemas.openxmlformats.org/drawingml/2006/main">
              <a:ext uri="{FF2B5EF4-FFF2-40B4-BE49-F238E27FC236}">
                <a16:creationId xmlns:a16="http://schemas.microsoft.com/office/drawing/2014/main" id="{D322D046-1303-409A-88CE-462A02910F14}"/>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121">
            <a:extLst xmlns:a="http://schemas.openxmlformats.org/drawingml/2006/main">
              <a:ext uri="{FF2B5EF4-FFF2-40B4-BE49-F238E27FC236}">
                <a16:creationId xmlns:a16="http://schemas.microsoft.com/office/drawing/2014/main" id="{D341F3BC-779E-4091-91B7-4685923C6696}"/>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Northstar cites demo-transcript-001; Atlas has no invented meeting; task save remains separate.</a:t>
            </a:r>
          </a:p>
        </p:txBody>
      </p:sp>
      <p:sp>
        <p:nvSpPr>
          <p:cNvPr id="10" name="text-1122">
            <a:extLst xmlns:a="http://schemas.openxmlformats.org/drawingml/2006/main">
              <a:ext uri="{FF2B5EF4-FFF2-40B4-BE49-F238E27FC236}">
                <a16:creationId xmlns:a16="http://schemas.microsoft.com/office/drawing/2014/main" id="{932DB7C9-790D-4957-A374-E78659DF21E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117</a:t>
            </a:r>
          </a:p>
        </p:txBody>
      </p:sp>
    </p:spTree>
    <p:extLst>
      <p:ext uri="{BB962C8B-B14F-4D97-AF65-F5344CB8AC3E}">
        <p14:creationId xmlns:p14="http://schemas.microsoft.com/office/powerpoint/2010/main" val="765494547"/>
      </p:ext>
    </p:extLst>
  </p:cSld>
</p:sld>
</file>

<file path=ppt/slides/slide11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123">
            <a:extLst xmlns:a="http://schemas.openxmlformats.org/drawingml/2006/main">
              <a:ext uri="{FF2B5EF4-FFF2-40B4-BE49-F238E27FC236}">
                <a16:creationId xmlns:a16="http://schemas.microsoft.com/office/drawing/2014/main" id="{0AF57AF8-B360-4087-A320-2581BC513EF5}"/>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If the hosted path fails, locate the break</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727075">
                <a:tc>
                  <a:txBody>
                    <a:bodyPr>
                      <a:noAutofit/>
                    </a:bodyPr>
                    <a:lstStyle/>
                    <a:p>
                      <a:r>
                        <a:rPr sz="1800" b="1" i="0">
                          <a:solidFill>
                            <a:srgbClr val="FFFFFF"/>
                          </a:solidFill>
                          <a:latin typeface="Helvetica Neue"/>
                          <a:ea typeface="Helvetica Neue"/>
                          <a:cs typeface="Helvetica Neue"/>
                        </a:rPr>
                        <a:t>Symptom</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00" b="1" i="0">
                          <a:solidFill>
                            <a:srgbClr val="FFFFFF"/>
                          </a:solidFill>
                          <a:latin typeface="Helvetica Neue"/>
                          <a:ea typeface="Helvetica Neue"/>
                          <a:cs typeface="Helvetica Neue"/>
                        </a:rPr>
                        <a:t>Check next</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727075">
                <a:tc>
                  <a:txBody>
                    <a:bodyPr>
                      <a:noAutofit/>
                    </a:bodyPr>
                    <a:lstStyle/>
                    <a:p>
                      <a:r>
                        <a:rPr sz="1800" b="1" i="0">
                          <a:solidFill>
                            <a:srgbClr val="1C1C1C"/>
                          </a:solidFill>
                          <a:latin typeface="Helvetica Neue"/>
                          <a:ea typeface="Helvetica Neue"/>
                          <a:cs typeface="Helvetica Neue"/>
                        </a:rPr>
                        <a:t>App opens; saving fails</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Supabase settings, migrations and access rules</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Chat is unavailable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Vercel chat settings and app origin; redeploy</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Course code is rejected</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The code and Railway access settings</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Claude cannot answer</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Worker login, plan allowance and service logs</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Login disappears after deploy</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The /data volume and credential path</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1124">
            <a:extLst xmlns:a="http://schemas.openxmlformats.org/drawingml/2006/main">
              <a:ext uri="{FF2B5EF4-FFF2-40B4-BE49-F238E27FC236}">
                <a16:creationId xmlns:a16="http://schemas.microsoft.com/office/drawing/2014/main" id="{510E5427-1CA8-4440-BDB8-ADD3AF8D9A97}"/>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118</a:t>
            </a:r>
          </a:p>
        </p:txBody>
      </p:sp>
    </p:spTree>
    <p:extLst>
      <p:ext uri="{BB962C8B-B14F-4D97-AF65-F5344CB8AC3E}">
        <p14:creationId xmlns:p14="http://schemas.microsoft.com/office/powerpoint/2010/main" val="35262287"/>
      </p:ext>
    </p:extLst>
  </p:cSld>
</p:sld>
</file>

<file path=ppt/slides/slide119.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sp>
        <p:nvSpPr>
          <p:cNvPr id="4" name="text-1125">
            <a:extLst xmlns:a="http://schemas.openxmlformats.org/drawingml/2006/main">
              <a:ext uri="{FF2B5EF4-FFF2-40B4-BE49-F238E27FC236}">
                <a16:creationId xmlns:a16="http://schemas.microsoft.com/office/drawing/2014/main" id="{02B48FE7-AA54-4480-B808-67B4382CD8CE}"/>
              </a:ext>
            </a:extLst>
          </p:cNvPr>
          <p:cNvSpPr>
            <a:spLocks xmlns:a="http://schemas.openxmlformats.org/drawingml/2006/main" noGrp="1"/>
          </p:cNvSpPr>
          <p:nvPr/>
        </p:nvSpPr>
        <p:spPr>
          <a:xfrm xmlns:a="http://schemas.openxmlformats.org/drawingml/2006/main">
            <a:off x="609600" y="12382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1" i="0">
                <a:solidFill>
                  <a:srgbClr val="FFFFFF"/>
                </a:solidFill>
                <a:latin typeface="Avenir Next"/>
                <a:ea typeface="Avenir Next"/>
                <a:cs typeface="Avenir Next"/>
              </a:defRPr>
            </a:pPr>
            <a:r>
              <a:rPr sz="5700" b="1" i="0">
                <a:solidFill>
                  <a:srgbClr val="FFFFFF"/>
                </a:solidFill>
                <a:latin typeface="Avenir Next"/>
                <a:ea typeface="Avenir Next"/>
                <a:cs typeface="Avenir Next"/>
              </a:rPr>
              <a:t>Build Q&amp;A + reset</a:t>
            </a:r>
          </a:p>
        </p:txBody>
      </p:sp>
      <p:sp>
        <p:nvSpPr>
          <p:cNvPr id="2" name="text-1126">
            <a:extLst xmlns:a="http://schemas.openxmlformats.org/drawingml/2006/main">
              <a:ext uri="{FF2B5EF4-FFF2-40B4-BE49-F238E27FC236}">
                <a16:creationId xmlns:a16="http://schemas.microsoft.com/office/drawing/2014/main" id="{8774E6F8-754B-49F3-B0BE-C242F0119234}"/>
              </a:ext>
            </a:extLst>
          </p:cNvPr>
          <p:cNvSpPr>
            <a:spLocks xmlns:a="http://schemas.openxmlformats.org/drawingml/2006/main" noGrp="1"/>
          </p:cNvSpPr>
          <p:nvPr/>
        </p:nvSpPr>
        <p:spPr>
          <a:xfrm xmlns:a="http://schemas.openxmlformats.org/drawingml/2006/main">
            <a:off x="609600" y="3209925"/>
            <a:ext cx="1028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0" i="0">
                <a:solidFill>
                  <a:srgbClr val="EEEAE3"/>
                </a:solidFill>
                <a:latin typeface="Helvetica Neue"/>
                <a:ea typeface="Helvetica Neue"/>
                <a:cs typeface="Helvetica Neue"/>
              </a:defRPr>
            </a:pPr>
            <a:r>
              <a:rPr sz="3000" b="1" i="0">
                <a:solidFill>
                  <a:srgbClr val="EEEAE3"/>
                </a:solidFill>
                <a:latin typeface="Helvetica Neue"/>
                <a:ea typeface="Helvetica Neue"/>
                <a:cs typeface="Helvetica Neue"/>
              </a:rPr>
              <a:t>Next:</a:t>
            </a:r>
            <a:r>
              <a:rPr sz="3000" b="0" i="0">
                <a:solidFill>
                  <a:srgbClr val="EEEAE3"/>
                </a:solidFill>
                <a:latin typeface="Helvetica Neue"/>
                <a:ea typeface="Helvetica Neue"/>
                <a:cs typeface="Helvetica Neue"/>
              </a:rPr>
              <a:t> package the method someone else will repeat</a:t>
            </a:r>
          </a:p>
        </p:txBody>
      </p:sp>
      <p:sp>
        <p:nvSpPr>
          <p:cNvPr id="3" name="text-1127">
            <a:extLst xmlns:a="http://schemas.openxmlformats.org/drawingml/2006/main">
              <a:ext uri="{FF2B5EF4-FFF2-40B4-BE49-F238E27FC236}">
                <a16:creationId xmlns:a16="http://schemas.microsoft.com/office/drawing/2014/main" id="{A4447609-EE3C-4A76-8D65-9E3848F1677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EEEAE3"/>
                </a:solidFill>
                <a:latin typeface="Helvetica Neue"/>
                <a:ea typeface="Helvetica Neue"/>
                <a:cs typeface="Helvetica Neue"/>
              </a:defRPr>
            </a:pPr>
            <a:r>
              <a:rPr sz="1200" b="0" i="0">
                <a:solidFill>
                  <a:srgbClr val="EEEAE3"/>
                </a:solidFill>
                <a:latin typeface="Helvetica Neue"/>
                <a:ea typeface="Helvetica Neue"/>
                <a:cs typeface="Helvetica Neue"/>
              </a:rPr>
              <a:t>119</a:t>
            </a:r>
          </a:p>
        </p:txBody>
      </p:sp>
    </p:spTree>
    <p:extLst>
      <p:ext uri="{BB962C8B-B14F-4D97-AF65-F5344CB8AC3E}">
        <p14:creationId xmlns:p14="http://schemas.microsoft.com/office/powerpoint/2010/main" val="705708811"/>
      </p:ext>
    </p:extLst>
  </p:cSld>
</p:sld>
</file>

<file path=ppt/slides/slide120.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18b4e5806d9489f"/>
          <a:srcRect xmlns:a="http://schemas.openxmlformats.org/drawingml/2006/main" l="0" t="10440" r="0" b="1044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1128">
            <a:extLst xmlns:a="http://schemas.openxmlformats.org/drawingml/2006/main">
              <a:ext uri="{FF2B5EF4-FFF2-40B4-BE49-F238E27FC236}">
                <a16:creationId xmlns:a16="http://schemas.microsoft.com/office/drawing/2014/main" id="{83C9C33E-0B3D-40F1-A59C-768EE55C44DB}"/>
              </a:ext>
            </a:extLst>
          </p:cNvPr>
          <p:cNvSpPr>
            <a:spLocks xmlns:a="http://schemas.openxmlformats.org/drawingml/2006/main" noGrp="1"/>
          </p:cNvSpPr>
          <p:nvPr/>
        </p:nvSpPr>
        <p:spPr>
          <a:xfrm xmlns:a="http://schemas.openxmlformats.org/drawingml/2006/main">
            <a:off x="609600" y="51435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200" b="1" i="0">
                <a:solidFill>
                  <a:srgbClr val="FFFFFF"/>
                </a:solidFill>
                <a:latin typeface="Avenir Next"/>
                <a:ea typeface="Avenir Next"/>
                <a:cs typeface="Avenir Next"/>
              </a:defRPr>
            </a:pPr>
            <a:r>
              <a:rPr sz="7200" b="1" i="0">
                <a:solidFill>
                  <a:srgbClr val="FFFFFF"/>
                </a:solidFill>
                <a:latin typeface="Avenir Next"/>
                <a:ea typeface="Avenir Next"/>
                <a:cs typeface="Avenir Next"/>
              </a:rPr>
              <a:t>03</a:t>
            </a:r>
          </a:p>
        </p:txBody>
      </p:sp>
      <p:sp>
        <p:nvSpPr>
          <p:cNvPr id="3" name="text-1129">
            <a:extLst xmlns:a="http://schemas.openxmlformats.org/drawingml/2006/main">
              <a:ext uri="{FF2B5EF4-FFF2-40B4-BE49-F238E27FC236}">
                <a16:creationId xmlns:a16="http://schemas.microsoft.com/office/drawing/2014/main" id="{E5624BE9-750D-4CDF-94E5-C2E22375BAD7}"/>
              </a:ext>
            </a:extLst>
          </p:cNvPr>
          <p:cNvSpPr>
            <a:spLocks xmlns:a="http://schemas.openxmlformats.org/drawingml/2006/main" noGrp="1"/>
          </p:cNvSpPr>
          <p:nvPr/>
        </p:nvSpPr>
        <p:spPr>
          <a:xfrm xmlns:a="http://schemas.openxmlformats.org/drawingml/2006/main">
            <a:off x="609600" y="2152650"/>
            <a:ext cx="65246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525" b="1" i="0">
                <a:solidFill>
                  <a:srgbClr val="FFFFFF"/>
                </a:solidFill>
                <a:latin typeface="Avenir Next"/>
                <a:ea typeface="Avenir Next"/>
                <a:cs typeface="Avenir Next"/>
              </a:defRPr>
            </a:pPr>
            <a:r>
              <a:rPr sz="6525" b="1" i="0">
                <a:solidFill>
                  <a:srgbClr val="FFFFFF"/>
                </a:solidFill>
                <a:latin typeface="Avenir Next"/>
                <a:ea typeface="Avenir Next"/>
                <a:cs typeface="Avenir Next"/>
              </a:rPr>
              <a:t>A skill</a:t>
            </a:r>
          </a:p>
          <a:p xmlns:a="http://schemas.openxmlformats.org/drawingml/2006/main">
            <a:pPr>
              <a:defRPr sz="6525" b="1" i="0">
                <a:solidFill>
                  <a:srgbClr val="FFFFFF"/>
                </a:solidFill>
                <a:latin typeface="Avenir Next"/>
                <a:ea typeface="Avenir Next"/>
                <a:cs typeface="Avenir Next"/>
              </a:defRPr>
            </a:pPr>
            <a:r>
              <a:rPr sz="6525" b="1" i="0">
                <a:solidFill>
                  <a:srgbClr val="FFFFFF"/>
                </a:solidFill>
                <a:latin typeface="Avenir Next"/>
                <a:ea typeface="Avenir Next"/>
                <a:cs typeface="Avenir Next"/>
              </a:rPr>
              <a:t>anyone can run</a:t>
            </a:r>
          </a:p>
        </p:txBody>
      </p:sp>
      <p:sp>
        <p:nvSpPr>
          <p:cNvPr id="4" name="text-1130">
            <a:extLst xmlns:a="http://schemas.openxmlformats.org/drawingml/2006/main">
              <a:ext uri="{FF2B5EF4-FFF2-40B4-BE49-F238E27FC236}">
                <a16:creationId xmlns:a16="http://schemas.microsoft.com/office/drawing/2014/main" id="{D29C33AB-7768-4CCF-A29D-C72624DC762B}"/>
              </a:ext>
            </a:extLst>
          </p:cNvPr>
          <p:cNvSpPr>
            <a:spLocks xmlns:a="http://schemas.openxmlformats.org/drawingml/2006/main" noGrp="1"/>
          </p:cNvSpPr>
          <p:nvPr/>
        </p:nvSpPr>
        <p:spPr>
          <a:xfrm xmlns:a="http://schemas.openxmlformats.org/drawingml/2006/main">
            <a:off x="609600" y="5448300"/>
            <a:ext cx="600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FFFFFF"/>
                </a:solidFill>
                <a:latin typeface="Helvetica Neue"/>
                <a:ea typeface="Helvetica Neue"/>
                <a:cs typeface="Helvetica Neue"/>
              </a:defRPr>
            </a:pPr>
            <a:r>
              <a:rPr sz="2175" b="0" i="0">
                <a:solidFill>
                  <a:srgbClr val="FFFFFF"/>
                </a:solidFill>
                <a:latin typeface="Helvetica Neue"/>
                <a:ea typeface="Helvetica Neue"/>
                <a:cs typeface="Helvetica Neue"/>
              </a:rPr>
              <a:t>A repeatable client-brief workflow</a:t>
            </a:r>
          </a:p>
        </p:txBody>
      </p:sp>
      <p:sp>
        <p:nvSpPr>
          <p:cNvPr id="5" name="text-1131">
            <a:extLst xmlns:a="http://schemas.openxmlformats.org/drawingml/2006/main">
              <a:ext uri="{FF2B5EF4-FFF2-40B4-BE49-F238E27FC236}">
                <a16:creationId xmlns:a16="http://schemas.microsoft.com/office/drawing/2014/main" id="{3D7395EF-4603-4BCC-9642-AC3C258945A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EEEAE3"/>
                </a:solidFill>
                <a:latin typeface="Helvetica Neue"/>
                <a:ea typeface="Helvetica Neue"/>
                <a:cs typeface="Helvetica Neue"/>
              </a:defRPr>
            </a:pPr>
            <a:r>
              <a:rPr sz="1200" b="0" i="0">
                <a:solidFill>
                  <a:srgbClr val="EEEAE3"/>
                </a:solidFill>
                <a:latin typeface="Helvetica Neue"/>
                <a:ea typeface="Helvetica Neue"/>
                <a:cs typeface="Helvetica Neue"/>
              </a:rPr>
              <a:t>120</a:t>
            </a:r>
          </a:p>
        </p:txBody>
      </p:sp>
    </p:spTree>
    <p:extLst>
      <p:ext uri="{BB962C8B-B14F-4D97-AF65-F5344CB8AC3E}">
        <p14:creationId xmlns:p14="http://schemas.microsoft.com/office/powerpoint/2010/main" val="333271671"/>
      </p:ext>
    </p:extLst>
  </p:cSld>
</p:sld>
</file>

<file path=ppt/slides/slide121.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4" name="text-1132">
            <a:extLst xmlns:a="http://schemas.openxmlformats.org/drawingml/2006/main">
              <a:ext uri="{FF2B5EF4-FFF2-40B4-BE49-F238E27FC236}">
                <a16:creationId xmlns:a16="http://schemas.microsoft.com/office/drawing/2014/main" id="{91F4544B-70BB-418A-B616-E08FDA20DD4E}"/>
              </a:ext>
            </a:extLst>
          </p:cNvPr>
          <p:cNvSpPr>
            <a:spLocks xmlns:a="http://schemas.openxmlformats.org/drawingml/2006/main" noGrp="1"/>
          </p:cNvSpPr>
          <p:nvPr/>
        </p:nvSpPr>
        <p:spPr>
          <a:xfrm xmlns:a="http://schemas.openxmlformats.org/drawingml/2006/main">
            <a:off x="609600" y="60960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i="1">
                <a:solidFill>
                  <a:srgbClr val="1C1C1C"/>
                </a:solidFill>
                <a:latin typeface="Avenir Next"/>
                <a:ea typeface="Avenir Next"/>
                <a:cs typeface="Avenir Next"/>
              </a:defRPr>
            </a:pPr>
            <a:r>
              <a:rPr sz="4350" b="1" i="1">
                <a:solidFill>
                  <a:srgbClr val="1C1C1C"/>
                </a:solidFill>
                <a:latin typeface="Avenir Next"/>
                <a:ea typeface="Avenir Next"/>
                <a:cs typeface="Avenir Next"/>
              </a:rPr>
              <a:t>Which work deserves a skill?</a:t>
            </a:r>
          </a:p>
        </p:txBody>
      </p:sp>
      <p:sp>
        <p:nvSpPr>
          <p:cNvPr id="2" name="text-1133">
            <a:extLst xmlns:a="http://schemas.openxmlformats.org/drawingml/2006/main">
              <a:ext uri="{FF2B5EF4-FFF2-40B4-BE49-F238E27FC236}">
                <a16:creationId xmlns:a16="http://schemas.microsoft.com/office/drawing/2014/main" id="{1A7FFE02-42FB-4561-AC51-C034A109A83C}"/>
              </a:ext>
            </a:extLst>
          </p:cNvPr>
          <p:cNvSpPr>
            <a:spLocks xmlns:a="http://schemas.openxmlformats.org/drawingml/2006/main" noGrp="1"/>
          </p:cNvSpPr>
          <p:nvPr/>
        </p:nvSpPr>
        <p:spPr>
          <a:xfrm xmlns:a="http://schemas.openxmlformats.org/drawingml/2006/main">
            <a:off x="609600" y="2714625"/>
            <a:ext cx="1076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Northstar today. Cedar tomorrow.</a:t>
            </a:r>
          </a:p>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The same brief structure.</a:t>
            </a:r>
          </a:p>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A different client and meeting.</a:t>
            </a:r>
          </a:p>
        </p:txBody>
      </p:sp>
      <p:sp>
        <p:nvSpPr>
          <p:cNvPr id="3" name="text-1134">
            <a:extLst xmlns:a="http://schemas.openxmlformats.org/drawingml/2006/main">
              <a:ext uri="{FF2B5EF4-FFF2-40B4-BE49-F238E27FC236}">
                <a16:creationId xmlns:a16="http://schemas.microsoft.com/office/drawing/2014/main" id="{34BDD413-0A8C-4634-AC1B-0F94AB69075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121</a:t>
            </a:r>
          </a:p>
        </p:txBody>
      </p:sp>
    </p:spTree>
    <p:extLst>
      <p:ext uri="{BB962C8B-B14F-4D97-AF65-F5344CB8AC3E}">
        <p14:creationId xmlns:p14="http://schemas.microsoft.com/office/powerpoint/2010/main" val="1541821635"/>
      </p:ext>
    </p:extLst>
  </p:cSld>
</p:sld>
</file>

<file path=ppt/slides/slide12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135">
            <a:extLst xmlns:a="http://schemas.openxmlformats.org/drawingml/2006/main">
              <a:ext uri="{FF2B5EF4-FFF2-40B4-BE49-F238E27FC236}">
                <a16:creationId xmlns:a16="http://schemas.microsoft.com/office/drawing/2014/main" id="{00B609CC-6A97-41D5-B3AE-7B2C4FFD7BBF}"/>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app and the skill</a:t>
            </a:r>
          </a:p>
        </p:txBody>
      </p:sp>
      <p:sp>
        <p:nvSpPr>
          <p:cNvPr id="2" name="panel-1136">
            <a:extLst xmlns:a="http://schemas.openxmlformats.org/drawingml/2006/main">
              <a:ext uri="{FF2B5EF4-FFF2-40B4-BE49-F238E27FC236}">
                <a16:creationId xmlns:a16="http://schemas.microsoft.com/office/drawing/2014/main" id="{B679DBB3-5E28-452D-94B7-8A574BCFF33A}"/>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137">
            <a:extLst xmlns:a="http://schemas.openxmlformats.org/drawingml/2006/main">
              <a:ext uri="{FF2B5EF4-FFF2-40B4-BE49-F238E27FC236}">
                <a16:creationId xmlns:a16="http://schemas.microsoft.com/office/drawing/2014/main" id="{2BB0A815-CEAF-4B3D-AD15-4D2C86158799}"/>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138">
            <a:extLst xmlns:a="http://schemas.openxmlformats.org/drawingml/2006/main">
              <a:ext uri="{FF2B5EF4-FFF2-40B4-BE49-F238E27FC236}">
                <a16:creationId xmlns:a16="http://schemas.microsoft.com/office/drawing/2014/main" id="{1F009FAB-03C9-4FCF-9D3B-F14779D7A773}"/>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ClientDesk</a:t>
            </a:r>
          </a:p>
        </p:txBody>
      </p:sp>
      <p:sp>
        <p:nvSpPr>
          <p:cNvPr id="5" name="text-1139">
            <a:extLst xmlns:a="http://schemas.openxmlformats.org/drawingml/2006/main">
              <a:ext uri="{FF2B5EF4-FFF2-40B4-BE49-F238E27FC236}">
                <a16:creationId xmlns:a16="http://schemas.microsoft.com/office/drawing/2014/main" id="{127AD0BA-A1E0-4182-8AEE-1415602C2570}"/>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Stores records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Shows the client journey</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Enforces save behavior</a:t>
            </a:r>
          </a:p>
        </p:txBody>
      </p:sp>
      <p:sp>
        <p:nvSpPr>
          <p:cNvPr id="6" name="text-1140">
            <a:extLst xmlns:a="http://schemas.openxmlformats.org/drawingml/2006/main">
              <a:ext uri="{FF2B5EF4-FFF2-40B4-BE49-F238E27FC236}">
                <a16:creationId xmlns:a16="http://schemas.microsoft.com/office/drawing/2014/main" id="{3408EF01-DF65-4C8F-A4F7-9EE416410743}"/>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/client-brief</a:t>
            </a:r>
          </a:p>
        </p:txBody>
      </p:sp>
      <p:sp>
        <p:nvSpPr>
          <p:cNvPr id="7" name="text-1141">
            <a:extLst xmlns:a="http://schemas.openxmlformats.org/drawingml/2006/main">
              <a:ext uri="{FF2B5EF4-FFF2-40B4-BE49-F238E27FC236}">
                <a16:creationId xmlns:a16="http://schemas.microsoft.com/office/drawing/2014/main" id="{F109262A-A306-4F39-A609-35B60BE740D8}"/>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Finds the relevant evidence</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Produces a consistent brief</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Proposes the next action</a:t>
            </a:r>
          </a:p>
        </p:txBody>
      </p:sp>
      <p:sp>
        <p:nvSpPr>
          <p:cNvPr id="8" name="text-1142">
            <a:extLst xmlns:a="http://schemas.openxmlformats.org/drawingml/2006/main">
              <a:ext uri="{FF2B5EF4-FFF2-40B4-BE49-F238E27FC236}">
                <a16:creationId xmlns:a16="http://schemas.microsoft.com/office/drawing/2014/main" id="{61DCA8D8-660E-4CC0-AD9B-1C0979C8DBA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122</a:t>
            </a:r>
          </a:p>
        </p:txBody>
      </p:sp>
    </p:spTree>
    <p:extLst>
      <p:ext uri="{BB962C8B-B14F-4D97-AF65-F5344CB8AC3E}">
        <p14:creationId xmlns:p14="http://schemas.microsoft.com/office/powerpoint/2010/main" val="2038158689"/>
      </p:ext>
    </p:extLst>
  </p:cSld>
</p:sld>
</file>

<file path=ppt/slides/slide12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143">
            <a:extLst xmlns:a="http://schemas.openxmlformats.org/drawingml/2006/main">
              <a:ext uri="{FF2B5EF4-FFF2-40B4-BE49-F238E27FC236}">
                <a16:creationId xmlns:a16="http://schemas.microsoft.com/office/drawing/2014/main" id="{FB82963F-41B5-4FC8-94B9-2A2E195F5E6D}"/>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skill creation prompt</a:t>
            </a:r>
          </a:p>
        </p:txBody>
      </p:sp>
      <p:sp>
        <p:nvSpPr>
          <p:cNvPr id="2" name="panel-1144">
            <a:extLst xmlns:a="http://schemas.openxmlformats.org/drawingml/2006/main">
              <a:ext uri="{FF2B5EF4-FFF2-40B4-BE49-F238E27FC236}">
                <a16:creationId xmlns:a16="http://schemas.microsoft.com/office/drawing/2014/main" id="{38AD26D2-DFC5-4326-8EF5-93267A37E842}"/>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145">
            <a:extLst xmlns:a="http://schemas.openxmlformats.org/drawingml/2006/main">
              <a:ext uri="{FF2B5EF4-FFF2-40B4-BE49-F238E27FC236}">
                <a16:creationId xmlns:a16="http://schemas.microsoft.com/office/drawing/2014/main" id="{C8329052-9AE7-4FEE-8813-4B41C5B495CE}"/>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146">
            <a:extLst xmlns:a="http://schemas.openxmlformats.org/drawingml/2006/main">
              <a:ext uri="{FF2B5EF4-FFF2-40B4-BE49-F238E27FC236}">
                <a16:creationId xmlns:a16="http://schemas.microsoft.com/office/drawing/2014/main" id="{BEB5DA12-2B55-4994-8F36-2E6FF71E48FA}"/>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147">
            <a:extLst xmlns:a="http://schemas.openxmlformats.org/drawingml/2006/main">
              <a:ext uri="{FF2B5EF4-FFF2-40B4-BE49-F238E27FC236}">
                <a16:creationId xmlns:a16="http://schemas.microsoft.com/office/drawing/2014/main" id="{0ED12438-1745-4D9C-863E-0B8F2EC6145A}"/>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148">
            <a:extLst xmlns:a="http://schemas.openxmlformats.org/drawingml/2006/main">
              <a:ext uri="{FF2B5EF4-FFF2-40B4-BE49-F238E27FC236}">
                <a16:creationId xmlns:a16="http://schemas.microsoft.com/office/drawing/2014/main" id="{CC06E4AF-73E7-41A5-8B7C-5AFD79C83191}"/>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Turn our client-brief method into a project skill named client-brief. It should accept a client ID and brief date, read evidence, separate facts from proposals, and create a consistent brief. Include a template, an example, and meaningful failure cases. Do not save tasks or send messages.</a:t>
            </a:r>
          </a:p>
        </p:txBody>
      </p:sp>
      <p:sp>
        <p:nvSpPr>
          <p:cNvPr id="7" name="text-1149">
            <a:extLst xmlns:a="http://schemas.openxmlformats.org/drawingml/2006/main">
              <a:ext uri="{FF2B5EF4-FFF2-40B4-BE49-F238E27FC236}">
                <a16:creationId xmlns:a16="http://schemas.microsoft.com/office/drawing/2014/main" id="{69832B6A-7D91-4055-86AF-07188224D106}"/>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Repeatability:</a:t>
            </a:r>
            <a:r>
              <a:rPr sz="1875" b="0" i="0">
                <a:solidFill>
                  <a:srgbClr val="1C1C1C"/>
                </a:solidFill>
                <a:latin typeface="Helvetica Neue"/>
                <a:ea typeface="Helvetica Neue"/>
                <a:cs typeface="Helvetica Neue"/>
              </a:rPr>
              <a:t> packages the method we already tested.</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Inputs:</a:t>
            </a:r>
            <a:r>
              <a:rPr sz="1875" b="0" i="0">
                <a:solidFill>
                  <a:srgbClr val="1C1C1C"/>
                </a:solidFill>
                <a:latin typeface="Helvetica Neue"/>
                <a:ea typeface="Helvetica Neue"/>
                <a:cs typeface="Helvetica Neue"/>
              </a:rPr>
              <a:t> makes client and date explicit.</a:t>
            </a:r>
          </a:p>
        </p:txBody>
      </p:sp>
      <p:sp>
        <p:nvSpPr>
          <p:cNvPr id="8" name="panel-1150">
            <a:extLst xmlns:a="http://schemas.openxmlformats.org/drawingml/2006/main">
              <a:ext uri="{FF2B5EF4-FFF2-40B4-BE49-F238E27FC236}">
                <a16:creationId xmlns:a16="http://schemas.microsoft.com/office/drawing/2014/main" id="{A33A586A-9D88-4867-ADBE-D6E0C65CB904}"/>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151">
            <a:extLst xmlns:a="http://schemas.openxmlformats.org/drawingml/2006/main">
              <a:ext uri="{FF2B5EF4-FFF2-40B4-BE49-F238E27FC236}">
                <a16:creationId xmlns:a16="http://schemas.microsoft.com/office/drawing/2014/main" id="{220E67C0-E2EA-4E0A-9942-A0197C092E6C}"/>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skill folder contains an entry point and the promised supporting files.</a:t>
            </a:r>
          </a:p>
        </p:txBody>
      </p:sp>
      <p:sp>
        <p:nvSpPr>
          <p:cNvPr id="10" name="text-1152">
            <a:extLst xmlns:a="http://schemas.openxmlformats.org/drawingml/2006/main">
              <a:ext uri="{FF2B5EF4-FFF2-40B4-BE49-F238E27FC236}">
                <a16:creationId xmlns:a16="http://schemas.microsoft.com/office/drawing/2014/main" id="{7E51765D-CBD6-4C5A-944E-C69EC8F929A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123</a:t>
            </a:r>
          </a:p>
        </p:txBody>
      </p:sp>
    </p:spTree>
    <p:extLst>
      <p:ext uri="{BB962C8B-B14F-4D97-AF65-F5344CB8AC3E}">
        <p14:creationId xmlns:p14="http://schemas.microsoft.com/office/powerpoint/2010/main" val="130652490"/>
      </p:ext>
    </p:extLst>
  </p:cSld>
</p:sld>
</file>

<file path=ppt/slides/slide12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4" name="text-1153">
            <a:extLst xmlns:a="http://schemas.openxmlformats.org/drawingml/2006/main">
              <a:ext uri="{FF2B5EF4-FFF2-40B4-BE49-F238E27FC236}">
                <a16:creationId xmlns:a16="http://schemas.microsoft.com/office/drawing/2014/main" id="{24696B77-1FF1-4FFF-974A-96A626BCC05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Name and argument hints</a:t>
            </a:r>
          </a:p>
        </p:txBody>
      </p:sp>
      <p:sp>
        <p:nvSpPr>
          <p:cNvPr id="2" name="panel-1154">
            <a:extLst xmlns:a="http://schemas.openxmlformats.org/drawingml/2006/main">
              <a:ext uri="{FF2B5EF4-FFF2-40B4-BE49-F238E27FC236}">
                <a16:creationId xmlns:a16="http://schemas.microsoft.com/office/drawing/2014/main" id="{015CF4B6-E004-43FA-BE40-C49FD6E22A64}"/>
              </a:ext>
            </a:extLst>
          </p:cNvPr>
          <p:cNvSpPr>
            <a:spLocks xmlns:a="http://schemas.openxmlformats.org/drawingml/2006/main" noGrp="1"/>
          </p:cNvSpPr>
          <p:nvPr/>
        </p:nvSpPr>
        <p:spPr>
          <a:xfrm xmlns:a="http://schemas.openxmlformats.org/drawingml/2006/main">
            <a:off x="609600" y="1828800"/>
            <a:ext cx="7000875" cy="2575560"/>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1155">
            <a:extLst xmlns:a="http://schemas.openxmlformats.org/drawingml/2006/main">
              <a:ext uri="{FF2B5EF4-FFF2-40B4-BE49-F238E27FC236}">
                <a16:creationId xmlns:a16="http://schemas.microsoft.com/office/drawing/2014/main" id="{DCE372B6-42B4-4882-8F40-6565A382DC2E}"/>
              </a:ext>
            </a:extLst>
          </p:cNvPr>
          <p:cNvSpPr>
            <a:spLocks xmlns:a="http://schemas.openxmlformats.org/drawingml/2006/main" noGrp="1"/>
          </p:cNvSpPr>
          <p:nvPr/>
        </p:nvSpPr>
        <p:spPr>
          <a:xfrm xmlns:a="http://schemas.openxmlformats.org/drawingml/2006/main">
            <a:off x="847725" y="2076450"/>
            <a:ext cx="6543675" cy="2270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name: client-brief</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description: &gt;</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Prepare a sourced client brief.</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argument-hint: "[client-id] [YYYY-MM-DD]"</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disable-model-invocation: true</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a:t>
            </a:r>
          </a:p>
        </p:txBody>
      </p:sp>
      <p:sp>
        <p:nvSpPr>
          <p:cNvPr id="4" name="text-1156">
            <a:extLst xmlns:a="http://schemas.openxmlformats.org/drawingml/2006/main">
              <a:ext uri="{FF2B5EF4-FFF2-40B4-BE49-F238E27FC236}">
                <a16:creationId xmlns:a16="http://schemas.microsoft.com/office/drawing/2014/main" id="{8F4A660F-2059-4998-9B4A-8D7B8900CF59}"/>
              </a:ext>
            </a:extLst>
          </p:cNvPr>
          <p:cNvSpPr>
            <a:spLocks xmlns:a="http://schemas.openxmlformats.org/drawingml/2006/main" noGrp="1"/>
          </p:cNvSpPr>
          <p:nvPr/>
        </p:nvSpPr>
        <p:spPr>
          <a:xfrm xmlns:a="http://schemas.openxmlformats.org/drawingml/2006/main">
            <a:off x="7991475" y="19431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name</a:t>
            </a:r>
          </a:p>
        </p:txBody>
      </p:sp>
      <p:sp>
        <p:nvSpPr>
          <p:cNvPr id="5" name="text-1157">
            <a:extLst xmlns:a="http://schemas.openxmlformats.org/drawingml/2006/main">
              <a:ext uri="{FF2B5EF4-FFF2-40B4-BE49-F238E27FC236}">
                <a16:creationId xmlns:a16="http://schemas.microsoft.com/office/drawing/2014/main" id="{3AE23BD3-47A8-4A35-BED9-CA7284DD6D07}"/>
              </a:ext>
            </a:extLst>
          </p:cNvPr>
          <p:cNvSpPr>
            <a:spLocks xmlns:a="http://schemas.openxmlformats.org/drawingml/2006/main" noGrp="1"/>
          </p:cNvSpPr>
          <p:nvPr/>
        </p:nvSpPr>
        <p:spPr>
          <a:xfrm xmlns:a="http://schemas.openxmlformats.org/drawingml/2006/main">
            <a:off x="7991475" y="23241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1" i="0">
                <a:solidFill>
                  <a:srgbClr val="686868"/>
                </a:solidFill>
                <a:latin typeface="Helvetica Neue"/>
                <a:ea typeface="Helvetica Neue"/>
                <a:cs typeface="Helvetica Neue"/>
              </a:rPr>
              <a:t>The command:</a:t>
            </a:r>
            <a:r>
              <a:rPr sz="1575" b="0" i="0">
                <a:solidFill>
                  <a:srgbClr val="686868"/>
                </a:solidFill>
                <a:latin typeface="Helvetica Neue"/>
                <a:ea typeface="Helvetica Neue"/>
                <a:cs typeface="Helvetica Neue"/>
              </a:rPr>
              <a:t> /client-brief</a:t>
            </a:r>
          </a:p>
        </p:txBody>
      </p:sp>
      <p:sp>
        <p:nvSpPr>
          <p:cNvPr id="6" name="text-1158">
            <a:extLst xmlns:a="http://schemas.openxmlformats.org/drawingml/2006/main">
              <a:ext uri="{FF2B5EF4-FFF2-40B4-BE49-F238E27FC236}">
                <a16:creationId xmlns:a16="http://schemas.microsoft.com/office/drawing/2014/main" id="{60D5E776-F84B-448B-B8B0-2048B5D18119}"/>
              </a:ext>
            </a:extLst>
          </p:cNvPr>
          <p:cNvSpPr>
            <a:spLocks xmlns:a="http://schemas.openxmlformats.org/drawingml/2006/main" noGrp="1"/>
          </p:cNvSpPr>
          <p:nvPr/>
        </p:nvSpPr>
        <p:spPr>
          <a:xfrm xmlns:a="http://schemas.openxmlformats.org/drawingml/2006/main">
            <a:off x="7991475" y="30099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description</a:t>
            </a:r>
          </a:p>
        </p:txBody>
      </p:sp>
      <p:sp>
        <p:nvSpPr>
          <p:cNvPr id="7" name="text-1159">
            <a:extLst xmlns:a="http://schemas.openxmlformats.org/drawingml/2006/main">
              <a:ext uri="{FF2B5EF4-FFF2-40B4-BE49-F238E27FC236}">
                <a16:creationId xmlns:a16="http://schemas.microsoft.com/office/drawing/2014/main" id="{179E3F55-86D0-42E0-A49F-19A991C20DB9}"/>
              </a:ext>
            </a:extLst>
          </p:cNvPr>
          <p:cNvSpPr>
            <a:spLocks xmlns:a="http://schemas.openxmlformats.org/drawingml/2006/main" noGrp="1"/>
          </p:cNvSpPr>
          <p:nvPr/>
        </p:nvSpPr>
        <p:spPr>
          <a:xfrm xmlns:a="http://schemas.openxmlformats.org/drawingml/2006/main">
            <a:off x="7991475" y="33909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When to use this method</a:t>
            </a:r>
          </a:p>
        </p:txBody>
      </p:sp>
      <p:sp>
        <p:nvSpPr>
          <p:cNvPr id="8" name="text-1160">
            <a:extLst xmlns:a="http://schemas.openxmlformats.org/drawingml/2006/main">
              <a:ext uri="{FF2B5EF4-FFF2-40B4-BE49-F238E27FC236}">
                <a16:creationId xmlns:a16="http://schemas.microsoft.com/office/drawing/2014/main" id="{02D6C13B-FF39-45C9-AD0E-B871FAFAEBDF}"/>
              </a:ext>
            </a:extLst>
          </p:cNvPr>
          <p:cNvSpPr>
            <a:spLocks xmlns:a="http://schemas.openxmlformats.org/drawingml/2006/main" noGrp="1"/>
          </p:cNvSpPr>
          <p:nvPr/>
        </p:nvSpPr>
        <p:spPr>
          <a:xfrm xmlns:a="http://schemas.openxmlformats.org/drawingml/2006/main">
            <a:off x="7991475" y="40767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argument-hint</a:t>
            </a:r>
          </a:p>
        </p:txBody>
      </p:sp>
      <p:sp>
        <p:nvSpPr>
          <p:cNvPr id="9" name="text-1161">
            <a:extLst xmlns:a="http://schemas.openxmlformats.org/drawingml/2006/main">
              <a:ext uri="{FF2B5EF4-FFF2-40B4-BE49-F238E27FC236}">
                <a16:creationId xmlns:a16="http://schemas.microsoft.com/office/drawing/2014/main" id="{4339C8FE-91B6-4200-A9C8-CA222C489DF3}"/>
              </a:ext>
            </a:extLst>
          </p:cNvPr>
          <p:cNvSpPr>
            <a:spLocks xmlns:a="http://schemas.openxmlformats.org/drawingml/2006/main" noGrp="1"/>
          </p:cNvSpPr>
          <p:nvPr/>
        </p:nvSpPr>
        <p:spPr>
          <a:xfrm xmlns:a="http://schemas.openxmlformats.org/drawingml/2006/main">
            <a:off x="7991475" y="44577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Shows the expected arguments</a:t>
            </a:r>
          </a:p>
        </p:txBody>
      </p:sp>
      <p:sp>
        <p:nvSpPr>
          <p:cNvPr id="10" name="text-1162">
            <a:extLst xmlns:a="http://schemas.openxmlformats.org/drawingml/2006/main">
              <a:ext uri="{FF2B5EF4-FFF2-40B4-BE49-F238E27FC236}">
                <a16:creationId xmlns:a16="http://schemas.microsoft.com/office/drawing/2014/main" id="{B5E278D3-4271-43E7-948A-AFB386BE0B12}"/>
              </a:ext>
            </a:extLst>
          </p:cNvPr>
          <p:cNvSpPr>
            <a:spLocks xmlns:a="http://schemas.openxmlformats.org/drawingml/2006/main" noGrp="1"/>
          </p:cNvSpPr>
          <p:nvPr/>
        </p:nvSpPr>
        <p:spPr>
          <a:xfrm xmlns:a="http://schemas.openxmlformats.org/drawingml/2006/main">
            <a:off x="7991475" y="51435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disable-model-invocation</a:t>
            </a:r>
          </a:p>
        </p:txBody>
      </p:sp>
      <p:sp>
        <p:nvSpPr>
          <p:cNvPr id="11" name="text-1163">
            <a:extLst xmlns:a="http://schemas.openxmlformats.org/drawingml/2006/main">
              <a:ext uri="{FF2B5EF4-FFF2-40B4-BE49-F238E27FC236}">
                <a16:creationId xmlns:a16="http://schemas.microsoft.com/office/drawing/2014/main" id="{35C34ED1-12F7-4C09-A6E5-344C1DF29271}"/>
              </a:ext>
            </a:extLst>
          </p:cNvPr>
          <p:cNvSpPr>
            <a:spLocks xmlns:a="http://schemas.openxmlformats.org/drawingml/2006/main" noGrp="1"/>
          </p:cNvSpPr>
          <p:nvPr/>
        </p:nvSpPr>
        <p:spPr>
          <a:xfrm xmlns:a="http://schemas.openxmlformats.org/drawingml/2006/main">
            <a:off x="7991475" y="55245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true keeps invocation manual</a:t>
            </a:r>
          </a:p>
        </p:txBody>
      </p:sp>
      <p:sp>
        <p:nvSpPr>
          <p:cNvPr id="12" name="text-1164">
            <a:extLst xmlns:a="http://schemas.openxmlformats.org/drawingml/2006/main">
              <a:ext uri="{FF2B5EF4-FFF2-40B4-BE49-F238E27FC236}">
                <a16:creationId xmlns:a16="http://schemas.microsoft.com/office/drawing/2014/main" id="{8C4FC342-841B-46D0-B52E-8879D088D9EC}"/>
              </a:ext>
            </a:extLst>
          </p:cNvPr>
          <p:cNvSpPr>
            <a:spLocks xmlns:a="http://schemas.openxmlformats.org/drawingml/2006/main" noGrp="1"/>
          </p:cNvSpPr>
          <p:nvPr/>
        </p:nvSpPr>
        <p:spPr>
          <a:xfrm xmlns:a="http://schemas.openxmlformats.org/drawingml/2006/main">
            <a:off x="609600" y="6105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686868"/>
                </a:solidFill>
                <a:latin typeface="Helvetica Neue"/>
                <a:ea typeface="Helvetica Neue"/>
                <a:cs typeface="Helvetica Neue"/>
              </a:defRPr>
            </a:pPr>
            <a:r>
              <a:rPr sz="1500" b="0" i="0">
                <a:solidFill>
                  <a:srgbClr val="686868"/>
                </a:solidFill>
                <a:latin typeface="Helvetica Neue"/>
                <a:ea typeface="Helvetica Neue"/>
                <a:cs typeface="Helvetica Neue"/>
              </a:rPr>
              <a:t>The skill folder is client-brief; invoke /client-brief.</a:t>
            </a:r>
          </a:p>
        </p:txBody>
      </p:sp>
      <p:sp>
        <p:nvSpPr>
          <p:cNvPr id="13" name="text-1165">
            <a:extLst xmlns:a="http://schemas.openxmlformats.org/drawingml/2006/main">
              <a:ext uri="{FF2B5EF4-FFF2-40B4-BE49-F238E27FC236}">
                <a16:creationId xmlns:a16="http://schemas.microsoft.com/office/drawing/2014/main" id="{EA2E95A8-9308-4251-9B0F-FA03F04FF20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124</a:t>
            </a:r>
          </a:p>
        </p:txBody>
      </p:sp>
    </p:spTree>
    <p:extLst>
      <p:ext uri="{BB962C8B-B14F-4D97-AF65-F5344CB8AC3E}">
        <p14:creationId xmlns:p14="http://schemas.microsoft.com/office/powerpoint/2010/main" val="2102493702"/>
      </p:ext>
    </p:extLst>
  </p:cSld>
</p:sld>
</file>

<file path=ppt/slides/slide12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0" name="text-1166">
            <a:extLst xmlns:a="http://schemas.openxmlformats.org/drawingml/2006/main">
              <a:ext uri="{FF2B5EF4-FFF2-40B4-BE49-F238E27FC236}">
                <a16:creationId xmlns:a16="http://schemas.microsoft.com/office/drawing/2014/main" id="{A2C318B0-858D-4DC2-9B6D-1B560BA0242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Why the name and hints matter</a:t>
            </a:r>
          </a:p>
        </p:txBody>
      </p:sp>
      <p:sp>
        <p:nvSpPr>
          <p:cNvPr id="2" name="panel-1167">
            <a:extLst xmlns:a="http://schemas.openxmlformats.org/drawingml/2006/main">
              <a:ext uri="{FF2B5EF4-FFF2-40B4-BE49-F238E27FC236}">
                <a16:creationId xmlns:a16="http://schemas.microsoft.com/office/drawing/2014/main" id="{695A41A1-B360-4BDE-A88C-1888D78B11EB}"/>
              </a:ext>
            </a:extLst>
          </p:cNvPr>
          <p:cNvSpPr>
            <a:spLocks xmlns:a="http://schemas.openxmlformats.org/drawingml/2006/main" noGrp="1"/>
          </p:cNvSpPr>
          <p:nvPr/>
        </p:nvSpPr>
        <p:spPr>
          <a:xfrm xmlns:a="http://schemas.openxmlformats.org/drawingml/2006/main">
            <a:off x="609600" y="1828800"/>
            <a:ext cx="49149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1168">
            <a:extLst xmlns:a="http://schemas.openxmlformats.org/drawingml/2006/main">
              <a:ext uri="{FF2B5EF4-FFF2-40B4-BE49-F238E27FC236}">
                <a16:creationId xmlns:a16="http://schemas.microsoft.com/office/drawing/2014/main" id="{538F937D-5466-49D1-ACAE-6EF6C018483C}"/>
              </a:ext>
            </a:extLst>
          </p:cNvPr>
          <p:cNvSpPr>
            <a:spLocks xmlns:a="http://schemas.openxmlformats.org/drawingml/2006/main" noGrp="1"/>
          </p:cNvSpPr>
          <p:nvPr/>
        </p:nvSpPr>
        <p:spPr>
          <a:xfrm xmlns:a="http://schemas.openxmlformats.org/drawingml/2006/main">
            <a:off x="609600" y="2009775"/>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The request</a:t>
            </a:r>
          </a:p>
        </p:txBody>
      </p:sp>
      <p:sp>
        <p:nvSpPr>
          <p:cNvPr id="4" name="text-1169">
            <a:extLst xmlns:a="http://schemas.openxmlformats.org/drawingml/2006/main">
              <a:ext uri="{FF2B5EF4-FFF2-40B4-BE49-F238E27FC236}">
                <a16:creationId xmlns:a16="http://schemas.microsoft.com/office/drawing/2014/main" id="{76000CF4-00CC-4800-8EE9-D5F2C000FCAB}"/>
              </a:ext>
            </a:extLst>
          </p:cNvPr>
          <p:cNvSpPr>
            <a:spLocks xmlns:a="http://schemas.openxmlformats.org/drawingml/2006/main" noGrp="1"/>
          </p:cNvSpPr>
          <p:nvPr/>
        </p:nvSpPr>
        <p:spPr>
          <a:xfrm xmlns:a="http://schemas.openxmlformats.org/drawingml/2006/main">
            <a:off x="609600" y="2600325"/>
            <a:ext cx="4914900" cy="2981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Review the skill metadata as if you were a new teammate. Explain how to discover it, what arguments it expects, and whether it runs only when requested. Suggest clearer wording if any field makes you guess.</a:t>
            </a:r>
          </a:p>
        </p:txBody>
      </p:sp>
      <p:sp>
        <p:nvSpPr>
          <p:cNvPr id="5" name="panel-1170">
            <a:extLst xmlns:a="http://schemas.openxmlformats.org/drawingml/2006/main">
              <a:ext uri="{FF2B5EF4-FFF2-40B4-BE49-F238E27FC236}">
                <a16:creationId xmlns:a16="http://schemas.microsoft.com/office/drawing/2014/main" id="{F59D9118-8B02-4B82-B2EB-0BD41B40C2D5}"/>
              </a:ext>
            </a:extLst>
          </p:cNvPr>
          <p:cNvSpPr>
            <a:spLocks xmlns:a="http://schemas.openxmlformats.org/drawingml/2006/main" noGrp="1"/>
          </p:cNvSpPr>
          <p:nvPr/>
        </p:nvSpPr>
        <p:spPr>
          <a:xfrm xmlns:a="http://schemas.openxmlformats.org/drawingml/2006/main">
            <a:off x="5943600" y="1828800"/>
            <a:ext cx="5638800" cy="3895725"/>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6" name="text-1171">
            <a:extLst xmlns:a="http://schemas.openxmlformats.org/drawingml/2006/main">
              <a:ext uri="{FF2B5EF4-FFF2-40B4-BE49-F238E27FC236}">
                <a16:creationId xmlns:a16="http://schemas.microsoft.com/office/drawing/2014/main" id="{84BF45AA-7DCD-4C0E-9DAD-DA69057A7872}"/>
              </a:ext>
            </a:extLst>
          </p:cNvPr>
          <p:cNvSpPr>
            <a:spLocks xmlns:a="http://schemas.openxmlformats.org/drawingml/2006/main" noGrp="1"/>
          </p:cNvSpPr>
          <p:nvPr/>
        </p:nvSpPr>
        <p:spPr>
          <a:xfrm xmlns:a="http://schemas.openxmlformats.org/drawingml/2006/main">
            <a:off x="6191250" y="2028825"/>
            <a:ext cx="5124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What the user sees</a:t>
            </a:r>
          </a:p>
        </p:txBody>
      </p:sp>
      <p:sp>
        <p:nvSpPr>
          <p:cNvPr id="7" name="text-1172">
            <a:extLst xmlns:a="http://schemas.openxmlformats.org/drawingml/2006/main">
              <a:ext uri="{FF2B5EF4-FFF2-40B4-BE49-F238E27FC236}">
                <a16:creationId xmlns:a16="http://schemas.microsoft.com/office/drawing/2014/main" id="{A0932E33-FAD6-4380-91AF-833895636D34}"/>
              </a:ext>
            </a:extLst>
          </p:cNvPr>
          <p:cNvSpPr>
            <a:spLocks xmlns:a="http://schemas.openxmlformats.org/drawingml/2006/main" noGrp="1"/>
          </p:cNvSpPr>
          <p:nvPr/>
        </p:nvSpPr>
        <p:spPr>
          <a:xfrm xmlns:a="http://schemas.openxmlformats.org/drawingml/2006/main">
            <a:off x="6191250" y="2705100"/>
            <a:ext cx="512445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/client-brief</a:t>
            </a:r>
          </a:p>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[client-id] [YYYY-MM-DD]</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Client:</a:t>
            </a:r>
            <a:r>
              <a:rPr sz="2025" b="0" i="0">
                <a:solidFill>
                  <a:srgbClr val="1C1C1C"/>
                </a:solidFill>
                <a:latin typeface="Helvetica Neue"/>
                <a:ea typeface="Helvetica Neue"/>
                <a:cs typeface="Helvetica Neue"/>
              </a:rPr>
              <a:t> northstar</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Date:</a:t>
            </a:r>
            <a:r>
              <a:rPr sz="2025" b="0" i="0">
                <a:solidFill>
                  <a:srgbClr val="1C1C1C"/>
                </a:solidFill>
                <a:latin typeface="Helvetica Neue"/>
                <a:ea typeface="Helvetica Neue"/>
                <a:cs typeface="Helvetica Neue"/>
              </a:rPr>
              <a:t> the prepared date in DEMO_CONTEXT.md</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Output:</a:t>
            </a:r>
            <a:r>
              <a:rPr sz="2025" b="0" i="0">
                <a:solidFill>
                  <a:srgbClr val="1C1C1C"/>
                </a:solidFill>
                <a:latin typeface="Helvetica Neue"/>
                <a:ea typeface="Helvetica Neue"/>
                <a:cs typeface="Helvetica Neue"/>
              </a:rPr>
              <a:t> a sourced preparation brief</a:t>
            </a:r>
          </a:p>
        </p:txBody>
      </p:sp>
      <p:sp>
        <p:nvSpPr>
          <p:cNvPr id="8" name="text-1173">
            <a:extLst xmlns:a="http://schemas.openxmlformats.org/drawingml/2006/main">
              <a:ext uri="{FF2B5EF4-FFF2-40B4-BE49-F238E27FC236}">
                <a16:creationId xmlns:a16="http://schemas.microsoft.com/office/drawing/2014/main" id="{9CC59A0C-DF50-4D19-B894-0668968E4725}"/>
              </a:ext>
            </a:extLst>
          </p:cNvPr>
          <p:cNvSpPr>
            <a:spLocks xmlns:a="http://schemas.openxmlformats.org/drawingml/2006/main" noGrp="1"/>
          </p:cNvSpPr>
          <p:nvPr/>
        </p:nvSpPr>
        <p:spPr>
          <a:xfrm xmlns:a="http://schemas.openxmlformats.org/drawingml/2006/main">
            <a:off x="609600" y="592455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0" i="0">
                <a:solidFill>
                  <a:srgbClr val="1C1C1C"/>
                </a:solidFill>
                <a:latin typeface="Helvetica Neue"/>
                <a:ea typeface="Helvetica Neue"/>
                <a:cs typeface="Helvetica Neue"/>
              </a:rPr>
              <a:t>The hint helps entry. The instructions still validate the values.</a:t>
            </a:r>
          </a:p>
        </p:txBody>
      </p:sp>
      <p:sp>
        <p:nvSpPr>
          <p:cNvPr id="9" name="text-1174">
            <a:extLst xmlns:a="http://schemas.openxmlformats.org/drawingml/2006/main">
              <a:ext uri="{FF2B5EF4-FFF2-40B4-BE49-F238E27FC236}">
                <a16:creationId xmlns:a16="http://schemas.microsoft.com/office/drawing/2014/main" id="{D7DF6A21-211E-45B7-BAFF-B01FE7A309A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125</a:t>
            </a:r>
          </a:p>
        </p:txBody>
      </p:sp>
    </p:spTree>
    <p:extLst>
      <p:ext uri="{BB962C8B-B14F-4D97-AF65-F5344CB8AC3E}">
        <p14:creationId xmlns:p14="http://schemas.microsoft.com/office/powerpoint/2010/main" val="1963313438"/>
      </p:ext>
    </p:extLst>
  </p:cSld>
</p:sld>
</file>

<file path=ppt/slides/slide12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175">
            <a:extLst xmlns:a="http://schemas.openxmlformats.org/drawingml/2006/main">
              <a:ext uri="{FF2B5EF4-FFF2-40B4-BE49-F238E27FC236}">
                <a16:creationId xmlns:a16="http://schemas.microsoft.com/office/drawing/2014/main" id="{8DC6F093-1C38-4372-9087-9DAAA14295BF}"/>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hint does not validate an input</a:t>
            </a:r>
          </a:p>
        </p:txBody>
      </p:sp>
      <p:sp>
        <p:nvSpPr>
          <p:cNvPr id="2" name="panel-1176">
            <a:extLst xmlns:a="http://schemas.openxmlformats.org/drawingml/2006/main">
              <a:ext uri="{FF2B5EF4-FFF2-40B4-BE49-F238E27FC236}">
                <a16:creationId xmlns:a16="http://schemas.microsoft.com/office/drawing/2014/main" id="{AA34BA4C-7BA9-4723-AD6B-F0644FA7DF53}"/>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177">
            <a:extLst xmlns:a="http://schemas.openxmlformats.org/drawingml/2006/main">
              <a:ext uri="{FF2B5EF4-FFF2-40B4-BE49-F238E27FC236}">
                <a16:creationId xmlns:a16="http://schemas.microsoft.com/office/drawing/2014/main" id="{0AC7E2E1-CD94-4700-8246-5475B8740333}"/>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178">
            <a:extLst xmlns:a="http://schemas.openxmlformats.org/drawingml/2006/main">
              <a:ext uri="{FF2B5EF4-FFF2-40B4-BE49-F238E27FC236}">
                <a16:creationId xmlns:a16="http://schemas.microsoft.com/office/drawing/2014/main" id="{6DDB97E5-B5A1-4C64-9DA6-392DD27F6F33}"/>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Valid input</a:t>
            </a:r>
          </a:p>
        </p:txBody>
      </p:sp>
      <p:sp>
        <p:nvSpPr>
          <p:cNvPr id="5" name="text-1179">
            <a:extLst xmlns:a="http://schemas.openxmlformats.org/drawingml/2006/main">
              <a:ext uri="{FF2B5EF4-FFF2-40B4-BE49-F238E27FC236}">
                <a16:creationId xmlns:a16="http://schemas.microsoft.com/office/drawing/2014/main" id="{F30DC11A-C4E3-4548-8BB3-2757326D58A0}"/>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 known client ID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The prepared demo date</a:t>
            </a:r>
          </a:p>
          <a:p xmlns:a="http://schemas.openxmlformats.org/drawingml/2006/main">
            <a:r>
              <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Use year-month-day format.</a:t>
            </a:r>
          </a:p>
        </p:txBody>
      </p:sp>
      <p:sp>
        <p:nvSpPr>
          <p:cNvPr id="6" name="text-1180">
            <a:extLst xmlns:a="http://schemas.openxmlformats.org/drawingml/2006/main">
              <a:ext uri="{FF2B5EF4-FFF2-40B4-BE49-F238E27FC236}">
                <a16:creationId xmlns:a16="http://schemas.microsoft.com/office/drawing/2014/main" id="{87741840-BCDE-4AD1-B40C-67F60E746C6D}"/>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Invalid input</a:t>
            </a:r>
          </a:p>
        </p:txBody>
      </p:sp>
      <p:sp>
        <p:nvSpPr>
          <p:cNvPr id="7" name="text-1181">
            <a:extLst xmlns:a="http://schemas.openxmlformats.org/drawingml/2006/main">
              <a:ext uri="{FF2B5EF4-FFF2-40B4-BE49-F238E27FC236}">
                <a16:creationId xmlns:a16="http://schemas.microsoft.com/office/drawing/2014/main" id="{C609F6E8-2629-4DBF-944E-3006CD1A9ACC}"/>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An unknown client ID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An impossible date, such as February 30</a:t>
            </a:r>
          </a:p>
          <a:p xmlns:a="http://schemas.openxmlformats.org/drawingml/2006/main">
            <a:r>
              <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Ask for a corrected value.</a:t>
            </a:r>
          </a:p>
        </p:txBody>
      </p:sp>
      <p:sp>
        <p:nvSpPr>
          <p:cNvPr id="8" name="text-1182">
            <a:extLst xmlns:a="http://schemas.openxmlformats.org/drawingml/2006/main">
              <a:ext uri="{FF2B5EF4-FFF2-40B4-BE49-F238E27FC236}">
                <a16:creationId xmlns:a16="http://schemas.microsoft.com/office/drawing/2014/main" id="{41D6BE63-07FF-493B-84BC-6E7DAAD14DB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126</a:t>
            </a:r>
          </a:p>
        </p:txBody>
      </p:sp>
    </p:spTree>
    <p:extLst>
      <p:ext uri="{BB962C8B-B14F-4D97-AF65-F5344CB8AC3E}">
        <p14:creationId xmlns:p14="http://schemas.microsoft.com/office/powerpoint/2010/main" val="1177215900"/>
      </p:ext>
    </p:extLst>
  </p:cSld>
</p:sld>
</file>

<file path=ppt/slides/slide12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7" name="text-1183">
            <a:extLst xmlns:a="http://schemas.openxmlformats.org/drawingml/2006/main">
              <a:ext uri="{FF2B5EF4-FFF2-40B4-BE49-F238E27FC236}">
                <a16:creationId xmlns:a16="http://schemas.microsoft.com/office/drawing/2014/main" id="{9758AF5B-9442-41CE-A54F-6B6E296FF4A2}"/>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skill’s working instructions</a:t>
            </a:r>
          </a:p>
        </p:txBody>
      </p:sp>
      <p:sp>
        <p:nvSpPr>
          <p:cNvPr id="2" name="panel-1184">
            <a:extLst xmlns:a="http://schemas.openxmlformats.org/drawingml/2006/main">
              <a:ext uri="{FF2B5EF4-FFF2-40B4-BE49-F238E27FC236}">
                <a16:creationId xmlns:a16="http://schemas.microsoft.com/office/drawing/2014/main" id="{A5D1B8EA-8BC4-404E-9960-94B4F74E9F48}"/>
              </a:ext>
            </a:extLst>
          </p:cNvPr>
          <p:cNvSpPr>
            <a:spLocks xmlns:a="http://schemas.openxmlformats.org/drawingml/2006/main" noGrp="1"/>
          </p:cNvSpPr>
          <p:nvPr/>
        </p:nvSpPr>
        <p:spPr>
          <a:xfrm xmlns:a="http://schemas.openxmlformats.org/drawingml/2006/main">
            <a:off x="609600" y="1981200"/>
            <a:ext cx="10972800" cy="2114550"/>
          </a:xfrm>
          <a:prstGeom xmlns:a="http://schemas.openxmlformats.org/drawingml/2006/main" prst="rect">
            <a:avLst/>
          </a:prstGeom>
          <a:solidFill xmlns:a="http://schemas.openxmlformats.org/drawingml/2006/main">
            <a:srgbClr val="EEEAE3"/>
          </a:solidFill>
          <a:ln xmlns:a="http://schemas.openxmlformats.org/drawingml/2006/main" w="0">
            <a:noFill/>
          </a:ln>
        </p:spPr>
      </p:sp>
      <p:sp>
        <p:nvSpPr>
          <p:cNvPr id="3" name="panel-1185">
            <a:extLst xmlns:a="http://schemas.openxmlformats.org/drawingml/2006/main">
              <a:ext uri="{FF2B5EF4-FFF2-40B4-BE49-F238E27FC236}">
                <a16:creationId xmlns:a16="http://schemas.microsoft.com/office/drawing/2014/main" id="{0B579B0B-6D15-483E-A6DB-1660082F563B}"/>
              </a:ext>
            </a:extLst>
          </p:cNvPr>
          <p:cNvSpPr>
            <a:spLocks xmlns:a="http://schemas.openxmlformats.org/drawingml/2006/main" noGrp="1"/>
          </p:cNvSpPr>
          <p:nvPr/>
        </p:nvSpPr>
        <p:spPr>
          <a:xfrm xmlns:a="http://schemas.openxmlformats.org/drawingml/2006/main">
            <a:off x="609600" y="1981200"/>
            <a:ext cx="38100" cy="2114550"/>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4" name="text-1186">
            <a:extLst xmlns:a="http://schemas.openxmlformats.org/drawingml/2006/main">
              <a:ext uri="{FF2B5EF4-FFF2-40B4-BE49-F238E27FC236}">
                <a16:creationId xmlns:a16="http://schemas.microsoft.com/office/drawing/2014/main" id="{EE577843-7CC1-4225-841A-2FB546F832DB}"/>
              </a:ext>
            </a:extLst>
          </p:cNvPr>
          <p:cNvSpPr>
            <a:spLocks xmlns:a="http://schemas.openxmlformats.org/drawingml/2006/main" noGrp="1"/>
          </p:cNvSpPr>
          <p:nvPr/>
        </p:nvSpPr>
        <p:spPr>
          <a:xfrm xmlns:a="http://schemas.openxmlformats.org/drawingml/2006/main">
            <a:off x="876300" y="2209800"/>
            <a:ext cx="1038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Validate the client and brief date. Read the client and available meeting evidence. Identify missing information. Write the brief using templates/brief.md. Cite each meeting fact. Label suggestions as proposed. Do not save a task or send a message.</a:t>
            </a:r>
          </a:p>
        </p:txBody>
      </p:sp>
      <p:sp>
        <p:nvSpPr>
          <p:cNvPr id="5" name="text-1187">
            <a:extLst xmlns:a="http://schemas.openxmlformats.org/drawingml/2006/main">
              <a:ext uri="{FF2B5EF4-FFF2-40B4-BE49-F238E27FC236}">
                <a16:creationId xmlns:a16="http://schemas.microsoft.com/office/drawing/2014/main" id="{1A5D7EB7-FF2E-4FA9-AE01-E1C86AE876D6}"/>
              </a:ext>
            </a:extLst>
          </p:cNvPr>
          <p:cNvSpPr>
            <a:spLocks xmlns:a="http://schemas.openxmlformats.org/drawingml/2006/main" noGrp="1"/>
          </p:cNvSpPr>
          <p:nvPr/>
        </p:nvSpPr>
        <p:spPr>
          <a:xfrm xmlns:a="http://schemas.openxmlformats.org/drawingml/2006/main">
            <a:off x="609600" y="5286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686868"/>
                </a:solidFill>
                <a:latin typeface="Helvetica Neue"/>
                <a:ea typeface="Helvetica Neue"/>
                <a:cs typeface="Helvetica Neue"/>
              </a:defRPr>
            </a:pPr>
            <a:r>
              <a:rPr sz="1875" b="1" i="0">
                <a:solidFill>
                  <a:srgbClr val="686868"/>
                </a:solidFill>
                <a:latin typeface="Helvetica Neue"/>
                <a:ea typeface="Helvetica Neue"/>
                <a:cs typeface="Helvetica Neue"/>
              </a:rPr>
              <a:t>File:</a:t>
            </a:r>
            <a:r>
              <a:rPr sz="1875" b="0" i="0">
                <a:solidFill>
                  <a:srgbClr val="686868"/>
                </a:solidFill>
                <a:latin typeface="Helvetica Neue"/>
                <a:ea typeface="Helvetica Neue"/>
                <a:cs typeface="Helvetica Neue"/>
              </a:rPr>
              <a:t> .claude/skills/client-brief/SKILL.md, below its metadata.</a:t>
            </a:r>
          </a:p>
        </p:txBody>
      </p:sp>
      <p:sp>
        <p:nvSpPr>
          <p:cNvPr id="6" name="text-1188">
            <a:extLst xmlns:a="http://schemas.openxmlformats.org/drawingml/2006/main">
              <a:ext uri="{FF2B5EF4-FFF2-40B4-BE49-F238E27FC236}">
                <a16:creationId xmlns:a16="http://schemas.microsoft.com/office/drawing/2014/main" id="{86886EE1-4748-4D1C-AB63-B77865FABBB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127</a:t>
            </a:r>
          </a:p>
        </p:txBody>
      </p:sp>
    </p:spTree>
    <p:extLst>
      <p:ext uri="{BB962C8B-B14F-4D97-AF65-F5344CB8AC3E}">
        <p14:creationId xmlns:p14="http://schemas.microsoft.com/office/powerpoint/2010/main" val="1804070320"/>
      </p:ext>
    </p:extLst>
  </p:cSld>
</p:sld>
</file>

<file path=ppt/slides/slide128.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189">
            <a:extLst xmlns:a="http://schemas.openxmlformats.org/drawingml/2006/main">
              <a:ext uri="{FF2B5EF4-FFF2-40B4-BE49-F238E27FC236}">
                <a16:creationId xmlns:a16="http://schemas.microsoft.com/office/drawing/2014/main" id="{10B643E7-EF1B-4E0A-8F7B-C60F73181337}"/>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Run the skill with the demo date</a:t>
            </a:r>
          </a:p>
        </p:txBody>
      </p:sp>
      <p:sp>
        <p:nvSpPr>
          <p:cNvPr id="2" name="panel-1190">
            <a:extLst xmlns:a="http://schemas.openxmlformats.org/drawingml/2006/main">
              <a:ext uri="{FF2B5EF4-FFF2-40B4-BE49-F238E27FC236}">
                <a16:creationId xmlns:a16="http://schemas.microsoft.com/office/drawing/2014/main" id="{D285973D-9A14-4676-87CF-C97D3D3DC98C}"/>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191">
            <a:extLst xmlns:a="http://schemas.openxmlformats.org/drawingml/2006/main">
              <a:ext uri="{FF2B5EF4-FFF2-40B4-BE49-F238E27FC236}">
                <a16:creationId xmlns:a16="http://schemas.microsoft.com/office/drawing/2014/main" id="{EEA6CE3C-D52D-4245-994A-137FDECD94CC}"/>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192">
            <a:extLst xmlns:a="http://schemas.openxmlformats.org/drawingml/2006/main">
              <a:ext uri="{FF2B5EF4-FFF2-40B4-BE49-F238E27FC236}">
                <a16:creationId xmlns:a16="http://schemas.microsoft.com/office/drawing/2014/main" id="{9540CE83-8854-426A-9CE9-62472727A1E1}"/>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193">
            <a:extLst xmlns:a="http://schemas.openxmlformats.org/drawingml/2006/main">
              <a:ext uri="{FF2B5EF4-FFF2-40B4-BE49-F238E27FC236}">
                <a16:creationId xmlns:a16="http://schemas.microsoft.com/office/drawing/2014/main" id="{5EE27002-E982-461A-9F44-071F17EF6DAD}"/>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194">
            <a:extLst xmlns:a="http://schemas.openxmlformats.org/drawingml/2006/main">
              <a:ext uri="{FF2B5EF4-FFF2-40B4-BE49-F238E27FC236}">
                <a16:creationId xmlns:a16="http://schemas.microsoft.com/office/drawing/2014/main" id="{F9E54C74-727B-4151-B266-32C54B555AD2}"/>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Open the prepared demo context and read its date. Type /client-brief with northstar and that date. Compare the cited meeting with the CLI evidence. Then try an unknown client and record the validation response.</a:t>
            </a:r>
          </a:p>
        </p:txBody>
      </p:sp>
      <p:sp>
        <p:nvSpPr>
          <p:cNvPr id="7" name="text-1195">
            <a:extLst xmlns:a="http://schemas.openxmlformats.org/drawingml/2006/main">
              <a:ext uri="{FF2B5EF4-FFF2-40B4-BE49-F238E27FC236}">
                <a16:creationId xmlns:a16="http://schemas.microsoft.com/office/drawing/2014/main" id="{1B8B3C0F-4340-4707-B1D5-498546099ABF}"/>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Reusable date:</a:t>
            </a:r>
            <a:r>
              <a:rPr sz="1875" b="0" i="0">
                <a:solidFill>
                  <a:srgbClr val="1C1C1C"/>
                </a:solidFill>
                <a:latin typeface="Helvetica Neue"/>
                <a:ea typeface="Helvetica Neue"/>
                <a:cs typeface="Helvetica Neue"/>
              </a:rPr>
              <a:t> avoids a stale classroom example.</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Inspection:</a:t>
            </a:r>
            <a:r>
              <a:rPr sz="1875" b="0" i="0">
                <a:solidFill>
                  <a:srgbClr val="1C1C1C"/>
                </a:solidFill>
                <a:latin typeface="Helvetica Neue"/>
                <a:ea typeface="Helvetica Neue"/>
                <a:cs typeface="Helvetica Neue"/>
              </a:rPr>
              <a:t> checks the output against the intended structure.</a:t>
            </a:r>
          </a:p>
        </p:txBody>
      </p:sp>
      <p:sp>
        <p:nvSpPr>
          <p:cNvPr id="8" name="panel-1196">
            <a:extLst xmlns:a="http://schemas.openxmlformats.org/drawingml/2006/main">
              <a:ext uri="{FF2B5EF4-FFF2-40B4-BE49-F238E27FC236}">
                <a16:creationId xmlns:a16="http://schemas.microsoft.com/office/drawing/2014/main" id="{7243002A-F425-4697-ACB8-09433BABEFCC}"/>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197">
            <a:extLst xmlns:a="http://schemas.openxmlformats.org/drawingml/2006/main">
              <a:ext uri="{FF2B5EF4-FFF2-40B4-BE49-F238E27FC236}">
                <a16:creationId xmlns:a16="http://schemas.microsoft.com/office/drawing/2014/main" id="{FF453233-7EC9-45F9-ABF6-A95D07E53062}"/>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A known client returns a sourced brief; an unknown client asks for a correction.</a:t>
            </a:r>
          </a:p>
        </p:txBody>
      </p:sp>
      <p:sp>
        <p:nvSpPr>
          <p:cNvPr id="10" name="text-1198">
            <a:extLst xmlns:a="http://schemas.openxmlformats.org/drawingml/2006/main">
              <a:ext uri="{FF2B5EF4-FFF2-40B4-BE49-F238E27FC236}">
                <a16:creationId xmlns:a16="http://schemas.microsoft.com/office/drawing/2014/main" id="{AE54EA21-FD06-4E34-A9B2-C090625008E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128</a:t>
            </a:r>
          </a:p>
        </p:txBody>
      </p:sp>
    </p:spTree>
    <p:extLst>
      <p:ext uri="{BB962C8B-B14F-4D97-AF65-F5344CB8AC3E}">
        <p14:creationId xmlns:p14="http://schemas.microsoft.com/office/powerpoint/2010/main" val="1032097567"/>
      </p:ext>
    </p:extLst>
  </p:cSld>
</p:sld>
</file>

<file path=ppt/slides/slide12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4" name="text-1199">
            <a:extLst xmlns:a="http://schemas.openxmlformats.org/drawingml/2006/main">
              <a:ext uri="{FF2B5EF4-FFF2-40B4-BE49-F238E27FC236}">
                <a16:creationId xmlns:a16="http://schemas.microsoft.com/office/drawing/2014/main" id="{BA984E0A-F20F-4EC1-B18E-35769D3F5C8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small skill package</a:t>
            </a:r>
          </a:p>
        </p:txBody>
      </p:sp>
      <p:sp>
        <p:nvSpPr>
          <p:cNvPr id="2" name="panel-1200">
            <a:extLst xmlns:a="http://schemas.openxmlformats.org/drawingml/2006/main">
              <a:ext uri="{FF2B5EF4-FFF2-40B4-BE49-F238E27FC236}">
                <a16:creationId xmlns:a16="http://schemas.microsoft.com/office/drawing/2014/main" id="{8336F501-BCCF-498E-8B60-7C2DB52427A1}"/>
              </a:ext>
            </a:extLst>
          </p:cNvPr>
          <p:cNvSpPr>
            <a:spLocks xmlns:a="http://schemas.openxmlformats.org/drawingml/2006/main" noGrp="1"/>
          </p:cNvSpPr>
          <p:nvPr/>
        </p:nvSpPr>
        <p:spPr>
          <a:xfrm xmlns:a="http://schemas.openxmlformats.org/drawingml/2006/main">
            <a:off x="609600" y="1828800"/>
            <a:ext cx="7000875" cy="3169920"/>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1201">
            <a:extLst xmlns:a="http://schemas.openxmlformats.org/drawingml/2006/main">
              <a:ext uri="{FF2B5EF4-FFF2-40B4-BE49-F238E27FC236}">
                <a16:creationId xmlns:a16="http://schemas.microsoft.com/office/drawing/2014/main" id="{81439B00-27A3-4972-ABC4-8392CE719287}"/>
              </a:ext>
            </a:extLst>
          </p:cNvPr>
          <p:cNvSpPr>
            <a:spLocks xmlns:a="http://schemas.openxmlformats.org/drawingml/2006/main" noGrp="1"/>
          </p:cNvSpPr>
          <p:nvPr/>
        </p:nvSpPr>
        <p:spPr>
          <a:xfrm xmlns:a="http://schemas.openxmlformats.org/drawingml/2006/main">
            <a:off x="847725" y="2076450"/>
            <a:ext cx="6543675" cy="2865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client-brief/</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SKILL.md</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templates/</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 brief.md</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examples/</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 northstar.md</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tests/</a:t>
            </a:r>
          </a:p>
          <a:p xmlns:a="http://schemas.openxmlformats.org/drawingml/2006/main">
            <a:pPr>
              <a:defRPr sz="2025" b="0" i="0">
                <a:solidFill>
                  <a:srgbClr val="FFFFFF"/>
                </a:solidFill>
                <a:latin typeface="Menlo"/>
                <a:ea typeface="Menlo"/>
                <a:cs typeface="Menlo"/>
              </a:defRPr>
            </a:pPr>
            <a:r>
              <a:rPr sz="2025" b="0" i="0">
                <a:solidFill>
                  <a:srgbClr val="FFFFFF"/>
                </a:solidFill>
                <a:latin typeface="Menlo"/>
                <a:ea typeface="Menlo"/>
                <a:cs typeface="Menlo"/>
              </a:rPr>
              <a:t>    └── cases.md</a:t>
            </a:r>
          </a:p>
        </p:txBody>
      </p:sp>
      <p:sp>
        <p:nvSpPr>
          <p:cNvPr id="4" name="text-1202">
            <a:extLst xmlns:a="http://schemas.openxmlformats.org/drawingml/2006/main">
              <a:ext uri="{FF2B5EF4-FFF2-40B4-BE49-F238E27FC236}">
                <a16:creationId xmlns:a16="http://schemas.microsoft.com/office/drawing/2014/main" id="{EAE101C4-0175-4044-A7A7-FF495F9E4729}"/>
              </a:ext>
            </a:extLst>
          </p:cNvPr>
          <p:cNvSpPr>
            <a:spLocks xmlns:a="http://schemas.openxmlformats.org/drawingml/2006/main" noGrp="1"/>
          </p:cNvSpPr>
          <p:nvPr/>
        </p:nvSpPr>
        <p:spPr>
          <a:xfrm xmlns:a="http://schemas.openxmlformats.org/drawingml/2006/main">
            <a:off x="7991475" y="19431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SKILL.md</a:t>
            </a:r>
          </a:p>
        </p:txBody>
      </p:sp>
      <p:sp>
        <p:nvSpPr>
          <p:cNvPr id="5" name="text-1203">
            <a:extLst xmlns:a="http://schemas.openxmlformats.org/drawingml/2006/main">
              <a:ext uri="{FF2B5EF4-FFF2-40B4-BE49-F238E27FC236}">
                <a16:creationId xmlns:a16="http://schemas.microsoft.com/office/drawing/2014/main" id="{99885641-8740-48F2-AC0B-15CBC53EA46B}"/>
              </a:ext>
            </a:extLst>
          </p:cNvPr>
          <p:cNvSpPr>
            <a:spLocks xmlns:a="http://schemas.openxmlformats.org/drawingml/2006/main" noGrp="1"/>
          </p:cNvSpPr>
          <p:nvPr/>
        </p:nvSpPr>
        <p:spPr>
          <a:xfrm xmlns:a="http://schemas.openxmlformats.org/drawingml/2006/main">
            <a:off x="7991475" y="23241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The workflow’s entry point</a:t>
            </a:r>
          </a:p>
        </p:txBody>
      </p:sp>
      <p:sp>
        <p:nvSpPr>
          <p:cNvPr id="6" name="text-1204">
            <a:extLst xmlns:a="http://schemas.openxmlformats.org/drawingml/2006/main">
              <a:ext uri="{FF2B5EF4-FFF2-40B4-BE49-F238E27FC236}">
                <a16:creationId xmlns:a16="http://schemas.microsoft.com/office/drawing/2014/main" id="{5281F2BB-712C-44EC-807B-ACEFBC751C37}"/>
              </a:ext>
            </a:extLst>
          </p:cNvPr>
          <p:cNvSpPr>
            <a:spLocks xmlns:a="http://schemas.openxmlformats.org/drawingml/2006/main" noGrp="1"/>
          </p:cNvSpPr>
          <p:nvPr/>
        </p:nvSpPr>
        <p:spPr>
          <a:xfrm xmlns:a="http://schemas.openxmlformats.org/drawingml/2006/main">
            <a:off x="7991475" y="30099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templates/brief.md</a:t>
            </a:r>
          </a:p>
        </p:txBody>
      </p:sp>
      <p:sp>
        <p:nvSpPr>
          <p:cNvPr id="7" name="text-1205">
            <a:extLst xmlns:a="http://schemas.openxmlformats.org/drawingml/2006/main">
              <a:ext uri="{FF2B5EF4-FFF2-40B4-BE49-F238E27FC236}">
                <a16:creationId xmlns:a16="http://schemas.microsoft.com/office/drawing/2014/main" id="{387568F7-CF4A-4E53-927A-2A8646241C67}"/>
              </a:ext>
            </a:extLst>
          </p:cNvPr>
          <p:cNvSpPr>
            <a:spLocks xmlns:a="http://schemas.openxmlformats.org/drawingml/2006/main" noGrp="1"/>
          </p:cNvSpPr>
          <p:nvPr/>
        </p:nvSpPr>
        <p:spPr>
          <a:xfrm xmlns:a="http://schemas.openxmlformats.org/drawingml/2006/main">
            <a:off x="7991475" y="33909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Required output structure</a:t>
            </a:r>
          </a:p>
        </p:txBody>
      </p:sp>
      <p:sp>
        <p:nvSpPr>
          <p:cNvPr id="8" name="text-1206">
            <a:extLst xmlns:a="http://schemas.openxmlformats.org/drawingml/2006/main">
              <a:ext uri="{FF2B5EF4-FFF2-40B4-BE49-F238E27FC236}">
                <a16:creationId xmlns:a16="http://schemas.microsoft.com/office/drawing/2014/main" id="{1A446ABD-EC48-4BE1-B3C6-1BE26FD78883}"/>
              </a:ext>
            </a:extLst>
          </p:cNvPr>
          <p:cNvSpPr>
            <a:spLocks xmlns:a="http://schemas.openxmlformats.org/drawingml/2006/main" noGrp="1"/>
          </p:cNvSpPr>
          <p:nvPr/>
        </p:nvSpPr>
        <p:spPr>
          <a:xfrm xmlns:a="http://schemas.openxmlformats.org/drawingml/2006/main">
            <a:off x="7991475" y="40767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examples/northstar.md</a:t>
            </a:r>
          </a:p>
        </p:txBody>
      </p:sp>
      <p:sp>
        <p:nvSpPr>
          <p:cNvPr id="9" name="text-1207">
            <a:extLst xmlns:a="http://schemas.openxmlformats.org/drawingml/2006/main">
              <a:ext uri="{FF2B5EF4-FFF2-40B4-BE49-F238E27FC236}">
                <a16:creationId xmlns:a16="http://schemas.microsoft.com/office/drawing/2014/main" id="{864E37B2-1072-4C8E-AA4C-43CE5AC41F75}"/>
              </a:ext>
            </a:extLst>
          </p:cNvPr>
          <p:cNvSpPr>
            <a:spLocks xmlns:a="http://schemas.openxmlformats.org/drawingml/2006/main" noGrp="1"/>
          </p:cNvSpPr>
          <p:nvPr/>
        </p:nvSpPr>
        <p:spPr>
          <a:xfrm xmlns:a="http://schemas.openxmlformats.org/drawingml/2006/main">
            <a:off x="7991475" y="44577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A concrete quality reference</a:t>
            </a:r>
          </a:p>
        </p:txBody>
      </p:sp>
      <p:sp>
        <p:nvSpPr>
          <p:cNvPr id="10" name="text-1208">
            <a:extLst xmlns:a="http://schemas.openxmlformats.org/drawingml/2006/main">
              <a:ext uri="{FF2B5EF4-FFF2-40B4-BE49-F238E27FC236}">
                <a16:creationId xmlns:a16="http://schemas.microsoft.com/office/drawing/2014/main" id="{E0CDED97-48CC-41AC-81EC-35363B7E31FD}"/>
              </a:ext>
            </a:extLst>
          </p:cNvPr>
          <p:cNvSpPr>
            <a:spLocks xmlns:a="http://schemas.openxmlformats.org/drawingml/2006/main" noGrp="1"/>
          </p:cNvSpPr>
          <p:nvPr/>
        </p:nvSpPr>
        <p:spPr>
          <a:xfrm xmlns:a="http://schemas.openxmlformats.org/drawingml/2006/main">
            <a:off x="7991475" y="51435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tests/cases.md</a:t>
            </a:r>
          </a:p>
        </p:txBody>
      </p:sp>
      <p:sp>
        <p:nvSpPr>
          <p:cNvPr id="11" name="text-1209">
            <a:extLst xmlns:a="http://schemas.openxmlformats.org/drawingml/2006/main">
              <a:ext uri="{FF2B5EF4-FFF2-40B4-BE49-F238E27FC236}">
                <a16:creationId xmlns:a16="http://schemas.microsoft.com/office/drawing/2014/main" id="{A8C6B0CA-8546-4325-8637-58163FFD21E2}"/>
              </a:ext>
            </a:extLst>
          </p:cNvPr>
          <p:cNvSpPr>
            <a:spLocks xmlns:a="http://schemas.openxmlformats.org/drawingml/2006/main" noGrp="1"/>
          </p:cNvSpPr>
          <p:nvPr/>
        </p:nvSpPr>
        <p:spPr>
          <a:xfrm xmlns:a="http://schemas.openxmlformats.org/drawingml/2006/main">
            <a:off x="7991475" y="55245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686868"/>
                </a:solidFill>
                <a:latin typeface="Helvetica Neue"/>
                <a:ea typeface="Helvetica Neue"/>
                <a:cs typeface="Helvetica Neue"/>
              </a:defRPr>
            </a:pPr>
            <a:r>
              <a:rPr sz="1575" b="0" i="0">
                <a:solidFill>
                  <a:srgbClr val="686868"/>
                </a:solidFill>
                <a:latin typeface="Helvetica Neue"/>
                <a:ea typeface="Helvetica Neue"/>
                <a:cs typeface="Helvetica Neue"/>
              </a:rPr>
              <a:t>Cases to repeat after a revision</a:t>
            </a:r>
          </a:p>
        </p:txBody>
      </p:sp>
      <p:sp>
        <p:nvSpPr>
          <p:cNvPr id="12" name="text-1210">
            <a:extLst xmlns:a="http://schemas.openxmlformats.org/drawingml/2006/main">
              <a:ext uri="{FF2B5EF4-FFF2-40B4-BE49-F238E27FC236}">
                <a16:creationId xmlns:a16="http://schemas.microsoft.com/office/drawing/2014/main" id="{045EE30B-7D16-4388-9383-CD917166E5A0}"/>
              </a:ext>
            </a:extLst>
          </p:cNvPr>
          <p:cNvSpPr>
            <a:spLocks xmlns:a="http://schemas.openxmlformats.org/drawingml/2006/main" noGrp="1"/>
          </p:cNvSpPr>
          <p:nvPr/>
        </p:nvSpPr>
        <p:spPr>
          <a:xfrm xmlns:a="http://schemas.openxmlformats.org/drawingml/2006/main">
            <a:off x="609600" y="6105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686868"/>
                </a:solidFill>
                <a:latin typeface="Helvetica Neue"/>
                <a:ea typeface="Helvetica Neue"/>
                <a:cs typeface="Helvetica Neue"/>
              </a:defRPr>
            </a:pPr>
            <a:r>
              <a:rPr sz="1500" b="0" i="0">
                <a:solidFill>
                  <a:srgbClr val="686868"/>
                </a:solidFill>
                <a:latin typeface="Helvetica Neue"/>
                <a:ea typeface="Helvetica Neue"/>
                <a:cs typeface="Helvetica Neue"/>
              </a:rPr>
              <a:t>Instructions · Output structure · A good example · Cases to rerun</a:t>
            </a:r>
          </a:p>
        </p:txBody>
      </p:sp>
      <p:sp>
        <p:nvSpPr>
          <p:cNvPr id="13" name="text-1211">
            <a:extLst xmlns:a="http://schemas.openxmlformats.org/drawingml/2006/main">
              <a:ext uri="{FF2B5EF4-FFF2-40B4-BE49-F238E27FC236}">
                <a16:creationId xmlns:a16="http://schemas.microsoft.com/office/drawing/2014/main" id="{85C31D46-356A-4425-879A-6BFF6D3BCF5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129</a:t>
            </a:r>
          </a:p>
        </p:txBody>
      </p:sp>
    </p:spTree>
    <p:extLst>
      <p:ext uri="{BB962C8B-B14F-4D97-AF65-F5344CB8AC3E}">
        <p14:creationId xmlns:p14="http://schemas.microsoft.com/office/powerpoint/2010/main" val="696334078"/>
      </p:ext>
    </p:extLst>
  </p:cSld>
</p:sld>
</file>

<file path=ppt/slides/slide13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212">
            <a:extLst xmlns:a="http://schemas.openxmlformats.org/drawingml/2006/main">
              <a:ext uri="{FF2B5EF4-FFF2-40B4-BE49-F238E27FC236}">
                <a16:creationId xmlns:a16="http://schemas.microsoft.com/office/drawing/2014/main" id="{57242766-654B-4CAA-8B9A-2DCF3B9E66D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brief a teammate receives</a:t>
            </a:r>
          </a:p>
        </p:txBody>
      </p:sp>
      <p:sp>
        <p:nvSpPr>
          <p:cNvPr id="2" name="panel-1213">
            <a:extLst xmlns:a="http://schemas.openxmlformats.org/drawingml/2006/main">
              <a:ext uri="{FF2B5EF4-FFF2-40B4-BE49-F238E27FC236}">
                <a16:creationId xmlns:a16="http://schemas.microsoft.com/office/drawing/2014/main" id="{FDF4E424-D93C-4234-ACD7-F96529348105}"/>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1214">
            <a:extLst xmlns:a="http://schemas.openxmlformats.org/drawingml/2006/main">
              <a:ext uri="{FF2B5EF4-FFF2-40B4-BE49-F238E27FC236}">
                <a16:creationId xmlns:a16="http://schemas.microsoft.com/office/drawing/2014/main" id="{64075FE3-062C-48BB-B3D9-03290C61B4FC}"/>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Northstar: preparation for the next call</a:t>
            </a:r>
          </a:p>
        </p:txBody>
      </p:sp>
      <p:sp>
        <p:nvSpPr>
          <p:cNvPr id="4" name="text-1215">
            <a:extLst xmlns:a="http://schemas.openxmlformats.org/drawingml/2006/main">
              <a:ext uri="{FF2B5EF4-FFF2-40B4-BE49-F238E27FC236}">
                <a16:creationId xmlns:a16="http://schemas.microsoft.com/office/drawing/2014/main" id="{FEC01536-5209-44D7-95F1-E386FCA27DB4}"/>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Next call:</a:t>
            </a:r>
            <a:r>
              <a:rPr sz="2025" b="0" i="0">
                <a:solidFill>
                  <a:srgbClr val="1C1C1C"/>
                </a:solidFill>
                <a:latin typeface="Helvetica Neue"/>
                <a:ea typeface="Helvetica Neue"/>
                <a:cs typeface="Helvetica Neue"/>
              </a:rPr>
              <a:t> three days after the demo</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demo-event-001</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Fact:</a:t>
            </a:r>
            <a:r>
              <a:rPr sz="2025" b="0" i="0">
                <a:solidFill>
                  <a:srgbClr val="1C1C1C"/>
                </a:solidFill>
                <a:latin typeface="Helvetica Neue"/>
                <a:ea typeface="Helvetica Neue"/>
                <a:cs typeface="Helvetica Neue"/>
              </a:rPr>
              <a:t> Maya requested an onboarding checklist.</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demo-transcript-001</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Unknown:</a:t>
            </a:r>
            <a:r>
              <a:rPr sz="2025" b="0" i="0">
                <a:solidFill>
                  <a:srgbClr val="1C1C1C"/>
                </a:solidFill>
                <a:latin typeface="Helvetica Neue"/>
                <a:ea typeface="Helvetica Neue"/>
                <a:cs typeface="Helvetica Neue"/>
              </a:rPr>
              <a:t> no delivery date was agreed.</a:t>
            </a:r>
          </a:p>
        </p:txBody>
      </p:sp>
      <p:sp>
        <p:nvSpPr>
          <p:cNvPr id="5" name="panel-1216">
            <a:extLst xmlns:a="http://schemas.openxmlformats.org/drawingml/2006/main">
              <a:ext uri="{FF2B5EF4-FFF2-40B4-BE49-F238E27FC236}">
                <a16:creationId xmlns:a16="http://schemas.microsoft.com/office/drawing/2014/main" id="{CF66AF10-3150-4CF6-AA16-19D1C53B3958}"/>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1217">
            <a:extLst xmlns:a="http://schemas.openxmlformats.org/drawingml/2006/main">
              <a:ext uri="{FF2B5EF4-FFF2-40B4-BE49-F238E27FC236}">
                <a16:creationId xmlns:a16="http://schemas.microsoft.com/office/drawing/2014/main" id="{839F967F-3654-4D19-87D7-5226213E7150}"/>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Proposed follow-up</a:t>
            </a:r>
          </a:p>
        </p:txBody>
      </p:sp>
      <p:sp>
        <p:nvSpPr>
          <p:cNvPr id="7" name="text-1218">
            <a:extLst xmlns:a="http://schemas.openxmlformats.org/drawingml/2006/main">
              <a:ext uri="{FF2B5EF4-FFF2-40B4-BE49-F238E27FC236}">
                <a16:creationId xmlns:a16="http://schemas.microsoft.com/office/drawing/2014/main" id="{EE09F96D-FC97-4C79-BA00-0444F2589CD0}"/>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Alex prepares the checklist before the next call.</a:t>
            </a:r>
          </a:p>
          <a:p xmlns:a="http://schemas.openxmlformats.org/drawingml/2006/main">
            <a:r>
              <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Owner and date require review.</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No task saved or message sent.</a:t>
            </a:r>
          </a:p>
        </p:txBody>
      </p:sp>
      <p:sp>
        <p:nvSpPr>
          <p:cNvPr id="8" name="text-1219">
            <a:extLst xmlns:a="http://schemas.openxmlformats.org/drawingml/2006/main">
              <a:ext uri="{FF2B5EF4-FFF2-40B4-BE49-F238E27FC236}">
                <a16:creationId xmlns:a16="http://schemas.microsoft.com/office/drawing/2014/main" id="{FCBDD1AF-B071-42ED-9400-A01E236AFC86}"/>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130</a:t>
            </a:r>
          </a:p>
        </p:txBody>
      </p:sp>
    </p:spTree>
    <p:extLst>
      <p:ext uri="{BB962C8B-B14F-4D97-AF65-F5344CB8AC3E}">
        <p14:creationId xmlns:p14="http://schemas.microsoft.com/office/powerpoint/2010/main" val="1030015058"/>
      </p:ext>
    </p:extLst>
  </p:cSld>
</p:sld>
</file>

<file path=ppt/slides/slide13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220">
            <a:extLst xmlns:a="http://schemas.openxmlformats.org/drawingml/2006/main">
              <a:ext uri="{FF2B5EF4-FFF2-40B4-BE49-F238E27FC236}">
                <a16:creationId xmlns:a16="http://schemas.microsoft.com/office/drawing/2014/main" id="{5031EAF6-D5FB-48ED-8D0A-E7741EE1245F}"/>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Read skill and write action</a:t>
            </a:r>
          </a:p>
        </p:txBody>
      </p:sp>
      <p:sp>
        <p:nvSpPr>
          <p:cNvPr id="2" name="panel-1221">
            <a:extLst xmlns:a="http://schemas.openxmlformats.org/drawingml/2006/main">
              <a:ext uri="{FF2B5EF4-FFF2-40B4-BE49-F238E27FC236}">
                <a16:creationId xmlns:a16="http://schemas.microsoft.com/office/drawing/2014/main" id="{8A7E4FE6-1448-4710-A266-210C656686E3}"/>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222">
            <a:extLst xmlns:a="http://schemas.openxmlformats.org/drawingml/2006/main">
              <a:ext uri="{FF2B5EF4-FFF2-40B4-BE49-F238E27FC236}">
                <a16:creationId xmlns:a16="http://schemas.microsoft.com/office/drawing/2014/main" id="{0C65507D-ACC2-48ED-A9D1-6BA74D4061F9}"/>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223">
            <a:extLst xmlns:a="http://schemas.openxmlformats.org/drawingml/2006/main">
              <a:ext uri="{FF2B5EF4-FFF2-40B4-BE49-F238E27FC236}">
                <a16:creationId xmlns:a16="http://schemas.microsoft.com/office/drawing/2014/main" id="{28D1C55D-E032-45F0-9E8A-5181D815327F}"/>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/client-brief</a:t>
            </a:r>
          </a:p>
        </p:txBody>
      </p:sp>
      <p:sp>
        <p:nvSpPr>
          <p:cNvPr id="5" name="text-1224">
            <a:extLst xmlns:a="http://schemas.openxmlformats.org/drawingml/2006/main">
              <a:ext uri="{FF2B5EF4-FFF2-40B4-BE49-F238E27FC236}">
                <a16:creationId xmlns:a16="http://schemas.microsoft.com/office/drawing/2014/main" id="{F9DF4FF4-31CA-486F-A4D0-CFCC7987FB26}"/>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Read records</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Write a local brief</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Propose an action</a:t>
            </a:r>
          </a:p>
        </p:txBody>
      </p:sp>
      <p:sp>
        <p:nvSpPr>
          <p:cNvPr id="6" name="text-1225">
            <a:extLst xmlns:a="http://schemas.openxmlformats.org/drawingml/2006/main">
              <a:ext uri="{FF2B5EF4-FFF2-40B4-BE49-F238E27FC236}">
                <a16:creationId xmlns:a16="http://schemas.microsoft.com/office/drawing/2014/main" id="{A9D82E59-714B-4EEE-898B-1296E9A60E01}"/>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App save action</a:t>
            </a:r>
          </a:p>
        </p:txBody>
      </p:sp>
      <p:sp>
        <p:nvSpPr>
          <p:cNvPr id="7" name="text-1226">
            <a:extLst xmlns:a="http://schemas.openxmlformats.org/drawingml/2006/main">
              <a:ext uri="{FF2B5EF4-FFF2-40B4-BE49-F238E27FC236}">
                <a16:creationId xmlns:a16="http://schemas.microsoft.com/office/drawing/2014/main" id="{8400B85D-6A42-47A1-97A1-6B3F6A43A5D3}"/>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Show the exact task</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Require human confirmation</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Save it and read it back</a:t>
            </a:r>
          </a:p>
        </p:txBody>
      </p:sp>
      <p:sp>
        <p:nvSpPr>
          <p:cNvPr id="8" name="text-1227">
            <a:extLst xmlns:a="http://schemas.openxmlformats.org/drawingml/2006/main">
              <a:ext uri="{FF2B5EF4-FFF2-40B4-BE49-F238E27FC236}">
                <a16:creationId xmlns:a16="http://schemas.microsoft.com/office/drawing/2014/main" id="{AF469067-63C6-4AF7-AD8C-1D37A6D7FA8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131</a:t>
            </a:r>
          </a:p>
        </p:txBody>
      </p:sp>
    </p:spTree>
    <p:extLst>
      <p:ext uri="{BB962C8B-B14F-4D97-AF65-F5344CB8AC3E}">
        <p14:creationId xmlns:p14="http://schemas.microsoft.com/office/powerpoint/2010/main" val="128359718"/>
      </p:ext>
    </p:extLst>
  </p:cSld>
</p:sld>
</file>

<file path=ppt/slides/slide13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6" name="text-1228">
            <a:extLst xmlns:a="http://schemas.openxmlformats.org/drawingml/2006/main">
              <a:ext uri="{FF2B5EF4-FFF2-40B4-BE49-F238E27FC236}">
                <a16:creationId xmlns:a16="http://schemas.microsoft.com/office/drawing/2014/main" id="{3FEF152B-8537-4D55-969D-6E082B43D2B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Rules keep the method consistent</a:t>
            </a:r>
          </a:p>
        </p:txBody>
      </p:sp>
      <p:sp>
        <p:nvSpPr>
          <p:cNvPr id="2" name="panel-1229">
            <a:extLst xmlns:a="http://schemas.openxmlformats.org/drawingml/2006/main">
              <a:ext uri="{FF2B5EF4-FFF2-40B4-BE49-F238E27FC236}">
                <a16:creationId xmlns:a16="http://schemas.microsoft.com/office/drawing/2014/main" id="{C69B5800-6B86-47BA-88B4-2869264309B0}"/>
              </a:ext>
            </a:extLst>
          </p:cNvPr>
          <p:cNvSpPr>
            <a:spLocks xmlns:a="http://schemas.openxmlformats.org/drawingml/2006/main" noGrp="1"/>
          </p:cNvSpPr>
          <p:nvPr/>
        </p:nvSpPr>
        <p:spPr>
          <a:xfrm xmlns:a="http://schemas.openxmlformats.org/drawingml/2006/main">
            <a:off x="609600" y="1981200"/>
            <a:ext cx="8002524" cy="2022348"/>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1230">
            <a:extLst xmlns:a="http://schemas.openxmlformats.org/drawingml/2006/main">
              <a:ext uri="{FF2B5EF4-FFF2-40B4-BE49-F238E27FC236}">
                <a16:creationId xmlns:a16="http://schemas.microsoft.com/office/drawing/2014/main" id="{72421FFC-79F1-45CB-9EB9-B610A269EFFD}"/>
              </a:ext>
            </a:extLst>
          </p:cNvPr>
          <p:cNvSpPr>
            <a:spLocks xmlns:a="http://schemas.openxmlformats.org/drawingml/2006/main" noGrp="1"/>
          </p:cNvSpPr>
          <p:nvPr/>
        </p:nvSpPr>
        <p:spPr>
          <a:xfrm xmlns:a="http://schemas.openxmlformats.org/drawingml/2006/main">
            <a:off x="895350" y="2247900"/>
            <a:ext cx="7431024" cy="1660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FFFFFF"/>
                </a:solidFill>
                <a:latin typeface="Menlo"/>
                <a:ea typeface="Menlo"/>
                <a:cs typeface="Menlo"/>
              </a:defRPr>
            </a:pPr>
            <a:r>
              <a:rPr sz="2100" b="0" i="0">
                <a:solidFill>
                  <a:srgbClr val="FFFFFF"/>
                </a:solidFill>
                <a:latin typeface="Menlo"/>
                <a:ea typeface="Menlo"/>
                <a:cs typeface="Menlo"/>
              </a:rPr>
              <a:t>Read the original source before summarizing.</a:t>
            </a:r>
          </a:p>
          <a:p xmlns:a="http://schemas.openxmlformats.org/drawingml/2006/main">
            <a:pPr>
              <a:defRPr sz="2100" b="0" i="0">
                <a:solidFill>
                  <a:srgbClr val="FFFFFF"/>
                </a:solidFill>
                <a:latin typeface="Menlo"/>
                <a:ea typeface="Menlo"/>
                <a:cs typeface="Menlo"/>
              </a:defRPr>
            </a:pPr>
            <a:r>
              <a:rPr sz="2100" b="0" i="0">
                <a:solidFill>
                  <a:srgbClr val="FFFFFF"/>
                </a:solidFill>
                <a:latin typeface="Menlo"/>
                <a:ea typeface="Menlo"/>
                <a:cs typeface="Menlo"/>
              </a:rPr>
              <a:t>Keep facts separate from proposed actions.</a:t>
            </a:r>
          </a:p>
          <a:p xmlns:a="http://schemas.openxmlformats.org/drawingml/2006/main">
            <a:pPr>
              <a:defRPr sz="2100" b="0" i="0">
                <a:solidFill>
                  <a:srgbClr val="FFFFFF"/>
                </a:solidFill>
                <a:latin typeface="Menlo"/>
                <a:ea typeface="Menlo"/>
                <a:cs typeface="Menlo"/>
              </a:defRPr>
            </a:pPr>
            <a:r>
              <a:rPr sz="2100" b="0" i="0">
                <a:solidFill>
                  <a:srgbClr val="FFFFFF"/>
                </a:solidFill>
                <a:latin typeface="Menlo"/>
                <a:ea typeface="Menlo"/>
                <a:cs typeface="Menlo"/>
              </a:rPr>
              <a:t>Do not infer missing meeting evidence.</a:t>
            </a:r>
          </a:p>
          <a:p xmlns:a="http://schemas.openxmlformats.org/drawingml/2006/main">
            <a:pPr>
              <a:defRPr sz="2100" b="0" i="0">
                <a:solidFill>
                  <a:srgbClr val="FFFFFF"/>
                </a:solidFill>
                <a:latin typeface="Menlo"/>
                <a:ea typeface="Menlo"/>
                <a:cs typeface="Menlo"/>
              </a:defRPr>
            </a:pPr>
            <a:r>
              <a:rPr sz="2100" b="0" i="0">
                <a:solidFill>
                  <a:srgbClr val="FFFFFF"/>
                </a:solidFill>
                <a:latin typeface="Menlo"/>
                <a:ea typeface="Menlo"/>
                <a:cs typeface="Menlo"/>
              </a:rPr>
              <a:t>Review title, owner and date before saving.</a:t>
            </a:r>
          </a:p>
        </p:txBody>
      </p:sp>
      <p:sp>
        <p:nvSpPr>
          <p:cNvPr id="4" name="text-1231">
            <a:extLst xmlns:a="http://schemas.openxmlformats.org/drawingml/2006/main">
              <a:ext uri="{FF2B5EF4-FFF2-40B4-BE49-F238E27FC236}">
                <a16:creationId xmlns:a16="http://schemas.microsoft.com/office/drawing/2014/main" id="{56B11728-6E5E-40F3-81EA-455E7E4D938D}"/>
              </a:ext>
            </a:extLst>
          </p:cNvPr>
          <p:cNvSpPr>
            <a:spLocks xmlns:a="http://schemas.openxmlformats.org/drawingml/2006/main" noGrp="1"/>
          </p:cNvSpPr>
          <p:nvPr/>
        </p:nvSpPr>
        <p:spPr>
          <a:xfrm xmlns:a="http://schemas.openxmlformats.org/drawingml/2006/main">
            <a:off x="609600" y="56769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686868"/>
                </a:solidFill>
                <a:latin typeface="Helvetica Neue"/>
                <a:ea typeface="Helvetica Neue"/>
                <a:cs typeface="Helvetica Neue"/>
              </a:defRPr>
            </a:pPr>
            <a:r>
              <a:rPr sz="1875" b="0" i="0">
                <a:solidFill>
                  <a:srgbClr val="686868"/>
                </a:solidFill>
                <a:latin typeface="Helvetica Neue"/>
                <a:ea typeface="Helvetica Neue"/>
                <a:cs typeface="Helvetica Neue"/>
              </a:rPr>
              <a:t>These behaviors are preserved in the actual skill and interface rule.</a:t>
            </a:r>
          </a:p>
        </p:txBody>
      </p:sp>
      <p:sp>
        <p:nvSpPr>
          <p:cNvPr id="5" name="text-1232">
            <a:extLst xmlns:a="http://schemas.openxmlformats.org/drawingml/2006/main">
              <a:ext uri="{FF2B5EF4-FFF2-40B4-BE49-F238E27FC236}">
                <a16:creationId xmlns:a16="http://schemas.microsoft.com/office/drawing/2014/main" id="{1CA792E4-CB23-4ECB-9365-D5F96280889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132</a:t>
            </a:r>
          </a:p>
        </p:txBody>
      </p:sp>
    </p:spTree>
    <p:extLst>
      <p:ext uri="{BB962C8B-B14F-4D97-AF65-F5344CB8AC3E}">
        <p14:creationId xmlns:p14="http://schemas.microsoft.com/office/powerpoint/2010/main" val="1245203681"/>
      </p:ext>
    </p:extLst>
  </p:cSld>
</p:sld>
</file>

<file path=ppt/slides/slide13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1233">
            <a:extLst xmlns:a="http://schemas.openxmlformats.org/drawingml/2006/main">
              <a:ext uri="{FF2B5EF4-FFF2-40B4-BE49-F238E27FC236}">
                <a16:creationId xmlns:a16="http://schemas.microsoft.com/office/drawing/2014/main" id="{98F962DA-7F8A-4E32-9761-2CC8026DDE7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hook checks edited sample files</a:t>
            </a:r>
          </a:p>
        </p:txBody>
      </p:sp>
      <p:sp>
        <p:nvSpPr>
          <p:cNvPr id="2" name="panel-1234">
            <a:extLst xmlns:a="http://schemas.openxmlformats.org/drawingml/2006/main">
              <a:ext uri="{FF2B5EF4-FFF2-40B4-BE49-F238E27FC236}">
                <a16:creationId xmlns:a16="http://schemas.microsoft.com/office/drawing/2014/main" id="{06D33169-EAE3-41BD-A284-4637B1629A7D}"/>
              </a:ext>
            </a:extLst>
          </p:cNvPr>
          <p:cNvSpPr>
            <a:spLocks xmlns:a="http://schemas.openxmlformats.org/drawingml/2006/main" noGrp="1"/>
          </p:cNvSpPr>
          <p:nvPr/>
        </p:nvSpPr>
        <p:spPr>
          <a:xfrm xmlns:a="http://schemas.openxmlformats.org/drawingml/2006/main">
            <a:off x="609600" y="1828800"/>
            <a:ext cx="7000875" cy="2872740"/>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3" name="text-1235">
            <a:extLst xmlns:a="http://schemas.openxmlformats.org/drawingml/2006/main">
              <a:ext uri="{FF2B5EF4-FFF2-40B4-BE49-F238E27FC236}">
                <a16:creationId xmlns:a16="http://schemas.microsoft.com/office/drawing/2014/main" id="{74E2B4BB-73E7-4D7C-B282-EEAFB9ABD8D6}"/>
              </a:ext>
            </a:extLst>
          </p:cNvPr>
          <p:cNvSpPr>
            <a:spLocks xmlns:a="http://schemas.openxmlformats.org/drawingml/2006/main" noGrp="1"/>
          </p:cNvSpPr>
          <p:nvPr/>
        </p:nvSpPr>
        <p:spPr>
          <a:xfrm xmlns:a="http://schemas.openxmlformats.org/drawingml/2006/main">
            <a:off x="847725" y="2076450"/>
            <a:ext cx="6543675" cy="2567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"PostToolUse": [{</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"matcher": "Edit|Write",</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"hooks": [{</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"type": "command",</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"command":</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"node 00-course-map/check-fixture.mjs"</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  }]</a:t>
            </a:r>
          </a:p>
          <a:p xmlns:a="http://schemas.openxmlformats.org/drawingml/2006/main">
            <a:pPr>
              <a:defRPr sz="1800" b="0" i="0">
                <a:solidFill>
                  <a:srgbClr val="FFFFFF"/>
                </a:solidFill>
                <a:latin typeface="Menlo"/>
                <a:ea typeface="Menlo"/>
                <a:cs typeface="Menlo"/>
              </a:defRPr>
            </a:pPr>
            <a:r>
              <a:rPr sz="1800" b="0" i="0">
                <a:solidFill>
                  <a:srgbClr val="FFFFFF"/>
                </a:solidFill>
                <a:latin typeface="Menlo"/>
                <a:ea typeface="Menlo"/>
                <a:cs typeface="Menlo"/>
              </a:rPr>
              <a:t>}]</a:t>
            </a:r>
          </a:p>
        </p:txBody>
      </p:sp>
      <p:sp>
        <p:nvSpPr>
          <p:cNvPr id="4" name="text-1236">
            <a:extLst xmlns:a="http://schemas.openxmlformats.org/drawingml/2006/main">
              <a:ext uri="{FF2B5EF4-FFF2-40B4-BE49-F238E27FC236}">
                <a16:creationId xmlns:a16="http://schemas.microsoft.com/office/drawing/2014/main" id="{D338AF65-B443-492C-A099-E5478A540671}"/>
              </a:ext>
            </a:extLst>
          </p:cNvPr>
          <p:cNvSpPr>
            <a:spLocks xmlns:a="http://schemas.openxmlformats.org/drawingml/2006/main" noGrp="1"/>
          </p:cNvSpPr>
          <p:nvPr/>
        </p:nvSpPr>
        <p:spPr>
          <a:xfrm xmlns:a="http://schemas.openxmlformats.org/drawingml/2006/main">
            <a:off x="7991475" y="19431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Trigger</a:t>
            </a:r>
          </a:p>
        </p:txBody>
      </p:sp>
      <p:sp>
        <p:nvSpPr>
          <p:cNvPr id="5" name="text-1237">
            <a:extLst xmlns:a="http://schemas.openxmlformats.org/drawingml/2006/main">
              <a:ext uri="{FF2B5EF4-FFF2-40B4-BE49-F238E27FC236}">
                <a16:creationId xmlns:a16="http://schemas.microsoft.com/office/drawing/2014/main" id="{1E65C141-879C-480C-BD19-F05A114E321B}"/>
              </a:ext>
            </a:extLst>
          </p:cNvPr>
          <p:cNvSpPr>
            <a:spLocks xmlns:a="http://schemas.openxmlformats.org/drawingml/2006/main" noGrp="1"/>
          </p:cNvSpPr>
          <p:nvPr/>
        </p:nvSpPr>
        <p:spPr>
          <a:xfrm xmlns:a="http://schemas.openxmlformats.org/drawingml/2006/main">
            <a:off x="7991475" y="23241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686868"/>
                </a:solidFill>
                <a:latin typeface="Helvetica Neue"/>
                <a:ea typeface="Helvetica Neue"/>
                <a:cs typeface="Helvetica Neue"/>
              </a:defRPr>
            </a:pPr>
            <a:r>
              <a:rPr sz="1725" b="0" i="0">
                <a:solidFill>
                  <a:srgbClr val="686868"/>
                </a:solidFill>
                <a:latin typeface="Helvetica Neue"/>
                <a:ea typeface="Helvetica Neue"/>
                <a:cs typeface="Helvetica Neue"/>
              </a:rPr>
              <a:t>After an Edit or Write tool call</a:t>
            </a:r>
          </a:p>
        </p:txBody>
      </p:sp>
      <p:sp>
        <p:nvSpPr>
          <p:cNvPr id="6" name="text-1238">
            <a:extLst xmlns:a="http://schemas.openxmlformats.org/drawingml/2006/main">
              <a:ext uri="{FF2B5EF4-FFF2-40B4-BE49-F238E27FC236}">
                <a16:creationId xmlns:a16="http://schemas.microsoft.com/office/drawing/2014/main" id="{EA4DA083-1C07-4448-B1C8-D6796313FCDC}"/>
              </a:ext>
            </a:extLst>
          </p:cNvPr>
          <p:cNvSpPr>
            <a:spLocks xmlns:a="http://schemas.openxmlformats.org/drawingml/2006/main" noGrp="1"/>
          </p:cNvSpPr>
          <p:nvPr/>
        </p:nvSpPr>
        <p:spPr>
          <a:xfrm xmlns:a="http://schemas.openxmlformats.org/drawingml/2006/main">
            <a:off x="7991475" y="318135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Command</a:t>
            </a:r>
          </a:p>
        </p:txBody>
      </p:sp>
      <p:sp>
        <p:nvSpPr>
          <p:cNvPr id="7" name="text-1239">
            <a:extLst xmlns:a="http://schemas.openxmlformats.org/drawingml/2006/main">
              <a:ext uri="{FF2B5EF4-FFF2-40B4-BE49-F238E27FC236}">
                <a16:creationId xmlns:a16="http://schemas.microsoft.com/office/drawing/2014/main" id="{1C329AF9-1318-41DA-8696-B3BA590BBAE9}"/>
              </a:ext>
            </a:extLst>
          </p:cNvPr>
          <p:cNvSpPr>
            <a:spLocks xmlns:a="http://schemas.openxmlformats.org/drawingml/2006/main" noGrp="1"/>
          </p:cNvSpPr>
          <p:nvPr/>
        </p:nvSpPr>
        <p:spPr>
          <a:xfrm xmlns:a="http://schemas.openxmlformats.org/drawingml/2006/main">
            <a:off x="7991475" y="356235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686868"/>
                </a:solidFill>
                <a:latin typeface="Helvetica Neue"/>
                <a:ea typeface="Helvetica Neue"/>
                <a:cs typeface="Helvetica Neue"/>
              </a:defRPr>
            </a:pPr>
            <a:r>
              <a:rPr sz="1725" b="0" i="0">
                <a:solidFill>
                  <a:srgbClr val="686868"/>
                </a:solidFill>
                <a:latin typeface="Helvetica Neue"/>
                <a:ea typeface="Helvetica Neue"/>
                <a:cs typeface="Helvetica Neue"/>
              </a:rPr>
              <a:t>Validate only the sample JSON</a:t>
            </a:r>
          </a:p>
        </p:txBody>
      </p:sp>
      <p:sp>
        <p:nvSpPr>
          <p:cNvPr id="8" name="text-1240">
            <a:extLst xmlns:a="http://schemas.openxmlformats.org/drawingml/2006/main">
              <a:ext uri="{FF2B5EF4-FFF2-40B4-BE49-F238E27FC236}">
                <a16:creationId xmlns:a16="http://schemas.microsoft.com/office/drawing/2014/main" id="{B14ACD1C-191B-41F0-9C7E-246D52EFBB9B}"/>
              </a:ext>
            </a:extLst>
          </p:cNvPr>
          <p:cNvSpPr>
            <a:spLocks xmlns:a="http://schemas.openxmlformats.org/drawingml/2006/main" noGrp="1"/>
          </p:cNvSpPr>
          <p:nvPr/>
        </p:nvSpPr>
        <p:spPr>
          <a:xfrm xmlns:a="http://schemas.openxmlformats.org/drawingml/2006/main">
            <a:off x="7991475" y="4419600"/>
            <a:ext cx="3590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i="0">
                <a:solidFill>
                  <a:srgbClr val="1C1C1C"/>
                </a:solidFill>
                <a:latin typeface="Avenir Next"/>
                <a:ea typeface="Avenir Next"/>
                <a:cs typeface="Avenir Next"/>
              </a:defRPr>
            </a:pPr>
            <a:r>
              <a:rPr sz="1950" b="1" i="0">
                <a:solidFill>
                  <a:srgbClr val="1C1C1C"/>
                </a:solidFill>
                <a:latin typeface="Avenir Next"/>
                <a:ea typeface="Avenir Next"/>
                <a:cs typeface="Avenir Next"/>
              </a:rPr>
              <a:t>Limit</a:t>
            </a:r>
          </a:p>
        </p:txBody>
      </p:sp>
      <p:sp>
        <p:nvSpPr>
          <p:cNvPr id="9" name="text-1241">
            <a:extLst xmlns:a="http://schemas.openxmlformats.org/drawingml/2006/main">
              <a:ext uri="{FF2B5EF4-FFF2-40B4-BE49-F238E27FC236}">
                <a16:creationId xmlns:a16="http://schemas.microsoft.com/office/drawing/2014/main" id="{D5E1032B-267D-45F2-B551-137135B76C8B}"/>
              </a:ext>
            </a:extLst>
          </p:cNvPr>
          <p:cNvSpPr>
            <a:spLocks xmlns:a="http://schemas.openxmlformats.org/drawingml/2006/main" noGrp="1"/>
          </p:cNvSpPr>
          <p:nvPr/>
        </p:nvSpPr>
        <p:spPr>
          <a:xfrm xmlns:a="http://schemas.openxmlformats.org/drawingml/2006/main">
            <a:off x="7991475" y="4800600"/>
            <a:ext cx="35909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i="0">
                <a:solidFill>
                  <a:srgbClr val="686868"/>
                </a:solidFill>
                <a:latin typeface="Helvetica Neue"/>
                <a:ea typeface="Helvetica Neue"/>
                <a:cs typeface="Helvetica Neue"/>
              </a:defRPr>
            </a:pPr>
            <a:r>
              <a:rPr sz="1725" b="0" i="0">
                <a:solidFill>
                  <a:srgbClr val="686868"/>
                </a:solidFill>
                <a:latin typeface="Helvetica Neue"/>
                <a:ea typeface="Helvetica Neue"/>
                <a:cs typeface="Helvetica Neue"/>
              </a:rPr>
              <a:t>Reports a problem after the edit; does not undo it</a:t>
            </a:r>
          </a:p>
        </p:txBody>
      </p:sp>
      <p:sp>
        <p:nvSpPr>
          <p:cNvPr id="10" name="text-1242">
            <a:extLst xmlns:a="http://schemas.openxmlformats.org/drawingml/2006/main">
              <a:ext uri="{FF2B5EF4-FFF2-40B4-BE49-F238E27FC236}">
                <a16:creationId xmlns:a16="http://schemas.microsoft.com/office/drawing/2014/main" id="{47971C41-17D5-424D-AF50-1DD59B0194D2}"/>
              </a:ext>
            </a:extLst>
          </p:cNvPr>
          <p:cNvSpPr>
            <a:spLocks xmlns:a="http://schemas.openxmlformats.org/drawingml/2006/main" noGrp="1"/>
          </p:cNvSpPr>
          <p:nvPr/>
        </p:nvSpPr>
        <p:spPr>
          <a:xfrm xmlns:a="http://schemas.openxmlformats.org/drawingml/2006/main">
            <a:off x="609600" y="6105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686868"/>
                </a:solidFill>
                <a:latin typeface="Helvetica Neue"/>
                <a:ea typeface="Helvetica Neue"/>
                <a:cs typeface="Helvetica Neue"/>
              </a:defRPr>
            </a:pPr>
            <a:r>
              <a:rPr sz="1500" b="0" i="0">
                <a:solidFill>
                  <a:srgbClr val="686868"/>
                </a:solidFill>
                <a:latin typeface="Helvetica Neue"/>
                <a:ea typeface="Helvetica Neue"/>
                <a:cs typeface="Helvetica Neue"/>
              </a:rPr>
              <a:t>.claude/settings.example.json · merge the hooks object after reviewing the script.</a:t>
            </a:r>
          </a:p>
        </p:txBody>
      </p:sp>
      <p:sp>
        <p:nvSpPr>
          <p:cNvPr id="11" name="text-1243">
            <a:extLst xmlns:a="http://schemas.openxmlformats.org/drawingml/2006/main">
              <a:ext uri="{FF2B5EF4-FFF2-40B4-BE49-F238E27FC236}">
                <a16:creationId xmlns:a16="http://schemas.microsoft.com/office/drawing/2014/main" id="{6C911899-FD07-489C-AB9A-29E8CD6094C4}"/>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133</a:t>
            </a:r>
          </a:p>
        </p:txBody>
      </p:sp>
    </p:spTree>
    <p:extLst>
      <p:ext uri="{BB962C8B-B14F-4D97-AF65-F5344CB8AC3E}">
        <p14:creationId xmlns:p14="http://schemas.microsoft.com/office/powerpoint/2010/main" val="1608881444"/>
      </p:ext>
    </p:extLst>
  </p:cSld>
</p:sld>
</file>

<file path=ppt/slides/slide13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244">
            <a:extLst xmlns:a="http://schemas.openxmlformats.org/drawingml/2006/main">
              <a:ext uri="{FF2B5EF4-FFF2-40B4-BE49-F238E27FC236}">
                <a16:creationId xmlns:a16="http://schemas.microsoft.com/office/drawing/2014/main" id="{0737301F-A462-4BE4-8C15-E85477ED5E7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Add a hook with a clear purpose</a:t>
            </a:r>
          </a:p>
        </p:txBody>
      </p:sp>
      <p:sp>
        <p:nvSpPr>
          <p:cNvPr id="2" name="panel-1245">
            <a:extLst xmlns:a="http://schemas.openxmlformats.org/drawingml/2006/main">
              <a:ext uri="{FF2B5EF4-FFF2-40B4-BE49-F238E27FC236}">
                <a16:creationId xmlns:a16="http://schemas.microsoft.com/office/drawing/2014/main" id="{DF4DF2FC-EE00-4F72-B841-24042B0FB1EA}"/>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246">
            <a:extLst xmlns:a="http://schemas.openxmlformats.org/drawingml/2006/main">
              <a:ext uri="{FF2B5EF4-FFF2-40B4-BE49-F238E27FC236}">
                <a16:creationId xmlns:a16="http://schemas.microsoft.com/office/drawing/2014/main" id="{5B64E4D8-D520-443D-B9BE-DF96A5B0D757}"/>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247">
            <a:extLst xmlns:a="http://schemas.openxmlformats.org/drawingml/2006/main">
              <a:ext uri="{FF2B5EF4-FFF2-40B4-BE49-F238E27FC236}">
                <a16:creationId xmlns:a16="http://schemas.microsoft.com/office/drawing/2014/main" id="{B77A9674-AB60-4A65-80D0-C06A3A1A5044}"/>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248">
            <a:extLst xmlns:a="http://schemas.openxmlformats.org/drawingml/2006/main">
              <a:ext uri="{FF2B5EF4-FFF2-40B4-BE49-F238E27FC236}">
                <a16:creationId xmlns:a16="http://schemas.microsoft.com/office/drawing/2014/main" id="{F7CF4DAC-0B76-42E9-9AAA-E88C33D1FCBB}"/>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249">
            <a:extLst xmlns:a="http://schemas.openxmlformats.org/drawingml/2006/main">
              <a:ext uri="{FF2B5EF4-FFF2-40B4-BE49-F238E27FC236}">
                <a16:creationId xmlns:a16="http://schemas.microsoft.com/office/drawing/2014/main" id="{B911F76D-BA2F-4A42-B782-241F3376D62E}"/>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Review 00-course-map/check-fixture.mjs and .claude/settings.example.json. Explain the checked files and limits. In an exercise copy, merge the hook into existing settings. Test one valid event and one invalid meeting without changing the reference data.</a:t>
            </a:r>
          </a:p>
        </p:txBody>
      </p:sp>
      <p:sp>
        <p:nvSpPr>
          <p:cNvPr id="7" name="text-1250">
            <a:extLst xmlns:a="http://schemas.openxmlformats.org/drawingml/2006/main">
              <a:ext uri="{FF2B5EF4-FFF2-40B4-BE49-F238E27FC236}">
                <a16:creationId xmlns:a16="http://schemas.microsoft.com/office/drawing/2014/main" id="{5930039C-EFB1-4C03-A902-49ED639456AE}"/>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Review:</a:t>
            </a:r>
            <a:r>
              <a:rPr sz="1875" b="0" i="0">
                <a:solidFill>
                  <a:srgbClr val="1C1C1C"/>
                </a:solidFill>
                <a:latin typeface="Helvetica Neue"/>
                <a:ea typeface="Helvetica Neue"/>
                <a:cs typeface="Helvetica Neue"/>
              </a:rPr>
              <a:t> reads executable code before enabling it.</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Integration:</a:t>
            </a:r>
            <a:r>
              <a:rPr sz="1875" b="0" i="0">
                <a:solidFill>
                  <a:srgbClr val="1C1C1C"/>
                </a:solidFill>
                <a:latin typeface="Helvetica Neue"/>
                <a:ea typeface="Helvetica Neue"/>
                <a:cs typeface="Helvetica Neue"/>
              </a:rPr>
              <a:t> preserves the project’s other settings.</a:t>
            </a:r>
          </a:p>
        </p:txBody>
      </p:sp>
      <p:sp>
        <p:nvSpPr>
          <p:cNvPr id="8" name="panel-1251">
            <a:extLst xmlns:a="http://schemas.openxmlformats.org/drawingml/2006/main">
              <a:ext uri="{FF2B5EF4-FFF2-40B4-BE49-F238E27FC236}">
                <a16:creationId xmlns:a16="http://schemas.microsoft.com/office/drawing/2014/main" id="{239BDB18-E7D4-4CC6-9A48-CC1520EB2749}"/>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252">
            <a:extLst xmlns:a="http://schemas.openxmlformats.org/drawingml/2006/main">
              <a:ext uri="{FF2B5EF4-FFF2-40B4-BE49-F238E27FC236}">
                <a16:creationId xmlns:a16="http://schemas.microsoft.com/office/drawing/2014/main" id="{F8563B26-15B2-4316-9278-4E50BEECB528}"/>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valid event passes and the invalid meeting is reported. The checker makes no network request.</a:t>
            </a:r>
          </a:p>
        </p:txBody>
      </p:sp>
      <p:sp>
        <p:nvSpPr>
          <p:cNvPr id="10" name="text-1253">
            <a:extLst xmlns:a="http://schemas.openxmlformats.org/drawingml/2006/main">
              <a:ext uri="{FF2B5EF4-FFF2-40B4-BE49-F238E27FC236}">
                <a16:creationId xmlns:a16="http://schemas.microsoft.com/office/drawing/2014/main" id="{BE78F63D-20D5-4978-BCF2-EED4E853A85D}"/>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134</a:t>
            </a:r>
          </a:p>
        </p:txBody>
      </p:sp>
    </p:spTree>
    <p:extLst>
      <p:ext uri="{BB962C8B-B14F-4D97-AF65-F5344CB8AC3E}">
        <p14:creationId xmlns:p14="http://schemas.microsoft.com/office/powerpoint/2010/main" val="1046177878"/>
      </p:ext>
    </p:extLst>
  </p:cSld>
</p:sld>
</file>

<file path=ppt/slides/slide13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5" name="text-1254">
            <a:extLst xmlns:a="http://schemas.openxmlformats.org/drawingml/2006/main">
              <a:ext uri="{FF2B5EF4-FFF2-40B4-BE49-F238E27FC236}">
                <a16:creationId xmlns:a16="http://schemas.microsoft.com/office/drawing/2014/main" id="{AD1B26A2-C89B-406E-9A4F-32E274C4368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concrete quality loop</a:t>
            </a:r>
          </a:p>
        </p:txBody>
      </p:sp>
      <p:sp>
        <p:nvSpPr>
          <p:cNvPr id="2" name="text-1255">
            <a:extLst xmlns:a="http://schemas.openxmlformats.org/drawingml/2006/main">
              <a:ext uri="{FF2B5EF4-FFF2-40B4-BE49-F238E27FC236}">
                <a16:creationId xmlns:a16="http://schemas.microsoft.com/office/drawing/2014/main" id="{740BDC4A-C343-489E-8980-CC199FC41813}"/>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1256">
            <a:extLst xmlns:a="http://schemas.openxmlformats.org/drawingml/2006/main">
              <a:ext uri="{FF2B5EF4-FFF2-40B4-BE49-F238E27FC236}">
                <a16:creationId xmlns:a16="http://schemas.microsoft.com/office/drawing/2014/main" id="{0DBF81CB-156B-4E9B-B187-9FCBE9895B85}"/>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257">
            <a:extLst xmlns:a="http://schemas.openxmlformats.org/drawingml/2006/main">
              <a:ext uri="{FF2B5EF4-FFF2-40B4-BE49-F238E27FC236}">
                <a16:creationId xmlns:a16="http://schemas.microsoft.com/office/drawing/2014/main" id="{80A402D5-E292-486A-B8F3-2B6AF5E9B6F9}"/>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Rule: cite sources</a:t>
            </a:r>
          </a:p>
        </p:txBody>
      </p:sp>
      <p:sp>
        <p:nvSpPr>
          <p:cNvPr id="5" name="panel-1258">
            <a:extLst xmlns:a="http://schemas.openxmlformats.org/drawingml/2006/main">
              <a:ext uri="{FF2B5EF4-FFF2-40B4-BE49-F238E27FC236}">
                <a16:creationId xmlns:a16="http://schemas.microsoft.com/office/drawing/2014/main" id="{7189ED8B-AEA4-49DE-98BE-F85CA3FEFBF8}"/>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1259">
            <a:extLst xmlns:a="http://schemas.openxmlformats.org/drawingml/2006/main">
              <a:ext uri="{FF2B5EF4-FFF2-40B4-BE49-F238E27FC236}">
                <a16:creationId xmlns:a16="http://schemas.microsoft.com/office/drawing/2014/main" id="{EF51B7F1-D2BC-4A4D-81FB-22B7FDAEC5CB}"/>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1"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1260">
            <a:extLst xmlns:a="http://schemas.openxmlformats.org/drawingml/2006/main">
              <a:ext uri="{FF2B5EF4-FFF2-40B4-BE49-F238E27FC236}">
                <a16:creationId xmlns:a16="http://schemas.microsoft.com/office/drawing/2014/main" id="{CAECA8AE-DA65-4845-A3EE-91B03FB806DB}"/>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1261">
            <a:extLst xmlns:a="http://schemas.openxmlformats.org/drawingml/2006/main">
              <a:ext uri="{FF2B5EF4-FFF2-40B4-BE49-F238E27FC236}">
                <a16:creationId xmlns:a16="http://schemas.microsoft.com/office/drawing/2014/main" id="{A10A2E48-225B-4523-8E9E-7C1D9136988E}"/>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1262">
            <a:extLst xmlns:a="http://schemas.openxmlformats.org/drawingml/2006/main">
              <a:ext uri="{FF2B5EF4-FFF2-40B4-BE49-F238E27FC236}">
                <a16:creationId xmlns:a16="http://schemas.microsoft.com/office/drawing/2014/main" id="{BA555909-AD38-4EEB-BF51-6C7093CE0C89}"/>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Skill: write brief</a:t>
            </a:r>
          </a:p>
        </p:txBody>
      </p:sp>
      <p:sp>
        <p:nvSpPr>
          <p:cNvPr id="11" name="panel-1263">
            <a:extLst xmlns:a="http://schemas.openxmlformats.org/drawingml/2006/main">
              <a:ext uri="{FF2B5EF4-FFF2-40B4-BE49-F238E27FC236}">
                <a16:creationId xmlns:a16="http://schemas.microsoft.com/office/drawing/2014/main" id="{84313850-FBDF-4997-98F0-ED32330C3785}"/>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1264">
            <a:extLst xmlns:a="http://schemas.openxmlformats.org/drawingml/2006/main">
              <a:ext uri="{FF2B5EF4-FFF2-40B4-BE49-F238E27FC236}">
                <a16:creationId xmlns:a16="http://schemas.microsoft.com/office/drawing/2014/main" id="{C6E10F6C-C76B-4145-8BE6-2943647350D8}"/>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7"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1265">
            <a:extLst xmlns:a="http://schemas.openxmlformats.org/drawingml/2006/main">
              <a:ext uri="{FF2B5EF4-FFF2-40B4-BE49-F238E27FC236}">
                <a16:creationId xmlns:a16="http://schemas.microsoft.com/office/drawing/2014/main" id="{87B80B1F-7F44-45A4-893A-006B294B269F}"/>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1266">
            <a:extLst xmlns:a="http://schemas.openxmlformats.org/drawingml/2006/main">
              <a:ext uri="{FF2B5EF4-FFF2-40B4-BE49-F238E27FC236}">
                <a16:creationId xmlns:a16="http://schemas.microsoft.com/office/drawing/2014/main" id="{BD433864-C680-4F10-B3C1-8DA4A2DDBDC2}"/>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1267">
            <a:extLst xmlns:a="http://schemas.openxmlformats.org/drawingml/2006/main">
              <a:ext uri="{FF2B5EF4-FFF2-40B4-BE49-F238E27FC236}">
                <a16:creationId xmlns:a16="http://schemas.microsoft.com/office/drawing/2014/main" id="{6A86B444-AFC2-45F8-AEC6-73AA34A09A89}"/>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Hook: check JSON</a:t>
            </a:r>
          </a:p>
        </p:txBody>
      </p:sp>
      <p:sp>
        <p:nvSpPr>
          <p:cNvPr id="17" name="panel-1268">
            <a:extLst xmlns:a="http://schemas.openxmlformats.org/drawingml/2006/main">
              <a:ext uri="{FF2B5EF4-FFF2-40B4-BE49-F238E27FC236}">
                <a16:creationId xmlns:a16="http://schemas.microsoft.com/office/drawing/2014/main" id="{7E0C6AD5-5643-419E-AD8C-6AF696AE180D}"/>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1269">
            <a:extLst xmlns:a="http://schemas.openxmlformats.org/drawingml/2006/main">
              <a:ext uri="{FF2B5EF4-FFF2-40B4-BE49-F238E27FC236}">
                <a16:creationId xmlns:a16="http://schemas.microsoft.com/office/drawing/2014/main" id="{547591F2-D8B5-4A3B-931C-E107D3CC684A}"/>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1270">
            <a:extLst xmlns:a="http://schemas.openxmlformats.org/drawingml/2006/main">
              <a:ext uri="{FF2B5EF4-FFF2-40B4-BE49-F238E27FC236}">
                <a16:creationId xmlns:a16="http://schemas.microsoft.com/office/drawing/2014/main" id="{69CC14C8-7B6B-4209-8E26-9F553F1BFEE3}"/>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1271">
            <a:extLst xmlns:a="http://schemas.openxmlformats.org/drawingml/2006/main">
              <a:ext uri="{FF2B5EF4-FFF2-40B4-BE49-F238E27FC236}">
                <a16:creationId xmlns:a16="http://schemas.microsoft.com/office/drawing/2014/main" id="{D49A8920-8215-486C-A785-BAD4EA7D6899}"/>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1272">
            <a:extLst xmlns:a="http://schemas.openxmlformats.org/drawingml/2006/main">
              <a:ext uri="{FF2B5EF4-FFF2-40B4-BE49-F238E27FC236}">
                <a16:creationId xmlns:a16="http://schemas.microsoft.com/office/drawing/2014/main" id="{28FDB891-FBD7-438F-BB0F-381876EF15AA}"/>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Person: review</a:t>
            </a:r>
          </a:p>
        </p:txBody>
      </p:sp>
      <p:sp>
        <p:nvSpPr>
          <p:cNvPr id="23" name="text-1273">
            <a:extLst xmlns:a="http://schemas.openxmlformats.org/drawingml/2006/main">
              <a:ext uri="{FF2B5EF4-FFF2-40B4-BE49-F238E27FC236}">
                <a16:creationId xmlns:a16="http://schemas.microsoft.com/office/drawing/2014/main" id="{32FA7275-20FC-41F0-85CA-25AF0B0A5B56}"/>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For the checklist proposal, the person confirms the owner and due date before saving.</a:t>
            </a:r>
          </a:p>
        </p:txBody>
      </p:sp>
      <p:sp>
        <p:nvSpPr>
          <p:cNvPr id="24" name="text-1274">
            <a:extLst xmlns:a="http://schemas.openxmlformats.org/drawingml/2006/main">
              <a:ext uri="{FF2B5EF4-FFF2-40B4-BE49-F238E27FC236}">
                <a16:creationId xmlns:a16="http://schemas.microsoft.com/office/drawing/2014/main" id="{13FAAD83-E682-46BC-BE4A-C81D37C71449}"/>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135</a:t>
            </a:r>
          </a:p>
        </p:txBody>
      </p:sp>
    </p:spTree>
    <p:extLst>
      <p:ext uri="{BB962C8B-B14F-4D97-AF65-F5344CB8AC3E}">
        <p14:creationId xmlns:p14="http://schemas.microsoft.com/office/powerpoint/2010/main" val="2123075901"/>
      </p:ext>
    </p:extLst>
  </p:cSld>
</p:sld>
</file>

<file path=ppt/slides/slide136.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14" name="text-1275">
            <a:extLst xmlns:a="http://schemas.openxmlformats.org/drawingml/2006/main">
              <a:ext uri="{FF2B5EF4-FFF2-40B4-BE49-F238E27FC236}">
                <a16:creationId xmlns:a16="http://schemas.microsoft.com/office/drawing/2014/main" id="{2B33AC40-3E23-4D23-82F6-12D2949354FB}"/>
              </a:ext>
            </a:extLst>
          </p:cNvPr>
          <p:cNvSpPr>
            <a:spLocks xmlns:a="http://schemas.openxmlformats.org/drawingml/2006/main" noGrp="1"/>
          </p:cNvSpPr>
          <p:nvPr/>
        </p:nvSpPr>
        <p:spPr>
          <a:xfrm xmlns:a="http://schemas.openxmlformats.org/drawingml/2006/main">
            <a:off x="609600" y="7905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i="0">
                <a:solidFill>
                  <a:srgbClr val="D1372D"/>
                </a:solidFill>
                <a:latin typeface="Avenir Next"/>
                <a:ea typeface="Avenir Next"/>
                <a:cs typeface="Avenir Next"/>
              </a:defRPr>
            </a:pPr>
            <a:r>
              <a:rPr sz="5400" b="1" i="0">
                <a:solidFill>
                  <a:srgbClr val="D1372D"/>
                </a:solidFill>
                <a:latin typeface="Avenir Next"/>
                <a:ea typeface="Avenir Next"/>
                <a:cs typeface="Avenir Next"/>
              </a:rPr>
              <a:t>LAB</a:t>
            </a:r>
          </a:p>
        </p:txBody>
      </p:sp>
      <p:sp>
        <p:nvSpPr>
          <p:cNvPr id="2" name="text-1276">
            <a:extLst xmlns:a="http://schemas.openxmlformats.org/drawingml/2006/main">
              <a:ext uri="{FF2B5EF4-FFF2-40B4-BE49-F238E27FC236}">
                <a16:creationId xmlns:a16="http://schemas.microsoft.com/office/drawing/2014/main" id="{CFA50E9B-F0FA-4458-958B-8215B9839E9E}"/>
              </a:ext>
            </a:extLst>
          </p:cNvPr>
          <p:cNvSpPr>
            <a:spLocks xmlns:a="http://schemas.openxmlformats.org/drawingml/2006/main" noGrp="1"/>
          </p:cNvSpPr>
          <p:nvPr/>
        </p:nvSpPr>
        <p:spPr>
          <a:xfrm xmlns:a="http://schemas.openxmlformats.org/drawingml/2006/main">
            <a:off x="609600" y="1752600"/>
            <a:ext cx="2619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1" i="0">
                <a:solidFill>
                  <a:srgbClr val="D1372D"/>
                </a:solidFill>
                <a:latin typeface="Avenir Next"/>
                <a:ea typeface="Avenir Next"/>
                <a:cs typeface="Avenir Next"/>
              </a:defRPr>
            </a:pPr>
            <a:r>
              <a:rPr sz="8700" b="1" i="0">
                <a:solidFill>
                  <a:srgbClr val="D1372D"/>
                </a:solidFill>
                <a:latin typeface="Avenir Next"/>
                <a:ea typeface="Avenir Next"/>
                <a:cs typeface="Avenir Next"/>
              </a:rPr>
              <a:t>04</a:t>
            </a:r>
          </a:p>
        </p:txBody>
      </p:sp>
      <p:sp>
        <p:nvSpPr>
          <p:cNvPr id="3" name="text-1277">
            <a:extLst xmlns:a="http://schemas.openxmlformats.org/drawingml/2006/main">
              <a:ext uri="{FF2B5EF4-FFF2-40B4-BE49-F238E27FC236}">
                <a16:creationId xmlns:a16="http://schemas.microsoft.com/office/drawing/2014/main" id="{863DE8DD-F809-48A2-A79C-5294C5EF1297}"/>
              </a:ext>
            </a:extLst>
          </p:cNvPr>
          <p:cNvSpPr>
            <a:spLocks xmlns:a="http://schemas.openxmlformats.org/drawingml/2006/main" noGrp="1"/>
          </p:cNvSpPr>
          <p:nvPr/>
        </p:nvSpPr>
        <p:spPr>
          <a:xfrm xmlns:a="http://schemas.openxmlformats.org/drawingml/2006/main">
            <a:off x="3600450" y="600075"/>
            <a:ext cx="7867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Build /client-brief</a:t>
            </a:r>
          </a:p>
        </p:txBody>
      </p:sp>
      <p:sp>
        <p:nvSpPr>
          <p:cNvPr id="4" name="text-1278">
            <a:extLst xmlns:a="http://schemas.openxmlformats.org/drawingml/2006/main">
              <a:ext uri="{FF2B5EF4-FFF2-40B4-BE49-F238E27FC236}">
                <a16:creationId xmlns:a16="http://schemas.microsoft.com/office/drawing/2014/main" id="{CC7572C2-435C-4AA7-8CF9-159E52531BDE}"/>
              </a:ext>
            </a:extLst>
          </p:cNvPr>
          <p:cNvSpPr>
            <a:spLocks xmlns:a="http://schemas.openxmlformats.org/drawingml/2006/main" noGrp="1"/>
          </p:cNvSpPr>
          <p:nvPr/>
        </p:nvSpPr>
        <p:spPr>
          <a:xfrm xmlns:a="http://schemas.openxmlformats.org/drawingml/2006/main">
            <a:off x="3600450" y="2114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5" name="text-1279">
            <a:extLst xmlns:a="http://schemas.openxmlformats.org/drawingml/2006/main">
              <a:ext uri="{FF2B5EF4-FFF2-40B4-BE49-F238E27FC236}">
                <a16:creationId xmlns:a16="http://schemas.microsoft.com/office/drawing/2014/main" id="{291F78E7-A346-4953-8162-DC517E5C1888}"/>
              </a:ext>
            </a:extLst>
          </p:cNvPr>
          <p:cNvSpPr>
            <a:spLocks xmlns:a="http://schemas.openxmlformats.org/drawingml/2006/main" noGrp="1"/>
          </p:cNvSpPr>
          <p:nvPr/>
        </p:nvSpPr>
        <p:spPr>
          <a:xfrm xmlns:a="http://schemas.openxmlformats.org/drawingml/2006/main">
            <a:off x="4505325" y="211455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Write the name, description, and argument hint</a:t>
            </a:r>
          </a:p>
        </p:txBody>
      </p:sp>
      <p:sp>
        <p:nvSpPr>
          <p:cNvPr id="6" name="text-1280">
            <a:extLst xmlns:a="http://schemas.openxmlformats.org/drawingml/2006/main">
              <a:ext uri="{FF2B5EF4-FFF2-40B4-BE49-F238E27FC236}">
                <a16:creationId xmlns:a16="http://schemas.microsoft.com/office/drawing/2014/main" id="{175780C2-1927-4BF4-B7FE-E9BFB6FE209D}"/>
              </a:ext>
            </a:extLst>
          </p:cNvPr>
          <p:cNvSpPr>
            <a:spLocks xmlns:a="http://schemas.openxmlformats.org/drawingml/2006/main" noGrp="1"/>
          </p:cNvSpPr>
          <p:nvPr/>
        </p:nvSpPr>
        <p:spPr>
          <a:xfrm xmlns:a="http://schemas.openxmlformats.org/drawingml/2006/main">
            <a:off x="3600450" y="30575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7" name="text-1281">
            <a:extLst xmlns:a="http://schemas.openxmlformats.org/drawingml/2006/main">
              <a:ext uri="{FF2B5EF4-FFF2-40B4-BE49-F238E27FC236}">
                <a16:creationId xmlns:a16="http://schemas.microsoft.com/office/drawing/2014/main" id="{C6B1079F-A1A9-4CF1-8F17-DC09F8B77510}"/>
              </a:ext>
            </a:extLst>
          </p:cNvPr>
          <p:cNvSpPr>
            <a:spLocks xmlns:a="http://schemas.openxmlformats.org/drawingml/2006/main" noGrp="1"/>
          </p:cNvSpPr>
          <p:nvPr/>
        </p:nvSpPr>
        <p:spPr>
          <a:xfrm xmlns:a="http://schemas.openxmlformats.org/drawingml/2006/main">
            <a:off x="4505325" y="3057525"/>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Define the evidence and required brief sections</a:t>
            </a:r>
          </a:p>
        </p:txBody>
      </p:sp>
      <p:sp>
        <p:nvSpPr>
          <p:cNvPr id="8" name="text-1282">
            <a:extLst xmlns:a="http://schemas.openxmlformats.org/drawingml/2006/main">
              <a:ext uri="{FF2B5EF4-FFF2-40B4-BE49-F238E27FC236}">
                <a16:creationId xmlns:a16="http://schemas.microsoft.com/office/drawing/2014/main" id="{95A12D7C-B720-4360-8E7F-1F3F81792A97}"/>
              </a:ext>
            </a:extLst>
          </p:cNvPr>
          <p:cNvSpPr>
            <a:spLocks xmlns:a="http://schemas.openxmlformats.org/drawingml/2006/main" noGrp="1"/>
          </p:cNvSpPr>
          <p:nvPr/>
        </p:nvSpPr>
        <p:spPr>
          <a:xfrm xmlns:a="http://schemas.openxmlformats.org/drawingml/2006/main">
            <a:off x="36004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9" name="text-1283">
            <a:extLst xmlns:a="http://schemas.openxmlformats.org/drawingml/2006/main">
              <a:ext uri="{FF2B5EF4-FFF2-40B4-BE49-F238E27FC236}">
                <a16:creationId xmlns:a16="http://schemas.microsoft.com/office/drawing/2014/main" id="{147389DF-90FB-45A3-A6B6-34070B5BA84D}"/>
              </a:ext>
            </a:extLst>
          </p:cNvPr>
          <p:cNvSpPr>
            <a:spLocks xmlns:a="http://schemas.openxmlformats.org/drawingml/2006/main" noGrp="1"/>
          </p:cNvSpPr>
          <p:nvPr/>
        </p:nvSpPr>
        <p:spPr>
          <a:xfrm xmlns:a="http://schemas.openxmlformats.org/drawingml/2006/main">
            <a:off x="4505325" y="400050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Run the Northstar example and an invalid input</a:t>
            </a:r>
          </a:p>
        </p:txBody>
      </p:sp>
      <p:sp>
        <p:nvSpPr>
          <p:cNvPr id="10" name="panel-1284">
            <a:extLst xmlns:a="http://schemas.openxmlformats.org/drawingml/2006/main">
              <a:ext uri="{FF2B5EF4-FFF2-40B4-BE49-F238E27FC236}">
                <a16:creationId xmlns:a16="http://schemas.microsoft.com/office/drawing/2014/main" id="{75A2B6D6-C028-42F3-8474-E24BD2CD033D}"/>
              </a:ext>
            </a:extLst>
          </p:cNvPr>
          <p:cNvSpPr>
            <a:spLocks xmlns:a="http://schemas.openxmlformats.org/drawingml/2006/main" noGrp="1"/>
          </p:cNvSpPr>
          <p:nvPr/>
        </p:nvSpPr>
        <p:spPr>
          <a:xfrm xmlns:a="http://schemas.openxmlformats.org/drawingml/2006/main">
            <a:off x="3600450" y="5219700"/>
            <a:ext cx="7715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1285">
            <a:extLst xmlns:a="http://schemas.openxmlformats.org/drawingml/2006/main">
              <a:ext uri="{FF2B5EF4-FFF2-40B4-BE49-F238E27FC236}">
                <a16:creationId xmlns:a16="http://schemas.microsoft.com/office/drawing/2014/main" id="{3C1998F3-57DC-4517-8AE3-AE3C0E215EB2}"/>
              </a:ext>
            </a:extLst>
          </p:cNvPr>
          <p:cNvSpPr>
            <a:spLocks xmlns:a="http://schemas.openxmlformats.org/drawingml/2006/main" noGrp="1"/>
          </p:cNvSpPr>
          <p:nvPr/>
        </p:nvSpPr>
        <p:spPr>
          <a:xfrm xmlns:a="http://schemas.openxmlformats.org/drawingml/2006/main">
            <a:off x="3600450" y="54959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i="0">
                <a:solidFill>
                  <a:srgbClr val="686868"/>
                </a:solidFill>
                <a:latin typeface="Helvetica Neue"/>
                <a:ea typeface="Helvetica Neue"/>
                <a:cs typeface="Helvetica Neue"/>
              </a:defRPr>
            </a:pPr>
            <a:r>
              <a:rPr sz="1650" b="0" i="0">
                <a:solidFill>
                  <a:srgbClr val="686868"/>
                </a:solidFill>
                <a:latin typeface="Helvetica Neue"/>
                <a:ea typeface="Helvetica Neue"/>
                <a:cs typeface="Helvetica Neue"/>
              </a:rPr>
              <a:t>00-course-map/labs/04-skill.md</a:t>
            </a:r>
          </a:p>
        </p:txBody>
      </p:sp>
      <p:sp>
        <p:nvSpPr>
          <p:cNvPr id="12" name="text-1286">
            <a:extLst xmlns:a="http://schemas.openxmlformats.org/drawingml/2006/main">
              <a:ext uri="{FF2B5EF4-FFF2-40B4-BE49-F238E27FC236}">
                <a16:creationId xmlns:a16="http://schemas.microsoft.com/office/drawing/2014/main" id="{9C63D917-7091-4054-B1E4-C9B2DAA69774}"/>
              </a:ext>
            </a:extLst>
          </p:cNvPr>
          <p:cNvSpPr>
            <a:spLocks xmlns:a="http://schemas.openxmlformats.org/drawingml/2006/main" noGrp="1"/>
          </p:cNvSpPr>
          <p:nvPr/>
        </p:nvSpPr>
        <p:spPr>
          <a:xfrm xmlns:a="http://schemas.openxmlformats.org/drawingml/2006/main">
            <a:off x="3600450" y="5876925"/>
            <a:ext cx="776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A manually invoked skill with a source-backed brief</a:t>
            </a:r>
          </a:p>
        </p:txBody>
      </p:sp>
      <p:sp>
        <p:nvSpPr>
          <p:cNvPr id="13" name="text-1287">
            <a:extLst xmlns:a="http://schemas.openxmlformats.org/drawingml/2006/main">
              <a:ext uri="{FF2B5EF4-FFF2-40B4-BE49-F238E27FC236}">
                <a16:creationId xmlns:a16="http://schemas.microsoft.com/office/drawing/2014/main" id="{4BEEA7DC-304A-4068-B214-6C90158152D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136</a:t>
            </a:r>
          </a:p>
        </p:txBody>
      </p:sp>
    </p:spTree>
    <p:extLst>
      <p:ext uri="{BB962C8B-B14F-4D97-AF65-F5344CB8AC3E}">
        <p14:creationId xmlns:p14="http://schemas.microsoft.com/office/powerpoint/2010/main" val="1919486820"/>
      </p:ext>
    </p:extLst>
  </p:cSld>
</p:sld>
</file>

<file path=ppt/slides/slide13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288">
            <a:extLst xmlns:a="http://schemas.openxmlformats.org/drawingml/2006/main">
              <a:ext uri="{FF2B5EF4-FFF2-40B4-BE49-F238E27FC236}">
                <a16:creationId xmlns:a16="http://schemas.microsoft.com/office/drawing/2014/main" id="{8E4BE86D-30BD-4536-BAA8-19D8C47B3CF3}"/>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skill review before sharing</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727075">
                <a:tc>
                  <a:txBody>
                    <a:bodyPr>
                      <a:noAutofit/>
                    </a:bodyPr>
                    <a:lstStyle/>
                    <a:p>
                      <a:r>
                        <a:rPr sz="1800" b="1" i="0">
                          <a:solidFill>
                            <a:srgbClr val="FFFFFF"/>
                          </a:solidFill>
                          <a:latin typeface="Helvetica Neue"/>
                          <a:ea typeface="Helvetica Neue"/>
                          <a:cs typeface="Helvetica Neue"/>
                        </a:rPr>
                        <a:t>Check</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00" b="1" i="0">
                          <a:solidFill>
                            <a:srgbClr val="FFFFFF"/>
                          </a:solidFill>
                          <a:latin typeface="Helvetica Neue"/>
                          <a:ea typeface="Helvetica Neue"/>
                          <a:cs typeface="Helvetica Neue"/>
                        </a:rPr>
                        <a:t>Evidence</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727075">
                <a:tc>
                  <a:txBody>
                    <a:bodyPr>
                      <a:noAutofit/>
                    </a:bodyPr>
                    <a:lstStyle/>
                    <a:p>
                      <a:r>
                        <a:rPr sz="1800" b="1" i="0">
                          <a:solidFill>
                            <a:srgbClr val="1C1C1C"/>
                          </a:solidFill>
                          <a:latin typeface="Helvetica Neue"/>
                          <a:ea typeface="Helvetica Neue"/>
                          <a:cs typeface="Helvetica Neue"/>
                        </a:rPr>
                        <a:t>Clear trigger</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Name and description explain the job</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Inputs</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Invalid client and date fail clearly</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Output</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Facts carry source IDs</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Permissions</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No hidden write or broad tool grant</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Dependencies</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Commands and paths are documented</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1289">
            <a:extLst xmlns:a="http://schemas.openxmlformats.org/drawingml/2006/main">
              <a:ext uri="{FF2B5EF4-FFF2-40B4-BE49-F238E27FC236}">
                <a16:creationId xmlns:a16="http://schemas.microsoft.com/office/drawing/2014/main" id="{11487244-9586-4638-ADE1-CCDE16FC14D0}"/>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137</a:t>
            </a:r>
          </a:p>
        </p:txBody>
      </p:sp>
    </p:spTree>
    <p:extLst>
      <p:ext uri="{BB962C8B-B14F-4D97-AF65-F5344CB8AC3E}">
        <p14:creationId xmlns:p14="http://schemas.microsoft.com/office/powerpoint/2010/main" val="187047439"/>
      </p:ext>
    </p:extLst>
  </p:cSld>
</p:sld>
</file>

<file path=ppt/slides/slide138.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4" name="text-1290">
            <a:extLst xmlns:a="http://schemas.openxmlformats.org/drawingml/2006/main">
              <a:ext uri="{FF2B5EF4-FFF2-40B4-BE49-F238E27FC236}">
                <a16:creationId xmlns:a16="http://schemas.microsoft.com/office/drawing/2014/main" id="{B301AA11-6A19-4D1F-B0F6-54BF4C6A177A}"/>
              </a:ext>
            </a:extLst>
          </p:cNvPr>
          <p:cNvSpPr>
            <a:spLocks xmlns:a="http://schemas.openxmlformats.org/drawingml/2006/main" noGrp="1"/>
          </p:cNvSpPr>
          <p:nvPr/>
        </p:nvSpPr>
        <p:spPr>
          <a:xfrm xmlns:a="http://schemas.openxmlformats.org/drawingml/2006/main">
            <a:off x="609600" y="60960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i="0">
                <a:solidFill>
                  <a:srgbClr val="1C1C1C"/>
                </a:solidFill>
                <a:latin typeface="Avenir Next"/>
                <a:ea typeface="Avenir Next"/>
                <a:cs typeface="Avenir Next"/>
              </a:defRPr>
            </a:pPr>
            <a:r>
              <a:rPr sz="4350" b="1" i="0">
                <a:solidFill>
                  <a:srgbClr val="1C1C1C"/>
                </a:solidFill>
                <a:latin typeface="Avenir Next"/>
                <a:ea typeface="Avenir Next"/>
                <a:cs typeface="Avenir Next"/>
              </a:rPr>
              <a:t>A fresh session is the real test</a:t>
            </a:r>
          </a:p>
        </p:txBody>
      </p:sp>
      <p:sp>
        <p:nvSpPr>
          <p:cNvPr id="2" name="text-1291">
            <a:extLst xmlns:a="http://schemas.openxmlformats.org/drawingml/2006/main">
              <a:ext uri="{FF2B5EF4-FFF2-40B4-BE49-F238E27FC236}">
                <a16:creationId xmlns:a16="http://schemas.microsoft.com/office/drawing/2014/main" id="{0D484B2D-D6C9-4254-957E-5397DCADBBCF}"/>
              </a:ext>
            </a:extLst>
          </p:cNvPr>
          <p:cNvSpPr>
            <a:spLocks xmlns:a="http://schemas.openxmlformats.org/drawingml/2006/main" noGrp="1"/>
          </p:cNvSpPr>
          <p:nvPr/>
        </p:nvSpPr>
        <p:spPr>
          <a:xfrm xmlns:a="http://schemas.openxmlformats.org/drawingml/2006/main">
            <a:off x="609600" y="2714625"/>
            <a:ext cx="1076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i="1">
                <a:solidFill>
                  <a:srgbClr val="1C1C1C"/>
                </a:solidFill>
                <a:latin typeface="Helvetica Neue"/>
                <a:ea typeface="Helvetica Neue"/>
                <a:cs typeface="Helvetica Neue"/>
              </a:defRPr>
            </a:pPr>
            <a:r>
              <a:rPr sz="4275" b="0" i="1">
                <a:solidFill>
                  <a:srgbClr val="1C1C1C"/>
                </a:solidFill>
                <a:latin typeface="Helvetica Neue"/>
                <a:ea typeface="Helvetica Neue"/>
                <a:cs typeface="Helvetica Neue"/>
              </a:rPr>
              <a:t>Could a teammate run /client-brief</a:t>
            </a:r>
          </a:p>
          <a:p xmlns:a="http://schemas.openxmlformats.org/drawingml/2006/main">
            <a:pPr>
              <a:defRPr sz="4275" b="0" i="1">
                <a:solidFill>
                  <a:srgbClr val="1C1C1C"/>
                </a:solidFill>
                <a:latin typeface="Helvetica Neue"/>
                <a:ea typeface="Helvetica Neue"/>
                <a:cs typeface="Helvetica Neue"/>
              </a:defRPr>
            </a:pPr>
            <a:r>
              <a:rPr sz="4275" b="0" i="1">
                <a:solidFill>
                  <a:srgbClr val="1C1C1C"/>
                </a:solidFill>
                <a:latin typeface="Helvetica Neue"/>
                <a:ea typeface="Helvetica Neue"/>
                <a:cs typeface="Helvetica Neue"/>
              </a:rPr>
              <a:t>using only the README</a:t>
            </a:r>
          </a:p>
          <a:p xmlns:a="http://schemas.openxmlformats.org/drawingml/2006/main">
            <a:pPr>
              <a:defRPr sz="4275" b="0" i="1">
                <a:solidFill>
                  <a:srgbClr val="1C1C1C"/>
                </a:solidFill>
                <a:latin typeface="Helvetica Neue"/>
                <a:ea typeface="Helvetica Neue"/>
                <a:cs typeface="Helvetica Neue"/>
              </a:defRPr>
            </a:pPr>
            <a:r>
              <a:rPr sz="4275" b="0" i="1">
                <a:solidFill>
                  <a:srgbClr val="1C1C1C"/>
                </a:solidFill>
                <a:latin typeface="Helvetica Neue"/>
                <a:ea typeface="Helvetica Neue"/>
                <a:cs typeface="Helvetica Neue"/>
              </a:rPr>
              <a:t>and a fresh conversation?</a:t>
            </a:r>
          </a:p>
        </p:txBody>
      </p:sp>
      <p:sp>
        <p:nvSpPr>
          <p:cNvPr id="3" name="text-1292">
            <a:extLst xmlns:a="http://schemas.openxmlformats.org/drawingml/2006/main">
              <a:ext uri="{FF2B5EF4-FFF2-40B4-BE49-F238E27FC236}">
                <a16:creationId xmlns:a16="http://schemas.microsoft.com/office/drawing/2014/main" id="{47C9E84C-DB2C-4390-A94E-0026D530933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138</a:t>
            </a:r>
          </a:p>
        </p:txBody>
      </p:sp>
    </p:spTree>
    <p:extLst>
      <p:ext uri="{BB962C8B-B14F-4D97-AF65-F5344CB8AC3E}">
        <p14:creationId xmlns:p14="http://schemas.microsoft.com/office/powerpoint/2010/main" val="735275428"/>
      </p:ext>
    </p:extLst>
  </p:cSld>
</p:sld>
</file>

<file path=ppt/slides/slide13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293">
            <a:extLst xmlns:a="http://schemas.openxmlformats.org/drawingml/2006/main">
              <a:ext uri="{FF2B5EF4-FFF2-40B4-BE49-F238E27FC236}">
                <a16:creationId xmlns:a16="http://schemas.microsoft.com/office/drawing/2014/main" id="{1717B278-FDDF-4AE1-AC06-3A8CDFC32ED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fresh-session rehearsal</a:t>
            </a:r>
          </a:p>
        </p:txBody>
      </p:sp>
      <p:sp>
        <p:nvSpPr>
          <p:cNvPr id="2" name="panel-1294">
            <a:extLst xmlns:a="http://schemas.openxmlformats.org/drawingml/2006/main">
              <a:ext uri="{FF2B5EF4-FFF2-40B4-BE49-F238E27FC236}">
                <a16:creationId xmlns:a16="http://schemas.microsoft.com/office/drawing/2014/main" id="{53326A62-E3C1-4EF2-99A4-241C4F2CEFB5}"/>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295">
            <a:extLst xmlns:a="http://schemas.openxmlformats.org/drawingml/2006/main">
              <a:ext uri="{FF2B5EF4-FFF2-40B4-BE49-F238E27FC236}">
                <a16:creationId xmlns:a16="http://schemas.microsoft.com/office/drawing/2014/main" id="{DABE60EB-0324-4B30-94DE-151DBCCC181B}"/>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296">
            <a:extLst xmlns:a="http://schemas.openxmlformats.org/drawingml/2006/main">
              <a:ext uri="{FF2B5EF4-FFF2-40B4-BE49-F238E27FC236}">
                <a16:creationId xmlns:a16="http://schemas.microsoft.com/office/drawing/2014/main" id="{BE2FCAE4-B804-422B-A10C-6C8F9A4C1517}"/>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297">
            <a:extLst xmlns:a="http://schemas.openxmlformats.org/drawingml/2006/main">
              <a:ext uri="{FF2B5EF4-FFF2-40B4-BE49-F238E27FC236}">
                <a16:creationId xmlns:a16="http://schemas.microsoft.com/office/drawing/2014/main" id="{9690058E-BBED-489C-99C0-075881A3279E}"/>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298">
            <a:extLst xmlns:a="http://schemas.openxmlformats.org/drawingml/2006/main">
              <a:ext uri="{FF2B5EF4-FFF2-40B4-BE49-F238E27FC236}">
                <a16:creationId xmlns:a16="http://schemas.microsoft.com/office/drawing/2014/main" id="{A27F0430-B364-4E0A-AF87-644BEA92559F}"/>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Read this release’s README in a fresh conversation. Follow its setup and run the documented Northstar brief example. Record every point where you need information that is absent from the files. Do not use the author’s earlier conversation.</a:t>
            </a:r>
          </a:p>
        </p:txBody>
      </p:sp>
      <p:sp>
        <p:nvSpPr>
          <p:cNvPr id="7" name="text-1299">
            <a:extLst xmlns:a="http://schemas.openxmlformats.org/drawingml/2006/main">
              <a:ext uri="{FF2B5EF4-FFF2-40B4-BE49-F238E27FC236}">
                <a16:creationId xmlns:a16="http://schemas.microsoft.com/office/drawing/2014/main" id="{59DA8E73-B04E-4D24-9FC6-585858EBC78B}"/>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Independence:</a:t>
            </a:r>
            <a:r>
              <a:rPr sz="1875" b="0" i="0">
                <a:solidFill>
                  <a:srgbClr val="1C1C1C"/>
                </a:solidFill>
                <a:latin typeface="Helvetica Neue"/>
                <a:ea typeface="Helvetica Neue"/>
                <a:cs typeface="Helvetica Neue"/>
              </a:rPr>
              <a:t> removes hidden chat context.</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Feedback:</a:t>
            </a:r>
            <a:r>
              <a:rPr sz="1875" b="0" i="0">
                <a:solidFill>
                  <a:srgbClr val="1C1C1C"/>
                </a:solidFill>
                <a:latin typeface="Helvetica Neue"/>
                <a:ea typeface="Helvetica Neue"/>
                <a:cs typeface="Helvetica Neue"/>
              </a:rPr>
              <a:t> turns guessing into a specific documentation defect.</a:t>
            </a:r>
          </a:p>
        </p:txBody>
      </p:sp>
      <p:sp>
        <p:nvSpPr>
          <p:cNvPr id="8" name="panel-1300">
            <a:extLst xmlns:a="http://schemas.openxmlformats.org/drawingml/2006/main">
              <a:ext uri="{FF2B5EF4-FFF2-40B4-BE49-F238E27FC236}">
                <a16:creationId xmlns:a16="http://schemas.microsoft.com/office/drawing/2014/main" id="{6EC46DD1-A359-49BB-8DE7-10A6ADC4DB4F}"/>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301">
            <a:extLst xmlns:a="http://schemas.openxmlformats.org/drawingml/2006/main">
              <a:ext uri="{FF2B5EF4-FFF2-40B4-BE49-F238E27FC236}">
                <a16:creationId xmlns:a16="http://schemas.microsoft.com/office/drawing/2014/main" id="{66F41606-8F90-4C55-BCA9-950CE910F652}"/>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teammate finishes or produces a reproducible missing-information report.</a:t>
            </a:r>
          </a:p>
        </p:txBody>
      </p:sp>
      <p:sp>
        <p:nvSpPr>
          <p:cNvPr id="10" name="text-1302">
            <a:extLst xmlns:a="http://schemas.openxmlformats.org/drawingml/2006/main">
              <a:ext uri="{FF2B5EF4-FFF2-40B4-BE49-F238E27FC236}">
                <a16:creationId xmlns:a16="http://schemas.microsoft.com/office/drawing/2014/main" id="{B408EB24-1A32-4BC3-91E6-FA48DC0B993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139</a:t>
            </a:r>
          </a:p>
        </p:txBody>
      </p:sp>
    </p:spTree>
    <p:extLst>
      <p:ext uri="{BB962C8B-B14F-4D97-AF65-F5344CB8AC3E}">
        <p14:creationId xmlns:p14="http://schemas.microsoft.com/office/powerpoint/2010/main" val="551968255"/>
      </p:ext>
    </p:extLst>
  </p:cSld>
</p:sld>
</file>

<file path=ppt/slides/slide140.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14" name="text-1303">
            <a:extLst xmlns:a="http://schemas.openxmlformats.org/drawingml/2006/main">
              <a:ext uri="{FF2B5EF4-FFF2-40B4-BE49-F238E27FC236}">
                <a16:creationId xmlns:a16="http://schemas.microsoft.com/office/drawing/2014/main" id="{7993EDD0-735D-4739-AF2F-2D48205AAF6C}"/>
              </a:ext>
            </a:extLst>
          </p:cNvPr>
          <p:cNvSpPr>
            <a:spLocks xmlns:a="http://schemas.openxmlformats.org/drawingml/2006/main" noGrp="1"/>
          </p:cNvSpPr>
          <p:nvPr/>
        </p:nvSpPr>
        <p:spPr>
          <a:xfrm xmlns:a="http://schemas.openxmlformats.org/drawingml/2006/main">
            <a:off x="609600" y="7905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i="0">
                <a:solidFill>
                  <a:srgbClr val="D1372D"/>
                </a:solidFill>
                <a:latin typeface="Avenir Next"/>
                <a:ea typeface="Avenir Next"/>
                <a:cs typeface="Avenir Next"/>
              </a:defRPr>
            </a:pPr>
            <a:r>
              <a:rPr sz="5400" b="1" i="0">
                <a:solidFill>
                  <a:srgbClr val="D1372D"/>
                </a:solidFill>
                <a:latin typeface="Avenir Next"/>
                <a:ea typeface="Avenir Next"/>
                <a:cs typeface="Avenir Next"/>
              </a:rPr>
              <a:t>LAB</a:t>
            </a:r>
          </a:p>
        </p:txBody>
      </p:sp>
      <p:sp>
        <p:nvSpPr>
          <p:cNvPr id="2" name="text-1304">
            <a:extLst xmlns:a="http://schemas.openxmlformats.org/drawingml/2006/main">
              <a:ext uri="{FF2B5EF4-FFF2-40B4-BE49-F238E27FC236}">
                <a16:creationId xmlns:a16="http://schemas.microsoft.com/office/drawing/2014/main" id="{C43F9971-E223-4B65-B033-7958329BA102}"/>
              </a:ext>
            </a:extLst>
          </p:cNvPr>
          <p:cNvSpPr>
            <a:spLocks xmlns:a="http://schemas.openxmlformats.org/drawingml/2006/main" noGrp="1"/>
          </p:cNvSpPr>
          <p:nvPr/>
        </p:nvSpPr>
        <p:spPr>
          <a:xfrm xmlns:a="http://schemas.openxmlformats.org/drawingml/2006/main">
            <a:off x="609600" y="1752600"/>
            <a:ext cx="2619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1" i="0">
                <a:solidFill>
                  <a:srgbClr val="D1372D"/>
                </a:solidFill>
                <a:latin typeface="Avenir Next"/>
                <a:ea typeface="Avenir Next"/>
                <a:cs typeface="Avenir Next"/>
              </a:defRPr>
            </a:pPr>
            <a:r>
              <a:rPr sz="8700" b="1" i="0">
                <a:solidFill>
                  <a:srgbClr val="D1372D"/>
                </a:solidFill>
                <a:latin typeface="Avenir Next"/>
                <a:ea typeface="Avenir Next"/>
                <a:cs typeface="Avenir Next"/>
              </a:rPr>
              <a:t>05</a:t>
            </a:r>
          </a:p>
        </p:txBody>
      </p:sp>
      <p:sp>
        <p:nvSpPr>
          <p:cNvPr id="3" name="text-1305">
            <a:extLst xmlns:a="http://schemas.openxmlformats.org/drawingml/2006/main">
              <a:ext uri="{FF2B5EF4-FFF2-40B4-BE49-F238E27FC236}">
                <a16:creationId xmlns:a16="http://schemas.microsoft.com/office/drawing/2014/main" id="{B32610FE-73B0-47FA-984A-DADA4F3015B0}"/>
              </a:ext>
            </a:extLst>
          </p:cNvPr>
          <p:cNvSpPr>
            <a:spLocks xmlns:a="http://schemas.openxmlformats.org/drawingml/2006/main" noGrp="1"/>
          </p:cNvSpPr>
          <p:nvPr/>
        </p:nvSpPr>
        <p:spPr>
          <a:xfrm xmlns:a="http://schemas.openxmlformats.org/drawingml/2006/main">
            <a:off x="3600450" y="600075"/>
            <a:ext cx="7867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Run it cold</a:t>
            </a:r>
          </a:p>
        </p:txBody>
      </p:sp>
      <p:sp>
        <p:nvSpPr>
          <p:cNvPr id="4" name="text-1306">
            <a:extLst xmlns:a="http://schemas.openxmlformats.org/drawingml/2006/main">
              <a:ext uri="{FF2B5EF4-FFF2-40B4-BE49-F238E27FC236}">
                <a16:creationId xmlns:a16="http://schemas.microsoft.com/office/drawing/2014/main" id="{FA2F820E-DAC2-4554-B3A4-C1E308BAC20E}"/>
              </a:ext>
            </a:extLst>
          </p:cNvPr>
          <p:cNvSpPr>
            <a:spLocks xmlns:a="http://schemas.openxmlformats.org/drawingml/2006/main" noGrp="1"/>
          </p:cNvSpPr>
          <p:nvPr/>
        </p:nvSpPr>
        <p:spPr>
          <a:xfrm xmlns:a="http://schemas.openxmlformats.org/drawingml/2006/main">
            <a:off x="3600450" y="2114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5" name="text-1307">
            <a:extLst xmlns:a="http://schemas.openxmlformats.org/drawingml/2006/main">
              <a:ext uri="{FF2B5EF4-FFF2-40B4-BE49-F238E27FC236}">
                <a16:creationId xmlns:a16="http://schemas.microsoft.com/office/drawing/2014/main" id="{C87FEA10-1731-4007-9190-3D906EAF0B8B}"/>
              </a:ext>
            </a:extLst>
          </p:cNvPr>
          <p:cNvSpPr>
            <a:spLocks xmlns:a="http://schemas.openxmlformats.org/drawingml/2006/main" noGrp="1"/>
          </p:cNvSpPr>
          <p:nvPr/>
        </p:nvSpPr>
        <p:spPr>
          <a:xfrm xmlns:a="http://schemas.openxmlformats.org/drawingml/2006/main">
            <a:off x="4505325" y="211455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Use a fresh session and the written README</a:t>
            </a:r>
          </a:p>
        </p:txBody>
      </p:sp>
      <p:sp>
        <p:nvSpPr>
          <p:cNvPr id="6" name="text-1308">
            <a:extLst xmlns:a="http://schemas.openxmlformats.org/drawingml/2006/main">
              <a:ext uri="{FF2B5EF4-FFF2-40B4-BE49-F238E27FC236}">
                <a16:creationId xmlns:a16="http://schemas.microsoft.com/office/drawing/2014/main" id="{EAF147A0-8651-4ED4-8EA6-D7A09E7B7ABB}"/>
              </a:ext>
            </a:extLst>
          </p:cNvPr>
          <p:cNvSpPr>
            <a:spLocks xmlns:a="http://schemas.openxmlformats.org/drawingml/2006/main" noGrp="1"/>
          </p:cNvSpPr>
          <p:nvPr/>
        </p:nvSpPr>
        <p:spPr>
          <a:xfrm xmlns:a="http://schemas.openxmlformats.org/drawingml/2006/main">
            <a:off x="3600450" y="30575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7" name="text-1309">
            <a:extLst xmlns:a="http://schemas.openxmlformats.org/drawingml/2006/main">
              <a:ext uri="{FF2B5EF4-FFF2-40B4-BE49-F238E27FC236}">
                <a16:creationId xmlns:a16="http://schemas.microsoft.com/office/drawing/2014/main" id="{858386EF-90A7-4D29-9829-1BA2A8D701BE}"/>
              </a:ext>
            </a:extLst>
          </p:cNvPr>
          <p:cNvSpPr>
            <a:spLocks xmlns:a="http://schemas.openxmlformats.org/drawingml/2006/main" noGrp="1"/>
          </p:cNvSpPr>
          <p:nvPr/>
        </p:nvSpPr>
        <p:spPr>
          <a:xfrm xmlns:a="http://schemas.openxmlformats.org/drawingml/2006/main">
            <a:off x="4505325" y="3057525"/>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Run a normal case and a missing-data case</a:t>
            </a:r>
          </a:p>
        </p:txBody>
      </p:sp>
      <p:sp>
        <p:nvSpPr>
          <p:cNvPr id="8" name="text-1310">
            <a:extLst xmlns:a="http://schemas.openxmlformats.org/drawingml/2006/main">
              <a:ext uri="{FF2B5EF4-FFF2-40B4-BE49-F238E27FC236}">
                <a16:creationId xmlns:a16="http://schemas.microsoft.com/office/drawing/2014/main" id="{111DDCDD-4786-4388-87E8-8A1A21F1E30F}"/>
              </a:ext>
            </a:extLst>
          </p:cNvPr>
          <p:cNvSpPr>
            <a:spLocks xmlns:a="http://schemas.openxmlformats.org/drawingml/2006/main" noGrp="1"/>
          </p:cNvSpPr>
          <p:nvPr/>
        </p:nvSpPr>
        <p:spPr>
          <a:xfrm xmlns:a="http://schemas.openxmlformats.org/drawingml/2006/main">
            <a:off x="36004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9" name="text-1311">
            <a:extLst xmlns:a="http://schemas.openxmlformats.org/drawingml/2006/main">
              <a:ext uri="{FF2B5EF4-FFF2-40B4-BE49-F238E27FC236}">
                <a16:creationId xmlns:a16="http://schemas.microsoft.com/office/drawing/2014/main" id="{51C7B018-8D60-44BA-AB55-87E95670C4B6}"/>
              </a:ext>
            </a:extLst>
          </p:cNvPr>
          <p:cNvSpPr>
            <a:spLocks xmlns:a="http://schemas.openxmlformats.org/drawingml/2006/main" noGrp="1"/>
          </p:cNvSpPr>
          <p:nvPr/>
        </p:nvSpPr>
        <p:spPr>
          <a:xfrm xmlns:a="http://schemas.openxmlformats.org/drawingml/2006/main">
            <a:off x="4505325" y="400050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Record where the user had to guess</a:t>
            </a:r>
          </a:p>
        </p:txBody>
      </p:sp>
      <p:sp>
        <p:nvSpPr>
          <p:cNvPr id="10" name="panel-1312">
            <a:extLst xmlns:a="http://schemas.openxmlformats.org/drawingml/2006/main">
              <a:ext uri="{FF2B5EF4-FFF2-40B4-BE49-F238E27FC236}">
                <a16:creationId xmlns:a16="http://schemas.microsoft.com/office/drawing/2014/main" id="{63C8F494-6D82-4DC5-9FBE-ED48A3EAB5A8}"/>
              </a:ext>
            </a:extLst>
          </p:cNvPr>
          <p:cNvSpPr>
            <a:spLocks xmlns:a="http://schemas.openxmlformats.org/drawingml/2006/main" noGrp="1"/>
          </p:cNvSpPr>
          <p:nvPr/>
        </p:nvSpPr>
        <p:spPr>
          <a:xfrm xmlns:a="http://schemas.openxmlformats.org/drawingml/2006/main">
            <a:off x="3600450" y="5219700"/>
            <a:ext cx="7715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1313">
            <a:extLst xmlns:a="http://schemas.openxmlformats.org/drawingml/2006/main">
              <a:ext uri="{FF2B5EF4-FFF2-40B4-BE49-F238E27FC236}">
                <a16:creationId xmlns:a16="http://schemas.microsoft.com/office/drawing/2014/main" id="{512A815D-FBF6-470B-BA0D-81B96C92612E}"/>
              </a:ext>
            </a:extLst>
          </p:cNvPr>
          <p:cNvSpPr>
            <a:spLocks xmlns:a="http://schemas.openxmlformats.org/drawingml/2006/main" noGrp="1"/>
          </p:cNvSpPr>
          <p:nvPr/>
        </p:nvSpPr>
        <p:spPr>
          <a:xfrm xmlns:a="http://schemas.openxmlformats.org/drawingml/2006/main">
            <a:off x="3600450" y="54959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i="0">
                <a:solidFill>
                  <a:srgbClr val="686868"/>
                </a:solidFill>
                <a:latin typeface="Helvetica Neue"/>
                <a:ea typeface="Helvetica Neue"/>
                <a:cs typeface="Helvetica Neue"/>
              </a:defRPr>
            </a:pPr>
            <a:r>
              <a:rPr sz="1650" b="0" i="0">
                <a:solidFill>
                  <a:srgbClr val="686868"/>
                </a:solidFill>
                <a:latin typeface="Helvetica Neue"/>
                <a:ea typeface="Helvetica Neue"/>
                <a:cs typeface="Helvetica Neue"/>
              </a:rPr>
              <a:t>00-course-map/labs/05-cold-run.md</a:t>
            </a:r>
          </a:p>
        </p:txBody>
      </p:sp>
      <p:sp>
        <p:nvSpPr>
          <p:cNvPr id="12" name="text-1314">
            <a:extLst xmlns:a="http://schemas.openxmlformats.org/drawingml/2006/main">
              <a:ext uri="{FF2B5EF4-FFF2-40B4-BE49-F238E27FC236}">
                <a16:creationId xmlns:a16="http://schemas.microsoft.com/office/drawing/2014/main" id="{921FD360-A962-4714-AE5F-1B4B8EB8067F}"/>
              </a:ext>
            </a:extLst>
          </p:cNvPr>
          <p:cNvSpPr>
            <a:spLocks xmlns:a="http://schemas.openxmlformats.org/drawingml/2006/main" noGrp="1"/>
          </p:cNvSpPr>
          <p:nvPr/>
        </p:nvSpPr>
        <p:spPr>
          <a:xfrm xmlns:a="http://schemas.openxmlformats.org/drawingml/2006/main">
            <a:off x="3600450" y="5876925"/>
            <a:ext cx="776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One reproducible friction report</a:t>
            </a:r>
          </a:p>
        </p:txBody>
      </p:sp>
      <p:sp>
        <p:nvSpPr>
          <p:cNvPr id="13" name="text-1315">
            <a:extLst xmlns:a="http://schemas.openxmlformats.org/drawingml/2006/main">
              <a:ext uri="{FF2B5EF4-FFF2-40B4-BE49-F238E27FC236}">
                <a16:creationId xmlns:a16="http://schemas.microsoft.com/office/drawing/2014/main" id="{C1D0DF6D-9FDC-4B5C-8C01-25381599C55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140</a:t>
            </a:r>
          </a:p>
        </p:txBody>
      </p:sp>
    </p:spTree>
    <p:extLst>
      <p:ext uri="{BB962C8B-B14F-4D97-AF65-F5344CB8AC3E}">
        <p14:creationId xmlns:p14="http://schemas.microsoft.com/office/powerpoint/2010/main" val="1593855399"/>
      </p:ext>
    </p:extLst>
  </p:cSld>
</p:sld>
</file>

<file path=ppt/slides/slide14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316">
            <a:extLst xmlns:a="http://schemas.openxmlformats.org/drawingml/2006/main">
              <a:ext uri="{FF2B5EF4-FFF2-40B4-BE49-F238E27FC236}">
                <a16:creationId xmlns:a16="http://schemas.microsoft.com/office/drawing/2014/main" id="{761CA660-B0CA-4A2F-8664-DB07C27F4A10}"/>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Fix the layer that caused the failure</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872490">
                <a:tc>
                  <a:txBody>
                    <a:bodyPr>
                      <a:noAutofit/>
                    </a:bodyPr>
                    <a:lstStyle/>
                    <a:p>
                      <a:r>
                        <a:rPr sz="1875" b="1" i="0">
                          <a:solidFill>
                            <a:srgbClr val="FFFFFF"/>
                          </a:solidFill>
                          <a:latin typeface="Helvetica Neue"/>
                          <a:ea typeface="Helvetica Neue"/>
                          <a:cs typeface="Helvetica Neue"/>
                        </a:rPr>
                        <a:t>Observed problem</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Likely layer</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Revision</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872490">
                <a:tc>
                  <a:txBody>
                    <a:bodyPr>
                      <a:noAutofit/>
                    </a:bodyPr>
                    <a:lstStyle/>
                    <a:p>
                      <a:r>
                        <a:rPr sz="1875" b="1" i="1">
                          <a:solidFill>
                            <a:srgbClr val="1C1C1C"/>
                          </a:solidFill>
                          <a:latin typeface="Helvetica Neue"/>
                          <a:ea typeface="Helvetica Neue"/>
                          <a:cs typeface="Helvetica Neue"/>
                        </a:rPr>
                        <a:t>“Which ID should I use?”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Naming and help</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List IDs and show an example</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A guessed due date looks factual</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Skill and template</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Label it proposed</a:t>
                      </a:r>
                    </a:p>
                  </a:txBody>
                  <a:tcPr marL="171450" marR="171450" marT="114300" marB="114300" anchor="ctr">
                    <a:lnR w="19050">
                      <a:solidFill>
                        <a:srgbClr val="F8F5F0"/>
                      </a:solidFill>
                    </a:lnR>
                    <a:lnB w="19050">
                      <a:solidFill>
                        <a:srgbClr val="F8F5F0"/>
                      </a:solidFill>
                    </a:lnB>
                    <a:solidFill>
                      <a:srgbClr val="F8F5F0"/>
                    </a:solidFill>
                  </a:tcPr>
                </a:tc>
              </a:tr>
              <a:tr h="872490">
                <a:tc>
                  <a:txBody>
                    <a:bodyPr>
                      <a:noAutofit/>
                    </a:bodyPr>
                    <a:lstStyle/>
                    <a:p>
                      <a:r>
                        <a:rPr sz="1875" b="1" i="0">
                          <a:solidFill>
                            <a:srgbClr val="1C1C1C"/>
                          </a:solidFill>
                          <a:latin typeface="Helvetica Neue"/>
                          <a:ea typeface="Helvetica Neue"/>
                          <a:cs typeface="Helvetica Neue"/>
                        </a:rPr>
                        <a:t>A field is missing from JSON</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Data conversion</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Check the required fields</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A private record is exposed</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Access rules</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Fix the rule, then retest</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1317">
            <a:extLst xmlns:a="http://schemas.openxmlformats.org/drawingml/2006/main">
              <a:ext uri="{FF2B5EF4-FFF2-40B4-BE49-F238E27FC236}">
                <a16:creationId xmlns:a16="http://schemas.microsoft.com/office/drawing/2014/main" id="{0A72C741-DF15-4360-876F-FF49654764E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141</a:t>
            </a:r>
          </a:p>
        </p:txBody>
      </p:sp>
    </p:spTree>
    <p:extLst>
      <p:ext uri="{BB962C8B-B14F-4D97-AF65-F5344CB8AC3E}">
        <p14:creationId xmlns:p14="http://schemas.microsoft.com/office/powerpoint/2010/main" val="855167129"/>
      </p:ext>
    </p:extLst>
  </p:cSld>
</p:sld>
</file>

<file path=ppt/slides/slide142.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318">
            <a:extLst xmlns:a="http://schemas.openxmlformats.org/drawingml/2006/main">
              <a:ext uri="{FF2B5EF4-FFF2-40B4-BE49-F238E27FC236}">
                <a16:creationId xmlns:a16="http://schemas.microsoft.com/office/drawing/2014/main" id="{4F1EDF3E-FB3B-427F-9C1D-FE402C65FC0B}"/>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One observed defect, one revision</a:t>
            </a:r>
          </a:p>
        </p:txBody>
      </p:sp>
      <p:sp>
        <p:nvSpPr>
          <p:cNvPr id="2" name="panel-1319">
            <a:extLst xmlns:a="http://schemas.openxmlformats.org/drawingml/2006/main">
              <a:ext uri="{FF2B5EF4-FFF2-40B4-BE49-F238E27FC236}">
                <a16:creationId xmlns:a16="http://schemas.microsoft.com/office/drawing/2014/main" id="{46DF3284-588C-4D17-9A1E-9DB90B1A472F}"/>
              </a:ext>
            </a:extLst>
          </p:cNvPr>
          <p:cNvSpPr>
            <a:spLocks xmlns:a="http://schemas.openxmlformats.org/drawingml/2006/main" noGrp="1"/>
          </p:cNvSpPr>
          <p:nvPr/>
        </p:nvSpPr>
        <p:spPr>
          <a:xfrm xmlns:a="http://schemas.openxmlformats.org/drawingml/2006/main">
            <a:off x="609600" y="1962150"/>
            <a:ext cx="52197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panel-1320">
            <a:extLst xmlns:a="http://schemas.openxmlformats.org/drawingml/2006/main">
              <a:ext uri="{FF2B5EF4-FFF2-40B4-BE49-F238E27FC236}">
                <a16:creationId xmlns:a16="http://schemas.microsoft.com/office/drawing/2014/main" id="{91BC1D17-FEA8-4B48-A571-1990D363EC32}"/>
              </a:ext>
            </a:extLst>
          </p:cNvPr>
          <p:cNvSpPr>
            <a:spLocks xmlns:a="http://schemas.openxmlformats.org/drawingml/2006/main" noGrp="1"/>
          </p:cNvSpPr>
          <p:nvPr/>
        </p:nvSpPr>
        <p:spPr>
          <a:xfrm xmlns:a="http://schemas.openxmlformats.org/drawingml/2006/main">
            <a:off x="6057900" y="1962150"/>
            <a:ext cx="55245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321">
            <a:extLst xmlns:a="http://schemas.openxmlformats.org/drawingml/2006/main">
              <a:ext uri="{FF2B5EF4-FFF2-40B4-BE49-F238E27FC236}">
                <a16:creationId xmlns:a16="http://schemas.microsoft.com/office/drawing/2014/main" id="{52DFFC74-72B0-48A9-A6B0-1A2B9EFAB620}"/>
              </a:ext>
            </a:extLst>
          </p:cNvPr>
          <p:cNvSpPr>
            <a:spLocks xmlns:a="http://schemas.openxmlformats.org/drawingml/2006/main" noGrp="1"/>
          </p:cNvSpPr>
          <p:nvPr/>
        </p:nvSpPr>
        <p:spPr>
          <a:xfrm xmlns:a="http://schemas.openxmlformats.org/drawingml/2006/main">
            <a:off x="914400" y="2295525"/>
            <a:ext cx="4524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Observed</a:t>
            </a:r>
          </a:p>
        </p:txBody>
      </p:sp>
      <p:sp>
        <p:nvSpPr>
          <p:cNvPr id="5" name="text-1322">
            <a:extLst xmlns:a="http://schemas.openxmlformats.org/drawingml/2006/main">
              <a:ext uri="{FF2B5EF4-FFF2-40B4-BE49-F238E27FC236}">
                <a16:creationId xmlns:a16="http://schemas.microsoft.com/office/drawing/2014/main" id="{FE999FBF-BCD6-4BD2-A587-8C7B5C96E4E8}"/>
              </a:ext>
            </a:extLst>
          </p:cNvPr>
          <p:cNvSpPr>
            <a:spLocks xmlns:a="http://schemas.openxmlformats.org/drawingml/2006/main" noGrp="1"/>
          </p:cNvSpPr>
          <p:nvPr/>
        </p:nvSpPr>
        <p:spPr>
          <a:xfrm xmlns:a="http://schemas.openxmlformats.org/drawingml/2006/main">
            <a:off x="914400" y="343852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The brief says “Due Friday”</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although the meeting never</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agreed a date.</a:t>
            </a:r>
          </a:p>
        </p:txBody>
      </p:sp>
      <p:sp>
        <p:nvSpPr>
          <p:cNvPr id="6" name="text-1323">
            <a:extLst xmlns:a="http://schemas.openxmlformats.org/drawingml/2006/main">
              <a:ext uri="{FF2B5EF4-FFF2-40B4-BE49-F238E27FC236}">
                <a16:creationId xmlns:a16="http://schemas.microsoft.com/office/drawing/2014/main" id="{94F257EA-406A-4C7D-BA1A-AE2FFC6C9186}"/>
              </a:ext>
            </a:extLst>
          </p:cNvPr>
          <p:cNvSpPr>
            <a:spLocks xmlns:a="http://schemas.openxmlformats.org/drawingml/2006/main" noGrp="1"/>
          </p:cNvSpPr>
          <p:nvPr/>
        </p:nvSpPr>
        <p:spPr>
          <a:xfrm xmlns:a="http://schemas.openxmlformats.org/drawingml/2006/main">
            <a:off x="6372225" y="2295525"/>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i="0">
                <a:solidFill>
                  <a:srgbClr val="1C1C1C"/>
                </a:solidFill>
                <a:latin typeface="Avenir Next"/>
                <a:ea typeface="Avenir Next"/>
                <a:cs typeface="Avenir Next"/>
              </a:defRPr>
            </a:pPr>
            <a:r>
              <a:rPr sz="2925" b="1" i="0">
                <a:solidFill>
                  <a:srgbClr val="1C1C1C"/>
                </a:solidFill>
                <a:latin typeface="Avenir Next"/>
                <a:ea typeface="Avenir Next"/>
                <a:cs typeface="Avenir Next"/>
              </a:rPr>
              <a:t>Revision</a:t>
            </a:r>
          </a:p>
        </p:txBody>
      </p:sp>
      <p:sp>
        <p:nvSpPr>
          <p:cNvPr id="7" name="text-1324">
            <a:extLst xmlns:a="http://schemas.openxmlformats.org/drawingml/2006/main">
              <a:ext uri="{FF2B5EF4-FFF2-40B4-BE49-F238E27FC236}">
                <a16:creationId xmlns:a16="http://schemas.microsoft.com/office/drawing/2014/main" id="{AC195CF6-FAA3-49AA-82F1-03AFD150D532}"/>
              </a:ext>
            </a:extLst>
          </p:cNvPr>
          <p:cNvSpPr>
            <a:spLocks xmlns:a="http://schemas.openxmlformats.org/drawingml/2006/main" noGrp="1"/>
          </p:cNvSpPr>
          <p:nvPr/>
        </p:nvSpPr>
        <p:spPr>
          <a:xfrm xmlns:a="http://schemas.openxmlformats.org/drawingml/2006/main">
            <a:off x="6372225" y="3438525"/>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Move it under “Proposed”</a:t>
            </a:r>
          </a:p>
          <a:p xmlns:a="http://schemas.openxmlformats.org/drawingml/2006/main">
            <a:pPr>
              <a:defRPr sz="2325" b="0" i="0">
                <a:solidFill>
                  <a:srgbClr val="1C1C1C"/>
                </a:solidFill>
                <a:latin typeface="Helvetica Neue"/>
                <a:ea typeface="Helvetica Neue"/>
                <a:cs typeface="Helvetica Neue"/>
              </a:defRPr>
            </a:pPr>
            <a:r>
              <a:rPr sz="2325" b="0" i="0">
                <a:solidFill>
                  <a:srgbClr val="1C1C1C"/>
                </a:solidFill>
                <a:latin typeface="Helvetica Neue"/>
                <a:ea typeface="Helvetica Neue"/>
                <a:cs typeface="Helvetica Neue"/>
              </a:rPr>
              <a:t>and require review before save.</a:t>
            </a:r>
          </a:p>
        </p:txBody>
      </p:sp>
      <p:sp>
        <p:nvSpPr>
          <p:cNvPr id="8" name="text-1325">
            <a:extLst xmlns:a="http://schemas.openxmlformats.org/drawingml/2006/main">
              <a:ext uri="{FF2B5EF4-FFF2-40B4-BE49-F238E27FC236}">
                <a16:creationId xmlns:a16="http://schemas.microsoft.com/office/drawing/2014/main" id="{35C0E797-C17E-4D67-848F-8FEA44A07B35}"/>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142</a:t>
            </a:r>
          </a:p>
        </p:txBody>
      </p:sp>
    </p:spTree>
    <p:extLst>
      <p:ext uri="{BB962C8B-B14F-4D97-AF65-F5344CB8AC3E}">
        <p14:creationId xmlns:p14="http://schemas.microsoft.com/office/powerpoint/2010/main" val="1982235190"/>
      </p:ext>
    </p:extLst>
  </p:cSld>
</p:sld>
</file>

<file path=ppt/slides/slide143.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326">
            <a:extLst xmlns:a="http://schemas.openxmlformats.org/drawingml/2006/main">
              <a:ext uri="{FF2B5EF4-FFF2-40B4-BE49-F238E27FC236}">
                <a16:creationId xmlns:a16="http://schemas.microsoft.com/office/drawing/2014/main" id="{7E140604-523D-4C8A-87A5-EB20DE8A6179}"/>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Checks to repeat after each change</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623207">
                <a:tc>
                  <a:txBody>
                    <a:bodyPr>
                      <a:noAutofit/>
                    </a:bodyPr>
                    <a:lstStyle/>
                    <a:p>
                      <a:r>
                        <a:rPr sz="1650" b="1" i="0">
                          <a:solidFill>
                            <a:srgbClr val="FFFFFF"/>
                          </a:solidFill>
                          <a:latin typeface="Helvetica Neue"/>
                          <a:ea typeface="Helvetica Neue"/>
                          <a:cs typeface="Helvetica Neue"/>
                        </a:rPr>
                        <a:t>Case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650" b="1" i="0">
                          <a:solidFill>
                            <a:srgbClr val="FFFFFF"/>
                          </a:solidFill>
                          <a:latin typeface="Helvetica Neue"/>
                          <a:ea typeface="Helvetica Neue"/>
                          <a:cs typeface="Helvetica Neue"/>
                        </a:rPr>
                        <a:t>Expected result</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623207">
                <a:tc>
                  <a:txBody>
                    <a:bodyPr>
                      <a:noAutofit/>
                    </a:bodyPr>
                    <a:lstStyle/>
                    <a:p>
                      <a:r>
                        <a:rPr sz="1650" b="1" i="0">
                          <a:solidFill>
                            <a:srgbClr val="1C1C1C"/>
                          </a:solidFill>
                          <a:latin typeface="Helvetica Neue"/>
                          <a:ea typeface="Helvetica Neue"/>
                          <a:cs typeface="Helvetica Neue"/>
                        </a:rPr>
                        <a:t>Known client and full evidence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A sourced brief</a:t>
                      </a:r>
                    </a:p>
                  </a:txBody>
                  <a:tcPr marL="171450" marR="171450" marT="114300" marB="114300" anchor="ctr">
                    <a:lnR w="19050">
                      <a:solidFill>
                        <a:srgbClr val="F8F5F0"/>
                      </a:solidFill>
                    </a:lnR>
                    <a:lnB w="19050">
                      <a:solidFill>
                        <a:srgbClr val="F8F5F0"/>
                      </a:solidFill>
                    </a:lnB>
                    <a:solidFill>
                      <a:srgbClr val="EEEAE3"/>
                    </a:solidFill>
                  </a:tcPr>
                </a:tc>
              </a:tr>
              <a:tr h="623207">
                <a:tc>
                  <a:txBody>
                    <a:bodyPr>
                      <a:noAutofit/>
                    </a:bodyPr>
                    <a:lstStyle/>
                    <a:p>
                      <a:r>
                        <a:rPr sz="1650" b="1" i="0">
                          <a:solidFill>
                            <a:srgbClr val="1C1C1C"/>
                          </a:solidFill>
                          <a:latin typeface="Helvetica Neue"/>
                          <a:ea typeface="Helvetica Neue"/>
                          <a:cs typeface="Helvetica Neue"/>
                        </a:rPr>
                        <a:t>Unknown client</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Ask for a valid ID</a:t>
                      </a:r>
                    </a:p>
                  </a:txBody>
                  <a:tcPr marL="171450" marR="171450" marT="114300" marB="114300" anchor="ctr">
                    <a:lnR w="19050">
                      <a:solidFill>
                        <a:srgbClr val="F8F5F0"/>
                      </a:solidFill>
                    </a:lnR>
                    <a:lnB w="19050">
                      <a:solidFill>
                        <a:srgbClr val="F8F5F0"/>
                      </a:solidFill>
                    </a:lnB>
                    <a:solidFill>
                      <a:srgbClr val="F8F5F0"/>
                    </a:solidFill>
                  </a:tcPr>
                </a:tc>
              </a:tr>
              <a:tr h="623207">
                <a:tc>
                  <a:txBody>
                    <a:bodyPr>
                      <a:noAutofit/>
                    </a:bodyPr>
                    <a:lstStyle/>
                    <a:p>
                      <a:r>
                        <a:rPr sz="1650" b="1" i="0">
                          <a:solidFill>
                            <a:srgbClr val="1C1C1C"/>
                          </a:solidFill>
                          <a:latin typeface="Helvetica Neue"/>
                          <a:ea typeface="Helvetica Neue"/>
                          <a:cs typeface="Helvetica Neue"/>
                        </a:rPr>
                        <a:t>No transcript</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State what is missing</a:t>
                      </a:r>
                    </a:p>
                  </a:txBody>
                  <a:tcPr marL="171450" marR="171450" marT="114300" marB="114300" anchor="ctr">
                    <a:lnR w="19050">
                      <a:solidFill>
                        <a:srgbClr val="F8F5F0"/>
                      </a:solidFill>
                    </a:lnR>
                    <a:lnB w="19050">
                      <a:solidFill>
                        <a:srgbClr val="F8F5F0"/>
                      </a:solidFill>
                    </a:lnB>
                    <a:solidFill>
                      <a:srgbClr val="EEEAE3"/>
                    </a:solidFill>
                  </a:tcPr>
                </a:tc>
              </a:tr>
              <a:tr h="623207">
                <a:tc>
                  <a:txBody>
                    <a:bodyPr>
                      <a:noAutofit/>
                    </a:bodyPr>
                    <a:lstStyle/>
                    <a:p>
                      <a:r>
                        <a:rPr sz="1650" b="1" i="0">
                          <a:solidFill>
                            <a:srgbClr val="1C1C1C"/>
                          </a:solidFill>
                          <a:latin typeface="Helvetica Neue"/>
                          <a:ea typeface="Helvetica Neue"/>
                          <a:cs typeface="Helvetica Neue"/>
                        </a:rPr>
                        <a:t>Invalid date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Reject it clearly</a:t>
                      </a:r>
                    </a:p>
                  </a:txBody>
                  <a:tcPr marL="171450" marR="171450" marT="114300" marB="114300" anchor="ctr">
                    <a:lnR w="19050">
                      <a:solidFill>
                        <a:srgbClr val="F8F5F0"/>
                      </a:solidFill>
                    </a:lnR>
                    <a:lnB w="19050">
                      <a:solidFill>
                        <a:srgbClr val="F8F5F0"/>
                      </a:solidFill>
                    </a:lnB>
                    <a:solidFill>
                      <a:srgbClr val="F8F5F0"/>
                    </a:solidFill>
                  </a:tcPr>
                </a:tc>
              </a:tr>
              <a:tr h="623207">
                <a:tc>
                  <a:txBody>
                    <a:bodyPr>
                      <a:noAutofit/>
                    </a:bodyPr>
                    <a:lstStyle/>
                    <a:p>
                      <a:r>
                        <a:rPr sz="1650" b="1" i="0">
                          <a:solidFill>
                            <a:srgbClr val="1C1C1C"/>
                          </a:solidFill>
                          <a:latin typeface="Helvetica Neue"/>
                          <a:ea typeface="Helvetica Neue"/>
                          <a:cs typeface="Helvetica Neue"/>
                        </a:rPr>
                        <a:t>Instructions inside source text</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650" b="0" i="0">
                          <a:solidFill>
                            <a:srgbClr val="1C1C1C"/>
                          </a:solidFill>
                          <a:latin typeface="Helvetica Neue"/>
                          <a:ea typeface="Helvetica Neue"/>
                          <a:cs typeface="Helvetica Neue"/>
                        </a:rPr>
                        <a:t>Treat them as data</a:t>
                      </a:r>
                    </a:p>
                  </a:txBody>
                  <a:tcPr marL="171450" marR="171450" marT="114300" marB="114300" anchor="ctr">
                    <a:lnR w="19050">
                      <a:solidFill>
                        <a:srgbClr val="F8F5F0"/>
                      </a:solidFill>
                    </a:lnR>
                    <a:lnB w="19050">
                      <a:solidFill>
                        <a:srgbClr val="F8F5F0"/>
                      </a:solidFill>
                    </a:lnB>
                    <a:solidFill>
                      <a:srgbClr val="EEEAE3"/>
                    </a:solidFill>
                  </a:tcPr>
                </a:tc>
              </a:tr>
              <a:tr h="623207">
                <a:tc>
                  <a:txBody>
                    <a:bodyPr>
                      <a:noAutofit/>
                    </a:bodyPr>
                    <a:lstStyle/>
                    <a:p>
                      <a:r>
                        <a:rPr sz="1650" b="1" i="0">
                          <a:solidFill>
                            <a:srgbClr val="1C1C1C"/>
                          </a:solidFill>
                          <a:latin typeface="Helvetica Neue"/>
                          <a:ea typeface="Helvetica Neue"/>
                          <a:cs typeface="Helvetica Neue"/>
                        </a:rPr>
                        <a:t>Repeated run</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650" b="0" i="0">
                          <a:solidFill>
                            <a:srgbClr val="1C1C1C"/>
                          </a:solidFill>
                          <a:latin typeface="Helvetica Neue"/>
                          <a:ea typeface="Helvetica Neue"/>
                          <a:cs typeface="Helvetica Neue"/>
                        </a:rPr>
                        <a:t>No unapproved task or message</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1327">
            <a:extLst xmlns:a="http://schemas.openxmlformats.org/drawingml/2006/main">
              <a:ext uri="{FF2B5EF4-FFF2-40B4-BE49-F238E27FC236}">
                <a16:creationId xmlns:a16="http://schemas.microsoft.com/office/drawing/2014/main" id="{BB9B31A7-700B-41FF-A588-155568170BF2}"/>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143</a:t>
            </a:r>
          </a:p>
        </p:txBody>
      </p:sp>
    </p:spTree>
    <p:extLst>
      <p:ext uri="{BB962C8B-B14F-4D97-AF65-F5344CB8AC3E}">
        <p14:creationId xmlns:p14="http://schemas.microsoft.com/office/powerpoint/2010/main" val="2145567349"/>
      </p:ext>
    </p:extLst>
  </p:cSld>
</p:sld>
</file>

<file path=ppt/slides/slide144.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89d774960f44582"/>
          <a:srcRect xmlns:a="http://schemas.openxmlformats.org/drawingml/2006/main" l="0" t="10594" r="0" b="10594"/>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1328">
            <a:extLst xmlns:a="http://schemas.openxmlformats.org/drawingml/2006/main">
              <a:ext uri="{FF2B5EF4-FFF2-40B4-BE49-F238E27FC236}">
                <a16:creationId xmlns:a16="http://schemas.microsoft.com/office/drawing/2014/main" id="{5BC19B41-3E2E-4ABD-A190-37CCF0F57D6F}"/>
              </a:ext>
            </a:extLst>
          </p:cNvPr>
          <p:cNvSpPr>
            <a:spLocks xmlns:a="http://schemas.openxmlformats.org/drawingml/2006/main" noGrp="1"/>
          </p:cNvSpPr>
          <p:nvPr/>
        </p:nvSpPr>
        <p:spPr>
          <a:xfrm xmlns:a="http://schemas.openxmlformats.org/drawingml/2006/main">
            <a:off x="609600" y="514350"/>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7200" b="1" i="0">
                <a:solidFill>
                  <a:srgbClr val="D1372D"/>
                </a:solidFill>
                <a:latin typeface="Avenir Next"/>
                <a:ea typeface="Avenir Next"/>
                <a:cs typeface="Avenir Next"/>
              </a:defRPr>
            </a:pPr>
            <a:r>
              <a:rPr sz="7200" b="1" i="0">
                <a:solidFill>
                  <a:srgbClr val="D1372D"/>
                </a:solidFill>
                <a:latin typeface="Avenir Next"/>
                <a:ea typeface="Avenir Next"/>
                <a:cs typeface="Avenir Next"/>
              </a:rPr>
              <a:t>04</a:t>
            </a:r>
          </a:p>
        </p:txBody>
      </p:sp>
      <p:sp>
        <p:nvSpPr>
          <p:cNvPr id="3" name="text-1329">
            <a:extLst xmlns:a="http://schemas.openxmlformats.org/drawingml/2006/main">
              <a:ext uri="{FF2B5EF4-FFF2-40B4-BE49-F238E27FC236}">
                <a16:creationId xmlns:a16="http://schemas.microsoft.com/office/drawing/2014/main" id="{7D980287-00C3-4361-AACB-54F1A75A9497}"/>
              </a:ext>
            </a:extLst>
          </p:cNvPr>
          <p:cNvSpPr>
            <a:spLocks xmlns:a="http://schemas.openxmlformats.org/drawingml/2006/main" noGrp="1"/>
          </p:cNvSpPr>
          <p:nvPr/>
        </p:nvSpPr>
        <p:spPr>
          <a:xfrm xmlns:a="http://schemas.openxmlformats.org/drawingml/2006/main">
            <a:off x="609600" y="2152650"/>
            <a:ext cx="652462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525" b="1" i="0">
                <a:solidFill>
                  <a:srgbClr val="1C1C1C"/>
                </a:solidFill>
                <a:latin typeface="Avenir Next"/>
                <a:ea typeface="Avenir Next"/>
                <a:cs typeface="Avenir Next"/>
              </a:defRPr>
            </a:pPr>
            <a:r>
              <a:rPr sz="6525" b="1" i="0">
                <a:solidFill>
                  <a:srgbClr val="1C1C1C"/>
                </a:solidFill>
                <a:latin typeface="Avenir Next"/>
                <a:ea typeface="Avenir Next"/>
                <a:cs typeface="Avenir Next"/>
              </a:rPr>
              <a:t>Into your</a:t>
            </a:r>
          </a:p>
          <a:p xmlns:a="http://schemas.openxmlformats.org/drawingml/2006/main">
            <a:pPr>
              <a:defRPr sz="6525" b="1" i="0">
                <a:solidFill>
                  <a:srgbClr val="1C1C1C"/>
                </a:solidFill>
                <a:latin typeface="Avenir Next"/>
                <a:ea typeface="Avenir Next"/>
                <a:cs typeface="Avenir Next"/>
              </a:defRPr>
            </a:pPr>
            <a:r>
              <a:rPr sz="6525" b="1" i="0">
                <a:solidFill>
                  <a:srgbClr val="1C1C1C"/>
                </a:solidFill>
                <a:latin typeface="Avenir Next"/>
                <a:ea typeface="Avenir Next"/>
                <a:cs typeface="Avenir Next"/>
              </a:rPr>
              <a:t>team’s hands</a:t>
            </a:r>
          </a:p>
        </p:txBody>
      </p:sp>
      <p:sp>
        <p:nvSpPr>
          <p:cNvPr id="4" name="text-1330">
            <a:extLst xmlns:a="http://schemas.openxmlformats.org/drawingml/2006/main">
              <a:ext uri="{FF2B5EF4-FFF2-40B4-BE49-F238E27FC236}">
                <a16:creationId xmlns:a16="http://schemas.microsoft.com/office/drawing/2014/main" id="{1CDC623E-2A15-4B3B-AF1C-7B3186DE0D9F}"/>
              </a:ext>
            </a:extLst>
          </p:cNvPr>
          <p:cNvSpPr>
            <a:spLocks xmlns:a="http://schemas.openxmlformats.org/drawingml/2006/main" noGrp="1"/>
          </p:cNvSpPr>
          <p:nvPr/>
        </p:nvSpPr>
        <p:spPr>
          <a:xfrm xmlns:a="http://schemas.openxmlformats.org/drawingml/2006/main">
            <a:off x="609600" y="5448300"/>
            <a:ext cx="600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A reviewed, versioned release</a:t>
            </a:r>
          </a:p>
        </p:txBody>
      </p:sp>
      <p:sp>
        <p:nvSpPr>
          <p:cNvPr id="5" name="text-1331">
            <a:extLst xmlns:a="http://schemas.openxmlformats.org/drawingml/2006/main">
              <a:ext uri="{FF2B5EF4-FFF2-40B4-BE49-F238E27FC236}">
                <a16:creationId xmlns:a16="http://schemas.microsoft.com/office/drawing/2014/main" id="{6C79FC43-D46D-451E-9A42-B1B81CF80C3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144</a:t>
            </a:r>
          </a:p>
        </p:txBody>
      </p:sp>
    </p:spTree>
    <p:extLst>
      <p:ext uri="{BB962C8B-B14F-4D97-AF65-F5344CB8AC3E}">
        <p14:creationId xmlns:p14="http://schemas.microsoft.com/office/powerpoint/2010/main" val="993637064"/>
      </p:ext>
    </p:extLst>
  </p:cSld>
</p:sld>
</file>

<file path=ppt/slides/slide14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26" name="text-1332">
            <a:extLst xmlns:a="http://schemas.openxmlformats.org/drawingml/2006/main">
              <a:ext uri="{FF2B5EF4-FFF2-40B4-BE49-F238E27FC236}">
                <a16:creationId xmlns:a16="http://schemas.microsoft.com/office/drawing/2014/main" id="{B13FBCF5-1BC9-47CC-98A8-9CF7AB6BBA29}"/>
              </a:ext>
            </a:extLst>
          </p:cNvPr>
          <p:cNvSpPr>
            <a:spLocks xmlns:a="http://schemas.openxmlformats.org/drawingml/2006/main" noGrp="1"/>
          </p:cNvSpPr>
          <p:nvPr/>
        </p:nvSpPr>
        <p:spPr>
          <a:xfrm xmlns:a="http://schemas.openxmlformats.org/drawingml/2006/main">
            <a:off x="609600" y="457200"/>
            <a:ext cx="1000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GitHub is the shared home</a:t>
            </a:r>
          </a:p>
        </p:txBody>
      </p:sp>
      <p:sp>
        <p:nvSpPr>
          <p:cNvPr id="2" name="text-1333">
            <a:extLst xmlns:a="http://schemas.openxmlformats.org/drawingml/2006/main">
              <a:ext uri="{FF2B5EF4-FFF2-40B4-BE49-F238E27FC236}">
                <a16:creationId xmlns:a16="http://schemas.microsoft.com/office/drawing/2014/main" id="{3637C063-C9AA-4A76-B868-052CB6A50E5A}"/>
              </a:ext>
            </a:extLst>
          </p:cNvPr>
          <p:cNvSpPr>
            <a:spLocks xmlns:a="http://schemas.openxmlformats.org/drawingml/2006/main" noGrp="1"/>
          </p:cNvSpPr>
          <p:nvPr/>
        </p:nvSpPr>
        <p:spPr>
          <a:xfrm xmlns:a="http://schemas.openxmlformats.org/drawingml/2006/main">
            <a:off x="609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01</a:t>
            </a:r>
          </a:p>
        </p:txBody>
      </p:sp>
      <p:sp>
        <p:nvSpPr>
          <p:cNvPr id="3" name="panel-1334">
            <a:extLst xmlns:a="http://schemas.openxmlformats.org/drawingml/2006/main">
              <a:ext uri="{FF2B5EF4-FFF2-40B4-BE49-F238E27FC236}">
                <a16:creationId xmlns:a16="http://schemas.microsoft.com/office/drawing/2014/main" id="{3CC21D4F-71A1-474C-BEE0-3C08F498F89C}"/>
              </a:ext>
            </a:extLst>
          </p:cNvPr>
          <p:cNvSpPr>
            <a:spLocks xmlns:a="http://schemas.openxmlformats.org/drawingml/2006/main" noGrp="1"/>
          </p:cNvSpPr>
          <p:nvPr/>
        </p:nvSpPr>
        <p:spPr>
          <a:xfrm xmlns:a="http://schemas.openxmlformats.org/drawingml/2006/main">
            <a:off x="609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335">
            <a:extLst xmlns:a="http://schemas.openxmlformats.org/drawingml/2006/main">
              <a:ext uri="{FF2B5EF4-FFF2-40B4-BE49-F238E27FC236}">
                <a16:creationId xmlns:a16="http://schemas.microsoft.com/office/drawing/2014/main" id="{D1A01109-9C99-48FE-A731-59572BE703DF}"/>
              </a:ext>
            </a:extLst>
          </p:cNvPr>
          <p:cNvSpPr>
            <a:spLocks xmlns:a="http://schemas.openxmlformats.org/drawingml/2006/main" noGrp="1"/>
          </p:cNvSpPr>
          <p:nvPr/>
        </p:nvSpPr>
        <p:spPr>
          <a:xfrm xmlns:a="http://schemas.openxmlformats.org/drawingml/2006/main">
            <a:off x="609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Review the diff</a:t>
            </a:r>
          </a:p>
        </p:txBody>
      </p:sp>
      <p:sp>
        <p:nvSpPr>
          <p:cNvPr id="5" name="panel-1336">
            <a:extLst xmlns:a="http://schemas.openxmlformats.org/drawingml/2006/main">
              <a:ext uri="{FF2B5EF4-FFF2-40B4-BE49-F238E27FC236}">
                <a16:creationId xmlns:a16="http://schemas.microsoft.com/office/drawing/2014/main" id="{C84A92A9-6402-4947-8F39-9DE3248DDF99}"/>
              </a:ext>
            </a:extLst>
          </p:cNvPr>
          <p:cNvSpPr>
            <a:spLocks xmlns:a="http://schemas.openxmlformats.org/drawingml/2006/main" noGrp="1"/>
          </p:cNvSpPr>
          <p:nvPr/>
        </p:nvSpPr>
        <p:spPr>
          <a:xfrm xmlns:a="http://schemas.openxmlformats.org/drawingml/2006/main">
            <a:off x="3100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6" name="panel-1337">
            <a:extLst xmlns:a="http://schemas.openxmlformats.org/drawingml/2006/main">
              <a:ext uri="{FF2B5EF4-FFF2-40B4-BE49-F238E27FC236}">
                <a16:creationId xmlns:a16="http://schemas.microsoft.com/office/drawing/2014/main" id="{41674E73-1B5D-4A96-81CA-7A81BFEC6217}"/>
              </a:ext>
            </a:extLst>
          </p:cNvPr>
          <p:cNvSpPr>
            <a:spLocks xmlns:a="http://schemas.openxmlformats.org/drawingml/2006/main" noGrp="1"/>
          </p:cNvSpPr>
          <p:nvPr/>
        </p:nvSpPr>
        <p:spPr>
          <a:xfrm xmlns:a="http://schemas.openxmlformats.org/drawingml/2006/main">
            <a:off x="3348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3109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8" name="text-1338">
            <a:extLst xmlns:a="http://schemas.openxmlformats.org/drawingml/2006/main">
              <a:ext uri="{FF2B5EF4-FFF2-40B4-BE49-F238E27FC236}">
                <a16:creationId xmlns:a16="http://schemas.microsoft.com/office/drawing/2014/main" id="{9719A73F-75CE-45AD-BA32-EA638A7D4362}"/>
              </a:ext>
            </a:extLst>
          </p:cNvPr>
          <p:cNvSpPr>
            <a:spLocks xmlns:a="http://schemas.openxmlformats.org/drawingml/2006/main" noGrp="1"/>
          </p:cNvSpPr>
          <p:nvPr/>
        </p:nvSpPr>
        <p:spPr>
          <a:xfrm xmlns:a="http://schemas.openxmlformats.org/drawingml/2006/main">
            <a:off x="3467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02</a:t>
            </a:r>
          </a:p>
        </p:txBody>
      </p:sp>
      <p:sp>
        <p:nvSpPr>
          <p:cNvPr id="9" name="panel-1339">
            <a:extLst xmlns:a="http://schemas.openxmlformats.org/drawingml/2006/main">
              <a:ext uri="{FF2B5EF4-FFF2-40B4-BE49-F238E27FC236}">
                <a16:creationId xmlns:a16="http://schemas.microsoft.com/office/drawing/2014/main" id="{05868424-1E37-4C89-8601-662F36F9B768}"/>
              </a:ext>
            </a:extLst>
          </p:cNvPr>
          <p:cNvSpPr>
            <a:spLocks xmlns:a="http://schemas.openxmlformats.org/drawingml/2006/main" noGrp="1"/>
          </p:cNvSpPr>
          <p:nvPr/>
        </p:nvSpPr>
        <p:spPr>
          <a:xfrm xmlns:a="http://schemas.openxmlformats.org/drawingml/2006/main">
            <a:off x="3467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0" name="text-1340">
            <a:extLst xmlns:a="http://schemas.openxmlformats.org/drawingml/2006/main">
              <a:ext uri="{FF2B5EF4-FFF2-40B4-BE49-F238E27FC236}">
                <a16:creationId xmlns:a16="http://schemas.microsoft.com/office/drawing/2014/main" id="{964FD12D-FCA2-4CC5-A7BE-1798AFB8B07F}"/>
              </a:ext>
            </a:extLst>
          </p:cNvPr>
          <p:cNvSpPr>
            <a:spLocks xmlns:a="http://schemas.openxmlformats.org/drawingml/2006/main" noGrp="1"/>
          </p:cNvSpPr>
          <p:nvPr/>
        </p:nvSpPr>
        <p:spPr>
          <a:xfrm xmlns:a="http://schemas.openxmlformats.org/drawingml/2006/main">
            <a:off x="3467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Merge the change</a:t>
            </a:r>
          </a:p>
        </p:txBody>
      </p:sp>
      <p:sp>
        <p:nvSpPr>
          <p:cNvPr id="11" name="panel-1341">
            <a:extLst xmlns:a="http://schemas.openxmlformats.org/drawingml/2006/main">
              <a:ext uri="{FF2B5EF4-FFF2-40B4-BE49-F238E27FC236}">
                <a16:creationId xmlns:a16="http://schemas.microsoft.com/office/drawing/2014/main" id="{4E74454D-F53A-4276-A9E4-423F8F427797}"/>
              </a:ext>
            </a:extLst>
          </p:cNvPr>
          <p:cNvSpPr>
            <a:spLocks xmlns:a="http://schemas.openxmlformats.org/drawingml/2006/main" noGrp="1"/>
          </p:cNvSpPr>
          <p:nvPr/>
        </p:nvSpPr>
        <p:spPr>
          <a:xfrm xmlns:a="http://schemas.openxmlformats.org/drawingml/2006/main">
            <a:off x="59578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panel-1342">
            <a:extLst xmlns:a="http://schemas.openxmlformats.org/drawingml/2006/main">
              <a:ext uri="{FF2B5EF4-FFF2-40B4-BE49-F238E27FC236}">
                <a16:creationId xmlns:a16="http://schemas.microsoft.com/office/drawing/2014/main" id="{5C0A88F8-9DA6-4254-9E92-8650D8C24988}"/>
              </a:ext>
            </a:extLst>
          </p:cNvPr>
          <p:cNvSpPr>
            <a:spLocks xmlns:a="http://schemas.openxmlformats.org/drawingml/2006/main" noGrp="1"/>
          </p:cNvSpPr>
          <p:nvPr/>
        </p:nvSpPr>
        <p:spPr>
          <a:xfrm xmlns:a="http://schemas.openxmlformats.org/drawingml/2006/main">
            <a:off x="62055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38" name=""/>
          <p:cNvCxnSpPr>
            <a:stCxn xmlns:a="http://schemas.openxmlformats.org/drawingml/2006/main" id="11" idx="3"/>
            <a:endCxn xmlns:a="http://schemas.openxmlformats.org/drawingml/2006/main" id="12" idx="1"/>
          </p:cNvCxnSpPr>
          <p:nvPr/>
        </p:nvCxnSpPr>
        <p:spPr>
          <a:xfrm xmlns:a="http://schemas.openxmlformats.org/drawingml/2006/main">
            <a:off x="59674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14" name="text-1343">
            <a:extLst xmlns:a="http://schemas.openxmlformats.org/drawingml/2006/main">
              <a:ext uri="{FF2B5EF4-FFF2-40B4-BE49-F238E27FC236}">
                <a16:creationId xmlns:a16="http://schemas.microsoft.com/office/drawing/2014/main" id="{6BF4A0DF-DA57-441D-9EEC-DE49B06B689B}"/>
              </a:ext>
            </a:extLst>
          </p:cNvPr>
          <p:cNvSpPr>
            <a:spLocks xmlns:a="http://schemas.openxmlformats.org/drawingml/2006/main" noGrp="1"/>
          </p:cNvSpPr>
          <p:nvPr/>
        </p:nvSpPr>
        <p:spPr>
          <a:xfrm xmlns:a="http://schemas.openxmlformats.org/drawingml/2006/main">
            <a:off x="63246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03</a:t>
            </a:r>
          </a:p>
        </p:txBody>
      </p:sp>
      <p:sp>
        <p:nvSpPr>
          <p:cNvPr id="15" name="panel-1344">
            <a:extLst xmlns:a="http://schemas.openxmlformats.org/drawingml/2006/main">
              <a:ext uri="{FF2B5EF4-FFF2-40B4-BE49-F238E27FC236}">
                <a16:creationId xmlns:a16="http://schemas.microsoft.com/office/drawing/2014/main" id="{18D22589-6FD0-438A-8127-4A2E249DE3F5}"/>
              </a:ext>
            </a:extLst>
          </p:cNvPr>
          <p:cNvSpPr>
            <a:spLocks xmlns:a="http://schemas.openxmlformats.org/drawingml/2006/main" noGrp="1"/>
          </p:cNvSpPr>
          <p:nvPr/>
        </p:nvSpPr>
        <p:spPr>
          <a:xfrm xmlns:a="http://schemas.openxmlformats.org/drawingml/2006/main">
            <a:off x="63246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6" name="text-1345">
            <a:extLst xmlns:a="http://schemas.openxmlformats.org/drawingml/2006/main">
              <a:ext uri="{FF2B5EF4-FFF2-40B4-BE49-F238E27FC236}">
                <a16:creationId xmlns:a16="http://schemas.microsoft.com/office/drawing/2014/main" id="{1CE60C41-5D9A-47E6-A9D4-DD0407764C0F}"/>
              </a:ext>
            </a:extLst>
          </p:cNvPr>
          <p:cNvSpPr>
            <a:spLocks xmlns:a="http://schemas.openxmlformats.org/drawingml/2006/main" noGrp="1"/>
          </p:cNvSpPr>
          <p:nvPr/>
        </p:nvSpPr>
        <p:spPr>
          <a:xfrm xmlns:a="http://schemas.openxmlformats.org/drawingml/2006/main">
            <a:off x="63246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Tag a version</a:t>
            </a:r>
          </a:p>
        </p:txBody>
      </p:sp>
      <p:sp>
        <p:nvSpPr>
          <p:cNvPr id="17" name="panel-1346">
            <a:extLst xmlns:a="http://schemas.openxmlformats.org/drawingml/2006/main">
              <a:ext uri="{FF2B5EF4-FFF2-40B4-BE49-F238E27FC236}">
                <a16:creationId xmlns:a16="http://schemas.microsoft.com/office/drawing/2014/main" id="{E574AC87-6D05-4FA9-9A23-656C2F31D51A}"/>
              </a:ext>
            </a:extLst>
          </p:cNvPr>
          <p:cNvSpPr>
            <a:spLocks xmlns:a="http://schemas.openxmlformats.org/drawingml/2006/main" noGrp="1"/>
          </p:cNvSpPr>
          <p:nvPr/>
        </p:nvSpPr>
        <p:spPr>
          <a:xfrm xmlns:a="http://schemas.openxmlformats.org/drawingml/2006/main">
            <a:off x="8815388" y="3271838"/>
            <a:ext cx="9525" cy="9525"/>
          </a:xfrm>
          <a:prstGeom xmlns:a="http://schemas.openxmlformats.org/drawingml/2006/main" prst="rect">
            <a:avLst/>
          </a:prstGeom>
          <a:noFill xmlns:a="http://schemas.openxmlformats.org/drawingml/2006/main"/>
          <a:ln xmlns:a="http://schemas.openxmlformats.org/drawingml/2006/main" w="0">
            <a:noFill/>
          </a:ln>
        </p:spPr>
      </p:sp>
      <p:sp>
        <p:nvSpPr>
          <p:cNvPr id="18" name="panel-1347">
            <a:extLst xmlns:a="http://schemas.openxmlformats.org/drawingml/2006/main">
              <a:ext uri="{FF2B5EF4-FFF2-40B4-BE49-F238E27FC236}">
                <a16:creationId xmlns:a16="http://schemas.microsoft.com/office/drawing/2014/main" id="{851D8A2A-906F-45BF-84AF-61387230A90B}"/>
              </a:ext>
            </a:extLst>
          </p:cNvPr>
          <p:cNvSpPr>
            <a:spLocks xmlns:a="http://schemas.openxmlformats.org/drawingml/2006/main" noGrp="1"/>
          </p:cNvSpPr>
          <p:nvPr/>
        </p:nvSpPr>
        <p:spPr>
          <a:xfrm xmlns:a="http://schemas.openxmlformats.org/drawingml/2006/main">
            <a:off x="9063038" y="3271838"/>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17" idx="3"/>
            <a:endCxn xmlns:a="http://schemas.openxmlformats.org/drawingml/2006/main" id="18" idx="1"/>
          </p:cNvCxnSpPr>
          <p:nvPr/>
        </p:nvCxnSpPr>
        <p:spPr>
          <a:xfrm xmlns:a="http://schemas.openxmlformats.org/drawingml/2006/main">
            <a:off x="8824913" y="3276601"/>
            <a:ext cx="238125" cy="0"/>
          </a:xfrm>
          <a:prstGeom xmlns:a="http://schemas.openxmlformats.org/drawingml/2006/main" prst="straightConnector1">
            <a:avLst/>
          </a:prstGeom>
          <a:ln xmlns:a="http://schemas.openxmlformats.org/drawingml/2006/main" w="23813">
            <a:solidFill>
              <a:srgbClr val="D1372D"/>
            </a:solidFill>
            <a:tailEnd type="triangle" w="med" len="med"/>
          </a:ln>
        </p:spPr>
      </p:cxnSp>
      <p:sp>
        <p:nvSpPr>
          <p:cNvPr id="20" name="text-1348">
            <a:extLst xmlns:a="http://schemas.openxmlformats.org/drawingml/2006/main">
              <a:ext uri="{FF2B5EF4-FFF2-40B4-BE49-F238E27FC236}">
                <a16:creationId xmlns:a16="http://schemas.microsoft.com/office/drawing/2014/main" id="{CA8B2BD5-EC1D-4E46-9E25-5BD7E90D504F}"/>
              </a:ext>
            </a:extLst>
          </p:cNvPr>
          <p:cNvSpPr>
            <a:spLocks xmlns:a="http://schemas.openxmlformats.org/drawingml/2006/main" noGrp="1"/>
          </p:cNvSpPr>
          <p:nvPr/>
        </p:nvSpPr>
        <p:spPr>
          <a:xfrm xmlns:a="http://schemas.openxmlformats.org/drawingml/2006/main">
            <a:off x="9182100" y="213360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75" b="1" i="0">
                <a:solidFill>
                  <a:srgbClr val="D1372D"/>
                </a:solidFill>
                <a:latin typeface="Avenir Next"/>
                <a:ea typeface="Avenir Next"/>
                <a:cs typeface="Avenir Next"/>
              </a:defRPr>
            </a:pPr>
            <a:r>
              <a:rPr sz="5475" b="1" i="0">
                <a:solidFill>
                  <a:srgbClr val="D1372D"/>
                </a:solidFill>
                <a:latin typeface="Avenir Next"/>
                <a:ea typeface="Avenir Next"/>
                <a:cs typeface="Avenir Next"/>
              </a:rPr>
              <a:t>04</a:t>
            </a:r>
          </a:p>
        </p:txBody>
      </p:sp>
      <p:sp>
        <p:nvSpPr>
          <p:cNvPr id="21" name="panel-1349">
            <a:extLst xmlns:a="http://schemas.openxmlformats.org/drawingml/2006/main">
              <a:ext uri="{FF2B5EF4-FFF2-40B4-BE49-F238E27FC236}">
                <a16:creationId xmlns:a16="http://schemas.microsoft.com/office/drawing/2014/main" id="{E0F308A0-1947-4F61-8265-6C63B1C1FDC4}"/>
              </a:ext>
            </a:extLst>
          </p:cNvPr>
          <p:cNvSpPr>
            <a:spLocks xmlns:a="http://schemas.openxmlformats.org/drawingml/2006/main" noGrp="1"/>
          </p:cNvSpPr>
          <p:nvPr/>
        </p:nvSpPr>
        <p:spPr>
          <a:xfrm xmlns:a="http://schemas.openxmlformats.org/drawingml/2006/main">
            <a:off x="9182100" y="3276600"/>
            <a:ext cx="2381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22" name="text-1350">
            <a:extLst xmlns:a="http://schemas.openxmlformats.org/drawingml/2006/main">
              <a:ext uri="{FF2B5EF4-FFF2-40B4-BE49-F238E27FC236}">
                <a16:creationId xmlns:a16="http://schemas.microsoft.com/office/drawing/2014/main" id="{8E1069BA-03EE-4D99-A3AB-5A3A3642BD6B}"/>
              </a:ext>
            </a:extLst>
          </p:cNvPr>
          <p:cNvSpPr>
            <a:spLocks xmlns:a="http://schemas.openxmlformats.org/drawingml/2006/main" noGrp="1"/>
          </p:cNvSpPr>
          <p:nvPr/>
        </p:nvSpPr>
        <p:spPr>
          <a:xfrm xmlns:a="http://schemas.openxmlformats.org/drawingml/2006/main">
            <a:off x="9182100" y="3648075"/>
            <a:ext cx="238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25" b="1" i="0">
                <a:solidFill>
                  <a:srgbClr val="1C1C1C"/>
                </a:solidFill>
                <a:latin typeface="Avenir Next"/>
                <a:ea typeface="Avenir Next"/>
                <a:cs typeface="Avenir Next"/>
              </a:defRPr>
            </a:pPr>
            <a:r>
              <a:rPr sz="2625" b="1" i="0">
                <a:solidFill>
                  <a:srgbClr val="1C1C1C"/>
                </a:solidFill>
                <a:latin typeface="Avenir Next"/>
                <a:ea typeface="Avenir Next"/>
                <a:cs typeface="Avenir Next"/>
              </a:rPr>
              <a:t>Share the setup</a:t>
            </a:r>
          </a:p>
        </p:txBody>
      </p:sp>
      <p:sp>
        <p:nvSpPr>
          <p:cNvPr id="23" name="text-1351">
            <a:extLst xmlns:a="http://schemas.openxmlformats.org/drawingml/2006/main">
              <a:ext uri="{FF2B5EF4-FFF2-40B4-BE49-F238E27FC236}">
                <a16:creationId xmlns:a16="http://schemas.microsoft.com/office/drawing/2014/main" id="{1068F1CD-15AD-467A-B9F1-82C0C237D946}"/>
              </a:ext>
            </a:extLst>
          </p:cNvPr>
          <p:cNvSpPr>
            <a:spLocks xmlns:a="http://schemas.openxmlformats.org/drawingml/2006/main" noGrp="1"/>
          </p:cNvSpPr>
          <p:nvPr/>
        </p:nvSpPr>
        <p:spPr>
          <a:xfrm xmlns:a="http://schemas.openxmlformats.org/drawingml/2006/main">
            <a:off x="609600" y="5467350"/>
            <a:ext cx="1071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A reviewed release includes the app, plan, design, .claude instructions, tests and startup guide.</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c916b55d8384f7e"/>
          <a:stretch xmlns:a="http://schemas.openxmlformats.org/drawingml/2006/main"/>
        </p:blipFill>
        <p:spPr>
          <a:xfrm xmlns:a="http://schemas.openxmlformats.org/drawingml/2006/main">
            <a:off x="10972800" y="472059"/>
            <a:ext cx="533400" cy="522732"/>
          </a:xfrm>
          <a:prstGeom xmlns:a="http://schemas.openxmlformats.org/drawingml/2006/main" prst="rect">
            <a:avLst/>
          </a:prstGeom>
        </p:spPr>
      </p:pic>
      <p:sp>
        <p:nvSpPr>
          <p:cNvPr id="25" name="text-1352">
            <a:extLst xmlns:a="http://schemas.openxmlformats.org/drawingml/2006/main">
              <a:ext uri="{FF2B5EF4-FFF2-40B4-BE49-F238E27FC236}">
                <a16:creationId xmlns:a16="http://schemas.microsoft.com/office/drawing/2014/main" id="{4907B145-FB04-499A-A60E-0C083031429B}"/>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145</a:t>
            </a:r>
          </a:p>
        </p:txBody>
      </p:sp>
    </p:spTree>
    <p:extLst>
      <p:ext uri="{BB962C8B-B14F-4D97-AF65-F5344CB8AC3E}">
        <p14:creationId xmlns:p14="http://schemas.microsoft.com/office/powerpoint/2010/main" val="1686001733"/>
      </p:ext>
    </p:extLst>
  </p:cSld>
</p:sld>
</file>

<file path=ppt/slides/slide14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353">
            <a:extLst xmlns:a="http://schemas.openxmlformats.org/drawingml/2006/main">
              <a:ext uri="{FF2B5EF4-FFF2-40B4-BE49-F238E27FC236}">
                <a16:creationId xmlns:a16="http://schemas.microsoft.com/office/drawing/2014/main" id="{32004CC0-3170-4C0F-99F8-D93CC6887BD2}"/>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Prepare the release in plain English</a:t>
            </a:r>
          </a:p>
        </p:txBody>
      </p:sp>
      <p:sp>
        <p:nvSpPr>
          <p:cNvPr id="2" name="panel-1354">
            <a:extLst xmlns:a="http://schemas.openxmlformats.org/drawingml/2006/main">
              <a:ext uri="{FF2B5EF4-FFF2-40B4-BE49-F238E27FC236}">
                <a16:creationId xmlns:a16="http://schemas.microsoft.com/office/drawing/2014/main" id="{C56DE2CF-FFFF-49B2-AFFA-CC85F83AF52F}"/>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355">
            <a:extLst xmlns:a="http://schemas.openxmlformats.org/drawingml/2006/main">
              <a:ext uri="{FF2B5EF4-FFF2-40B4-BE49-F238E27FC236}">
                <a16:creationId xmlns:a16="http://schemas.microsoft.com/office/drawing/2014/main" id="{3FE6026D-29FC-4853-B7A6-146401474A70}"/>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356">
            <a:extLst xmlns:a="http://schemas.openxmlformats.org/drawingml/2006/main">
              <a:ext uri="{FF2B5EF4-FFF2-40B4-BE49-F238E27FC236}">
                <a16:creationId xmlns:a16="http://schemas.microsoft.com/office/drawing/2014/main" id="{AADC421C-B277-4CF1-9B82-869A16826D71}"/>
              </a:ext>
            </a:extLst>
          </p:cNvPr>
          <p:cNvSpPr>
            <a:spLocks xmlns:a="http://schemas.openxmlformats.org/drawingml/2006/main" noGrp="1"/>
          </p:cNvSpPr>
          <p:nvPr/>
        </p:nvSpPr>
        <p:spPr>
          <a:xfrm xmlns:a="http://schemas.openxmlformats.org/drawingml/2006/main">
            <a:off x="609600" y="2038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357">
            <a:extLst xmlns:a="http://schemas.openxmlformats.org/drawingml/2006/main">
              <a:ext uri="{FF2B5EF4-FFF2-40B4-BE49-F238E27FC236}">
                <a16:creationId xmlns:a16="http://schemas.microsoft.com/office/drawing/2014/main" id="{200C3258-8311-4E0B-A372-3CFECCA5DC53}"/>
              </a:ext>
            </a:extLst>
          </p:cNvPr>
          <p:cNvSpPr>
            <a:spLocks xmlns:a="http://schemas.openxmlformats.org/drawingml/2006/main" noGrp="1"/>
          </p:cNvSpPr>
          <p:nvPr/>
        </p:nvSpPr>
        <p:spPr>
          <a:xfrm xmlns:a="http://schemas.openxmlformats.org/drawingml/2006/main">
            <a:off x="7981950" y="2038350"/>
            <a:ext cx="3600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i="0">
                <a:solidFill>
                  <a:srgbClr val="1C1C1C"/>
                </a:solidFill>
                <a:latin typeface="Avenir Next"/>
                <a:ea typeface="Avenir Next"/>
                <a:cs typeface="Avenir Next"/>
              </a:defRPr>
            </a:pPr>
            <a:r>
              <a:rPr sz="2025" b="1" i="0">
                <a:solidFill>
                  <a:srgbClr val="1C1C1C"/>
                </a:solidFill>
                <a:latin typeface="Avenir Next"/>
                <a:ea typeface="Avenir Next"/>
                <a:cs typeface="Avenir Next"/>
              </a:rPr>
              <a:t>Why this works</a:t>
            </a:r>
          </a:p>
        </p:txBody>
      </p:sp>
      <p:sp>
        <p:nvSpPr>
          <p:cNvPr id="6" name="text-1358">
            <a:extLst xmlns:a="http://schemas.openxmlformats.org/drawingml/2006/main">
              <a:ext uri="{FF2B5EF4-FFF2-40B4-BE49-F238E27FC236}">
                <a16:creationId xmlns:a16="http://schemas.microsoft.com/office/drawing/2014/main" id="{85AB9F23-62DF-4A67-88EE-06F278ADBC51}"/>
              </a:ext>
            </a:extLst>
          </p:cNvPr>
          <p:cNvSpPr>
            <a:spLocks xmlns:a="http://schemas.openxmlformats.org/drawingml/2006/main" noGrp="1"/>
          </p:cNvSpPr>
          <p:nvPr/>
        </p:nvSpPr>
        <p:spPr>
          <a:xfrm xmlns:a="http://schemas.openxmlformats.org/drawingml/2006/main">
            <a:off x="609600" y="2657475"/>
            <a:ext cx="680085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Prepare a reviewed release of the app and client-brief skill. Include setup, one example, permissions, known limitations, and the cases tested. Show the changed files and proposed version. After I approve them, create the versioned release and give me the teammate setup instructions.</a:t>
            </a:r>
          </a:p>
        </p:txBody>
      </p:sp>
      <p:sp>
        <p:nvSpPr>
          <p:cNvPr id="7" name="text-1359">
            <a:extLst xmlns:a="http://schemas.openxmlformats.org/drawingml/2006/main">
              <a:ext uri="{FF2B5EF4-FFF2-40B4-BE49-F238E27FC236}">
                <a16:creationId xmlns:a16="http://schemas.microsoft.com/office/drawing/2014/main" id="{58B4A056-2160-4213-8B00-2644EEECF96A}"/>
              </a:ext>
            </a:extLst>
          </p:cNvPr>
          <p:cNvSpPr>
            <a:spLocks xmlns:a="http://schemas.openxmlformats.org/drawingml/2006/main" noGrp="1"/>
          </p:cNvSpPr>
          <p:nvPr/>
        </p:nvSpPr>
        <p:spPr>
          <a:xfrm xmlns:a="http://schemas.openxmlformats.org/drawingml/2006/main">
            <a:off x="7981950" y="2676525"/>
            <a:ext cx="3600450"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Completeness:</a:t>
            </a:r>
            <a:r>
              <a:rPr sz="1875" b="0" i="0">
                <a:solidFill>
                  <a:srgbClr val="1C1C1C"/>
                </a:solidFill>
                <a:latin typeface="Helvetica Neue"/>
                <a:ea typeface="Helvetica Neue"/>
                <a:cs typeface="Helvetica Neue"/>
              </a:rPr>
              <a:t> includes the instructions around the skill.</a:t>
            </a:r>
          </a:p>
          <a:p xmlns:a="http://schemas.openxmlformats.org/drawingml/2006/main">
            <a:r>
              <a:t/>
            </a:r>
          </a:p>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Review:</a:t>
            </a:r>
            <a:r>
              <a:rPr sz="1875" b="0" i="0">
                <a:solidFill>
                  <a:srgbClr val="1C1C1C"/>
                </a:solidFill>
                <a:latin typeface="Helvetica Neue"/>
                <a:ea typeface="Helvetica Neue"/>
                <a:cs typeface="Helvetica Neue"/>
              </a:rPr>
              <a:t> ties sharing to a known, tested version.</a:t>
            </a:r>
          </a:p>
        </p:txBody>
      </p:sp>
      <p:sp>
        <p:nvSpPr>
          <p:cNvPr id="8" name="panel-1360">
            <a:extLst xmlns:a="http://schemas.openxmlformats.org/drawingml/2006/main">
              <a:ext uri="{FF2B5EF4-FFF2-40B4-BE49-F238E27FC236}">
                <a16:creationId xmlns:a16="http://schemas.microsoft.com/office/drawing/2014/main" id="{2F83DC53-7F80-4343-8561-F91FBDD0D2C8}"/>
              </a:ext>
            </a:extLst>
          </p:cNvPr>
          <p:cNvSpPr>
            <a:spLocks xmlns:a="http://schemas.openxmlformats.org/drawingml/2006/main" noGrp="1"/>
          </p:cNvSpPr>
          <p:nvPr/>
        </p:nvSpPr>
        <p:spPr>
          <a:xfrm xmlns:a="http://schemas.openxmlformats.org/drawingml/2006/main">
            <a:off x="609600" y="5638800"/>
            <a:ext cx="109728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361">
            <a:extLst xmlns:a="http://schemas.openxmlformats.org/drawingml/2006/main">
              <a:ext uri="{FF2B5EF4-FFF2-40B4-BE49-F238E27FC236}">
                <a16:creationId xmlns:a16="http://schemas.microsoft.com/office/drawing/2014/main" id="{F84E8891-574F-43C0-8C88-E182AD7FF816}"/>
              </a:ext>
            </a:extLst>
          </p:cNvPr>
          <p:cNvSpPr>
            <a:spLocks xmlns:a="http://schemas.openxmlformats.org/drawingml/2006/main" noGrp="1"/>
          </p:cNvSpPr>
          <p:nvPr/>
        </p:nvSpPr>
        <p:spPr>
          <a:xfrm xmlns:a="http://schemas.openxmlformats.org/drawingml/2006/main">
            <a:off x="609600" y="58293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1C1C1C"/>
                </a:solidFill>
                <a:latin typeface="Helvetica Neue"/>
                <a:ea typeface="Helvetica Neue"/>
                <a:cs typeface="Helvetica Neue"/>
              </a:defRPr>
            </a:pPr>
            <a:r>
              <a:rPr sz="1875" b="1" i="0">
                <a:solidFill>
                  <a:srgbClr val="1C1C1C"/>
                </a:solidFill>
                <a:latin typeface="Helvetica Neue"/>
                <a:ea typeface="Helvetica Neue"/>
                <a:cs typeface="Helvetica Neue"/>
              </a:rPr>
              <a:t>Check:</a:t>
            </a:r>
            <a:r>
              <a:rPr sz="1875" b="0" i="0">
                <a:solidFill>
                  <a:srgbClr val="1C1C1C"/>
                </a:solidFill>
                <a:latin typeface="Helvetica Neue"/>
                <a:ea typeface="Helvetica Neue"/>
                <a:cs typeface="Helvetica Neue"/>
              </a:rPr>
              <a:t> The release points to one version and a setup another person can follow.</a:t>
            </a:r>
          </a:p>
        </p:txBody>
      </p:sp>
      <p:sp>
        <p:nvSpPr>
          <p:cNvPr id="10" name="text-1362">
            <a:extLst xmlns:a="http://schemas.openxmlformats.org/drawingml/2006/main">
              <a:ext uri="{FF2B5EF4-FFF2-40B4-BE49-F238E27FC236}">
                <a16:creationId xmlns:a16="http://schemas.microsoft.com/office/drawing/2014/main" id="{7F1AD081-49ED-4DF6-B78B-173945801F0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146</a:t>
            </a:r>
          </a:p>
        </p:txBody>
      </p:sp>
    </p:spTree>
    <p:extLst>
      <p:ext uri="{BB962C8B-B14F-4D97-AF65-F5344CB8AC3E}">
        <p14:creationId xmlns:p14="http://schemas.microsoft.com/office/powerpoint/2010/main" val="91802548"/>
      </p:ext>
    </p:extLst>
  </p:cSld>
</p:sld>
</file>

<file path=ppt/slides/slide147.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1" name="text-1363">
            <a:extLst xmlns:a="http://schemas.openxmlformats.org/drawingml/2006/main">
              <a:ext uri="{FF2B5EF4-FFF2-40B4-BE49-F238E27FC236}">
                <a16:creationId xmlns:a16="http://schemas.microsoft.com/office/drawing/2014/main" id="{14AA33F0-AB90-4732-A329-C7D7C7324E5F}"/>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A teammate starts from a known version</a:t>
            </a:r>
          </a:p>
        </p:txBody>
      </p:sp>
      <p:sp>
        <p:nvSpPr>
          <p:cNvPr id="2" name="panel-1364">
            <a:extLst xmlns:a="http://schemas.openxmlformats.org/drawingml/2006/main">
              <a:ext uri="{FF2B5EF4-FFF2-40B4-BE49-F238E27FC236}">
                <a16:creationId xmlns:a16="http://schemas.microsoft.com/office/drawing/2014/main" id="{056FC640-3462-4535-95E8-D5AD31A6160F}"/>
              </a:ext>
            </a:extLst>
          </p:cNvPr>
          <p:cNvSpPr>
            <a:spLocks xmlns:a="http://schemas.openxmlformats.org/drawingml/2006/main" noGrp="1"/>
          </p:cNvSpPr>
          <p:nvPr/>
        </p:nvSpPr>
        <p:spPr>
          <a:xfrm xmlns:a="http://schemas.openxmlformats.org/drawingml/2006/main">
            <a:off x="609600" y="1828800"/>
            <a:ext cx="6858000"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panel-1365">
            <a:extLst xmlns:a="http://schemas.openxmlformats.org/drawingml/2006/main">
              <a:ext uri="{FF2B5EF4-FFF2-40B4-BE49-F238E27FC236}">
                <a16:creationId xmlns:a16="http://schemas.microsoft.com/office/drawing/2014/main" id="{DEDB12AD-80FC-4C63-BC3B-45A4F686BC5D}"/>
              </a:ext>
            </a:extLst>
          </p:cNvPr>
          <p:cNvSpPr>
            <a:spLocks xmlns:a="http://schemas.openxmlformats.org/drawingml/2006/main" noGrp="1"/>
          </p:cNvSpPr>
          <p:nvPr/>
        </p:nvSpPr>
        <p:spPr>
          <a:xfrm xmlns:a="http://schemas.openxmlformats.org/drawingml/2006/main">
            <a:off x="7981950" y="1828800"/>
            <a:ext cx="36004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4" name="text-1366">
            <a:extLst xmlns:a="http://schemas.openxmlformats.org/drawingml/2006/main">
              <a:ext uri="{FF2B5EF4-FFF2-40B4-BE49-F238E27FC236}">
                <a16:creationId xmlns:a16="http://schemas.microsoft.com/office/drawing/2014/main" id="{E58A90C0-293E-44CF-B17B-6F9F6D8E63B8}"/>
              </a:ext>
            </a:extLst>
          </p:cNvPr>
          <p:cNvSpPr>
            <a:spLocks xmlns:a="http://schemas.openxmlformats.org/drawingml/2006/main" noGrp="1"/>
          </p:cNvSpPr>
          <p:nvPr/>
        </p:nvSpPr>
        <p:spPr>
          <a:xfrm xmlns:a="http://schemas.openxmlformats.org/drawingml/2006/main">
            <a:off x="609600" y="203835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1C1C1C"/>
                </a:solidFill>
                <a:latin typeface="Avenir Next"/>
                <a:ea typeface="Avenir Next"/>
                <a:cs typeface="Avenir Next"/>
              </a:defRPr>
            </a:pPr>
            <a:r>
              <a:rPr sz="2175" b="1" i="0">
                <a:solidFill>
                  <a:srgbClr val="1C1C1C"/>
                </a:solidFill>
                <a:latin typeface="Avenir Next"/>
                <a:ea typeface="Avenir Next"/>
                <a:cs typeface="Avenir Next"/>
              </a:rPr>
              <a:t>Tell Claude</a:t>
            </a:r>
          </a:p>
        </p:txBody>
      </p:sp>
      <p:sp>
        <p:nvSpPr>
          <p:cNvPr id="5" name="text-1367">
            <a:extLst xmlns:a="http://schemas.openxmlformats.org/drawingml/2006/main">
              <a:ext uri="{FF2B5EF4-FFF2-40B4-BE49-F238E27FC236}">
                <a16:creationId xmlns:a16="http://schemas.microsoft.com/office/drawing/2014/main" id="{24EDD75A-AFF2-4048-AF7D-F78F4528732B}"/>
              </a:ext>
            </a:extLst>
          </p:cNvPr>
          <p:cNvSpPr>
            <a:spLocks xmlns:a="http://schemas.openxmlformats.org/drawingml/2006/main" noGrp="1"/>
          </p:cNvSpPr>
          <p:nvPr/>
        </p:nvSpPr>
        <p:spPr>
          <a:xfrm xmlns:a="http://schemas.openxmlformats.org/drawingml/2006/main">
            <a:off x="7981950" y="2038350"/>
            <a:ext cx="3600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i="0">
                <a:solidFill>
                  <a:srgbClr val="686868"/>
                </a:solidFill>
                <a:latin typeface="Avenir Next"/>
                <a:ea typeface="Avenir Next"/>
                <a:cs typeface="Avenir Next"/>
              </a:defRPr>
            </a:pPr>
            <a:r>
              <a:rPr sz="1875" b="1" i="0">
                <a:solidFill>
                  <a:srgbClr val="686868"/>
                </a:solidFill>
                <a:latin typeface="Avenir Next"/>
                <a:ea typeface="Avenir Next"/>
                <a:cs typeface="Avenir Next"/>
              </a:rPr>
              <a:t>Technical reference</a:t>
            </a:r>
          </a:p>
        </p:txBody>
      </p:sp>
      <p:sp>
        <p:nvSpPr>
          <p:cNvPr id="6" name="text-1368">
            <a:extLst xmlns:a="http://schemas.openxmlformats.org/drawingml/2006/main">
              <a:ext uri="{FF2B5EF4-FFF2-40B4-BE49-F238E27FC236}">
                <a16:creationId xmlns:a16="http://schemas.microsoft.com/office/drawing/2014/main" id="{B2C4C089-2B8C-4EF5-9A07-37500C6BDBEA}"/>
              </a:ext>
            </a:extLst>
          </p:cNvPr>
          <p:cNvSpPr>
            <a:spLocks xmlns:a="http://schemas.openxmlformats.org/drawingml/2006/main" noGrp="1"/>
          </p:cNvSpPr>
          <p:nvPr/>
        </p:nvSpPr>
        <p:spPr>
          <a:xfrm xmlns:a="http://schemas.openxmlformats.org/drawingml/2006/main">
            <a:off x="609600" y="2667000"/>
            <a:ext cx="68008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i="0">
                <a:solidFill>
                  <a:srgbClr val="1C1C1C"/>
                </a:solidFill>
                <a:latin typeface="Helvetica Neue"/>
                <a:ea typeface="Helvetica Neue"/>
                <a:cs typeface="Helvetica Neue"/>
              </a:defRPr>
            </a:pPr>
            <a:r>
              <a:rPr sz="2175" b="0" i="0">
                <a:solidFill>
                  <a:srgbClr val="1C1C1C"/>
                </a:solidFill>
                <a:latin typeface="Helvetica Neue"/>
                <a:ea typeface="Helvetica Neue"/>
                <a:cs typeface="Helvetica Neue"/>
              </a:rPr>
              <a:t>Open the supplied Walkthrough Assets folder or clone the instructor’s reviewed repository. Read 00-course-map/START-HERE.md and follow its setup. Start Claude Code at the root and run /client-brief with Northstar and the prepared date.</a:t>
            </a:r>
          </a:p>
        </p:txBody>
      </p:sp>
      <p:sp>
        <p:nvSpPr>
          <p:cNvPr id="7" name="panel-1369">
            <a:extLst xmlns:a="http://schemas.openxmlformats.org/drawingml/2006/main">
              <a:ext uri="{FF2B5EF4-FFF2-40B4-BE49-F238E27FC236}">
                <a16:creationId xmlns:a16="http://schemas.microsoft.com/office/drawing/2014/main" id="{4D647FE8-1A05-4989-A01F-123C5874FE88}"/>
              </a:ext>
            </a:extLst>
          </p:cNvPr>
          <p:cNvSpPr>
            <a:spLocks xmlns:a="http://schemas.openxmlformats.org/drawingml/2006/main" noGrp="1"/>
          </p:cNvSpPr>
          <p:nvPr/>
        </p:nvSpPr>
        <p:spPr>
          <a:xfrm xmlns:a="http://schemas.openxmlformats.org/drawingml/2006/main">
            <a:off x="7981950" y="2667000"/>
            <a:ext cx="3600450" cy="980123"/>
          </a:xfrm>
          <a:prstGeom xmlns:a="http://schemas.openxmlformats.org/drawingml/2006/main" prst="rect">
            <a:avLst/>
          </a:prstGeom>
          <a:solidFill xmlns:a="http://schemas.openxmlformats.org/drawingml/2006/main">
            <a:srgbClr val="1C1C1C"/>
          </a:solidFill>
          <a:ln xmlns:a="http://schemas.openxmlformats.org/drawingml/2006/main" w="0">
            <a:noFill/>
          </a:ln>
        </p:spPr>
      </p:sp>
      <p:sp>
        <p:nvSpPr>
          <p:cNvPr id="8" name="text-1370">
            <a:extLst xmlns:a="http://schemas.openxmlformats.org/drawingml/2006/main">
              <a:ext uri="{FF2B5EF4-FFF2-40B4-BE49-F238E27FC236}">
                <a16:creationId xmlns:a16="http://schemas.microsoft.com/office/drawing/2014/main" id="{9BCA8480-24F6-4045-89B3-F22C34FF4829}"/>
              </a:ext>
            </a:extLst>
          </p:cNvPr>
          <p:cNvSpPr>
            <a:spLocks xmlns:a="http://schemas.openxmlformats.org/drawingml/2006/main" noGrp="1"/>
          </p:cNvSpPr>
          <p:nvPr/>
        </p:nvSpPr>
        <p:spPr>
          <a:xfrm xmlns:a="http://schemas.openxmlformats.org/drawingml/2006/main">
            <a:off x="8172450" y="2857500"/>
            <a:ext cx="3219450" cy="6943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cd "Walkthrough Assets"</a:t>
            </a:r>
          </a:p>
          <a:p xmlns:a="http://schemas.openxmlformats.org/drawingml/2006/main">
            <a:pPr>
              <a:defRPr sz="1575" b="0" i="0">
                <a:solidFill>
                  <a:srgbClr val="FFFFFF"/>
                </a:solidFill>
                <a:latin typeface="Menlo"/>
                <a:ea typeface="Menlo"/>
                <a:cs typeface="Menlo"/>
              </a:defRPr>
            </a:pPr>
            <a:r>
              <a:rPr sz="1575" b="0" i="0">
                <a:solidFill>
                  <a:srgbClr val="FFFFFF"/>
                </a:solidFill>
                <a:latin typeface="Menlo"/>
                <a:ea typeface="Menlo"/>
                <a:cs typeface="Menlo"/>
              </a:rPr>
              <a:t>claude</a:t>
            </a:r>
          </a:p>
        </p:txBody>
      </p:sp>
      <p:sp>
        <p:nvSpPr>
          <p:cNvPr id="9" name="text-1371">
            <a:extLst xmlns:a="http://schemas.openxmlformats.org/drawingml/2006/main">
              <a:ext uri="{FF2B5EF4-FFF2-40B4-BE49-F238E27FC236}">
                <a16:creationId xmlns:a16="http://schemas.microsoft.com/office/drawing/2014/main" id="{9DB399F1-22CF-4FD4-A76B-53E301C2AAD2}"/>
              </a:ext>
            </a:extLst>
          </p:cNvPr>
          <p:cNvSpPr>
            <a:spLocks xmlns:a="http://schemas.openxmlformats.org/drawingml/2006/main" noGrp="1"/>
          </p:cNvSpPr>
          <p:nvPr/>
        </p:nvSpPr>
        <p:spPr>
          <a:xfrm xmlns:a="http://schemas.openxmlformats.org/drawingml/2006/main">
            <a:off x="609600" y="58197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i="0">
                <a:solidFill>
                  <a:srgbClr val="686868"/>
                </a:solidFill>
                <a:latin typeface="Helvetica Neue"/>
                <a:ea typeface="Helvetica Neue"/>
                <a:cs typeface="Helvetica Neue"/>
              </a:defRPr>
            </a:pPr>
            <a:r>
              <a:rPr sz="1800" b="0" i="0">
                <a:solidFill>
                  <a:srgbClr val="686868"/>
                </a:solidFill>
                <a:latin typeface="Helvetica Neue"/>
                <a:ea typeface="Helvetica Neue"/>
                <a:cs typeface="Helvetica Neue"/>
              </a:rPr>
              <a:t>Use the supplied folder today. A repository URL and real version are supplied only for a published team release.</a:t>
            </a:r>
          </a:p>
        </p:txBody>
      </p:sp>
      <p:sp>
        <p:nvSpPr>
          <p:cNvPr id="10" name="text-1372">
            <a:extLst xmlns:a="http://schemas.openxmlformats.org/drawingml/2006/main">
              <a:ext uri="{FF2B5EF4-FFF2-40B4-BE49-F238E27FC236}">
                <a16:creationId xmlns:a16="http://schemas.microsoft.com/office/drawing/2014/main" id="{B0EC2C23-74C7-488D-A7E7-1E495E7330B1}"/>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147</a:t>
            </a:r>
          </a:p>
        </p:txBody>
      </p:sp>
    </p:spTree>
    <p:extLst>
      <p:ext uri="{BB962C8B-B14F-4D97-AF65-F5344CB8AC3E}">
        <p14:creationId xmlns:p14="http://schemas.microsoft.com/office/powerpoint/2010/main" val="1097336896"/>
      </p:ext>
    </p:extLst>
  </p:cSld>
</p:sld>
</file>

<file path=ppt/slides/slide148.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14" name="text-1373">
            <a:extLst xmlns:a="http://schemas.openxmlformats.org/drawingml/2006/main">
              <a:ext uri="{FF2B5EF4-FFF2-40B4-BE49-F238E27FC236}">
                <a16:creationId xmlns:a16="http://schemas.microsoft.com/office/drawing/2014/main" id="{FF292BDB-D9A4-4421-AC47-74A3E23F889A}"/>
              </a:ext>
            </a:extLst>
          </p:cNvPr>
          <p:cNvSpPr>
            <a:spLocks xmlns:a="http://schemas.openxmlformats.org/drawingml/2006/main" noGrp="1"/>
          </p:cNvSpPr>
          <p:nvPr/>
        </p:nvSpPr>
        <p:spPr>
          <a:xfrm xmlns:a="http://schemas.openxmlformats.org/drawingml/2006/main">
            <a:off x="609600" y="790575"/>
            <a:ext cx="2619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i="0">
                <a:solidFill>
                  <a:srgbClr val="D1372D"/>
                </a:solidFill>
                <a:latin typeface="Avenir Next"/>
                <a:ea typeface="Avenir Next"/>
                <a:cs typeface="Avenir Next"/>
              </a:defRPr>
            </a:pPr>
            <a:r>
              <a:rPr sz="5400" b="1" i="0">
                <a:solidFill>
                  <a:srgbClr val="D1372D"/>
                </a:solidFill>
                <a:latin typeface="Avenir Next"/>
                <a:ea typeface="Avenir Next"/>
                <a:cs typeface="Avenir Next"/>
              </a:rPr>
              <a:t>LAB</a:t>
            </a:r>
          </a:p>
        </p:txBody>
      </p:sp>
      <p:sp>
        <p:nvSpPr>
          <p:cNvPr id="2" name="text-1374">
            <a:extLst xmlns:a="http://schemas.openxmlformats.org/drawingml/2006/main">
              <a:ext uri="{FF2B5EF4-FFF2-40B4-BE49-F238E27FC236}">
                <a16:creationId xmlns:a16="http://schemas.microsoft.com/office/drawing/2014/main" id="{3F3A3608-42EF-4449-BBD6-7A788369F28A}"/>
              </a:ext>
            </a:extLst>
          </p:cNvPr>
          <p:cNvSpPr>
            <a:spLocks xmlns:a="http://schemas.openxmlformats.org/drawingml/2006/main" noGrp="1"/>
          </p:cNvSpPr>
          <p:nvPr/>
        </p:nvSpPr>
        <p:spPr>
          <a:xfrm xmlns:a="http://schemas.openxmlformats.org/drawingml/2006/main">
            <a:off x="609600" y="1752600"/>
            <a:ext cx="2619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8700" b="1" i="0">
                <a:solidFill>
                  <a:srgbClr val="D1372D"/>
                </a:solidFill>
                <a:latin typeface="Avenir Next"/>
                <a:ea typeface="Avenir Next"/>
                <a:cs typeface="Avenir Next"/>
              </a:defRPr>
            </a:pPr>
            <a:r>
              <a:rPr sz="8700" b="1" i="0">
                <a:solidFill>
                  <a:srgbClr val="D1372D"/>
                </a:solidFill>
                <a:latin typeface="Avenir Next"/>
                <a:ea typeface="Avenir Next"/>
                <a:cs typeface="Avenir Next"/>
              </a:rPr>
              <a:t>06</a:t>
            </a:r>
          </a:p>
        </p:txBody>
      </p:sp>
      <p:sp>
        <p:nvSpPr>
          <p:cNvPr id="3" name="text-1375">
            <a:extLst xmlns:a="http://schemas.openxmlformats.org/drawingml/2006/main">
              <a:ext uri="{FF2B5EF4-FFF2-40B4-BE49-F238E27FC236}">
                <a16:creationId xmlns:a16="http://schemas.microsoft.com/office/drawing/2014/main" id="{11E98C00-64CF-42D3-B806-5F3403590B9C}"/>
              </a:ext>
            </a:extLst>
          </p:cNvPr>
          <p:cNvSpPr>
            <a:spLocks xmlns:a="http://schemas.openxmlformats.org/drawingml/2006/main" noGrp="1"/>
          </p:cNvSpPr>
          <p:nvPr/>
        </p:nvSpPr>
        <p:spPr>
          <a:xfrm xmlns:a="http://schemas.openxmlformats.org/drawingml/2006/main">
            <a:off x="3600450" y="600075"/>
            <a:ext cx="78676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Package it for a teammate</a:t>
            </a:r>
          </a:p>
        </p:txBody>
      </p:sp>
      <p:sp>
        <p:nvSpPr>
          <p:cNvPr id="4" name="text-1376">
            <a:extLst xmlns:a="http://schemas.openxmlformats.org/drawingml/2006/main">
              <a:ext uri="{FF2B5EF4-FFF2-40B4-BE49-F238E27FC236}">
                <a16:creationId xmlns:a16="http://schemas.microsoft.com/office/drawing/2014/main" id="{6905B017-58D8-4465-BDBD-3FDAB552A153}"/>
              </a:ext>
            </a:extLst>
          </p:cNvPr>
          <p:cNvSpPr>
            <a:spLocks xmlns:a="http://schemas.openxmlformats.org/drawingml/2006/main" noGrp="1"/>
          </p:cNvSpPr>
          <p:nvPr/>
        </p:nvSpPr>
        <p:spPr>
          <a:xfrm xmlns:a="http://schemas.openxmlformats.org/drawingml/2006/main">
            <a:off x="3600450" y="21145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5" name="text-1377">
            <a:extLst xmlns:a="http://schemas.openxmlformats.org/drawingml/2006/main">
              <a:ext uri="{FF2B5EF4-FFF2-40B4-BE49-F238E27FC236}">
                <a16:creationId xmlns:a16="http://schemas.microsoft.com/office/drawing/2014/main" id="{EFC9CA7C-D250-4D60-A207-B15BF5349D24}"/>
              </a:ext>
            </a:extLst>
          </p:cNvPr>
          <p:cNvSpPr>
            <a:spLocks xmlns:a="http://schemas.openxmlformats.org/drawingml/2006/main" noGrp="1"/>
          </p:cNvSpPr>
          <p:nvPr/>
        </p:nvSpPr>
        <p:spPr>
          <a:xfrm xmlns:a="http://schemas.openxmlformats.org/drawingml/2006/main">
            <a:off x="4505325" y="211455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Write setup steps and one working command example</a:t>
            </a:r>
          </a:p>
        </p:txBody>
      </p:sp>
      <p:sp>
        <p:nvSpPr>
          <p:cNvPr id="6" name="text-1378">
            <a:extLst xmlns:a="http://schemas.openxmlformats.org/drawingml/2006/main">
              <a:ext uri="{FF2B5EF4-FFF2-40B4-BE49-F238E27FC236}">
                <a16:creationId xmlns:a16="http://schemas.microsoft.com/office/drawing/2014/main" id="{D622D89F-9FC8-4EF3-8313-544B3A0301CF}"/>
              </a:ext>
            </a:extLst>
          </p:cNvPr>
          <p:cNvSpPr>
            <a:spLocks xmlns:a="http://schemas.openxmlformats.org/drawingml/2006/main" noGrp="1"/>
          </p:cNvSpPr>
          <p:nvPr/>
        </p:nvSpPr>
        <p:spPr>
          <a:xfrm xmlns:a="http://schemas.openxmlformats.org/drawingml/2006/main">
            <a:off x="3600450" y="30575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7" name="text-1379">
            <a:extLst xmlns:a="http://schemas.openxmlformats.org/drawingml/2006/main">
              <a:ext uri="{FF2B5EF4-FFF2-40B4-BE49-F238E27FC236}">
                <a16:creationId xmlns:a16="http://schemas.microsoft.com/office/drawing/2014/main" id="{677011E0-4ACB-41A4-98B4-058A0AF16D39}"/>
              </a:ext>
            </a:extLst>
          </p:cNvPr>
          <p:cNvSpPr>
            <a:spLocks xmlns:a="http://schemas.openxmlformats.org/drawingml/2006/main" noGrp="1"/>
          </p:cNvSpPr>
          <p:nvPr/>
        </p:nvSpPr>
        <p:spPr>
          <a:xfrm xmlns:a="http://schemas.openxmlformats.org/drawingml/2006/main">
            <a:off x="4505325" y="3057525"/>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Document the tested cases and remaining limitations</a:t>
            </a:r>
          </a:p>
        </p:txBody>
      </p:sp>
      <p:sp>
        <p:nvSpPr>
          <p:cNvPr id="8" name="text-1380">
            <a:extLst xmlns:a="http://schemas.openxmlformats.org/drawingml/2006/main">
              <a:ext uri="{FF2B5EF4-FFF2-40B4-BE49-F238E27FC236}">
                <a16:creationId xmlns:a16="http://schemas.microsoft.com/office/drawing/2014/main" id="{577EF5BF-7F1C-42B6-A226-D642B02DA537}"/>
              </a:ext>
            </a:extLst>
          </p:cNvPr>
          <p:cNvSpPr>
            <a:spLocks xmlns:a="http://schemas.openxmlformats.org/drawingml/2006/main" noGrp="1"/>
          </p:cNvSpPr>
          <p:nvPr/>
        </p:nvSpPr>
        <p:spPr>
          <a:xfrm xmlns:a="http://schemas.openxmlformats.org/drawingml/2006/main">
            <a:off x="36004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9" name="text-1381">
            <a:extLst xmlns:a="http://schemas.openxmlformats.org/drawingml/2006/main">
              <a:ext uri="{FF2B5EF4-FFF2-40B4-BE49-F238E27FC236}">
                <a16:creationId xmlns:a16="http://schemas.microsoft.com/office/drawing/2014/main" id="{782EA92F-A994-423D-8D21-F636AFD99E9A}"/>
              </a:ext>
            </a:extLst>
          </p:cNvPr>
          <p:cNvSpPr>
            <a:spLocks xmlns:a="http://schemas.openxmlformats.org/drawingml/2006/main" noGrp="1"/>
          </p:cNvSpPr>
          <p:nvPr/>
        </p:nvSpPr>
        <p:spPr>
          <a:xfrm xmlns:a="http://schemas.openxmlformats.org/drawingml/2006/main">
            <a:off x="4505325" y="4000500"/>
            <a:ext cx="67341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Name an owner and record a reviewed version</a:t>
            </a:r>
          </a:p>
        </p:txBody>
      </p:sp>
      <p:sp>
        <p:nvSpPr>
          <p:cNvPr id="10" name="panel-1382">
            <a:extLst xmlns:a="http://schemas.openxmlformats.org/drawingml/2006/main">
              <a:ext uri="{FF2B5EF4-FFF2-40B4-BE49-F238E27FC236}">
                <a16:creationId xmlns:a16="http://schemas.microsoft.com/office/drawing/2014/main" id="{E8434A62-A1D0-4A23-B7F8-3C254C3C4A48}"/>
              </a:ext>
            </a:extLst>
          </p:cNvPr>
          <p:cNvSpPr>
            <a:spLocks xmlns:a="http://schemas.openxmlformats.org/drawingml/2006/main" noGrp="1"/>
          </p:cNvSpPr>
          <p:nvPr/>
        </p:nvSpPr>
        <p:spPr>
          <a:xfrm xmlns:a="http://schemas.openxmlformats.org/drawingml/2006/main">
            <a:off x="3600450" y="5219700"/>
            <a:ext cx="771525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11" name="text-1383">
            <a:extLst xmlns:a="http://schemas.openxmlformats.org/drawingml/2006/main">
              <a:ext uri="{FF2B5EF4-FFF2-40B4-BE49-F238E27FC236}">
                <a16:creationId xmlns:a16="http://schemas.microsoft.com/office/drawing/2014/main" id="{1E5663C0-CB82-4A0A-BDF4-EB0E22D4BCE0}"/>
              </a:ext>
            </a:extLst>
          </p:cNvPr>
          <p:cNvSpPr>
            <a:spLocks xmlns:a="http://schemas.openxmlformats.org/drawingml/2006/main" noGrp="1"/>
          </p:cNvSpPr>
          <p:nvPr/>
        </p:nvSpPr>
        <p:spPr>
          <a:xfrm xmlns:a="http://schemas.openxmlformats.org/drawingml/2006/main">
            <a:off x="3600450" y="54959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i="0">
                <a:solidFill>
                  <a:srgbClr val="686868"/>
                </a:solidFill>
                <a:latin typeface="Helvetica Neue"/>
                <a:ea typeface="Helvetica Neue"/>
                <a:cs typeface="Helvetica Neue"/>
              </a:defRPr>
            </a:pPr>
            <a:r>
              <a:rPr sz="1650" b="0" i="0">
                <a:solidFill>
                  <a:srgbClr val="686868"/>
                </a:solidFill>
                <a:latin typeface="Helvetica Neue"/>
                <a:ea typeface="Helvetica Neue"/>
                <a:cs typeface="Helvetica Neue"/>
              </a:rPr>
              <a:t>00-course-map/labs/06-release.md</a:t>
            </a:r>
          </a:p>
        </p:txBody>
      </p:sp>
      <p:sp>
        <p:nvSpPr>
          <p:cNvPr id="12" name="text-1384">
            <a:extLst xmlns:a="http://schemas.openxmlformats.org/drawingml/2006/main">
              <a:ext uri="{FF2B5EF4-FFF2-40B4-BE49-F238E27FC236}">
                <a16:creationId xmlns:a16="http://schemas.microsoft.com/office/drawing/2014/main" id="{67BE5989-C9A3-40AB-AEDE-2C05684416E1}"/>
              </a:ext>
            </a:extLst>
          </p:cNvPr>
          <p:cNvSpPr>
            <a:spLocks xmlns:a="http://schemas.openxmlformats.org/drawingml/2006/main" noGrp="1"/>
          </p:cNvSpPr>
          <p:nvPr/>
        </p:nvSpPr>
        <p:spPr>
          <a:xfrm xmlns:a="http://schemas.openxmlformats.org/drawingml/2006/main">
            <a:off x="3600450" y="5876925"/>
            <a:ext cx="7762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A local handoff another person can follow</a:t>
            </a:r>
          </a:p>
        </p:txBody>
      </p:sp>
      <p:sp>
        <p:nvSpPr>
          <p:cNvPr id="13" name="text-1385">
            <a:extLst xmlns:a="http://schemas.openxmlformats.org/drawingml/2006/main">
              <a:ext uri="{FF2B5EF4-FFF2-40B4-BE49-F238E27FC236}">
                <a16:creationId xmlns:a16="http://schemas.microsoft.com/office/drawing/2014/main" id="{E944CDA1-D58B-4FEF-A8BD-6C6900AFCAEA}"/>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148</a:t>
            </a:r>
          </a:p>
        </p:txBody>
      </p:sp>
    </p:spTree>
    <p:extLst>
      <p:ext uri="{BB962C8B-B14F-4D97-AF65-F5344CB8AC3E}">
        <p14:creationId xmlns:p14="http://schemas.microsoft.com/office/powerpoint/2010/main" val="2145975926"/>
      </p:ext>
    </p:extLst>
  </p:cSld>
</p:sld>
</file>

<file path=ppt/slides/slide149.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386">
            <a:extLst xmlns:a="http://schemas.openxmlformats.org/drawingml/2006/main">
              <a:ext uri="{FF2B5EF4-FFF2-40B4-BE49-F238E27FC236}">
                <a16:creationId xmlns:a16="http://schemas.microsoft.com/office/drawing/2014/main" id="{13021475-00B3-4D4B-840B-1F6DB4E3E836}"/>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Keep the library useful</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872490">
                <a:tc>
                  <a:txBody>
                    <a:bodyPr>
                      <a:noAutofit/>
                    </a:bodyPr>
                    <a:lstStyle/>
                    <a:p>
                      <a:r>
                        <a:rPr sz="1875" b="1" i="0">
                          <a:solidFill>
                            <a:srgbClr val="FFFFFF"/>
                          </a:solidFill>
                          <a:latin typeface="Helvetica Neue"/>
                          <a:ea typeface="Helvetica Neue"/>
                          <a:cs typeface="Helvetica Neue"/>
                        </a:rPr>
                        <a:t>Every shared skill needs</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Why</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872490">
                <a:tc>
                  <a:txBody>
                    <a:bodyPr>
                      <a:noAutofit/>
                    </a:bodyPr>
                    <a:lstStyle/>
                    <a:p>
                      <a:r>
                        <a:rPr sz="1875" b="1" i="0">
                          <a:solidFill>
                            <a:srgbClr val="1C1C1C"/>
                          </a:solidFill>
                          <a:latin typeface="Helvetica Neue"/>
                          <a:ea typeface="Helvetica Neue"/>
                          <a:cs typeface="Helvetica Neue"/>
                        </a:rPr>
                        <a:t>An owner</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Someone handles a broken dependency</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A tested version and date</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Users know what was verified</a:t>
                      </a:r>
                    </a:p>
                  </a:txBody>
                  <a:tcPr marL="171450" marR="171450" marT="114300" marB="114300" anchor="ctr">
                    <a:lnR w="19050">
                      <a:solidFill>
                        <a:srgbClr val="F8F5F0"/>
                      </a:solidFill>
                    </a:lnR>
                    <a:lnB w="19050">
                      <a:solidFill>
                        <a:srgbClr val="F8F5F0"/>
                      </a:solidFill>
                    </a:lnB>
                    <a:solidFill>
                      <a:srgbClr val="F8F5F0"/>
                    </a:solidFill>
                  </a:tcPr>
                </a:tc>
              </a:tr>
              <a:tr h="872490">
                <a:tc>
                  <a:txBody>
                    <a:bodyPr>
                      <a:noAutofit/>
                    </a:bodyPr>
                    <a:lstStyle/>
                    <a:p>
                      <a:r>
                        <a:rPr sz="1875" b="1" i="0">
                          <a:solidFill>
                            <a:srgbClr val="1C1C1C"/>
                          </a:solidFill>
                          <a:latin typeface="Helvetica Neue"/>
                          <a:ea typeface="Helvetica Neue"/>
                          <a:cs typeface="Helvetica Neue"/>
                        </a:rPr>
                        <a:t>A small case set</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Updates can be checked</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A retirement path</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Stale guidance does not accumulate</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1387">
            <a:extLst xmlns:a="http://schemas.openxmlformats.org/drawingml/2006/main">
              <a:ext uri="{FF2B5EF4-FFF2-40B4-BE49-F238E27FC236}">
                <a16:creationId xmlns:a16="http://schemas.microsoft.com/office/drawing/2014/main" id="{47ED942B-6144-4A67-911E-7161FF2A3BF3}"/>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149</a:t>
            </a:r>
          </a:p>
        </p:txBody>
      </p:sp>
    </p:spTree>
    <p:extLst>
      <p:ext uri="{BB962C8B-B14F-4D97-AF65-F5344CB8AC3E}">
        <p14:creationId xmlns:p14="http://schemas.microsoft.com/office/powerpoint/2010/main" val="745060389"/>
      </p:ext>
    </p:extLst>
  </p:cSld>
</p:sld>
</file>

<file path=ppt/slides/slide150.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9" name="text-1388">
            <a:extLst xmlns:a="http://schemas.openxmlformats.org/drawingml/2006/main">
              <a:ext uri="{FF2B5EF4-FFF2-40B4-BE49-F238E27FC236}">
                <a16:creationId xmlns:a16="http://schemas.microsoft.com/office/drawing/2014/main" id="{DF5E8564-7E8C-4AEE-A784-CF467F9ED52E}"/>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workflow ends with a useful brief</a:t>
            </a:r>
          </a:p>
        </p:txBody>
      </p:sp>
      <p:sp>
        <p:nvSpPr>
          <p:cNvPr id="2" name="panel-1389">
            <a:extLst xmlns:a="http://schemas.openxmlformats.org/drawingml/2006/main">
              <a:ext uri="{FF2B5EF4-FFF2-40B4-BE49-F238E27FC236}">
                <a16:creationId xmlns:a16="http://schemas.microsoft.com/office/drawing/2014/main" id="{D777ACAA-7DDD-47FF-B1F8-DC0A7CA014F2}"/>
              </a:ext>
            </a:extLst>
          </p:cNvPr>
          <p:cNvSpPr>
            <a:spLocks xmlns:a="http://schemas.openxmlformats.org/drawingml/2006/main" noGrp="1"/>
          </p:cNvSpPr>
          <p:nvPr/>
        </p:nvSpPr>
        <p:spPr>
          <a:xfrm xmlns:a="http://schemas.openxmlformats.org/drawingml/2006/main">
            <a:off x="609600" y="1800225"/>
            <a:ext cx="6905625" cy="9525"/>
          </a:xfrm>
          <a:prstGeom xmlns:a="http://schemas.openxmlformats.org/drawingml/2006/main" prst="rect">
            <a:avLst/>
          </a:prstGeom>
          <a:solidFill xmlns:a="http://schemas.openxmlformats.org/drawingml/2006/main">
            <a:srgbClr val="D1372D"/>
          </a:solidFill>
          <a:ln xmlns:a="http://schemas.openxmlformats.org/drawingml/2006/main" w="0">
            <a:noFill/>
          </a:ln>
        </p:spPr>
      </p:sp>
      <p:sp>
        <p:nvSpPr>
          <p:cNvPr id="3" name="text-1390">
            <a:extLst xmlns:a="http://schemas.openxmlformats.org/drawingml/2006/main">
              <a:ext uri="{FF2B5EF4-FFF2-40B4-BE49-F238E27FC236}">
                <a16:creationId xmlns:a16="http://schemas.microsoft.com/office/drawing/2014/main" id="{0E7F62C1-6F5C-4863-A416-984317B870F1}"/>
              </a:ext>
            </a:extLst>
          </p:cNvPr>
          <p:cNvSpPr>
            <a:spLocks xmlns:a="http://schemas.openxmlformats.org/drawingml/2006/main" noGrp="1"/>
          </p:cNvSpPr>
          <p:nvPr/>
        </p:nvSpPr>
        <p:spPr>
          <a:xfrm xmlns:a="http://schemas.openxmlformats.org/drawingml/2006/main">
            <a:off x="609600" y="2066925"/>
            <a:ext cx="690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Northstar · ready for the next call</a:t>
            </a:r>
          </a:p>
        </p:txBody>
      </p:sp>
      <p:sp>
        <p:nvSpPr>
          <p:cNvPr id="4" name="text-1391">
            <a:extLst xmlns:a="http://schemas.openxmlformats.org/drawingml/2006/main">
              <a:ext uri="{FF2B5EF4-FFF2-40B4-BE49-F238E27FC236}">
                <a16:creationId xmlns:a16="http://schemas.microsoft.com/office/drawing/2014/main" id="{C6A31208-916A-4D14-9696-48FE75AD5DC5}"/>
              </a:ext>
            </a:extLst>
          </p:cNvPr>
          <p:cNvSpPr>
            <a:spLocks xmlns:a="http://schemas.openxmlformats.org/drawingml/2006/main" noGrp="1"/>
          </p:cNvSpPr>
          <p:nvPr/>
        </p:nvSpPr>
        <p:spPr>
          <a:xfrm xmlns:a="http://schemas.openxmlformats.org/drawingml/2006/main">
            <a:off x="609600" y="2781300"/>
            <a:ext cx="69056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Known:</a:t>
            </a:r>
            <a:r>
              <a:rPr sz="2025" b="0" i="0">
                <a:solidFill>
                  <a:srgbClr val="1C1C1C"/>
                </a:solidFill>
                <a:latin typeface="Helvetica Neue"/>
                <a:ea typeface="Helvetica Neue"/>
                <a:cs typeface="Helvetica Neue"/>
              </a:rPr>
              <a:t> Maya requested an onboarding checklist.</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Source:</a:t>
            </a:r>
            <a:r>
              <a:rPr sz="2025" b="0" i="0">
                <a:solidFill>
                  <a:srgbClr val="1C1C1C"/>
                </a:solidFill>
                <a:latin typeface="Helvetica Neue"/>
                <a:ea typeface="Helvetica Neue"/>
                <a:cs typeface="Helvetica Neue"/>
              </a:rPr>
              <a:t> demo-transcript-001</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Already in motion:</a:t>
            </a:r>
            <a:r>
              <a:rPr sz="2025" b="0" i="0">
                <a:solidFill>
                  <a:srgbClr val="1C1C1C"/>
                </a:solidFill>
                <a:latin typeface="Helvetica Neue"/>
                <a:ea typeface="Helvetica Neue"/>
                <a:cs typeface="Helvetica Neue"/>
              </a:rPr>
              <a:t> share the brand workshop notes.</a:t>
            </a:r>
          </a:p>
          <a:p xmlns:a="http://schemas.openxmlformats.org/drawingml/2006/main">
            <a:r>
              <a:t/>
            </a:r>
          </a:p>
          <a:p xmlns:a="http://schemas.openxmlformats.org/drawingml/2006/main">
            <a:pPr>
              <a:defRPr sz="2025" b="0" i="0">
                <a:solidFill>
                  <a:srgbClr val="1C1C1C"/>
                </a:solidFill>
                <a:latin typeface="Helvetica Neue"/>
                <a:ea typeface="Helvetica Neue"/>
                <a:cs typeface="Helvetica Neue"/>
              </a:defRPr>
            </a:pPr>
            <a:r>
              <a:rPr sz="2025" b="1" i="0">
                <a:solidFill>
                  <a:srgbClr val="1C1C1C"/>
                </a:solidFill>
                <a:latin typeface="Helvetica Neue"/>
                <a:ea typeface="Helvetica Neue"/>
                <a:cs typeface="Helvetica Neue"/>
              </a:rPr>
              <a:t>Still to decide:</a:t>
            </a:r>
            <a:r>
              <a:rPr sz="2025" b="0" i="0">
                <a:solidFill>
                  <a:srgbClr val="1C1C1C"/>
                </a:solidFill>
                <a:latin typeface="Helvetica Neue"/>
                <a:ea typeface="Helvetica Neue"/>
                <a:cs typeface="Helvetica Neue"/>
              </a:rPr>
              <a:t> checklist owner and delivery timing.</a:t>
            </a:r>
          </a:p>
        </p:txBody>
      </p:sp>
      <p:sp>
        <p:nvSpPr>
          <p:cNvPr id="5" name="panel-1392">
            <a:extLst xmlns:a="http://schemas.openxmlformats.org/drawingml/2006/main">
              <a:ext uri="{FF2B5EF4-FFF2-40B4-BE49-F238E27FC236}">
                <a16:creationId xmlns:a16="http://schemas.microsoft.com/office/drawing/2014/main" id="{1961CDA1-EA28-4D67-892E-3F24921718C1}"/>
              </a:ext>
            </a:extLst>
          </p:cNvPr>
          <p:cNvSpPr>
            <a:spLocks xmlns:a="http://schemas.openxmlformats.org/drawingml/2006/main" noGrp="1"/>
          </p:cNvSpPr>
          <p:nvPr/>
        </p:nvSpPr>
        <p:spPr>
          <a:xfrm xmlns:a="http://schemas.openxmlformats.org/drawingml/2006/main">
            <a:off x="8086725" y="1800225"/>
            <a:ext cx="3495675"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1393">
            <a:extLst xmlns:a="http://schemas.openxmlformats.org/drawingml/2006/main">
              <a:ext uri="{FF2B5EF4-FFF2-40B4-BE49-F238E27FC236}">
                <a16:creationId xmlns:a16="http://schemas.microsoft.com/office/drawing/2014/main" id="{A0CD644D-C710-408B-9408-A8F4FB55B44B}"/>
              </a:ext>
            </a:extLst>
          </p:cNvPr>
          <p:cNvSpPr>
            <a:spLocks xmlns:a="http://schemas.openxmlformats.org/drawingml/2006/main" noGrp="1"/>
          </p:cNvSpPr>
          <p:nvPr/>
        </p:nvSpPr>
        <p:spPr>
          <a:xfrm xmlns:a="http://schemas.openxmlformats.org/drawingml/2006/main">
            <a:off x="8086725" y="2066925"/>
            <a:ext cx="3495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i="0">
                <a:solidFill>
                  <a:srgbClr val="1C1C1C"/>
                </a:solidFill>
                <a:latin typeface="Avenir Next"/>
                <a:ea typeface="Avenir Next"/>
                <a:cs typeface="Avenir Next"/>
              </a:defRPr>
            </a:pPr>
            <a:r>
              <a:rPr sz="2250" b="1" i="0">
                <a:solidFill>
                  <a:srgbClr val="1C1C1C"/>
                </a:solidFill>
                <a:latin typeface="Avenir Next"/>
                <a:ea typeface="Avenir Next"/>
                <a:cs typeface="Avenir Next"/>
              </a:rPr>
              <a:t>A useful handoff</a:t>
            </a:r>
          </a:p>
        </p:txBody>
      </p:sp>
      <p:sp>
        <p:nvSpPr>
          <p:cNvPr id="7" name="text-1394">
            <a:extLst xmlns:a="http://schemas.openxmlformats.org/drawingml/2006/main">
              <a:ext uri="{FF2B5EF4-FFF2-40B4-BE49-F238E27FC236}">
                <a16:creationId xmlns:a16="http://schemas.microsoft.com/office/drawing/2014/main" id="{A8829C15-83E2-4B05-BDB4-2AC4CD70A8A4}"/>
              </a:ext>
            </a:extLst>
          </p:cNvPr>
          <p:cNvSpPr>
            <a:spLocks xmlns:a="http://schemas.openxmlformats.org/drawingml/2006/main" noGrp="1"/>
          </p:cNvSpPr>
          <p:nvPr/>
        </p:nvSpPr>
        <p:spPr>
          <a:xfrm xmlns:a="http://schemas.openxmlformats.org/drawingml/2006/main">
            <a:off x="8086725" y="3028950"/>
            <a:ext cx="349567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Bring the relevant facts.</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Keep their sources.</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Name what is unknown.</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Separate the next proposal.</a:t>
            </a:r>
          </a:p>
          <a:p xmlns:a="http://schemas.openxmlformats.org/drawingml/2006/main">
            <a:r>
              <a:t/>
            </a:r>
          </a:p>
          <a:p xmlns:a="http://schemas.openxmlformats.org/drawingml/2006/main">
            <a:pPr>
              <a:defRPr sz="2100" b="0" i="0">
                <a:solidFill>
                  <a:srgbClr val="1C1C1C"/>
                </a:solidFill>
                <a:latin typeface="Helvetica Neue"/>
                <a:ea typeface="Helvetica Neue"/>
                <a:cs typeface="Helvetica Neue"/>
              </a:defRPr>
            </a:pPr>
            <a:r>
              <a:rPr sz="2100" b="0" i="0">
                <a:solidFill>
                  <a:srgbClr val="1C1C1C"/>
                </a:solidFill>
                <a:latin typeface="Helvetica Neue"/>
                <a:ea typeface="Helvetica Neue"/>
                <a:cs typeface="Helvetica Neue"/>
              </a:rPr>
              <a:t>Open Client brief to demonstrate the full output.</a:t>
            </a:r>
          </a:p>
        </p:txBody>
      </p:sp>
      <p:sp>
        <p:nvSpPr>
          <p:cNvPr id="8" name="text-1395">
            <a:extLst xmlns:a="http://schemas.openxmlformats.org/drawingml/2006/main">
              <a:ext uri="{FF2B5EF4-FFF2-40B4-BE49-F238E27FC236}">
                <a16:creationId xmlns:a16="http://schemas.microsoft.com/office/drawing/2014/main" id="{1EE90784-CE2F-4E5F-AB84-AE78E2F1F6CF}"/>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150</a:t>
            </a:r>
          </a:p>
        </p:txBody>
      </p:sp>
    </p:spTree>
    <p:extLst>
      <p:ext uri="{BB962C8B-B14F-4D97-AF65-F5344CB8AC3E}">
        <p14:creationId xmlns:p14="http://schemas.microsoft.com/office/powerpoint/2010/main" val="1475432456"/>
      </p:ext>
    </p:extLst>
  </p:cSld>
</p:sld>
</file>

<file path=ppt/slides/slide151.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1396">
            <a:extLst xmlns:a="http://schemas.openxmlformats.org/drawingml/2006/main">
              <a:ext uri="{FF2B5EF4-FFF2-40B4-BE49-F238E27FC236}">
                <a16:creationId xmlns:a16="http://schemas.microsoft.com/office/drawing/2014/main" id="{FAD8B48C-E74F-4F11-A1B9-3FB8A4054A02}"/>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What “ready to share” means</a:t>
            </a:r>
          </a:p>
        </p:txBody>
      </p:sp>
      <p:sp>
        <p:nvSpPr>
          <p:cNvPr id="2" name="text-1397">
            <a:extLst xmlns:a="http://schemas.openxmlformats.org/drawingml/2006/main">
              <a:ext uri="{FF2B5EF4-FFF2-40B4-BE49-F238E27FC236}">
                <a16:creationId xmlns:a16="http://schemas.microsoft.com/office/drawing/2014/main" id="{98E644DE-0F14-4445-B9DD-7927D7B0B1CF}"/>
              </a:ext>
            </a:extLst>
          </p:cNvPr>
          <p:cNvSpPr>
            <a:spLocks xmlns:a="http://schemas.openxmlformats.org/drawingml/2006/main" noGrp="1"/>
          </p:cNvSpPr>
          <p:nvPr/>
        </p:nvSpPr>
        <p:spPr>
          <a:xfrm xmlns:a="http://schemas.openxmlformats.org/drawingml/2006/main">
            <a:off x="609600" y="19335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01</a:t>
            </a:r>
          </a:p>
        </p:txBody>
      </p:sp>
      <p:sp>
        <p:nvSpPr>
          <p:cNvPr id="3" name="text-1398">
            <a:extLst xmlns:a="http://schemas.openxmlformats.org/drawingml/2006/main">
              <a:ext uri="{FF2B5EF4-FFF2-40B4-BE49-F238E27FC236}">
                <a16:creationId xmlns:a16="http://schemas.microsoft.com/office/drawing/2014/main" id="{EDB4240B-D221-4192-B51E-92B23E43A497}"/>
              </a:ext>
            </a:extLst>
          </p:cNvPr>
          <p:cNvSpPr>
            <a:spLocks xmlns:a="http://schemas.openxmlformats.org/drawingml/2006/main" noGrp="1"/>
          </p:cNvSpPr>
          <p:nvPr/>
        </p:nvSpPr>
        <p:spPr>
          <a:xfrm xmlns:a="http://schemas.openxmlformats.org/drawingml/2006/main">
            <a:off x="1514475" y="193357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A teammate completes /client-brief in a fresh session</a:t>
            </a:r>
          </a:p>
        </p:txBody>
      </p:sp>
      <p:sp>
        <p:nvSpPr>
          <p:cNvPr id="4" name="text-1399">
            <a:extLst xmlns:a="http://schemas.openxmlformats.org/drawingml/2006/main">
              <a:ext uri="{FF2B5EF4-FFF2-40B4-BE49-F238E27FC236}">
                <a16:creationId xmlns:a16="http://schemas.microsoft.com/office/drawing/2014/main" id="{94E5C161-882B-4817-B0E1-A0C8DC52EB52}"/>
              </a:ext>
            </a:extLst>
          </p:cNvPr>
          <p:cNvSpPr>
            <a:spLocks xmlns:a="http://schemas.openxmlformats.org/drawingml/2006/main" noGrp="1"/>
          </p:cNvSpPr>
          <p:nvPr/>
        </p:nvSpPr>
        <p:spPr>
          <a:xfrm xmlns:a="http://schemas.openxmlformats.org/drawingml/2006/main">
            <a:off x="609600" y="28003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02</a:t>
            </a:r>
          </a:p>
        </p:txBody>
      </p:sp>
      <p:sp>
        <p:nvSpPr>
          <p:cNvPr id="5" name="text-1400">
            <a:extLst xmlns:a="http://schemas.openxmlformats.org/drawingml/2006/main">
              <a:ext uri="{FF2B5EF4-FFF2-40B4-BE49-F238E27FC236}">
                <a16:creationId xmlns:a16="http://schemas.microsoft.com/office/drawing/2014/main" id="{C8BCD9B7-DA05-4BBA-8E83-3FB87E6EE48B}"/>
              </a:ext>
            </a:extLst>
          </p:cNvPr>
          <p:cNvSpPr>
            <a:spLocks xmlns:a="http://schemas.openxmlformats.org/drawingml/2006/main" noGrp="1"/>
          </p:cNvSpPr>
          <p:nvPr/>
        </p:nvSpPr>
        <p:spPr>
          <a:xfrm xmlns:a="http://schemas.openxmlformats.org/drawingml/2006/main">
            <a:off x="1514475" y="2800350"/>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README setup matches the tagged release</a:t>
            </a:r>
          </a:p>
        </p:txBody>
      </p:sp>
      <p:sp>
        <p:nvSpPr>
          <p:cNvPr id="6" name="text-1401">
            <a:extLst xmlns:a="http://schemas.openxmlformats.org/drawingml/2006/main">
              <a:ext uri="{FF2B5EF4-FFF2-40B4-BE49-F238E27FC236}">
                <a16:creationId xmlns:a16="http://schemas.microsoft.com/office/drawing/2014/main" id="{6678DA21-EF5D-40C0-9868-D446F48A15BE}"/>
              </a:ext>
            </a:extLst>
          </p:cNvPr>
          <p:cNvSpPr>
            <a:spLocks xmlns:a="http://schemas.openxmlformats.org/drawingml/2006/main" noGrp="1"/>
          </p:cNvSpPr>
          <p:nvPr/>
        </p:nvSpPr>
        <p:spPr>
          <a:xfrm xmlns:a="http://schemas.openxmlformats.org/drawingml/2006/main">
            <a:off x="609600" y="36671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03</a:t>
            </a:r>
          </a:p>
        </p:txBody>
      </p:sp>
      <p:sp>
        <p:nvSpPr>
          <p:cNvPr id="7" name="text-1402">
            <a:extLst xmlns:a="http://schemas.openxmlformats.org/drawingml/2006/main">
              <a:ext uri="{FF2B5EF4-FFF2-40B4-BE49-F238E27FC236}">
                <a16:creationId xmlns:a16="http://schemas.microsoft.com/office/drawing/2014/main" id="{EC52AB54-9687-4509-999E-B34E0656FE4A}"/>
              </a:ext>
            </a:extLst>
          </p:cNvPr>
          <p:cNvSpPr>
            <a:spLocks xmlns:a="http://schemas.openxmlformats.org/drawingml/2006/main" noGrp="1"/>
          </p:cNvSpPr>
          <p:nvPr/>
        </p:nvSpPr>
        <p:spPr>
          <a:xfrm xmlns:a="http://schemas.openxmlformats.org/drawingml/2006/main">
            <a:off x="1514475" y="3667125"/>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The app saves only the reviewed task</a:t>
            </a:r>
          </a:p>
        </p:txBody>
      </p:sp>
      <p:sp>
        <p:nvSpPr>
          <p:cNvPr id="8" name="text-1403">
            <a:extLst xmlns:a="http://schemas.openxmlformats.org/drawingml/2006/main">
              <a:ext uri="{FF2B5EF4-FFF2-40B4-BE49-F238E27FC236}">
                <a16:creationId xmlns:a16="http://schemas.microsoft.com/office/drawing/2014/main" id="{52778576-0659-4913-B86B-D0BDFAD2C3C9}"/>
              </a:ext>
            </a:extLst>
          </p:cNvPr>
          <p:cNvSpPr>
            <a:spLocks xmlns:a="http://schemas.openxmlformats.org/drawingml/2006/main" noGrp="1"/>
          </p:cNvSpPr>
          <p:nvPr/>
        </p:nvSpPr>
        <p:spPr>
          <a:xfrm xmlns:a="http://schemas.openxmlformats.org/drawingml/2006/main">
            <a:off x="609600" y="4533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i="0">
                <a:solidFill>
                  <a:srgbClr val="D1372D"/>
                </a:solidFill>
                <a:latin typeface="Avenir Next"/>
                <a:ea typeface="Avenir Next"/>
                <a:cs typeface="Avenir Next"/>
              </a:defRPr>
            </a:pPr>
            <a:r>
              <a:rPr sz="2850" b="1" i="0">
                <a:solidFill>
                  <a:srgbClr val="D1372D"/>
                </a:solidFill>
                <a:latin typeface="Avenir Next"/>
                <a:ea typeface="Avenir Next"/>
                <a:cs typeface="Avenir Next"/>
              </a:rPr>
              <a:t>04</a:t>
            </a:r>
          </a:p>
        </p:txBody>
      </p:sp>
      <p:sp>
        <p:nvSpPr>
          <p:cNvPr id="9" name="text-1404">
            <a:extLst xmlns:a="http://schemas.openxmlformats.org/drawingml/2006/main">
              <a:ext uri="{FF2B5EF4-FFF2-40B4-BE49-F238E27FC236}">
                <a16:creationId xmlns:a16="http://schemas.microsoft.com/office/drawing/2014/main" id="{AB89A3B5-2440-4F2C-9D98-4A5BE494FADD}"/>
              </a:ext>
            </a:extLst>
          </p:cNvPr>
          <p:cNvSpPr>
            <a:spLocks xmlns:a="http://schemas.openxmlformats.org/drawingml/2006/main" noGrp="1"/>
          </p:cNvSpPr>
          <p:nvPr/>
        </p:nvSpPr>
        <p:spPr>
          <a:xfrm xmlns:a="http://schemas.openxmlformats.org/drawingml/2006/main">
            <a:off x="1514475" y="4533900"/>
            <a:ext cx="100679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i="0">
                <a:solidFill>
                  <a:srgbClr val="1C1C1C"/>
                </a:solidFill>
                <a:latin typeface="Helvetica Neue"/>
                <a:ea typeface="Helvetica Neue"/>
                <a:cs typeface="Helvetica Neue"/>
              </a:defRPr>
            </a:pPr>
            <a:r>
              <a:rPr sz="2400" b="0" i="0">
                <a:solidFill>
                  <a:srgbClr val="1C1C1C"/>
                </a:solidFill>
                <a:latin typeface="Helvetica Neue"/>
                <a:ea typeface="Helvetica Neue"/>
                <a:cs typeface="Helvetica Neue"/>
              </a:rPr>
              <a:t>Known limitations appear in the release notes</a:t>
            </a:r>
          </a:p>
        </p:txBody>
      </p:sp>
      <p:sp>
        <p:nvSpPr>
          <p:cNvPr id="10" name="text-1405">
            <a:extLst xmlns:a="http://schemas.openxmlformats.org/drawingml/2006/main">
              <a:ext uri="{FF2B5EF4-FFF2-40B4-BE49-F238E27FC236}">
                <a16:creationId xmlns:a16="http://schemas.microsoft.com/office/drawing/2014/main" id="{CEA2B438-BA55-46A9-9125-B087033CFAF3}"/>
              </a:ext>
            </a:extLst>
          </p:cNvPr>
          <p:cNvSpPr>
            <a:spLocks xmlns:a="http://schemas.openxmlformats.org/drawingml/2006/main" noGrp="1"/>
          </p:cNvSpPr>
          <p:nvPr/>
        </p:nvSpPr>
        <p:spPr>
          <a:xfrm xmlns:a="http://schemas.openxmlformats.org/drawingml/2006/main">
            <a:off x="609600" y="572452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i="0">
                <a:solidFill>
                  <a:srgbClr val="1C1C1C"/>
                </a:solidFill>
                <a:latin typeface="Helvetica Neue"/>
                <a:ea typeface="Helvetica Neue"/>
                <a:cs typeface="Helvetica Neue"/>
              </a:defRPr>
            </a:pPr>
            <a:r>
              <a:rPr sz="2025" b="0" i="0">
                <a:solidFill>
                  <a:srgbClr val="1C1C1C"/>
                </a:solidFill>
                <a:latin typeface="Helvetica Neue"/>
                <a:ea typeface="Helvetica Neue"/>
                <a:cs typeface="Helvetica Neue"/>
              </a:rPr>
              <a:t>Start with one pilot teammate.</a:t>
            </a:r>
          </a:p>
        </p:txBody>
      </p:sp>
      <p:sp>
        <p:nvSpPr>
          <p:cNvPr id="11" name="text-1406">
            <a:extLst xmlns:a="http://schemas.openxmlformats.org/drawingml/2006/main">
              <a:ext uri="{FF2B5EF4-FFF2-40B4-BE49-F238E27FC236}">
                <a16:creationId xmlns:a16="http://schemas.microsoft.com/office/drawing/2014/main" id="{1313A294-16E6-4CA7-B1DF-45127D2B0D08}"/>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151</a:t>
            </a:r>
          </a:p>
        </p:txBody>
      </p:sp>
    </p:spTree>
    <p:extLst>
      <p:ext uri="{BB962C8B-B14F-4D97-AF65-F5344CB8AC3E}">
        <p14:creationId xmlns:p14="http://schemas.microsoft.com/office/powerpoint/2010/main" val="1808108575"/>
      </p:ext>
    </p:extLst>
  </p:cSld>
</p:sld>
</file>

<file path=ppt/slides/slide152.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sp>
        <p:nvSpPr>
          <p:cNvPr id="4" name="text-1407">
            <a:extLst xmlns:a="http://schemas.openxmlformats.org/drawingml/2006/main">
              <a:ext uri="{FF2B5EF4-FFF2-40B4-BE49-F238E27FC236}">
                <a16:creationId xmlns:a16="http://schemas.microsoft.com/office/drawing/2014/main" id="{43A7DCA5-D295-4F24-B43C-DCCDAFCAEC0A}"/>
              </a:ext>
            </a:extLst>
          </p:cNvPr>
          <p:cNvSpPr>
            <a:spLocks xmlns:a="http://schemas.openxmlformats.org/drawingml/2006/main" noGrp="1"/>
          </p:cNvSpPr>
          <p:nvPr/>
        </p:nvSpPr>
        <p:spPr>
          <a:xfrm xmlns:a="http://schemas.openxmlformats.org/drawingml/2006/main">
            <a:off x="609600" y="12382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1" i="0">
                <a:solidFill>
                  <a:srgbClr val="FFFFFF"/>
                </a:solidFill>
                <a:latin typeface="Avenir Next"/>
                <a:ea typeface="Avenir Next"/>
                <a:cs typeface="Avenir Next"/>
              </a:defRPr>
            </a:pPr>
            <a:r>
              <a:rPr sz="5700" b="1" i="0">
                <a:solidFill>
                  <a:srgbClr val="FFFFFF"/>
                </a:solidFill>
                <a:latin typeface="Avenir Next"/>
                <a:ea typeface="Avenir Next"/>
                <a:cs typeface="Avenir Next"/>
              </a:rPr>
              <a:t>Skills Q&amp;A + reset</a:t>
            </a:r>
          </a:p>
        </p:txBody>
      </p:sp>
      <p:sp>
        <p:nvSpPr>
          <p:cNvPr id="2" name="text-1408">
            <a:extLst xmlns:a="http://schemas.openxmlformats.org/drawingml/2006/main">
              <a:ext uri="{FF2B5EF4-FFF2-40B4-BE49-F238E27FC236}">
                <a16:creationId xmlns:a16="http://schemas.microsoft.com/office/drawing/2014/main" id="{24649E8C-0069-45E6-A46E-6C7B3E4B5055}"/>
              </a:ext>
            </a:extLst>
          </p:cNvPr>
          <p:cNvSpPr>
            <a:spLocks xmlns:a="http://schemas.openxmlformats.org/drawingml/2006/main" noGrp="1"/>
          </p:cNvSpPr>
          <p:nvPr/>
        </p:nvSpPr>
        <p:spPr>
          <a:xfrm xmlns:a="http://schemas.openxmlformats.org/drawingml/2006/main">
            <a:off x="609600" y="3209925"/>
            <a:ext cx="1028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0" i="0">
                <a:solidFill>
                  <a:srgbClr val="EEEAE3"/>
                </a:solidFill>
                <a:latin typeface="Helvetica Neue"/>
                <a:ea typeface="Helvetica Neue"/>
                <a:cs typeface="Helvetica Neue"/>
              </a:defRPr>
            </a:pPr>
            <a:r>
              <a:rPr sz="3000" b="1" i="0">
                <a:solidFill>
                  <a:srgbClr val="EEEAE3"/>
                </a:solidFill>
                <a:latin typeface="Helvetica Neue"/>
                <a:ea typeface="Helvetica Neue"/>
                <a:cs typeface="Helvetica Neue"/>
              </a:rPr>
              <a:t>Next:</a:t>
            </a:r>
            <a:r>
              <a:rPr sz="3000" b="0" i="0">
                <a:solidFill>
                  <a:srgbClr val="EEEAE3"/>
                </a:solidFill>
                <a:latin typeface="Helvetica Neue"/>
                <a:ea typeface="Helvetica Neue"/>
                <a:cs typeface="Helvetica Neue"/>
              </a:rPr>
              <a:t> your weekend build</a:t>
            </a:r>
          </a:p>
        </p:txBody>
      </p:sp>
      <p:sp>
        <p:nvSpPr>
          <p:cNvPr id="3" name="text-1409">
            <a:extLst xmlns:a="http://schemas.openxmlformats.org/drawingml/2006/main">
              <a:ext uri="{FF2B5EF4-FFF2-40B4-BE49-F238E27FC236}">
                <a16:creationId xmlns:a16="http://schemas.microsoft.com/office/drawing/2014/main" id="{126F3E6B-BFFA-4049-B98C-00BCA497890E}"/>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EEEAE3"/>
                </a:solidFill>
                <a:latin typeface="Helvetica Neue"/>
                <a:ea typeface="Helvetica Neue"/>
                <a:cs typeface="Helvetica Neue"/>
              </a:defRPr>
            </a:pPr>
            <a:r>
              <a:rPr sz="1200" b="0" i="0">
                <a:solidFill>
                  <a:srgbClr val="EEEAE3"/>
                </a:solidFill>
                <a:latin typeface="Helvetica Neue"/>
                <a:ea typeface="Helvetica Neue"/>
                <a:cs typeface="Helvetica Neue"/>
              </a:rPr>
              <a:t>152</a:t>
            </a:r>
          </a:p>
        </p:txBody>
      </p:sp>
    </p:spTree>
    <p:extLst>
      <p:ext uri="{BB962C8B-B14F-4D97-AF65-F5344CB8AC3E}">
        <p14:creationId xmlns:p14="http://schemas.microsoft.com/office/powerpoint/2010/main" val="1370791898"/>
      </p:ext>
    </p:extLst>
  </p:cSld>
</p:sld>
</file>

<file path=ppt/slides/slide153.xml><?xml version="1.0" encoding="utf-8"?>
<p:sld xmlns:p="http://schemas.openxmlformats.org/presentationml/2006/main">
  <p:cSld>
    <p:bg>
      <p:bgPr>
        <a:solidFill xmlns:a="http://schemas.openxmlformats.org/drawingml/2006/main">
          <a:srgbClr val="EEEAE3"/>
        </a:solidFill>
      </p:bgPr>
    </p:bg>
    <p:spTree>
      <p:nvGrpSpPr>
        <p:cNvPr id="1" name=""/>
        <p:cNvGrpSpPr/>
        <p:nvPr/>
      </p:nvGrpSpPr>
      <p:grpSpPr>
        <a:xfrm xmlns:a="http://schemas.openxmlformats.org/drawingml/2006/main"/>
      </p:grpSpPr>
      <p:sp>
        <p:nvSpPr>
          <p:cNvPr id="4" name="text-1410">
            <a:extLst xmlns:a="http://schemas.openxmlformats.org/drawingml/2006/main">
              <a:ext uri="{FF2B5EF4-FFF2-40B4-BE49-F238E27FC236}">
                <a16:creationId xmlns:a16="http://schemas.microsoft.com/office/drawing/2014/main" id="{BDF708C6-D43F-4A9F-B26D-D0227254E9F7}"/>
              </a:ext>
            </a:extLst>
          </p:cNvPr>
          <p:cNvSpPr>
            <a:spLocks xmlns:a="http://schemas.openxmlformats.org/drawingml/2006/main" noGrp="1"/>
          </p:cNvSpPr>
          <p:nvPr/>
        </p:nvSpPr>
        <p:spPr>
          <a:xfrm xmlns:a="http://schemas.openxmlformats.org/drawingml/2006/main">
            <a:off x="609600" y="60960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i="0">
                <a:solidFill>
                  <a:srgbClr val="1C1C1C"/>
                </a:solidFill>
                <a:latin typeface="Avenir Next"/>
                <a:ea typeface="Avenir Next"/>
                <a:cs typeface="Avenir Next"/>
              </a:defRPr>
            </a:pPr>
            <a:r>
              <a:rPr sz="4350" b="1" i="0">
                <a:solidFill>
                  <a:srgbClr val="1C1C1C"/>
                </a:solidFill>
                <a:latin typeface="Avenir Next"/>
                <a:ea typeface="Avenir Next"/>
                <a:cs typeface="Avenir Next"/>
              </a:rPr>
              <a:t>A useful tool starts with a useful job</a:t>
            </a:r>
          </a:p>
        </p:txBody>
      </p:sp>
      <p:sp>
        <p:nvSpPr>
          <p:cNvPr id="2" name="text-1411">
            <a:extLst xmlns:a="http://schemas.openxmlformats.org/drawingml/2006/main">
              <a:ext uri="{FF2B5EF4-FFF2-40B4-BE49-F238E27FC236}">
                <a16:creationId xmlns:a16="http://schemas.microsoft.com/office/drawing/2014/main" id="{2A4E8BAA-1E01-40DF-B857-F827865DB952}"/>
              </a:ext>
            </a:extLst>
          </p:cNvPr>
          <p:cNvSpPr>
            <a:spLocks xmlns:a="http://schemas.openxmlformats.org/drawingml/2006/main" noGrp="1"/>
          </p:cNvSpPr>
          <p:nvPr/>
        </p:nvSpPr>
        <p:spPr>
          <a:xfrm xmlns:a="http://schemas.openxmlformats.org/drawingml/2006/main">
            <a:off x="609600" y="2714625"/>
            <a:ext cx="1076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Choose one recurring task</a:t>
            </a:r>
          </a:p>
          <a:p xmlns:a="http://schemas.openxmlformats.org/drawingml/2006/main">
            <a:pPr>
              <a:defRPr sz="4275" b="0" i="0">
                <a:solidFill>
                  <a:srgbClr val="1C1C1C"/>
                </a:solidFill>
                <a:latin typeface="Helvetica Neue"/>
                <a:ea typeface="Helvetica Neue"/>
                <a:cs typeface="Helvetica Neue"/>
              </a:defRPr>
            </a:pPr>
            <a:r>
              <a:rPr sz="4275" b="0" i="0">
                <a:solidFill>
                  <a:srgbClr val="1C1C1C"/>
                </a:solidFill>
                <a:latin typeface="Helvetica Neue"/>
                <a:ea typeface="Helvetica Neue"/>
                <a:cs typeface="Helvetica Neue"/>
              </a:rPr>
              <a:t>you can improve this weekend.</a:t>
            </a:r>
          </a:p>
        </p:txBody>
      </p:sp>
      <p:sp>
        <p:nvSpPr>
          <p:cNvPr id="3" name="text-1412">
            <a:extLst xmlns:a="http://schemas.openxmlformats.org/drawingml/2006/main">
              <a:ext uri="{FF2B5EF4-FFF2-40B4-BE49-F238E27FC236}">
                <a16:creationId xmlns:a16="http://schemas.microsoft.com/office/drawing/2014/main" id="{F5FFA01B-F540-40A5-B350-350A1740555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153</a:t>
            </a:r>
          </a:p>
        </p:txBody>
      </p:sp>
    </p:spTree>
    <p:extLst>
      <p:ext uri="{BB962C8B-B14F-4D97-AF65-F5344CB8AC3E}">
        <p14:creationId xmlns:p14="http://schemas.microsoft.com/office/powerpoint/2010/main" val="1435225311"/>
      </p:ext>
    </p:extLst>
  </p:cSld>
</p:sld>
</file>

<file path=ppt/slides/slide154.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413">
            <a:extLst xmlns:a="http://schemas.openxmlformats.org/drawingml/2006/main">
              <a:ext uri="{FF2B5EF4-FFF2-40B4-BE49-F238E27FC236}">
                <a16:creationId xmlns:a16="http://schemas.microsoft.com/office/drawing/2014/main" id="{251147CD-D86C-4814-ADF2-9405B9A3A5A8}"/>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Your weekend build</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3238500"/>
                <a:gridCol w="3714750"/>
                <a:gridCol w="4019550"/>
              </a:tblGrid>
              <a:tr h="872490">
                <a:tc>
                  <a:txBody>
                    <a:bodyPr>
                      <a:noAutofit/>
                    </a:bodyPr>
                    <a:lstStyle/>
                    <a:p>
                      <a:r>
                        <a:rPr sz="1875" b="1" i="0">
                          <a:solidFill>
                            <a:srgbClr val="FFFFFF"/>
                          </a:solidFill>
                          <a:latin typeface="Helvetica Neue"/>
                          <a:ea typeface="Helvetica Neue"/>
                          <a:cs typeface="Helvetica Neue"/>
                        </a:rPr>
                        <a:t>When</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Build</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75" b="1" i="0">
                          <a:solidFill>
                            <a:srgbClr val="FFFFFF"/>
                          </a:solidFill>
                          <a:latin typeface="Helvetica Neue"/>
                          <a:ea typeface="Helvetica Neue"/>
                          <a:cs typeface="Helvetica Neue"/>
                        </a:rPr>
                        <a:t>Finish when</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872490">
                <a:tc>
                  <a:txBody>
                    <a:bodyPr>
                      <a:noAutofit/>
                    </a:bodyPr>
                    <a:lstStyle/>
                    <a:p>
                      <a:r>
                        <a:rPr sz="1875" b="1" i="0">
                          <a:solidFill>
                            <a:srgbClr val="1C1C1C"/>
                          </a:solidFill>
                          <a:latin typeface="Helvetica Neue"/>
                          <a:ea typeface="Helvetica Neue"/>
                          <a:cs typeface="Helvetica Neue"/>
                        </a:rPr>
                        <a:t>Friday evening</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Brief and first-milestone plan</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You can explain what is in and out</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Saturday morning</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One useful client workflow</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 sample record reaches the screen</a:t>
                      </a:r>
                    </a:p>
                  </a:txBody>
                  <a:tcPr marL="171450" marR="171450" marT="114300" marB="114300" anchor="ctr">
                    <a:lnR w="19050">
                      <a:solidFill>
                        <a:srgbClr val="F8F5F0"/>
                      </a:solidFill>
                    </a:lnR>
                    <a:lnB w="19050">
                      <a:solidFill>
                        <a:srgbClr val="F8F5F0"/>
                      </a:solidFill>
                    </a:lnB>
                    <a:solidFill>
                      <a:srgbClr val="F8F5F0"/>
                    </a:solidFill>
                  </a:tcPr>
                </a:tc>
              </a:tr>
              <a:tr h="872490">
                <a:tc>
                  <a:txBody>
                    <a:bodyPr>
                      <a:noAutofit/>
                    </a:bodyPr>
                    <a:lstStyle/>
                    <a:p>
                      <a:r>
                        <a:rPr sz="1875" b="1" i="0">
                          <a:solidFill>
                            <a:srgbClr val="1C1C1C"/>
                          </a:solidFill>
                          <a:latin typeface="Helvetica Neue"/>
                          <a:ea typeface="Helvetica Neue"/>
                          <a:cs typeface="Helvetica Neue"/>
                        </a:rPr>
                        <a:t>Saturday afternoon</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Connection and browser review</a:t>
                      </a:r>
                    </a:p>
                  </a:txBody>
                  <a:tcPr marL="171450" marR="171450" marT="114300" marB="114300" anchor="ctr">
                    <a:lnR w="19050">
                      <a:solidFill>
                        <a:srgbClr val="F8F5F0"/>
                      </a:solidFill>
                    </a:lnR>
                    <a:lnB w="19050">
                      <a:solidFill>
                        <a:srgbClr val="F8F5F0"/>
                      </a:solidFill>
                    </a:lnB>
                    <a:solidFill>
                      <a:srgbClr val="EEEAE3"/>
                    </a:solidFill>
                  </a:tcPr>
                </a:tc>
                <a:tc>
                  <a:txBody>
                    <a:bodyPr>
                      <a:noAutofit/>
                    </a:bodyPr>
                    <a:lstStyle/>
                    <a:p>
                      <a:r>
                        <a:rPr sz="1875" b="0" i="0">
                          <a:solidFill>
                            <a:srgbClr val="1C1C1C"/>
                          </a:solidFill>
                          <a:latin typeface="Helvetica Neue"/>
                          <a:ea typeface="Helvetica Neue"/>
                          <a:cs typeface="Helvetica Neue"/>
                        </a:rPr>
                        <a:t>The source and user journey pass</a:t>
                      </a:r>
                    </a:p>
                  </a:txBody>
                  <a:tcPr marL="171450" marR="171450" marT="114300" marB="114300" anchor="ctr">
                    <a:lnR w="19050">
                      <a:solidFill>
                        <a:srgbClr val="F8F5F0"/>
                      </a:solidFill>
                    </a:lnR>
                    <a:lnB w="19050">
                      <a:solidFill>
                        <a:srgbClr val="F8F5F0"/>
                      </a:solidFill>
                    </a:lnB>
                    <a:solidFill>
                      <a:srgbClr val="EEEAE3"/>
                    </a:solidFill>
                  </a:tcPr>
                </a:tc>
              </a:tr>
              <a:tr h="872490">
                <a:tc>
                  <a:txBody>
                    <a:bodyPr>
                      <a:noAutofit/>
                    </a:bodyPr>
                    <a:lstStyle/>
                    <a:p>
                      <a:r>
                        <a:rPr sz="1875" b="1" i="0">
                          <a:solidFill>
                            <a:srgbClr val="1C1C1C"/>
                          </a:solidFill>
                          <a:latin typeface="Helvetica Neue"/>
                          <a:ea typeface="Helvetica Neue"/>
                          <a:cs typeface="Helvetica Neue"/>
                        </a:rPr>
                        <a:t>Sunday</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Reusable skill and teammate trial</a:t>
                      </a:r>
                    </a:p>
                  </a:txBody>
                  <a:tcPr marL="171450" marR="171450" marT="114300" marB="114300" anchor="ctr">
                    <a:lnR w="19050">
                      <a:solidFill>
                        <a:srgbClr val="F8F5F0"/>
                      </a:solidFill>
                    </a:lnR>
                    <a:lnB w="19050">
                      <a:solidFill>
                        <a:srgbClr val="F8F5F0"/>
                      </a:solidFill>
                    </a:lnB>
                    <a:solidFill>
                      <a:srgbClr val="F8F5F0"/>
                    </a:solidFill>
                  </a:tcPr>
                </a:tc>
                <a:tc>
                  <a:txBody>
                    <a:bodyPr>
                      <a:noAutofit/>
                    </a:bodyPr>
                    <a:lstStyle/>
                    <a:p>
                      <a:r>
                        <a:rPr sz="1875" b="0" i="0">
                          <a:solidFill>
                            <a:srgbClr val="1C1C1C"/>
                          </a:solidFill>
                          <a:latin typeface="Helvetica Neue"/>
                          <a:ea typeface="Helvetica Neue"/>
                          <a:cs typeface="Helvetica Neue"/>
                        </a:rPr>
                        <a:t>Another person completes one run</a:t>
                      </a:r>
                    </a:p>
                  </a:txBody>
                  <a:tcPr marL="171450" marR="171450" marT="114300" marB="114300" anchor="ctr">
                    <a:lnR w="19050">
                      <a:solidFill>
                        <a:srgbClr val="F8F5F0"/>
                      </a:solidFill>
                    </a:lnR>
                    <a:lnB w="19050">
                      <a:solidFill>
                        <a:srgbClr val="F8F5F0"/>
                      </a:solidFill>
                    </a:lnB>
                    <a:solidFill>
                      <a:srgbClr val="F8F5F0"/>
                    </a:solidFill>
                  </a:tcPr>
                </a:tc>
              </a:tr>
            </a:tbl>
          </a:graphicData>
        </a:graphic>
      </p:graphicFrame>
      <p:sp>
        <p:nvSpPr>
          <p:cNvPr id="3" name="text-1414">
            <a:extLst xmlns:a="http://schemas.openxmlformats.org/drawingml/2006/main">
              <a:ext uri="{FF2B5EF4-FFF2-40B4-BE49-F238E27FC236}">
                <a16:creationId xmlns:a16="http://schemas.microsoft.com/office/drawing/2014/main" id="{510B10AF-3BFD-4937-8B44-F074CFA7C81D}"/>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154</a:t>
            </a:r>
          </a:p>
        </p:txBody>
      </p:sp>
    </p:spTree>
    <p:extLst>
      <p:ext uri="{BB962C8B-B14F-4D97-AF65-F5344CB8AC3E}">
        <p14:creationId xmlns:p14="http://schemas.microsoft.com/office/powerpoint/2010/main" val="1954559200"/>
      </p:ext>
    </p:extLst>
  </p:cSld>
</p:sld>
</file>

<file path=ppt/slides/slide155.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4" name="text-1415">
            <a:extLst xmlns:a="http://schemas.openxmlformats.org/drawingml/2006/main">
              <a:ext uri="{FF2B5EF4-FFF2-40B4-BE49-F238E27FC236}">
                <a16:creationId xmlns:a16="http://schemas.microsoft.com/office/drawing/2014/main" id="{450C0EAC-40DF-4AE9-A2A3-FD6527B38B04}"/>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The complete build, with a check at each step</a:t>
            </a:r>
          </a:p>
        </p:txBody>
      </p:sp>
      <p:graphicFrame>
        <p:nvGraphicFramePr>
          <p:cNvPr id="5" name=""/>
          <p:cNvGraphicFramePr/>
          <p:nvPr/>
        </p:nvGraphicFramePr>
        <p:xfrm>
          <a:off xmlns:a="http://schemas.openxmlformats.org/drawingml/2006/main" x="609600" y="1828800"/>
          <a:ext xmlns:a="http://schemas.openxmlformats.org/drawingml/2006/main" cx="10972800" cy="4362450"/>
        </p:xfrm>
        <a:graphic xmlns:a="http://schemas.openxmlformats.org/drawingml/2006/main">
          <a:graphicData uri="http://schemas.openxmlformats.org/drawingml/2006/table">
            <a:tbl>
              <a:tblPr/>
              <a:tblGrid>
                <a:gridCol w="4514850"/>
                <a:gridCol w="6457950"/>
              </a:tblGrid>
              <a:tr h="727075">
                <a:tc>
                  <a:txBody>
                    <a:bodyPr>
                      <a:noAutofit/>
                    </a:bodyPr>
                    <a:lstStyle/>
                    <a:p>
                      <a:r>
                        <a:rPr sz="1800" b="1" i="0">
                          <a:solidFill>
                            <a:srgbClr val="FFFFFF"/>
                          </a:solidFill>
                          <a:latin typeface="Helvetica Neue"/>
                          <a:ea typeface="Helvetica Neue"/>
                          <a:cs typeface="Helvetica Neue"/>
                        </a:rPr>
                        <a:t>Stage</a:t>
                      </a:r>
                    </a:p>
                  </a:txBody>
                  <a:tcPr marL="171450" marR="171450" marT="114300" marB="114300" anchor="ctr">
                    <a:lnL w="19050">
                      <a:solidFill>
                        <a:srgbClr val="F8F5F0"/>
                      </a:solidFill>
                    </a:lnL>
                    <a:lnR w="19050">
                      <a:solidFill>
                        <a:srgbClr val="F8F5F0"/>
                      </a:solidFill>
                    </a:lnR>
                    <a:lnT w="19050">
                      <a:solidFill>
                        <a:srgbClr val="F8F5F0"/>
                      </a:solidFill>
                    </a:lnT>
                    <a:lnB w="19050">
                      <a:solidFill>
                        <a:srgbClr val="F8F5F0"/>
                      </a:solidFill>
                    </a:lnB>
                    <a:solidFill>
                      <a:srgbClr val="1C1C1C"/>
                    </a:solidFill>
                  </a:tcPr>
                </a:tc>
                <a:tc>
                  <a:txBody>
                    <a:bodyPr>
                      <a:noAutofit/>
                    </a:bodyPr>
                    <a:lstStyle/>
                    <a:p>
                      <a:r>
                        <a:rPr sz="1800" b="1" i="0">
                          <a:solidFill>
                            <a:srgbClr val="FFFFFF"/>
                          </a:solidFill>
                          <a:latin typeface="Helvetica Neue"/>
                          <a:ea typeface="Helvetica Neue"/>
                          <a:cs typeface="Helvetica Neue"/>
                        </a:rPr>
                        <a:t>Leave with</a:t>
                      </a:r>
                    </a:p>
                  </a:txBody>
                  <a:tcPr marL="171450" marR="171450" marT="114300" marB="114300" anchor="ctr">
                    <a:lnR w="19050">
                      <a:solidFill>
                        <a:srgbClr val="F8F5F0"/>
                      </a:solidFill>
                    </a:lnR>
                    <a:lnT w="19050">
                      <a:solidFill>
                        <a:srgbClr val="F8F5F0"/>
                      </a:solidFill>
                    </a:lnT>
                    <a:lnB w="19050">
                      <a:solidFill>
                        <a:srgbClr val="F8F5F0"/>
                      </a:solidFill>
                    </a:lnB>
                    <a:solidFill>
                      <a:srgbClr val="1C1C1C"/>
                    </a:solidFill>
                  </a:tcPr>
                </a:tc>
              </a:tr>
              <a:tr h="727075">
                <a:tc>
                  <a:txBody>
                    <a:bodyPr>
                      <a:noAutofit/>
                    </a:bodyPr>
                    <a:lstStyle/>
                    <a:p>
                      <a:r>
                        <a:rPr sz="1800" b="1" i="0">
                          <a:solidFill>
                            <a:srgbClr val="1C1C1C"/>
                          </a:solidFill>
                          <a:latin typeface="Helvetica Neue"/>
                          <a:ea typeface="Helvetica Neue"/>
                          <a:cs typeface="Helvetica Neue"/>
                        </a:rPr>
                        <a:t>Plan + design</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Brief, spec, milestones, design files and sample records</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Build + inspect</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Working CRM, source evidence and browser checks</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Connect + store</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CLI, MCP and isolated Supabase workspaces</a:t>
                      </a:r>
                    </a:p>
                  </a:txBody>
                  <a:tcPr marL="171450" marR="171450" marT="114300" marB="114300" anchor="ctr">
                    <a:lnR w="19050">
                      <a:solidFill>
                        <a:srgbClr val="F8F5F0"/>
                      </a:solidFill>
                    </a:lnR>
                    <a:lnB w="19050">
                      <a:solidFill>
                        <a:srgbClr val="F8F5F0"/>
                      </a:solidFill>
                    </a:lnB>
                    <a:solidFill>
                      <a:srgbClr val="EEEAE3"/>
                    </a:solidFill>
                  </a:tcPr>
                </a:tc>
              </a:tr>
              <a:tr h="727075">
                <a:tc>
                  <a:txBody>
                    <a:bodyPr>
                      <a:noAutofit/>
                    </a:bodyPr>
                    <a:lstStyle/>
                    <a:p>
                      <a:r>
                        <a:rPr sz="1800" b="1" i="0">
                          <a:solidFill>
                            <a:srgbClr val="1C1C1C"/>
                          </a:solidFill>
                          <a:latin typeface="Helvetica Neue"/>
                          <a:ea typeface="Helvetica Neue"/>
                          <a:cs typeface="Helvetica Neue"/>
                        </a:rPr>
                        <a:t>Host + add chat</a:t>
                      </a:r>
                    </a:p>
                  </a:txBody>
                  <a:tcPr marL="171450" marR="171450" marT="114300" marB="114300" anchor="ctr">
                    <a:lnL w="19050">
                      <a:solidFill>
                        <a:srgbClr val="F8F5F0"/>
                      </a:solidFill>
                    </a:lnL>
                    <a:lnR w="19050">
                      <a:solidFill>
                        <a:srgbClr val="F8F5F0"/>
                      </a:solidFill>
                    </a:lnR>
                    <a:lnB w="19050">
                      <a:solidFill>
                        <a:srgbClr val="F8F5F0"/>
                      </a:solidFill>
                    </a:lnB>
                    <a:solidFill>
                      <a:srgbClr val="F8F5F0"/>
                    </a:solidFill>
                  </a:tcPr>
                </a:tc>
                <a:tc>
                  <a:txBody>
                    <a:bodyPr>
                      <a:noAutofit/>
                    </a:bodyPr>
                    <a:lstStyle/>
                    <a:p>
                      <a:r>
                        <a:rPr sz="1800" b="0" i="0">
                          <a:solidFill>
                            <a:srgbClr val="1C1C1C"/>
                          </a:solidFill>
                          <a:latin typeface="Helvetica Neue"/>
                          <a:ea typeface="Helvetica Neue"/>
                          <a:cs typeface="Helvetica Neue"/>
                        </a:rPr>
                        <a:t>Vercel app + Railway Claude worker + real answer</a:t>
                      </a:r>
                    </a:p>
                  </a:txBody>
                  <a:tcPr marL="171450" marR="171450" marT="114300" marB="114300" anchor="ctr">
                    <a:lnR w="19050">
                      <a:solidFill>
                        <a:srgbClr val="F8F5F0"/>
                      </a:solidFill>
                    </a:lnR>
                    <a:lnB w="19050">
                      <a:solidFill>
                        <a:srgbClr val="F8F5F0"/>
                      </a:solidFill>
                    </a:lnB>
                    <a:solidFill>
                      <a:srgbClr val="F8F5F0"/>
                    </a:solidFill>
                  </a:tcPr>
                </a:tc>
              </a:tr>
              <a:tr h="727075">
                <a:tc>
                  <a:txBody>
                    <a:bodyPr>
                      <a:noAutofit/>
                    </a:bodyPr>
                    <a:lstStyle/>
                    <a:p>
                      <a:r>
                        <a:rPr sz="1800" b="1" i="0">
                          <a:solidFill>
                            <a:srgbClr val="1C1C1C"/>
                          </a:solidFill>
                          <a:latin typeface="Helvetica Neue"/>
                          <a:ea typeface="Helvetica Neue"/>
                          <a:cs typeface="Helvetica Neue"/>
                        </a:rPr>
                        <a:t>Package + repeat</a:t>
                      </a:r>
                    </a:p>
                  </a:txBody>
                  <a:tcPr marL="171450" marR="171450" marT="114300" marB="114300" anchor="ctr">
                    <a:lnL w="19050">
                      <a:solidFill>
                        <a:srgbClr val="F8F5F0"/>
                      </a:solidFill>
                    </a:lnL>
                    <a:lnR w="19050">
                      <a:solidFill>
                        <a:srgbClr val="F8F5F0"/>
                      </a:solidFill>
                    </a:lnR>
                    <a:lnB w="19050">
                      <a:solidFill>
                        <a:srgbClr val="F8F5F0"/>
                      </a:solidFill>
                    </a:lnB>
                    <a:solidFill>
                      <a:srgbClr val="EEEAE3"/>
                    </a:solidFill>
                  </a:tcPr>
                </a:tc>
                <a:tc>
                  <a:txBody>
                    <a:bodyPr>
                      <a:noAutofit/>
                    </a:bodyPr>
                    <a:lstStyle/>
                    <a:p>
                      <a:r>
                        <a:rPr sz="1800" b="0" i="0">
                          <a:solidFill>
                            <a:srgbClr val="1C1C1C"/>
                          </a:solidFill>
                          <a:latin typeface="Helvetica Neue"/>
                          <a:ea typeface="Helvetica Neue"/>
                          <a:cs typeface="Helvetica Neue"/>
                        </a:rPr>
                        <a:t>Skill, tests, setup guide and a fresh-session run</a:t>
                      </a:r>
                    </a:p>
                  </a:txBody>
                  <a:tcPr marL="171450" marR="171450" marT="114300" marB="114300" anchor="ctr">
                    <a:lnR w="19050">
                      <a:solidFill>
                        <a:srgbClr val="F8F5F0"/>
                      </a:solidFill>
                    </a:lnR>
                    <a:lnB w="19050">
                      <a:solidFill>
                        <a:srgbClr val="F8F5F0"/>
                      </a:solidFill>
                    </a:lnB>
                    <a:solidFill>
                      <a:srgbClr val="EEEAE3"/>
                    </a:solidFill>
                  </a:tcPr>
                </a:tc>
              </a:tr>
            </a:tbl>
          </a:graphicData>
        </a:graphic>
      </p:graphicFrame>
      <p:sp>
        <p:nvSpPr>
          <p:cNvPr id="3" name="text-1416">
            <a:extLst xmlns:a="http://schemas.openxmlformats.org/drawingml/2006/main">
              <a:ext uri="{FF2B5EF4-FFF2-40B4-BE49-F238E27FC236}">
                <a16:creationId xmlns:a16="http://schemas.microsoft.com/office/drawing/2014/main" id="{C3F57858-1EC8-43A1-B726-525B8C727DA6}"/>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155</a:t>
            </a:r>
          </a:p>
        </p:txBody>
      </p:sp>
    </p:spTree>
    <p:extLst>
      <p:ext uri="{BB962C8B-B14F-4D97-AF65-F5344CB8AC3E}">
        <p14:creationId xmlns:p14="http://schemas.microsoft.com/office/powerpoint/2010/main" val="69369930"/>
      </p:ext>
    </p:extLst>
  </p:cSld>
</p:sld>
</file>

<file path=ppt/slides/slide156.xml><?xml version="1.0" encoding="utf-8"?>
<p:sld xmlns:p="http://schemas.openxmlformats.org/presentationml/2006/main">
  <p:cSld>
    <p:bg>
      <p:bgPr>
        <a:solidFill xmlns:a="http://schemas.openxmlformats.org/drawingml/2006/main">
          <a:srgbClr val="F8F5F0"/>
        </a:solidFill>
      </p:bgPr>
    </p:bg>
    <p:spTree>
      <p:nvGrpSpPr>
        <p:cNvPr id="1" name=""/>
        <p:cNvGrpSpPr/>
        <p:nvPr/>
      </p:nvGrpSpPr>
      <p:grpSpPr>
        <a:xfrm xmlns:a="http://schemas.openxmlformats.org/drawingml/2006/main"/>
      </p:grpSpPr>
      <p:sp>
        <p:nvSpPr>
          <p:cNvPr id="12" name="text-1417">
            <a:extLst xmlns:a="http://schemas.openxmlformats.org/drawingml/2006/main">
              <a:ext uri="{FF2B5EF4-FFF2-40B4-BE49-F238E27FC236}">
                <a16:creationId xmlns:a16="http://schemas.microsoft.com/office/drawing/2014/main" id="{07638E24-1BDC-4F81-B738-6407E52CB6DC}"/>
              </a:ext>
            </a:extLst>
          </p:cNvPr>
          <p:cNvSpPr>
            <a:spLocks xmlns:a="http://schemas.openxmlformats.org/drawingml/2006/main" noGrp="1"/>
          </p:cNvSpPr>
          <p:nvPr/>
        </p:nvSpPr>
        <p:spPr>
          <a:xfrm xmlns:a="http://schemas.openxmlformats.org/drawingml/2006/main">
            <a:off x="609600" y="457200"/>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i="0">
                <a:solidFill>
                  <a:srgbClr val="1C1C1C"/>
                </a:solidFill>
                <a:latin typeface="Avenir Next"/>
                <a:ea typeface="Avenir Next"/>
                <a:cs typeface="Avenir Next"/>
              </a:defRPr>
            </a:pPr>
            <a:r>
              <a:rPr sz="3600" b="1" i="0">
                <a:solidFill>
                  <a:srgbClr val="1C1C1C"/>
                </a:solidFill>
                <a:latin typeface="Avenir Next"/>
                <a:ea typeface="Avenir Next"/>
                <a:cs typeface="Avenir Next"/>
              </a:rPr>
              <a:t>Your ClientDesk course kit</a:t>
            </a:r>
          </a:p>
        </p:txBody>
      </p:sp>
      <p:sp>
        <p:nvSpPr>
          <p:cNvPr id="2" name="panel-1418">
            <a:extLst xmlns:a="http://schemas.openxmlformats.org/drawingml/2006/main">
              <a:ext uri="{FF2B5EF4-FFF2-40B4-BE49-F238E27FC236}">
                <a16:creationId xmlns:a16="http://schemas.microsoft.com/office/drawing/2014/main" id="{337C6453-2001-4DA9-9F02-8619A99A7520}"/>
              </a:ext>
            </a:extLst>
          </p:cNvPr>
          <p:cNvSpPr>
            <a:spLocks xmlns:a="http://schemas.openxmlformats.org/drawingml/2006/main" noGrp="1"/>
          </p:cNvSpPr>
          <p:nvPr/>
        </p:nvSpPr>
        <p:spPr>
          <a:xfrm xmlns:a="http://schemas.openxmlformats.org/drawingml/2006/main">
            <a:off x="609600" y="2000250"/>
            <a:ext cx="35052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3" name="text-1419">
            <a:extLst xmlns:a="http://schemas.openxmlformats.org/drawingml/2006/main">
              <a:ext uri="{FF2B5EF4-FFF2-40B4-BE49-F238E27FC236}">
                <a16:creationId xmlns:a16="http://schemas.microsoft.com/office/drawing/2014/main" id="{579E6ED6-ED90-4141-9AE1-5827E3809B1C}"/>
              </a:ext>
            </a:extLst>
          </p:cNvPr>
          <p:cNvSpPr>
            <a:spLocks xmlns:a="http://schemas.openxmlformats.org/drawingml/2006/main" noGrp="1"/>
          </p:cNvSpPr>
          <p:nvPr/>
        </p:nvSpPr>
        <p:spPr>
          <a:xfrm xmlns:a="http://schemas.openxmlformats.org/drawingml/2006/main">
            <a:off x="876300" y="2305050"/>
            <a:ext cx="2971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i="0">
                <a:solidFill>
                  <a:srgbClr val="1C1C1C"/>
                </a:solidFill>
                <a:latin typeface="Avenir Next"/>
                <a:ea typeface="Avenir Next"/>
                <a:cs typeface="Avenir Next"/>
              </a:defRPr>
            </a:pPr>
            <a:r>
              <a:rPr sz="3000" b="1" i="0">
                <a:solidFill>
                  <a:srgbClr val="1C1C1C"/>
                </a:solidFill>
                <a:latin typeface="Avenir Next"/>
                <a:ea typeface="Avenir Next"/>
                <a:cs typeface="Avenir Next"/>
              </a:rPr>
              <a:t>Understand</a:t>
            </a:r>
          </a:p>
        </p:txBody>
      </p:sp>
      <p:sp>
        <p:nvSpPr>
          <p:cNvPr id="4" name="text-1420">
            <a:extLst xmlns:a="http://schemas.openxmlformats.org/drawingml/2006/main">
              <a:ext uri="{FF2B5EF4-FFF2-40B4-BE49-F238E27FC236}">
                <a16:creationId xmlns:a16="http://schemas.microsoft.com/office/drawing/2014/main" id="{44A12F5D-BE33-46A6-9892-0548BCE9E0AA}"/>
              </a:ext>
            </a:extLst>
          </p:cNvPr>
          <p:cNvSpPr>
            <a:spLocks xmlns:a="http://schemas.openxmlformats.org/drawingml/2006/main" noGrp="1"/>
          </p:cNvSpPr>
          <p:nvPr/>
        </p:nvSpPr>
        <p:spPr>
          <a:xfrm xmlns:a="http://schemas.openxmlformats.org/drawingml/2006/main">
            <a:off x="876300" y="3371850"/>
            <a:ext cx="2971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00-course-map/</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Start guide</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Prompts + six labs</a:t>
            </a:r>
          </a:p>
        </p:txBody>
      </p:sp>
      <p:sp>
        <p:nvSpPr>
          <p:cNvPr id="5" name="panel-1421">
            <a:extLst xmlns:a="http://schemas.openxmlformats.org/drawingml/2006/main">
              <a:ext uri="{FF2B5EF4-FFF2-40B4-BE49-F238E27FC236}">
                <a16:creationId xmlns:a16="http://schemas.microsoft.com/office/drawing/2014/main" id="{576EA182-1272-48E8-AF6B-1CA3EBB40F0C}"/>
              </a:ext>
            </a:extLst>
          </p:cNvPr>
          <p:cNvSpPr>
            <a:spLocks xmlns:a="http://schemas.openxmlformats.org/drawingml/2006/main" noGrp="1"/>
          </p:cNvSpPr>
          <p:nvPr/>
        </p:nvSpPr>
        <p:spPr>
          <a:xfrm xmlns:a="http://schemas.openxmlformats.org/drawingml/2006/main">
            <a:off x="4343400" y="2000250"/>
            <a:ext cx="35052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6" name="text-1422">
            <a:extLst xmlns:a="http://schemas.openxmlformats.org/drawingml/2006/main">
              <a:ext uri="{FF2B5EF4-FFF2-40B4-BE49-F238E27FC236}">
                <a16:creationId xmlns:a16="http://schemas.microsoft.com/office/drawing/2014/main" id="{7CBDD966-3744-4764-AC46-F0FDD662EC4E}"/>
              </a:ext>
            </a:extLst>
          </p:cNvPr>
          <p:cNvSpPr>
            <a:spLocks xmlns:a="http://schemas.openxmlformats.org/drawingml/2006/main" noGrp="1"/>
          </p:cNvSpPr>
          <p:nvPr/>
        </p:nvSpPr>
        <p:spPr>
          <a:xfrm xmlns:a="http://schemas.openxmlformats.org/drawingml/2006/main">
            <a:off x="4610100" y="2305050"/>
            <a:ext cx="2971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i="0">
                <a:solidFill>
                  <a:srgbClr val="1C1C1C"/>
                </a:solidFill>
                <a:latin typeface="Avenir Next"/>
                <a:ea typeface="Avenir Next"/>
                <a:cs typeface="Avenir Next"/>
              </a:defRPr>
            </a:pPr>
            <a:r>
              <a:rPr sz="3000" b="1" i="0">
                <a:solidFill>
                  <a:srgbClr val="1C1C1C"/>
                </a:solidFill>
                <a:latin typeface="Avenir Next"/>
                <a:ea typeface="Avenir Next"/>
                <a:cs typeface="Avenir Next"/>
              </a:rPr>
              <a:t>Build</a:t>
            </a:r>
          </a:p>
        </p:txBody>
      </p:sp>
      <p:sp>
        <p:nvSpPr>
          <p:cNvPr id="7" name="text-1423">
            <a:extLst xmlns:a="http://schemas.openxmlformats.org/drawingml/2006/main">
              <a:ext uri="{FF2B5EF4-FFF2-40B4-BE49-F238E27FC236}">
                <a16:creationId xmlns:a16="http://schemas.microsoft.com/office/drawing/2014/main" id="{7728D079-324F-4654-A9C5-24E3B8A47FD4}"/>
              </a:ext>
            </a:extLst>
          </p:cNvPr>
          <p:cNvSpPr>
            <a:spLocks xmlns:a="http://schemas.openxmlformats.org/drawingml/2006/main" noGrp="1"/>
          </p:cNvSpPr>
          <p:nvPr/>
        </p:nvSpPr>
        <p:spPr>
          <a:xfrm xmlns:a="http://schemas.openxmlformats.org/drawingml/2006/main">
            <a:off x="4610100" y="3371850"/>
            <a:ext cx="2971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01-planning/</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02-design/</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03-build/</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App + chat worker</a:t>
            </a:r>
          </a:p>
        </p:txBody>
      </p:sp>
      <p:sp>
        <p:nvSpPr>
          <p:cNvPr id="8" name="panel-1424">
            <a:extLst xmlns:a="http://schemas.openxmlformats.org/drawingml/2006/main">
              <a:ext uri="{FF2B5EF4-FFF2-40B4-BE49-F238E27FC236}">
                <a16:creationId xmlns:a16="http://schemas.microsoft.com/office/drawing/2014/main" id="{7D889D12-3BA1-41BB-BF97-6B2AC87E1156}"/>
              </a:ext>
            </a:extLst>
          </p:cNvPr>
          <p:cNvSpPr>
            <a:spLocks xmlns:a="http://schemas.openxmlformats.org/drawingml/2006/main" noGrp="1"/>
          </p:cNvSpPr>
          <p:nvPr/>
        </p:nvSpPr>
        <p:spPr>
          <a:xfrm xmlns:a="http://schemas.openxmlformats.org/drawingml/2006/main">
            <a:off x="8077200" y="2000250"/>
            <a:ext cx="3505200" cy="9525"/>
          </a:xfrm>
          <a:prstGeom xmlns:a="http://schemas.openxmlformats.org/drawingml/2006/main" prst="rect">
            <a:avLst/>
          </a:prstGeom>
          <a:solidFill xmlns:a="http://schemas.openxmlformats.org/drawingml/2006/main">
            <a:srgbClr val="D8D5CF"/>
          </a:solidFill>
          <a:ln xmlns:a="http://schemas.openxmlformats.org/drawingml/2006/main" w="0">
            <a:noFill/>
          </a:ln>
        </p:spPr>
      </p:sp>
      <p:sp>
        <p:nvSpPr>
          <p:cNvPr id="9" name="text-1425">
            <a:extLst xmlns:a="http://schemas.openxmlformats.org/drawingml/2006/main">
              <a:ext uri="{FF2B5EF4-FFF2-40B4-BE49-F238E27FC236}">
                <a16:creationId xmlns:a16="http://schemas.microsoft.com/office/drawing/2014/main" id="{4926695D-4C81-4EAD-9B30-64058CCDEEC4}"/>
              </a:ext>
            </a:extLst>
          </p:cNvPr>
          <p:cNvSpPr>
            <a:spLocks xmlns:a="http://schemas.openxmlformats.org/drawingml/2006/main" noGrp="1"/>
          </p:cNvSpPr>
          <p:nvPr/>
        </p:nvSpPr>
        <p:spPr>
          <a:xfrm xmlns:a="http://schemas.openxmlformats.org/drawingml/2006/main">
            <a:off x="8343900" y="2305050"/>
            <a:ext cx="2971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000" b="1" i="0">
                <a:solidFill>
                  <a:srgbClr val="1C1C1C"/>
                </a:solidFill>
                <a:latin typeface="Avenir Next"/>
                <a:ea typeface="Avenir Next"/>
                <a:cs typeface="Avenir Next"/>
              </a:defRPr>
            </a:pPr>
            <a:r>
              <a:rPr sz="3000" b="1" i="0">
                <a:solidFill>
                  <a:srgbClr val="1C1C1C"/>
                </a:solidFill>
                <a:latin typeface="Avenir Next"/>
                <a:ea typeface="Avenir Next"/>
                <a:cs typeface="Avenir Next"/>
              </a:rPr>
              <a:t>Verify + share</a:t>
            </a:r>
          </a:p>
        </p:txBody>
      </p:sp>
      <p:sp>
        <p:nvSpPr>
          <p:cNvPr id="10" name="text-1426">
            <a:extLst xmlns:a="http://schemas.openxmlformats.org/drawingml/2006/main">
              <a:ext uri="{FF2B5EF4-FFF2-40B4-BE49-F238E27FC236}">
                <a16:creationId xmlns:a16="http://schemas.microsoft.com/office/drawing/2014/main" id="{142AE229-CCFA-4995-B1D8-5CB30009E5A8}"/>
              </a:ext>
            </a:extLst>
          </p:cNvPr>
          <p:cNvSpPr>
            <a:spLocks xmlns:a="http://schemas.openxmlformats.org/drawingml/2006/main" noGrp="1"/>
          </p:cNvSpPr>
          <p:nvPr/>
        </p:nvSpPr>
        <p:spPr>
          <a:xfrm xmlns:a="http://schemas.openxmlformats.org/drawingml/2006/main">
            <a:off x="8343900" y="3371850"/>
            <a:ext cx="2971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04-verification/</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05-deployment/</a:t>
            </a:r>
          </a:p>
          <a:p xmlns:a="http://schemas.openxmlformats.org/drawingml/2006/main">
            <a:pPr>
              <a:defRPr sz="2250" b="0" i="0">
                <a:solidFill>
                  <a:srgbClr val="1C1C1C"/>
                </a:solidFill>
                <a:latin typeface="Helvetica Neue"/>
                <a:ea typeface="Helvetica Neue"/>
                <a:cs typeface="Helvetica Neue"/>
              </a:defRPr>
            </a:pPr>
            <a:r>
              <a:rPr sz="2250" b="0" i="0">
                <a:solidFill>
                  <a:srgbClr val="1C1C1C"/>
                </a:solidFill>
                <a:latin typeface="Helvetica Neue"/>
                <a:ea typeface="Helvetica Neue"/>
                <a:cs typeface="Helvetica Neue"/>
              </a:rPr>
              <a:t>.claude/</a:t>
            </a:r>
          </a:p>
        </p:txBody>
      </p:sp>
      <p:sp>
        <p:nvSpPr>
          <p:cNvPr id="11" name="text-1427">
            <a:extLst xmlns:a="http://schemas.openxmlformats.org/drawingml/2006/main">
              <a:ext uri="{FF2B5EF4-FFF2-40B4-BE49-F238E27FC236}">
                <a16:creationId xmlns:a16="http://schemas.microsoft.com/office/drawing/2014/main" id="{49135FB2-9220-421A-95CB-FED7FF4F3C6C}"/>
              </a:ext>
            </a:extLst>
          </p:cNvPr>
          <p:cNvSpPr>
            <a:spLocks xmlns:a="http://schemas.openxmlformats.org/drawingml/2006/main" noGrp="1"/>
          </p:cNvSpPr>
          <p:nvPr/>
        </p:nvSpPr>
        <p:spPr>
          <a:xfrm xmlns:a="http://schemas.openxmlformats.org/drawingml/2006/main">
            <a:off x="11344275" y="649605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i="0">
                <a:solidFill>
                  <a:srgbClr val="686868"/>
                </a:solidFill>
                <a:latin typeface="Helvetica Neue"/>
                <a:ea typeface="Helvetica Neue"/>
                <a:cs typeface="Helvetica Neue"/>
              </a:defRPr>
            </a:pPr>
            <a:r>
              <a:rPr sz="1200" b="0" i="0">
                <a:solidFill>
                  <a:srgbClr val="686868"/>
                </a:solidFill>
                <a:latin typeface="Helvetica Neue"/>
                <a:ea typeface="Helvetica Neue"/>
                <a:cs typeface="Helvetica Neue"/>
              </a:rPr>
              <a:t>156</a:t>
            </a:r>
          </a:p>
        </p:txBody>
      </p:sp>
    </p:spTree>
    <p:extLst>
      <p:ext uri="{BB962C8B-B14F-4D97-AF65-F5344CB8AC3E}">
        <p14:creationId xmlns:p14="http://schemas.microsoft.com/office/powerpoint/2010/main" val="1682444073"/>
      </p:ext>
    </p:extLst>
  </p:cSld>
</p:sld>
</file>

<file path=ppt/slides/slide157.xml><?xml version="1.0" encoding="utf-8"?>
<p:sld xmlns:p="http://schemas.openxmlformats.org/presentationml/2006/main">
  <p:cSld>
    <p:bg>
      <p:bgPr>
        <a:solidFill xmlns:a="http://schemas.openxmlformats.org/drawingml/2006/main">
          <a:srgbClr val="D1372D"/>
        </a:solidFill>
      </p:bgPr>
    </p:bg>
    <p:spTree>
      <p:nvGrpSpPr>
        <p:cNvPr id="1" name=""/>
        <p:cNvGrpSpPr/>
        <p:nvPr/>
      </p:nvGrpSpPr>
      <p:grpSpPr>
        <a:xfrm xmlns:a="http://schemas.openxmlformats.org/drawingml/2006/main"/>
      </p:grpSpPr>
      <p:sp>
        <p:nvSpPr>
          <p:cNvPr id="4" name="text-1428">
            <a:extLst xmlns:a="http://schemas.openxmlformats.org/drawingml/2006/main">
              <a:ext uri="{FF2B5EF4-FFF2-40B4-BE49-F238E27FC236}">
                <a16:creationId xmlns:a16="http://schemas.microsoft.com/office/drawing/2014/main" id="{114C426E-2743-4EB8-873B-E76C25032B4F}"/>
              </a:ext>
            </a:extLst>
          </p:cNvPr>
          <p:cNvSpPr>
            <a:spLocks xmlns:a="http://schemas.openxmlformats.org/drawingml/2006/main" noGrp="1"/>
          </p:cNvSpPr>
          <p:nvPr/>
        </p:nvSpPr>
        <p:spPr>
          <a:xfrm xmlns:a="http://schemas.openxmlformats.org/drawingml/2006/main">
            <a:off x="609600" y="60960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i="1">
                <a:solidFill>
                  <a:srgbClr val="FFFFFF"/>
                </a:solidFill>
                <a:latin typeface="Avenir Next"/>
                <a:ea typeface="Avenir Next"/>
                <a:cs typeface="Avenir Next"/>
              </a:defRPr>
            </a:pPr>
            <a:r>
              <a:rPr sz="4350" b="1" i="1">
                <a:solidFill>
                  <a:srgbClr val="FFFFFF"/>
                </a:solidFill>
                <a:latin typeface="Avenir Next"/>
                <a:ea typeface="Avenir Next"/>
                <a:cs typeface="Avenir Next"/>
              </a:rPr>
              <a:t>What will your</a:t>
            </a:r>
          </a:p>
          <a:p xmlns:a="http://schemas.openxmlformats.org/drawingml/2006/main">
            <a:pPr>
              <a:defRPr sz="4350" b="1" i="1">
                <a:solidFill>
                  <a:srgbClr val="FFFFFF"/>
                </a:solidFill>
                <a:latin typeface="Avenir Next"/>
                <a:ea typeface="Avenir Next"/>
                <a:cs typeface="Avenir Next"/>
              </a:defRPr>
            </a:pPr>
            <a:r>
              <a:rPr sz="4350" b="1" i="1">
                <a:solidFill>
                  <a:srgbClr val="FFFFFF"/>
                </a:solidFill>
                <a:latin typeface="Avenir Next"/>
                <a:ea typeface="Avenir Next"/>
                <a:cs typeface="Avenir Next"/>
              </a:rPr>
              <a:t>team run next?</a:t>
            </a:r>
          </a:p>
        </p:txBody>
      </p:sp>
      <p:sp>
        <p:nvSpPr>
          <p:cNvPr id="2" name="text-1429">
            <a:extLst xmlns:a="http://schemas.openxmlformats.org/drawingml/2006/main">
              <a:ext uri="{FF2B5EF4-FFF2-40B4-BE49-F238E27FC236}">
                <a16:creationId xmlns:a16="http://schemas.microsoft.com/office/drawing/2014/main" id="{37E31357-AF41-408E-AEE5-6C5DDDA2B923}"/>
              </a:ext>
            </a:extLst>
          </p:cNvPr>
          <p:cNvSpPr>
            <a:spLocks xmlns:a="http://schemas.openxmlformats.org/drawingml/2006/main" noGrp="1"/>
          </p:cNvSpPr>
          <p:nvPr/>
        </p:nvSpPr>
        <p:spPr>
          <a:xfrm xmlns:a="http://schemas.openxmlformats.org/drawingml/2006/main">
            <a:off x="609600" y="2714625"/>
            <a:ext cx="10763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i="0">
                <a:solidFill>
                  <a:srgbClr val="FFFFFF"/>
                </a:solidFill>
                <a:latin typeface="Helvetica Neue"/>
                <a:ea typeface="Helvetica Neue"/>
                <a:cs typeface="Helvetica Neue"/>
              </a:defRPr>
            </a:pPr>
            <a:r>
              <a:rPr sz="2850" b="0" i="0">
                <a:solidFill>
                  <a:srgbClr val="FFFFFF"/>
                </a:solidFill>
                <a:latin typeface="Helvetica Neue"/>
                <a:ea typeface="Helvetica Neue"/>
                <a:cs typeface="Helvetica Neue"/>
              </a:rPr>
              <a:t>One workflow. One owner. One review date.</a:t>
            </a:r>
          </a:p>
        </p:txBody>
      </p:sp>
      <p:sp>
        <p:nvSpPr>
          <p:cNvPr id="3" name="text-1430">
            <a:extLst xmlns:a="http://schemas.openxmlformats.org/drawingml/2006/main">
              <a:ext uri="{FF2B5EF4-FFF2-40B4-BE49-F238E27FC236}">
                <a16:creationId xmlns:a16="http://schemas.microsoft.com/office/drawing/2014/main" id="{AA903524-D5D7-493A-8245-AC119506EDC8}"/>
              </a:ext>
            </a:extLst>
          </p:cNvPr>
          <p:cNvSpPr>
            <a:spLocks xmlns:a="http://schemas.openxmlformats.org/drawingml/2006/main" noGrp="1"/>
          </p:cNvSpPr>
          <p:nvPr/>
        </p:nvSpPr>
        <p:spPr>
          <a:xfrm xmlns:a="http://schemas.openxmlformats.org/drawingml/2006/main">
            <a:off x="609600" y="601980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i="0">
                <a:solidFill>
                  <a:srgbClr val="EEEAE3"/>
                </a:solidFill>
                <a:latin typeface="Helvetica Neue"/>
                <a:ea typeface="Helvetica Neue"/>
                <a:cs typeface="Helvetica Neue"/>
              </a:defRPr>
            </a:pPr>
            <a:r>
              <a:rPr sz="1875" b="0" i="0">
                <a:solidFill>
                  <a:srgbClr val="EEEAE3"/>
                </a:solidFill>
                <a:latin typeface="Helvetica Neue"/>
                <a:ea typeface="Helvetica Neue"/>
                <a:cs typeface="Helvetica Neue"/>
              </a:rPr>
              <a:t>Mark Kashef · Prompt Advisers</a:t>
            </a:r>
          </a:p>
        </p:txBody>
      </p:sp>
    </p:spTree>
    <p:extLst>
      <p:ext uri="{BB962C8B-B14F-4D97-AF65-F5344CB8AC3E}">
        <p14:creationId xmlns:p14="http://schemas.microsoft.com/office/powerpoint/2010/main" val="13926088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2026-09-07T14:49:43.8460000Z</dcterms:created>
  <dcterms:modified xsi:type="dcterms:W3CDTF">2026-09-07T14:49:43.8460000Z</dcterms:modified>
</coreProperties>
</file>